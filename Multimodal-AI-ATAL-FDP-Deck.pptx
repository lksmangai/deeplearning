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283" r:id="rId5"/>
    <p:sldId id="259" r:id="rId6"/>
    <p:sldId id="260" r:id="rId7"/>
    <p:sldId id="261" r:id="rId8"/>
    <p:sldId id="262" r:id="rId9"/>
    <p:sldId id="263" r:id="rId10"/>
    <p:sldId id="264" r:id="rId11"/>
    <p:sldId id="265" r:id="rId12"/>
    <p:sldId id="296" r:id="rId13"/>
    <p:sldId id="297" r:id="rId14"/>
    <p:sldId id="266" r:id="rId15"/>
    <p:sldId id="267" r:id="rId16"/>
    <p:sldId id="298" r:id="rId46"/>
    <p:sldId id="268" r:id="rId17"/>
    <p:sldId id="269" r:id="rId18"/>
    <p:sldId id="270" r:id="rId19"/>
    <p:sldId id="271" r:id="rId20"/>
    <p:sldId id="288" r:id="rId21"/>
    <p:sldId id="284" r:id="rId22"/>
    <p:sldId id="285" r:id="rId23"/>
    <p:sldId id="286" r:id="rId24"/>
    <p:sldId id="287" r:id="rId25"/>
    <p:sldId id="289" r:id="rId26"/>
    <p:sldId id="275" r:id="rId27"/>
    <p:sldId id="276" r:id="rId28"/>
    <p:sldId id="294" r:id="rId29"/>
    <p:sldId id="277" r:id="rId30"/>
    <p:sldId id="278" r:id="rId31"/>
    <p:sldId id="279" r:id="rId32"/>
    <p:sldId id="280" r:id="rId33"/>
    <p:sldId id="290" r:id="rId34"/>
    <p:sldId id="291" r:id="rId35"/>
    <p:sldId id="292" r:id="rId36"/>
    <p:sldId id="281" r:id="rId37"/>
    <p:sldId id="282" r:id="rId38"/>
    <p:sldId id="293" r:id="rId39"/>
    <p:sldId id="295" r:id="rId4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061" autoAdjust="0"/>
  </p:normalViewPr>
  <p:slideViewPr>
    <p:cSldViewPr snapToGrid="0" snapToObjects="1">
      <p:cViewPr varScale="1">
        <p:scale>
          <a:sx n="65" d="100"/>
          <a:sy n="65" d="100"/>
        </p:scale>
        <p:origin x="216" y="78"/>
      </p:cViewPr>
      <p:guideLst/>
    </p:cSldViewPr>
  </p:slideViewPr>
  <p:notesTextViewPr>
    <p:cViewPr>
      <p:scale>
        <a:sx n="1" d="1"/>
        <a:sy n="1" d="1"/>
      </p:scale>
      <p:origin x="0" y="0"/>
    </p:cViewPr>
  </p:notesTextViewPr>
  <p:notesViewPr>
    <p:cSldViewPr snapToGrid="0" snapToObjects="1">
      <p:cViewPr varScale="1">
        <p:scale>
          <a:sx n="39" d="100"/>
          <a:sy n="39" d="100"/>
        </p:scale>
        <p:origin x="60" y="5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46"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Revised estimate</c:v>
                </c:pt>
              </c:strCache>
            </c:strRef>
          </c:tx>
          <c:spPr>
            <a:solidFill>
              <a:srgbClr val="0E1524"/>
            </a:solidFill>
            <a:effectLst/>
          </c:spPr>
          <c:invertIfNegative val="0"/>
          <c:dLbls>
            <c:numFmt formatCode="#,##0" sourceLinked="0"/>
            <c:spPr>
              <a:noFill/>
              <a:ln>
                <a:noFill/>
              </a:ln>
              <a:effectLst/>
            </c:spPr>
            <c:txPr>
              <a:bodyPr/>
              <a:lstStyle/>
              <a:p>
                <a:pPr>
                  <a:defRPr sz="1000" b="0" i="0" u="none" strike="noStrike">
                    <a:solidFill>
                      <a:srgbClr val="6B7689"/>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FY 2024-25</c:v>
                </c:pt>
                <c:pt idx="1">
                  <c:v>FY 2025-26</c:v>
                </c:pt>
              </c:strCache>
            </c:strRef>
          </c:cat>
          <c:val>
            <c:numRef>
              <c:f>Sheet1!$B$2:$B$3</c:f>
              <c:numCache>
                <c:formatCode>0</c:formatCode>
                <c:ptCount val="2"/>
                <c:pt idx="0">
                  <c:v>173</c:v>
                </c:pt>
                <c:pt idx="1">
                  <c:v>800</c:v>
                </c:pt>
              </c:numCache>
            </c:numRef>
          </c:val>
          <c:extLst>
            <c:ext xmlns:c16="http://schemas.microsoft.com/office/drawing/2014/chart" uri="{C3380CC4-5D6E-409C-BE32-E72D297353CC}">
              <c16:uniqueId val="{00000000-651F-45E8-8DC0-8391C7052D25}"/>
            </c:ext>
          </c:extLst>
        </c:ser>
        <c:ser>
          <c:idx val="1"/>
          <c:order val="1"/>
          <c:tx>
            <c:strRef>
              <c:f>Sheet1!$C$1</c:f>
              <c:strCache>
                <c:ptCount val="1"/>
                <c:pt idx="0">
                  <c:v>Released</c:v>
                </c:pt>
              </c:strCache>
            </c:strRef>
          </c:tx>
          <c:spPr>
            <a:solidFill>
              <a:srgbClr val="FF6B4A"/>
            </a:solidFill>
            <a:effectLst/>
          </c:spPr>
          <c:invertIfNegative val="0"/>
          <c:dLbls>
            <c:numFmt formatCode="#,##0" sourceLinked="0"/>
            <c:spPr>
              <a:noFill/>
              <a:ln>
                <a:noFill/>
              </a:ln>
              <a:effectLst/>
            </c:spPr>
            <c:txPr>
              <a:bodyPr/>
              <a:lstStyle/>
              <a:p>
                <a:pPr>
                  <a:defRPr sz="1000" b="0" i="0" u="none" strike="noStrike">
                    <a:solidFill>
                      <a:srgbClr val="6B7689"/>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FY 2024-25</c:v>
                </c:pt>
                <c:pt idx="1">
                  <c:v>FY 2025-26</c:v>
                </c:pt>
              </c:strCache>
            </c:strRef>
          </c:cat>
          <c:val>
            <c:numRef>
              <c:f>Sheet1!$C$2:$C$3</c:f>
              <c:numCache>
                <c:formatCode>0</c:formatCode>
                <c:ptCount val="2"/>
                <c:pt idx="0">
                  <c:v>21.79</c:v>
                </c:pt>
                <c:pt idx="1">
                  <c:v>379.15</c:v>
                </c:pt>
              </c:numCache>
            </c:numRef>
          </c:val>
          <c:extLst>
            <c:ext xmlns:c16="http://schemas.microsoft.com/office/drawing/2014/chart" uri="{C3380CC4-5D6E-409C-BE32-E72D297353CC}">
              <c16:uniqueId val="{00000001-651F-45E8-8DC0-8391C7052D25}"/>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689"/>
                </a:solidFill>
                <a:latin typeface="Arial"/>
              </a:defRPr>
            </a:pPr>
            <a:endParaRPr lang="en-US"/>
          </a:p>
        </c:txPr>
        <c:crossAx val="2094734552"/>
        <c:crosses val="autoZero"/>
        <c:auto val="1"/>
        <c:lblAlgn val="ctr"/>
        <c:lblOffset val="100"/>
        <c:noMultiLvlLbl val="1"/>
      </c:catAx>
      <c:valAx>
        <c:axId val="2094734552"/>
        <c:scaling>
          <c:orientation val="minMax"/>
          <c:max val="1000"/>
          <c:min val="0"/>
        </c:scaling>
        <c:delete val="0"/>
        <c:axPos val="l"/>
        <c:majorGridlines>
          <c:spPr>
            <a:ln w="12700" cap="flat">
              <a:solidFill>
                <a:srgbClr val="E4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689"/>
                </a:solidFill>
                <a:latin typeface="Arial"/>
              </a:defRPr>
            </a:pPr>
            <a:endParaRPr lang="en-US"/>
          </a:p>
        </c:txPr>
        <c:crossAx val="2094734554"/>
        <c:crosses val="autoZero"/>
        <c:crossBetween val="between"/>
        <c:majorUnit val="250"/>
      </c:valAx>
      <c:spPr>
        <a:noFill/>
        <a:ln>
          <a:noFill/>
        </a:ln>
        <a:effectLst/>
      </c:spPr>
    </c:plotArea>
    <c:legend>
      <c:legendPos val="t"/>
      <c:overlay val="0"/>
      <c:txPr>
        <a:bodyPr/>
        <a:lstStyle/>
        <a:p>
          <a:pPr>
            <a:defRPr sz="1100">
              <a:solidFill>
                <a:srgbClr val="6B7689"/>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091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 TRANSCRIPT ───</a:t>
            </a:r>
          </a:p>
          <a:p>
            <a:r>
              <a:rPr dirty="0"/>
              <a:t>Do not read the title. Hold the silence for three seconds, then say exactly this:</a:t>
            </a:r>
          </a:p>
          <a:p>
            <a:r>
              <a:rPr dirty="0"/>
              <a:t>"In the next ninety minutes I am going to show you one idea that changed how AI systems are built — and then I am going to show you how to run it yourself, tonight, for free."</a:t>
            </a:r>
          </a:p>
          <a:p>
            <a:r>
              <a:rPr dirty="0"/>
              <a:t>Pause. Then: "I am not here from a lab. I am from the delivery side. Everything in Part Three was drawn the way it actually gets built and paid for. Keep the chat open — I will use it five times. Let us start."</a:t>
            </a:r>
          </a:p>
          <a:p>
            <a:r>
              <a:rPr dirty="0"/>
              <a:t>Move off this slide after twenty seconds. Do not linger.</a:t>
            </a:r>
          </a:p>
          <a:p>
            <a:endParaRPr/>
          </a:p>
          <a:p>
            <a:r>
              <a:rPr b="1" dirty="0"/>
              <a:t>─── ANTICIPATED QUESTIONS ───</a:t>
            </a:r>
          </a:p>
          <a:p>
            <a:r>
              <a:rPr b="1" dirty="0"/>
              <a:t>Q: What level of background is assumed?</a:t>
            </a:r>
          </a:p>
          <a:p>
            <a:r>
              <a:rPr dirty="0"/>
              <a:t>A: Anyone who knows what an API is and has heard of machine learning can follow. Engineers will find new material on deployment and evaluation. Faculty from civil, mechanical or agriculture can follow everything except the implementation detail on slide 23 — which is labelled so you can navigate. Explicitly say this when you open if you can see the attendee list is cross-disciplinary.</a:t>
            </a:r>
          </a:p>
          <a:p>
            <a:endParaRPr dirty="0"/>
          </a:p>
          <a:p>
            <a:r>
              <a:rPr b="1" dirty="0"/>
              <a:t>Q: Will the slides be shared?</a:t>
            </a:r>
          </a:p>
          <a:p>
            <a:r>
              <a:rPr dirty="0"/>
              <a:t>A: Yes — the link on the final slide goes to a GitHub repo with the .pptx. Since there is no live demo, the slides are designed to stand alone. Slide 23 in particular is drawn so it can be redrawn on a whiteboard without the deck.</a:t>
            </a:r>
          </a:p>
          <a:p>
            <a:endParaRPr/>
          </a:p>
          <a:p>
            <a:r>
              <a:rPr b="1"/>
              <a:t>─── DELIVERY NOTES ───</a:t>
            </a:r>
          </a:p>
          <a:p>
            <a:r>
              <a:rPr dirty="0"/>
              <a:t>Open cold. Do not read the title. Say: "In the next 90 minutes I am going to show you one idea that changed how AI systems are built - and then I am going to show you how to run it yourself, tonight, for free." Keep this slide up for 20 seconds only.</a:t>
            </a:r>
          </a:p>
          <a:p>
            <a:endParaRPr dirty="0"/>
          </a:p>
          <a:p>
            <a:r>
              <a:rPr dirty="0"/>
              <a:t>ATAL housekeeping: the coordinator will have introduced you already, so do not repeat your bio. Ask participants to keep the chat open - you will use it five times: slides 2, 7, 12, 20 and 37. Remind them the session is being recorded.</a:t>
            </a:r>
          </a:p>
          <a:p>
            <a:r>
              <a:rPr dirty="0"/>
              <a:t>One line of positioning is worth saying, because it is not in the coordinator's introduction and it changes how the room hears the next 90 minutes: you are not here from a lab, you are here from the delivery side, and everything in Part Three is drawn the way it actually gets built and paid for. Faculty rooms are used to AI talks from researchers; an architect telling them which four stages kill projects is a different session. Say it once, in about ten seconds, and move on - the deck earns the rest.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a:p>
            <a:endParaRPr dirty="0"/>
          </a:p>
          <a:p>
            <a:r>
              <a:rPr b="1" dirty="0"/>
              <a:t>─── TRANSCRIPT ───</a:t>
            </a:r>
          </a:p>
          <a:p>
            <a:r>
              <a:rPr dirty="0"/>
              <a:t>Do not read the title. Hold the silence for three seconds, then say exactly this:</a:t>
            </a:r>
          </a:p>
          <a:p>
            <a:r>
              <a:rPr dirty="0"/>
              <a:t>"In the next ninety minutes I am going to show you one idea that changed how AI systems are built — and then I am going to show you how to run it yourself, tonight, for free."</a:t>
            </a:r>
          </a:p>
          <a:p>
            <a:r>
              <a:rPr dirty="0"/>
              <a:t>Pause. Then: "I am not here from a lab. I am from the delivery side. Everything in Part Three was drawn the way it actually gets built and paid for. Keep the chat open — I will use it five times. Let us start."</a:t>
            </a:r>
          </a:p>
          <a:p>
            <a:r>
              <a:rPr dirty="0"/>
              <a:t>Move off this slide after twenty seconds. Do not linger.</a:t>
            </a:r>
          </a:p>
          <a:p>
            <a:endParaRPr dirty="0"/>
          </a:p>
          <a:p>
            <a:r>
              <a:rPr b="1" dirty="0"/>
              <a:t>─── ANTICIPATED QUESTIONS ───</a:t>
            </a:r>
          </a:p>
          <a:p>
            <a:r>
              <a:rPr b="1" dirty="0"/>
              <a:t>Q: What level of background is assumed?</a:t>
            </a:r>
          </a:p>
          <a:p>
            <a:r>
              <a:rPr dirty="0"/>
              <a:t>A: Anyone who knows what an API is and has heard of machine learning can follow. Engineers will find new material on deployment and evaluation. Faculty from civil, mechanical or agriculture can follow everything except the implementation detail on slide 23 — which is labelled so you can navigate. Explicitly say this when you open if you can see the attendee list is cross-disciplinary.</a:t>
            </a:r>
          </a:p>
          <a:p>
            <a:endParaRPr dirty="0"/>
          </a:p>
          <a:p>
            <a:r>
              <a:rPr b="1" dirty="0"/>
              <a:t>Q: Will the slides be shared?</a:t>
            </a:r>
          </a:p>
          <a:p>
            <a:r>
              <a:rPr dirty="0"/>
              <a:t>A: Yes — the link on the final slide goes to a GitHub repo with the .pptx. Since there is no live demo, the slides are designed to stand alone. Slide 23 in particular is drawn so it can be redrawn on a whiteboard without the deck.</a:t>
            </a:r>
          </a:p>
          <a:p>
            <a:endParaRPr dirty="0"/>
          </a:p>
          <a:p>
            <a:endParaRPr dirty="0"/>
          </a:p>
          <a:p>
            <a:r>
              <a:rPr b="1" dirty="0"/>
              <a:t>─── TRANSCRIPT ───</a:t>
            </a:r>
          </a:p>
          <a:p>
            <a:r>
              <a:rPr dirty="0"/>
              <a:t>Do not read the title. Hold the silence for three seconds, then say exactly this:</a:t>
            </a:r>
          </a:p>
          <a:p>
            <a:r>
              <a:rPr dirty="0"/>
              <a:t>"In the next ninety minutes I am going to show you one idea that changed how AI systems are built — and then I am going to show you how to run it yourself, tonight, for free."</a:t>
            </a:r>
          </a:p>
          <a:p>
            <a:r>
              <a:rPr dirty="0"/>
              <a:t>Pause. Then: "I am not here from a lab. I am from the delivery side. Everything in Part Three was drawn the way it actually gets built and paid for. Keep the chat open — I will use it five times. Let us start."</a:t>
            </a:r>
          </a:p>
          <a:p>
            <a:r>
              <a:rPr dirty="0"/>
              <a:t>Move off this slide after twenty seconds. Do not linger.</a:t>
            </a:r>
          </a:p>
          <a:p>
            <a:endParaRPr dirty="0"/>
          </a:p>
          <a:p>
            <a:r>
              <a:rPr b="1" dirty="0"/>
              <a:t>─── ANTICIPATED QUESTIONS ───</a:t>
            </a:r>
          </a:p>
          <a:p>
            <a:r>
              <a:rPr b="1" dirty="0"/>
              <a:t>Q: What level of background is assumed?</a:t>
            </a:r>
          </a:p>
          <a:p>
            <a:r>
              <a:rPr dirty="0"/>
              <a:t>A: Anyone who knows what an API is and has heard of machine learning can follow. Engineers will find new material on deployment and evaluation. Faculty from civil, mechanical or agriculture can follow everything except the implementation detail on slide 23 — which is labelled so you can navigate. Explicitly say this when you open if you can see the attendee list is cross-disciplinary.</a:t>
            </a:r>
          </a:p>
          <a:p>
            <a:endParaRPr dirty="0"/>
          </a:p>
          <a:p>
            <a:r>
              <a:rPr b="1" dirty="0"/>
              <a:t>Q: Will the slides be shared?</a:t>
            </a:r>
          </a:p>
          <a:p>
            <a:r>
              <a:rPr dirty="0"/>
              <a:t>A: Yes — the link on the final slide goes to a GitHub repo with the .pptx. Since there is no live demo, the slides are designed to stand alone. Slide 23 in particular is drawn so it can be redrawn on a whiteboard without the deck.</a:t>
            </a:r>
          </a:p>
          <a:p>
            <a:endParaRPr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"Before I define multimodal AI, I want to show you what it actually does."</a:t>
            </a:r>
          </a:p>
          <a:p>
            <a:r>
              <a:t>"Four files. First: a four-megabyte JPEG — a cracked weld on a pipeline joint. Second: a ninety-second drone clip of the same pipeline run — ninety seconds, not ninety minutes, and I will tell you why that distinction matters in about twenty minutes. Third: a forty-second voice note from the site engineer who was physically at the joint, describing what he saw and what worried him. Fourth: a CSV of six months of pressure sensor readings from that section of pipe."</a:t>
            </a:r>
          </a:p>
          <a:p>
            <a:r>
              <a:t>"In 2019, handling these four files meant four separate systems, four teams, and a human at the end reading four outputs and deciding what they meant together."</a:t>
            </a:r>
          </a:p>
          <a:p>
            <a:r>
              <a:t>"Today: one question to one model. Is this joint safe to run through the monsoon season? The model has to look, watch, listen and read the numbers. One answer. That is multimodal AI."</a:t>
            </a:r>
          </a:p>
          <a:p>
            <a:r>
              <a:t>Now run the chat poll: "Quick question before I go any further — type a number in the chat: how many separate systems would you have needed for this in 2019?" Wait fifteen seconds. Read a few answers. "Some of you said four. Some said five or six, counting the glue code. All of you are right — and the point is that every one of those systems needed its own team and its own failure mode."</a:t>
            </a:r>
          </a:p>
          <a:p>
            <a:endParaRPr/>
          </a:p>
          <a:p>
            <a:r>
              <a:rPr b="1"/>
              <a:t>─── ANTICIPATED QUESTIONS ───</a:t>
            </a:r>
          </a:p>
          <a:p>
            <a:r>
              <a:rPr b="1"/>
              <a:t>Q: Is this actually production-ready for pipeline safety?</a:t>
            </a:r>
          </a:p>
          <a:p>
            <a:r>
              <a:t>A: For a final engineering sign-off on a pressurised pipeline, no — and slide 24 shows exactly why. The worked example sends a 0.81 confidence score to a human review queue, not to an autonomous decision. What is production-ready today is the document extraction use case on typed forms at high volume. Vision-based defect detection is reliable for triage — flagging a weld for closer inspection — but not yet for autonomous final approval in safety-critical infrastructure.</a:t>
            </a:r>
          </a:p>
          <a:p>
            <a:endParaRPr/>
          </a:p>
          <a:p>
            <a:r>
              <a:rPr b="1"/>
              <a:t>Q: Does the model transcribe the voice note or process audio directly?</a:t>
            </a:r>
          </a:p>
          <a:p>
            <a:r>
              <a:t>A: Both approaches exist. Older pipelines transcribed first and fed text downstream — losing prosody, pauses and emotional tone. Speech-native models — one of the six 2026 shifts on slide 17 — take audio tokens directly. For the site engineer's voice note, a stressed pause before 'the pressure reading' carries information that a transcript discards. Qwen 3.5 Omni is the current open-weight example of a fully speech-native model.</a:t>
            </a:r>
          </a:p>
          <a:p>
            <a:endParaRPr/>
          </a:p>
          <a:p>
            <a:r>
              <a:rPr b="1"/>
              <a:t>Q: What if the sensor data is 10 years at hourly resolution — 87,000 rows?</a:t>
            </a:r>
          </a:p>
          <a:p>
            <a:r>
              <a:t>A: That exceeds what current models handle reliably in a single context window. The practical approaches are: aggregate to daily statistics before passing to the model, use a time-series encoder that compresses the signal first, or retrieve only the anomalous windows. Long-context reasoning over dense time-series is explicitly one of the open research problems on slide 28.</a:t>
            </a:r>
          </a:p>
          <a:p>
            <a:endParaRPr/>
          </a:p>
          <a:p>
            <a:r>
              <a:rPr b="1"/>
              <a:t>─── DELIVERY NOTES ───</a:t>
            </a:r>
          </a:p>
          <a:p>
            <a:r>
              <a:t>This is the anchor example for the whole talk. Come back to it in Part Three. Poll the chat: how many separate systems would you have needed for this in 2019? Answer: four - one per file - plus a human to stitch the outputs together. Anyone who says five or more is counting the glue code, and they are right to. A chat poll is the cheapest way to wake up an online room in the first three minutes.</a:t>
            </a:r>
          </a:p>
          <a:p>
            <a:endParaRPr/>
          </a:p>
          <a:p>
            <a:r>
              <a:t>Note the drone clip is 90 seconds, not 90 minutes - that is deliberate, and you will come back to it on the honest slide. Short video works today; long video does not.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a:p>
            <a:endParaRPr/>
          </a:p>
          <a:p>
            <a:r>
              <a:rPr b="1"/>
              <a:t>─── TRANSCRIPT ───</a:t>
            </a:r>
          </a:p>
          <a:p>
            <a:r>
              <a:t>"Before I define multimodal AI, I want to show you what it actually does."</a:t>
            </a:r>
          </a:p>
          <a:p>
            <a:r>
              <a:t>"Four files. First: a four-megabyte JPEG — a cracked weld on a pipeline joint. Second: a ninety-second drone clip of the same pipeline run — ninety seconds, not ninety minutes, and I will tell you why that distinction matters in about twenty minutes. Third: a forty-second voice note from the site engineer who was physically at the joint, describing what he saw and what worried him. Fourth: a CSV of six months of pressure sensor readings from that section of pipe."</a:t>
            </a:r>
          </a:p>
          <a:p>
            <a:r>
              <a:t>"In 2019, handling these four files meant four separate systems, four teams, and a human at the end reading four outputs and deciding what they meant together."</a:t>
            </a:r>
          </a:p>
          <a:p>
            <a:r>
              <a:t>"Today: one question to one model. Is this joint safe to run through the monsoon season? The model has to look, watch, listen and read the numbers. One answer. That is multimodal AI."</a:t>
            </a:r>
          </a:p>
          <a:p>
            <a:r>
              <a:t>Now run the chat poll: "Quick question before I go any further — type a number in the chat: how many separate systems would you have needed for this in 2019?" Wait fifteen seconds. Read a few answers. "Some of you said four. Some said five or six, counting the glue code. All of you are right — and the point is that every one of those systems needed its own team and its own failure mode."</a:t>
            </a:r>
          </a:p>
          <a:p>
            <a:endParaRPr/>
          </a:p>
          <a:p>
            <a:r>
              <a:rPr b="1"/>
              <a:t>─── ANTICIPATED QUESTIONS ───</a:t>
            </a:r>
          </a:p>
          <a:p>
            <a:r>
              <a:rPr b="1"/>
              <a:t>Q: Is this actually production-ready for pipeline safety?</a:t>
            </a:r>
          </a:p>
          <a:p>
            <a:r>
              <a:t>A: For a final engineering sign-off on a pressurised pipeline, no — and slide 24 shows exactly why. The worked example sends a 0.81 confidence score to a human review queue, not to an autonomous decision. What is production-ready today is the document extraction use case on typed forms at high volume. Vision-based defect detection is reliable for triage — flagging a weld for closer inspection — but not yet for autonomous final approval in safety-critical infrastructure.</a:t>
            </a:r>
          </a:p>
          <a:p>
            <a:endParaRPr/>
          </a:p>
          <a:p>
            <a:r>
              <a:rPr b="1"/>
              <a:t>Q: Does the model transcribe the voice note or process audio directly?</a:t>
            </a:r>
          </a:p>
          <a:p>
            <a:r>
              <a:t>A: Both approaches exist. Older pipelines transcribed first and fed text downstream — losing prosody, pauses and emotional tone. Speech-native models — one of the six 2026 shifts on slide 17 — take audio tokens directly. For the site engineer's voice note, a stressed pause before 'the pressure reading' carries information that a transcript discards. Qwen 3.5 Omni is the current open-weight example of a fully speech-native model.</a:t>
            </a:r>
          </a:p>
          <a:p>
            <a:endParaRPr/>
          </a:p>
          <a:p>
            <a:r>
              <a:rPr b="1"/>
              <a:t>Q: What if the sensor data is 10 years at hourly resolution — 87,000 rows?</a:t>
            </a:r>
          </a:p>
          <a:p>
            <a:r>
              <a:t>A: That exceeds what current models handle reliably in a single context window. The practical approaches are: aggregate to daily statistics before passing to the model, use a time-series encoder that compresses the signal first, or retrieve only the anomalous windows. Long-context reasoning over dense time-series is explicitly one of the open research problems on slide 28.</a:t>
            </a:r>
          </a:p>
          <a:p>
            <a:endParaRPr/>
          </a:p>
          <a:p>
            <a:endParaRPr/>
          </a:p>
          <a:p>
            <a:r>
              <a:rPr b="1"/>
              <a:t>─── TRANSCRIPT ───</a:t>
            </a:r>
          </a:p>
          <a:p>
            <a:r>
              <a:t>"Before I define multimodal AI, I want to show you what it actually does."</a:t>
            </a:r>
          </a:p>
          <a:p>
            <a:r>
              <a:t>"Four files. First: a four-megabyte JPEG — a cracked weld on a pipeline joint. Second: a ninety-second drone clip of the same pipeline run — ninety seconds, not ninety minutes, and I will tell you why that distinction matters in about twenty minutes. Third: a forty-second voice note from the site engineer who was physically at the joint, describing what he saw and what worried him. Fourth: a CSV of six months of pressure sensor readings from that section of pipe."</a:t>
            </a:r>
          </a:p>
          <a:p>
            <a:r>
              <a:t>"In 2019, handling these four files meant four separate systems, four teams, and a human at the end reading four outputs and deciding what they meant together."</a:t>
            </a:r>
          </a:p>
          <a:p>
            <a:r>
              <a:t>"Today: one question to one model. Is this joint safe to run through the monsoon season? The model has to look, watch, listen and read the numbers. One answer. That is multimodal AI."</a:t>
            </a:r>
          </a:p>
          <a:p>
            <a:r>
              <a:t>Now run the chat poll: "Quick question before I go any further — type a number in the chat: how many separate systems would you have needed for this in 2019?" Wait fifteen seconds. Read a few answers. "Some of you said four. Some said five or six, counting the glue code. All of you are right — and the point is that every one of those systems needed its own team and its own failure mode."</a:t>
            </a:r>
          </a:p>
          <a:p>
            <a:endParaRPr/>
          </a:p>
          <a:p>
            <a:r>
              <a:rPr b="1"/>
              <a:t>─── ANTICIPATED QUESTIONS ───</a:t>
            </a:r>
          </a:p>
          <a:p>
            <a:r>
              <a:rPr b="1"/>
              <a:t>Q: Is this actually production-ready for pipeline safety?</a:t>
            </a:r>
          </a:p>
          <a:p>
            <a:r>
              <a:t>A: For a final engineering sign-off on a pressurised pipeline, no — and slide 24 shows exactly why. The worked example sends a 0.81 confidence score to a human review queue, not to an autonomous decision. What is production-ready today is the document extraction use case on typed forms at high volume. Vision-based defect detection is reliable for triage — flagging a weld for closer inspection — but not yet for autonomous final approval in safety-critical infrastructure.</a:t>
            </a:r>
          </a:p>
          <a:p>
            <a:endParaRPr/>
          </a:p>
          <a:p>
            <a:r>
              <a:rPr b="1"/>
              <a:t>Q: Does the model transcribe the voice note or process audio directly?</a:t>
            </a:r>
          </a:p>
          <a:p>
            <a:r>
              <a:t>A: Both approaches exist. Older pipelines transcribed first and fed text downstream — losing prosody, pauses and emotional tone. Speech-native models — one of the six 2026 shifts on slide 17 — take audio tokens directly. For the site engineer's voice note, a stressed pause before 'the pressure reading' carries information that a transcript discards. Qwen 3.5 Omni is the current open-weight example of a fully speech-native model.</a:t>
            </a:r>
          </a:p>
          <a:p>
            <a:endParaRPr/>
          </a:p>
          <a:p>
            <a:r>
              <a:rPr b="1"/>
              <a:t>Q: What if the sensor data is 10 years at hourly resolution — 87,000 rows?</a:t>
            </a:r>
          </a:p>
          <a:p>
            <a:r>
              <a:t>A: That exceeds what current models handle reliably in a single context window. The practical approaches are: aggregate to daily statistics before passing to the model, use a time-series encoder that compresses the signal first, or retrieve only the anomalous windows. Long-context reasoning over dense time-series is explicitly one of the open research problems on slide 28.</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"Here is how the next ninety minutes runs. Six minutes to open. Twenty for Part One — three ideas that are the whole theoretical foundation. Eighteen for Part Two — what is new and what breaks. Sixteen for Part Three — the architecture. Twenty for Part Four — research, funding and next steps. Ten for Q and A."</a:t>
            </a:r>
          </a:p>
          <a:p>
            <a:r>
              <a:t>"One honest ATAL warning: we usually lose five to eight minutes at the start. If that happens, I will tell you which slides I am compressing. I will never cut the architecture section in Part Three — that section is the reason there is no live demo today. The demo ages badly. The architecture does not."</a:t>
            </a:r>
          </a:p>
          <a:p>
            <a:r>
              <a:t>"If you are a civil or mechanical engineer and you think AI talks are not for you, I need you to stay through Part Three. It is the least technical section and the most reusable."</a:t>
            </a:r>
          </a:p>
          <a:p>
            <a:endParaRPr/>
          </a:p>
          <a:p>
            <a:r>
              <a:rPr b="1"/>
              <a:t>─── ANTICIPATED QUESTIONS ───</a:t>
            </a:r>
          </a:p>
          <a:p>
            <a:r>
              <a:rPr b="1"/>
              <a:t>Q: Why is there no live demo?</a:t>
            </a:r>
          </a:p>
          <a:p>
            <a:r>
              <a:t>A: A live demo on a shared screen fails about a third of the time, and a recorded one shows one model on one dataset, which tells you less than an architecture diagram you can reuse. What replaces it is slide 36 — three free routes to run a system yourself tonight, the fastest of which takes five minutes and needs nothing installed.</a:t>
            </a:r>
          </a:p>
          <a:p>
            <a:endParaRPr/>
          </a:p>
          <a:p>
            <a:r>
              <a:rPr b="1"/>
              <a:t>Q: Can we access the recording after?</a:t>
            </a:r>
          </a:p>
          <a:p>
            <a:r>
              <a:t>A: That is a question for the ATAL coordinator — recordings are typically made available to registered participants. The slides are self-contained and available at the link on the final slide; the speaker notes contain the verbatim transcript, so the deck stands alone without the recording.</a:t>
            </a:r>
          </a:p>
          <a:p>
            <a:endParaRPr/>
          </a:p>
          <a:p>
            <a:r>
              <a:rPr b="1"/>
              <a:t>─── DELIVERY NOTES ───</a:t>
            </a:r>
          </a:p>
          <a:p>
            <a:r>
              <a:t>Point at the architecture block and say what it is: a blueprint you can redraw on a whiteboard on Monday, not a product tour. That is what makes this session reusable.</a:t>
            </a:r>
          </a:p>
          <a:p>
            <a:endParaRPr/>
          </a:p>
          <a:p>
            <a:r>
              <a:t>Realistic timing warning: a 90 minute ATAL slot usually loses 5-8 minutes to the introduction and the coordinator's recap. If you start late, cut slide 16 (the acronym map) first - it is in the deck for them to read afterwards. Then take slide 17 in thirty seconds and skip slide 19 (the agentic loop). Never cut slide 11 or the fusion round on slides 12-13 - they carry learning outcome 2 - and never the architecture section, it is the reason there is no demo.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a:p>
            <a:endParaRPr/>
          </a:p>
          <a:p>
            <a:r>
              <a:rPr b="1"/>
              <a:t>─── TRANSCRIPT ───</a:t>
            </a:r>
          </a:p>
          <a:p>
            <a:r>
              <a:t>"Here is how the next ninety minutes runs. Six minutes to open. Twenty for Part One — three ideas that are the whole theoretical foundation. Eighteen for Part Two — what is new and what breaks. Sixteen for Part Three — the architecture. Twenty for Part Four — research, funding and next steps. Ten for Q and A."</a:t>
            </a:r>
          </a:p>
          <a:p>
            <a:r>
              <a:t>"One honest ATAL warning: we usually lose five to eight minutes at the start. If that happens, I will tell you which slides I am compressing. I will never cut the architecture section in Part Three — that section is the reason there is no live demo today. The demo ages badly. The architecture does not."</a:t>
            </a:r>
          </a:p>
          <a:p>
            <a:r>
              <a:t>"If you are a civil or mechanical engineer and you think AI talks are not for you, I need you to stay through Part Three. It is the least technical section and the most reusable."</a:t>
            </a:r>
          </a:p>
          <a:p>
            <a:endParaRPr/>
          </a:p>
          <a:p>
            <a:r>
              <a:rPr b="1"/>
              <a:t>─── ANTICIPATED QUESTIONS ───</a:t>
            </a:r>
          </a:p>
          <a:p>
            <a:r>
              <a:rPr b="1"/>
              <a:t>Q: Why is there no live demo?</a:t>
            </a:r>
          </a:p>
          <a:p>
            <a:r>
              <a:t>A: A live demo on a shared screen fails about a third of the time, and a recorded one shows one model on one dataset, which tells you less than an architecture diagram you can reuse. What replaces it is slide 36 — three free routes to run a system yourself tonight, the fastest of which takes five minutes and needs nothing installed.</a:t>
            </a:r>
          </a:p>
          <a:p>
            <a:endParaRPr/>
          </a:p>
          <a:p>
            <a:r>
              <a:rPr b="1"/>
              <a:t>Q: Can we access the recording after?</a:t>
            </a:r>
          </a:p>
          <a:p>
            <a:r>
              <a:t>A: That is a question for the ATAL coordinator — recordings are typically made available to registered participants. The slides are self-contained and available at the link on the final slide; the speaker notes contain the verbatim transcript, so the deck stands alone without the recording.</a:t>
            </a:r>
          </a:p>
          <a:p>
            <a:endParaRPr/>
          </a:p>
          <a:p>
            <a:endParaRPr/>
          </a:p>
          <a:p>
            <a:r>
              <a:rPr b="1"/>
              <a:t>─── TRANSCRIPT ───</a:t>
            </a:r>
          </a:p>
          <a:p>
            <a:r>
              <a:t>"Here is how the next ninety minutes runs. Six minutes to open. Twenty for Part One — three ideas that are the whole theoretical foundation. Eighteen for Part Two — what is new and what breaks. Sixteen for Part Three — the architecture. Twenty for Part Four — research, funding and next steps. Ten for Q and A."</a:t>
            </a:r>
          </a:p>
          <a:p>
            <a:r>
              <a:t>"One honest ATAL warning: we usually lose five to eight minutes at the start. If that happens, I will tell you which slides I am compressing. I will never cut the architecture section in Part Three — that section is the reason there is no live demo today. The demo ages badly. The architecture does not."</a:t>
            </a:r>
          </a:p>
          <a:p>
            <a:r>
              <a:t>"If you are a civil or mechanical engineer and you think AI talks are not for you, I need you to stay through Part Three. It is the least technical section and the most reusable."</a:t>
            </a:r>
          </a:p>
          <a:p>
            <a:endParaRPr/>
          </a:p>
          <a:p>
            <a:r>
              <a:rPr b="1"/>
              <a:t>─── ANTICIPATED QUESTIONS ───</a:t>
            </a:r>
          </a:p>
          <a:p>
            <a:r>
              <a:rPr b="1"/>
              <a:t>Q: Why is there no live demo?</a:t>
            </a:r>
          </a:p>
          <a:p>
            <a:r>
              <a:t>A: A live demo on a shared screen fails about a third of the time, and a recorded one shows one model on one dataset, which tells you less than an architecture diagram you can reuse. What replaces it is slide 36 — three free routes to run a system yourself tonight, the fastest of which takes five minutes and needs nothing installed.</a:t>
            </a:r>
          </a:p>
          <a:p>
            <a:endParaRPr/>
          </a:p>
          <a:p>
            <a:r>
              <a:rPr b="1"/>
              <a:t>Q: Can we access the recording after?</a:t>
            </a:r>
          </a:p>
          <a:p>
            <a:r>
              <a:t>A: That is a question for the ATAL coordinator — recordings are typically made available to registered participants. The slides are self-contained and available at the link on the final slide; the speaker notes contain the verbatim transcript, so the deck stands alone without the recording.</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 TRANSCRIPT ───</a:t>
            </a:r>
          </a:p>
          <a:p>
            <a:r>
              <a:t>"Four outcomes. ATAL programmes are assessed, so I am going to read these out."</a:t>
            </a:r>
          </a:p>
          <a:p>
            <a:r>
              <a:t>"One: explain the shared representational space without equations. This is the one idea that makes everything else click, and it fits in a library analogy you can use in your next class."</a:t>
            </a:r>
          </a:p>
          <a:p>
            <a:r>
              <a:t>"Two: choose a fusion strategy for a project and defend the choice. You will practise this in a live poll in Part One. And the correct answer surprises most people."</a:t>
            </a:r>
          </a:p>
          <a:p>
            <a:r>
              <a:t>"Three: draw a complete end-to-end architecture for a multimodal system in your own domain. After today you can put this on a whiteboard."</a:t>
            </a:r>
          </a:p>
          <a:p>
            <a:r>
              <a:t>"Four — this is the one nobody else on this FDP will hand you — frame a specific, evaluable, fundable research proposal. Not a broad area. A specific problem, a specific metric, a specific funder."</a:t>
            </a:r>
          </a:p>
          <a:p>
            <a:r>
              <a:t>"Stay till Part Four for number four."</a:t>
            </a:r>
          </a:p>
          <a:p>
            <a:endParaRPr/>
          </a:p>
          <a:p>
            <a:r>
              <a:rPr b="1"/>
              <a:t>─── ANTICIPATED QUESTIONS ───</a:t>
            </a:r>
          </a:p>
          <a:p>
            <a:r>
              <a:rPr b="1"/>
              <a:t>Q: Do I need to know backpropagation or transformers in detail?</a:t>
            </a:r>
          </a:p>
          <a:p>
            <a:r>
              <a:t>A: No. If you have taught an introductory AI or machine learning course, you have the background. The session deliberately avoids equations except one optional cosine similarity on slide 8. The architecture section — Part Three — is drawn for a solution architect, not a researcher. Civil and mechanical faculty have followed it without any prior ML exposure.</a:t>
            </a:r>
          </a:p>
          <a:p>
            <a:endParaRPr/>
          </a:p>
          <a:p>
            <a:r>
              <a:rPr b="1"/>
              <a:t>Q: How hands-on is this session?</a:t>
            </a:r>
          </a:p>
          <a:p>
            <a:r>
              <a:t>A: Five live chat interactions during the session. No code running or screen sharing during the ninety minutes. The hands-on work is on slide 36 — three routes to run your first multimodal system tonight — because hands-on during an online FDP usually means half the room loses audio during setup. I am saving the ninety minutes for the concepts that are harder to get from a notebook.</a:t>
            </a:r>
          </a:p>
          <a:p>
            <a:endParaRPr/>
          </a:p>
          <a:p>
            <a:r>
              <a:rPr b="1"/>
              <a:t>─── DELIVERY NOTES ───</a:t>
            </a:r>
          </a:p>
          <a:p>
            <a:r>
              <a:t>Read these out - ATAL participants are assessed and they want to know what they are getting. 45 seconds, no more. Tell them outcome 4 is the one nobody else on this FDP will hand them, so stay till the end.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"Part One. Three ideas. Twenty minutes. If you understand these three ideas you understand why multimodal AI works. The rest of the session is what to do with that understanding. Let us go."</a:t>
            </a:r>
          </a:p>
          <a:p>
            <a:endParaRPr/>
          </a:p>
          <a:p>
            <a:r>
              <a:rPr b="1"/>
              <a:t>─── DELIVERY NOTES ───</a:t>
            </a:r>
          </a:p>
          <a:p>
            <a:r>
              <a:t>20 minutes for this section, including the two-minute fusion round on slides 12-13. Resist going deeper than this - the room is faculty from many departments, not only CSE, and there will be mechanical and civil colleagues present. Concepts, not equations. If you want one equation, use the cosine similarity on the embedding slide and nothing else.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a:p>
            <a:endParaRPr/>
          </a:p>
          <a:p>
            <a:r>
              <a:rPr b="1"/>
              <a:t>─── TRANSCRIPT ───</a:t>
            </a:r>
          </a:p>
          <a:p>
            <a:r>
              <a:t>"Part One. Three ideas. Twenty minutes. If you understand these three ideas you understand why multimodal AI works. The rest of the session is what to do with that understanding. Let us go."</a:t>
            </a:r>
          </a:p>
          <a:p>
            <a:endParaRPr/>
          </a:p>
          <a:p>
            <a:r>
              <a:rPr b="1"/>
              <a:t>─── ANTICIPATED QUESTIONS ───</a:t>
            </a:r>
          </a:p>
          <a:p>
            <a:endParaRPr/>
          </a:p>
          <a:p>
            <a:r>
              <a:rPr b="1"/>
              <a:t>─── TRANSCRIPT ───</a:t>
            </a:r>
          </a:p>
          <a:p>
            <a:r>
              <a:t>"Part One. Three ideas. Twenty minutes. If you understand these three ideas you understand why multimodal AI works. The rest of the session is what to do with that understanding. Let us go."</a:t>
            </a:r>
          </a:p>
          <a:p>
            <a:endParaRPr/>
          </a:p>
          <a:p>
            <a:r>
              <a:rPr b="1"/>
              <a:t>─── ANTICIPATED QUESTIONS ───</a:t>
            </a: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"A modality is just a kind of signal. Text: documents, code, chat logs. Vision: photographs, scans, video, charts. Audio: speech, machinery sound, music. Structured: tables, sensors, time series."</a:t>
            </a:r>
          </a:p>
          <a:p>
            <a:r>
              <a:t>"Humans switch between these without noticing. You read a document, glance at a chart, listen to a message, check a table — and your brain integrates all four into one picture of the situation. Machines historically could not do this. Each modality had its own model, its own team, its own pipeline."</a:t>
            </a:r>
          </a:p>
          <a:p>
            <a:r>
              <a:t>"Now the key line: multimodal AI is not four models in a trench coat." [pause for the laugh] "That is the joke. The serious point is that four models that see one signal each and pass their outputs to a coordinator is the 2019 architecture. A multimodal model is a single model trained so that an image of a dog, the phrase 'a dog', and the sound of a bark all land in the same region of the model's internal space. That shared region is the entire trick."</a:t>
            </a:r>
          </a:p>
          <a:p>
            <a:r>
              <a:t>"Scoping note: this session is about understanding across modalities — reading, reasoning, comprehending. Generation from text prompts is the next session on NLP and generative AI."</a:t>
            </a:r>
          </a:p>
          <a:p>
            <a:endParaRPr/>
          </a:p>
          <a:p>
            <a:r>
              <a:rPr b="1"/>
              <a:t>─── ANTICIPATED QUESTIONS ───</a:t>
            </a:r>
          </a:p>
          <a:p>
            <a:r>
              <a:rPr b="1"/>
              <a:t>Q: Is video just a sequence of images?</a:t>
            </a:r>
          </a:p>
          <a:p>
            <a:r>
              <a:t>A: Video is sampled frames plus, optionally, audio and subtitle tracks. Current models handle it by sampling — typically one to two frames per second — and treating the result as a batch of images. The limitation: sampling can miss the event you care about. This is the long-video failure on slide 20 and an open research problem worth a proposal.</a:t>
            </a:r>
          </a:p>
          <a:p>
            <a:endParaRPr/>
          </a:p>
          <a:p>
            <a:r>
              <a:rPr b="1"/>
              <a:t>Q: What about 3D data — LiDAR, point clouds?</a:t>
            </a:r>
          </a:p>
          <a:p>
            <a:r>
              <a:t>A: An emerging fifth modality, primarily in autonomous vehicles, robotics, and infrastructure inspection. The shared-space approach works — tokenise the point cloud into a sequence, feed it to a transformer. The gap is paired training data: far less exists for 3D than for text-image pairs, so models are weaker. If your domain involves 3D sensing this is a genuinely open and locally fundable research area with almost no competition from established labs.</a:t>
            </a:r>
          </a:p>
          <a:p>
            <a:endParaRPr/>
          </a:p>
          <a:p>
            <a:r>
              <a:rPr b="1"/>
              <a:t>Q: Is this different from transfer learning?</a:t>
            </a:r>
          </a:p>
          <a:p>
            <a:r>
              <a:t>A: Transfer learning is about moving weights from one task to another. What this session covers is training a single model to handle multiple input types jointly. They coexist: the individual encoders inside a multimodal model are typically initialised using transfer learning from domain-specific pre-training before being fine-tuned jointly. They are complementary techniques.</a:t>
            </a:r>
          </a:p>
          <a:p>
            <a:endParaRPr/>
          </a:p>
          <a:p>
            <a:r>
              <a:rPr b="1"/>
              <a:t>─── DELIVERY NOTES ───</a:t>
            </a:r>
          </a:p>
          <a:p>
            <a:r>
              <a:rPr lang="en-US" dirty="0"/>
              <a:t>The trench coat line usually gets a laugh. Use it. The serious point after it: shared space is the whole trick, and the next four slides explain it.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a:p>
            <a:endParaRPr/>
          </a:p>
          <a:p>
            <a:r>
              <a:rPr b="1"/>
              <a:t>─── TRANSCRIPT ───</a:t>
            </a:r>
          </a:p>
          <a:p>
            <a:r>
              <a:t>"A modality is just a kind of signal. Text: documents, code, chat logs. Vision: photographs, scans, video, charts. Audio: speech, machinery sound, music. Structured: tables, sensors, time series."</a:t>
            </a:r>
          </a:p>
          <a:p>
            <a:r>
              <a:t>"Humans switch between these without noticing. You read a document, glance at a chart, listen to a message, check a table — and your brain integrates all four into one picture of the situation. Machines historically could not do this. Each modality had its own model, its own team, its own pipeline."</a:t>
            </a:r>
          </a:p>
          <a:p>
            <a:r>
              <a:t>"Now the key line: multimodal AI is not four models in a trench coat." [pause for the laugh] "That is the joke. The serious point is that four models that see one signal each and pass their outputs to a coordinator is the 2019 architecture. A multimodal model is a single model trained so that an image of a dog, the phrase 'a dog', and the sound of a bark all land in the same region of the model's internal space. That shared region is the entire trick."</a:t>
            </a:r>
          </a:p>
          <a:p>
            <a:r>
              <a:t>"Scoping note: this session is about understanding across modalities — reading, reasoning, comprehending. Generation from text prompts is the next session on NLP and generative AI."</a:t>
            </a:r>
          </a:p>
          <a:p>
            <a:endParaRPr/>
          </a:p>
          <a:p>
            <a:r>
              <a:rPr b="1"/>
              <a:t>─── ANTICIPATED QUESTIONS ───</a:t>
            </a:r>
          </a:p>
          <a:p>
            <a:r>
              <a:rPr b="1"/>
              <a:t>Q: Is video just a sequence of images?</a:t>
            </a:r>
          </a:p>
          <a:p>
            <a:r>
              <a:t>A: Video is sampled frames plus, optionally, audio and subtitle tracks. Current models handle it by sampling — typically one to two frames per second — and treating the result as a batch of images. The limitation: sampling can miss the event you care about. This is the long-video failure on slide 20 and an open research problem worth a proposal.</a:t>
            </a:r>
          </a:p>
          <a:p>
            <a:endParaRPr/>
          </a:p>
          <a:p>
            <a:r>
              <a:rPr b="1"/>
              <a:t>Q: What about 3D data — LiDAR, point clouds?</a:t>
            </a:r>
          </a:p>
          <a:p>
            <a:r>
              <a:t>A: An emerging fifth modality, primarily in autonomous vehicles, robotics, and infrastructure inspection. The shared-space approach works — tokenise the point cloud into a sequence, feed it to a transformer. The gap is paired training data: far less exists for 3D than for text-image pairs, so models are weaker. If your domain involves 3D sensing this is a genuinely open and locally fundable research area with almost no competition from established labs.</a:t>
            </a:r>
          </a:p>
          <a:p>
            <a:endParaRPr/>
          </a:p>
          <a:p>
            <a:r>
              <a:rPr b="1"/>
              <a:t>Q: Is this different from transfer learning?</a:t>
            </a:r>
          </a:p>
          <a:p>
            <a:r>
              <a:t>A: Transfer learning is about moving weights from one task to another. What this session covers is training a single model to handle multiple input types jointly. They coexist: the individual encoders inside a multimodal model are typically initialised using transfer learning from domain-specific pre-training before being fine-tuned jointly. They are complementary techniques.</a:t>
            </a:r>
          </a:p>
          <a:p>
            <a:endParaRPr/>
          </a:p>
          <a:p>
            <a:endParaRPr/>
          </a:p>
          <a:p>
            <a:r>
              <a:rPr b="1"/>
              <a:t>─── TRANSCRIPT ───</a:t>
            </a:r>
          </a:p>
          <a:p>
            <a:r>
              <a:t>"A modality is just a kind of signal. Text: documents, code, chat logs. Vision: photographs, scans, video, charts. Audio: speech, machinery sound, music. Structured: tables, sensors, time series."</a:t>
            </a:r>
          </a:p>
          <a:p>
            <a:r>
              <a:t>"Humans switch between these without noticing. You read a document, glance at a chart, listen to a message, check a table — and your brain integrates all four into one picture of the situation. Machines historically could not do this. Each modality had its own model, its own team, its own pipeline."</a:t>
            </a:r>
          </a:p>
          <a:p>
            <a:r>
              <a:t>"Now the key line: multimodal AI is not four models in a trench coat." [pause for the laugh] "That is the joke. The serious point is that four models that see one signal each and pass their outputs to a coordinator is the 2019 architecture. A multimodal model is a single model trained so that an image of a dog, the phrase 'a dog', and the sound of a bark all land in the same region of the model's internal space. That shared region is the entire trick."</a:t>
            </a:r>
          </a:p>
          <a:p>
            <a:r>
              <a:t>"Scoping note: this session is about understanding across modalities — reading, reasoning, comprehending. Generation from text prompts is the next session on NLP and generative AI."</a:t>
            </a:r>
          </a:p>
          <a:p>
            <a:endParaRPr/>
          </a:p>
          <a:p>
            <a:r>
              <a:rPr b="1"/>
              <a:t>─── ANTICIPATED QUESTIONS ───</a:t>
            </a:r>
          </a:p>
          <a:p>
            <a:r>
              <a:rPr b="1"/>
              <a:t>Q: Is video just a sequence of images?</a:t>
            </a:r>
          </a:p>
          <a:p>
            <a:r>
              <a:t>A: Video is sampled frames plus, optionally, audio and subtitle tracks. Current models handle it by sampling — typically one to two frames per second — and treating the result as a batch of images. The limitation: sampling can miss the event you care about. This is the long-video failure on slide 20 and an open research problem worth a proposal.</a:t>
            </a:r>
          </a:p>
          <a:p>
            <a:endParaRPr/>
          </a:p>
          <a:p>
            <a:r>
              <a:rPr b="1"/>
              <a:t>Q: What about 3D data — LiDAR, point clouds?</a:t>
            </a:r>
          </a:p>
          <a:p>
            <a:r>
              <a:t>A: An emerging fifth modality, primarily in autonomous vehicles, robotics, and infrastructure inspection. The shared-space approach works — tokenise the point cloud into a sequence, feed it to a transformer. The gap is paired training data: far less exists for 3D than for text-image pairs, so models are weaker. If your domain involves 3D sensing this is a genuinely open and locally fundable research area with almost no competition from established labs.</a:t>
            </a:r>
          </a:p>
          <a:p>
            <a:endParaRPr/>
          </a:p>
          <a:p>
            <a:r>
              <a:rPr b="1"/>
              <a:t>Q: Is this different from transfer learning?</a:t>
            </a:r>
          </a:p>
          <a:p>
            <a:r>
              <a:t>A: Transfer learning is about moving weights from one task to another. What this session covers is training a single model to handle multiple input types jointly. They coexist: the individual encoders inside a multimodal model are typically initialised using transfer learning from domain-specific pre-training before being fine-tuned jointly. They are complementary techniques.</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"Here is what the old architecture looks like. Most of us in this room have either built it or taught it."</a:t>
            </a:r>
          </a:p>
          <a:p>
            <a:r>
              <a:t>"An OCR engine reads the scan. A CNN classifier labels the image. An ASR system transcribes speech. An NLP pipeline parses the text. A human reads all four outputs and makes the call."</a:t>
            </a:r>
          </a:p>
          <a:p>
            <a:r>
              <a:t>"Four codebases. No shared meaning. The CNN never knew what the transcript said. The NLP pipeline never saw the image. And when something went wrong — which it always did — the failure lived between the boxes, not inside them. Most failures happened in the glue."</a:t>
            </a:r>
          </a:p>
          <a:p>
            <a:r>
              <a:t>"I want to be honest with this room: if you are still teaching this as the current state of the art, you are teaching what was true in 2019. Many syllabi have not caught up."</a:t>
            </a:r>
          </a:p>
          <a:p>
            <a:r>
              <a:t>Chat poll now: "How many of you teach OCR and CNN classification as separate units? Just type yes or no in the chat." Read the results. "If you said yes: what you teach is still valid as historical context and for constrained, high-volume, uniform-document pipelines. What has changed is that for messy, varied, real-world data, the multimodal model now wins."</a:t>
            </a:r>
          </a:p>
          <a:p>
            <a:endParaRPr/>
          </a:p>
          <a:p>
            <a:r>
              <a:rPr b="1"/>
              <a:t>─── ANTICIPATED QUESTIONS ───</a:t>
            </a:r>
          </a:p>
          <a:p>
            <a:r>
              <a:rPr b="1"/>
              <a:t>Q: Is a dedicated OCR engine really worse than a multimodal model?</a:t>
            </a:r>
          </a:p>
          <a:p>
            <a:r>
              <a:t>A: For clean, typed, well-scanned documents of a uniform format, a dedicated OCR engine is still cheaper, faster and more predictable. The multimodal model's advantage is in the tail: degraded scans, mixed languages, handwritten margins, forms where the field meaning depends on layout context. Most institutional records — old admission registers, lab notebooks, field forms — are in the tail. On those, the multimodal model wins in practice.</a:t>
            </a:r>
          </a:p>
          <a:p>
            <a:endParaRPr/>
          </a:p>
          <a:p>
            <a:r>
              <a:rPr b="1"/>
              <a:t>Q: Isn't a human at the end a feature, not a bug?</a:t>
            </a:r>
          </a:p>
          <a:p>
            <a:r>
              <a:t>A: Absolutely, and slide 23 puts the human review queue in explicitly as stage five of the architecture. The difference is targeting. In the old architecture every output goes to a human because nothing can synthesise across modalities. In the new one, only uncertain or high-stakes cases go to a human — cases below a confidence threshold. That is not removing the human; it is directing their attention where it matters most.</a:t>
            </a:r>
          </a:p>
          <a:p>
            <a:endParaRPr/>
          </a:p>
          <a:p>
            <a:r>
              <a:rPr b="1"/>
              <a:t>─── DELIVERY NOTES ───</a:t>
            </a:r>
          </a:p>
          <a:p>
            <a:r>
              <a:t>Most of this room taught or built systems on this architecture, and many still teach it as the current state of the art. That is the point to make gently: the syllabus in most colleges still stops at the left half of this slide. Ask in chat how many still teach OCR and CNN classification as separate units. The hands go up.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a:p>
            <a:endParaRPr/>
          </a:p>
          <a:p>
            <a:r>
              <a:rPr b="1"/>
              <a:t>─── TRANSCRIPT ───</a:t>
            </a:r>
          </a:p>
          <a:p>
            <a:r>
              <a:t>"Here is what the old architecture looks like. Most of us in this room have either built it or taught it."</a:t>
            </a:r>
          </a:p>
          <a:p>
            <a:r>
              <a:t>"An OCR engine reads the scan. A CNN classifier labels the image. An ASR system transcribes speech. An NLP pipeline parses the text. A human reads all four outputs and makes the call."</a:t>
            </a:r>
          </a:p>
          <a:p>
            <a:r>
              <a:t>"Four codebases. No shared meaning. The CNN never knew what the transcript said. The NLP pipeline never saw the image. And when something went wrong — which it always did — the failure lived between the boxes, not inside them. Most failures happened in the glue."</a:t>
            </a:r>
          </a:p>
          <a:p>
            <a:r>
              <a:t>"I want to be honest with this room: if you are still teaching this as the current state of the art, you are teaching what was true in 2019. Many syllabi have not caught up."</a:t>
            </a:r>
          </a:p>
          <a:p>
            <a:r>
              <a:t>Chat poll now: "How many of you teach OCR and CNN classification as separate units? Just type yes or no in the chat." Read the results. "If you said yes: what you teach is still valid as historical context and for constrained, high-volume, uniform-document pipelines. What has changed is that for messy, varied, real-world data, the multimodal model now wins."</a:t>
            </a:r>
          </a:p>
          <a:p>
            <a:endParaRPr/>
          </a:p>
          <a:p>
            <a:r>
              <a:rPr b="1"/>
              <a:t>─── ANTICIPATED QUESTIONS ───</a:t>
            </a:r>
          </a:p>
          <a:p>
            <a:r>
              <a:rPr b="1"/>
              <a:t>Q: Is a dedicated OCR engine really worse than a multimodal model?</a:t>
            </a:r>
          </a:p>
          <a:p>
            <a:r>
              <a:t>A: For clean, typed, well-scanned documents of a uniform format, a dedicated OCR engine is still cheaper, faster and more predictable. The multimodal model's advantage is in the tail: degraded scans, mixed languages, handwritten margins, forms where the field meaning depends on layout context. Most institutional records — old admission registers, lab notebooks, field forms — are in the tail. On those, the multimodal model wins in practice.</a:t>
            </a:r>
          </a:p>
          <a:p>
            <a:endParaRPr/>
          </a:p>
          <a:p>
            <a:r>
              <a:rPr b="1"/>
              <a:t>Q: Isn't a human at the end a feature, not a bug?</a:t>
            </a:r>
          </a:p>
          <a:p>
            <a:r>
              <a:t>A: Absolutely, and slide 23 puts the human review queue in explicitly as stage five of the architecture. The difference is targeting. In the old architecture every output goes to a human because nothing can synthesise across modalities. In the new one, only uncertain or high-stakes cases go to a human — cases below a confidence threshold. That is not removing the human; it is directing their attention where it matters most.</a:t>
            </a:r>
          </a:p>
          <a:p>
            <a:endParaRPr/>
          </a:p>
          <a:p>
            <a:endParaRPr/>
          </a:p>
          <a:p>
            <a:r>
              <a:rPr b="1"/>
              <a:t>─── TRANSCRIPT ───</a:t>
            </a:r>
          </a:p>
          <a:p>
            <a:r>
              <a:t>"Here is what the old architecture looks like. Most of us in this room have either built it or taught it."</a:t>
            </a:r>
          </a:p>
          <a:p>
            <a:r>
              <a:t>"An OCR engine reads the scan. A CNN classifier labels the image. An ASR system transcribes speech. An NLP pipeline parses the text. A human reads all four outputs and makes the call."</a:t>
            </a:r>
          </a:p>
          <a:p>
            <a:r>
              <a:t>"Four codebases. No shared meaning. The CNN never knew what the transcript said. The NLP pipeline never saw the image. And when something went wrong — which it always did — the failure lived between the boxes, not inside them. Most failures happened in the glue."</a:t>
            </a:r>
          </a:p>
          <a:p>
            <a:r>
              <a:t>"I want to be honest with this room: if you are still teaching this as the current state of the art, you are teaching what was true in 2019. Many syllabi have not caught up."</a:t>
            </a:r>
          </a:p>
          <a:p>
            <a:r>
              <a:t>Chat poll now: "How many of you teach OCR and CNN classification as separate units? Just type yes or no in the chat." Read the results. "If you said yes: what you teach is still valid as historical context and for constrained, high-volume, uniform-document pipelines. What has changed is that for messy, varied, real-world data, the multimodal model now wins."</a:t>
            </a:r>
          </a:p>
          <a:p>
            <a:endParaRPr/>
          </a:p>
          <a:p>
            <a:r>
              <a:rPr b="1"/>
              <a:t>─── ANTICIPATED QUESTIONS ───</a:t>
            </a:r>
          </a:p>
          <a:p>
            <a:r>
              <a:rPr b="1"/>
              <a:t>Q: Is a dedicated OCR engine really worse than a multimodal model?</a:t>
            </a:r>
          </a:p>
          <a:p>
            <a:r>
              <a:t>A: For clean, typed, well-scanned documents of a uniform format, a dedicated OCR engine is still cheaper, faster and more predictable. The multimodal model's advantage is in the tail: degraded scans, mixed languages, handwritten margins, forms where the field meaning depends on layout context. Most institutional records — old admission registers, lab notebooks, field forms — are in the tail. On those, the multimodal model wins in practice.</a:t>
            </a:r>
          </a:p>
          <a:p>
            <a:endParaRPr/>
          </a:p>
          <a:p>
            <a:r>
              <a:rPr b="1"/>
              <a:t>Q: Isn't a human at the end a feature, not a bug?</a:t>
            </a:r>
          </a:p>
          <a:p>
            <a:r>
              <a:t>A: Absolutely, and slide 23 puts the human review queue in explicitly as stage five of the architecture. The difference is targeting. In the old architecture every output goes to a human because nothing can synthesise across modalities. In the new one, only uncertain or high-stakes cases go to a human — cases below a confidence threshold. That is not removing the human; it is directing their attention where it matters most.</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"First of three ideas: everything becomes a list of numbers."</a:t>
            </a:r>
          </a:p>
          <a:p>
            <a:r>
              <a:t>"An embedding is a coordinate. The model has an encoder — a function that takes any input and produces a vector of numbers. The word 'dog', a photograph of a dog, and a recording of a bark each go through their respective encoders. And all three land in nearly the same region of the vector space."</a:t>
            </a:r>
          </a:p>
          <a:p>
            <a:r>
              <a:t>"Analogy: imagine a library where books, films and recordings about the same subject are shelved together, not in separate rooms by format. Once you have that library, comparing a picture to a sentence is just arithmetic — you measure the distance between their coordinates."</a:t>
            </a:r>
          </a:p>
          <a:p>
            <a:r>
              <a:t>"The vectors are typically 768 to 4,096 numbers long. The exact size matters less than the geometry: the training process shapes the space so that things with similar meaning land close together. Distance in this space is meaning."</a:t>
            </a:r>
          </a:p>
          <a:p>
            <a:r>
              <a:t>"If you want the one equation I will use in Part One: cosine similarity. The angle between two vectors measures how similar they are regardless of their length. Zero degrees means identical meaning. Ninety degrees means unrelated. That is it."</a:t>
            </a:r>
          </a:p>
          <a:p>
            <a:endParaRPr/>
          </a:p>
          <a:p>
            <a:r>
              <a:rPr b="1"/>
              <a:t>─── ANTICIPATED QUESTIONS ───</a:t>
            </a:r>
          </a:p>
          <a:p>
            <a:r>
              <a:rPr b="1"/>
              <a:t>Q: How many dimensions do models actually use?</a:t>
            </a:r>
          </a:p>
          <a:p>
            <a:r>
              <a:t>A: It varies. BERT used 768. Current large models use 3,072 to 8,192 for internal hidden states, though embeddings used for similarity search are often projected down to 1,024 or 1,536 dimensions for efficiency. The number matters for storage and speed, not for the concept — the space just needs to be large enough to represent fine distinctions.</a:t>
            </a:r>
          </a:p>
          <a:p>
            <a:endParaRPr/>
          </a:p>
          <a:p>
            <a:r>
              <a:rPr b="1"/>
              <a:t>Q: Does cosine similarity actually work — isn't the space mostly empty at high dimensions?</a:t>
            </a:r>
          </a:p>
          <a:p>
            <a:r>
              <a:t>A: The curse of dimensionality is a real concern for random high-dimensional spaces. But embeddings are not random — the training signal pushes semantically similar things close together and different things apart, so the occupied region of the space has meaningful structure. Whether cosine similarity is the optimal metric or whether learned distance functions would do better is a legitimate research question and a fundable one.</a:t>
            </a:r>
          </a:p>
          <a:p>
            <a:endParaRPr/>
          </a:p>
          <a:p>
            <a:r>
              <a:rPr b="1"/>
              <a:t>Q: Can we visualise these spaces?</a:t>
            </a:r>
          </a:p>
          <a:p>
            <a:r>
              <a:t>A: Yes — UMAP and t-SNE project them to 2D or 3D and cluster meaningfully. Visualising an embedding space is a good lab exercise and a publishable component of a dataset paper: it demonstrates that your domain-specific embeddings form sensible clusters, which is evidence that the model understands your domain.</a:t>
            </a:r>
          </a:p>
          <a:p>
            <a:endParaRPr/>
          </a:p>
          <a:p>
            <a:r>
              <a:rPr b="1"/>
              <a:t>─── DELIVERY NOTES ───</a:t>
            </a:r>
          </a:p>
          <a:p>
            <a:r>
              <a:rPr lang="en-US" dirty="0"/>
              <a:t>If only one idea survives the talk, make it this one. Analogy that works: a library where books, films and songs about the same subject are shelved together, instead of separate rooms by format.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a:p>
            <a:endParaRPr/>
          </a:p>
          <a:p>
            <a:r>
              <a:rPr b="1"/>
              <a:t>─── TRANSCRIPT ───</a:t>
            </a:r>
          </a:p>
          <a:p>
            <a:r>
              <a:t>"First of three ideas: everything becomes a list of numbers."</a:t>
            </a:r>
          </a:p>
          <a:p>
            <a:r>
              <a:t>"An embedding is a coordinate. The model has an encoder — a function that takes any input and produces a vector of numbers. The word 'dog', a photograph of a dog, and a recording of a bark each go through their respective encoders. And all three land in nearly the same region of the vector space."</a:t>
            </a:r>
          </a:p>
          <a:p>
            <a:r>
              <a:t>"Analogy: imagine a library where books, films and recordings about the same subject are shelved together, not in separate rooms by format. Once you have that library, comparing a picture to a sentence is just arithmetic — you measure the distance between their coordinates."</a:t>
            </a:r>
          </a:p>
          <a:p>
            <a:r>
              <a:t>"The vectors are typically 768 to 4,096 numbers long. The exact size matters less than the geometry: the training process shapes the space so that things with similar meaning land close together. Distance in this space is meaning."</a:t>
            </a:r>
          </a:p>
          <a:p>
            <a:r>
              <a:t>"If you want the one equation I will use in Part One: cosine similarity. The angle between two vectors measures how similar they are regardless of their length. Zero degrees means identical meaning. Ninety degrees means unrelated. That is it."</a:t>
            </a:r>
          </a:p>
          <a:p>
            <a:endParaRPr/>
          </a:p>
          <a:p>
            <a:r>
              <a:rPr b="1"/>
              <a:t>─── ANTICIPATED QUESTIONS ───</a:t>
            </a:r>
          </a:p>
          <a:p>
            <a:r>
              <a:rPr b="1"/>
              <a:t>Q: How many dimensions do models actually use?</a:t>
            </a:r>
          </a:p>
          <a:p>
            <a:r>
              <a:t>A: It varies. BERT used 768. Current large models use 3,072 to 8,192 for internal hidden states, though embeddings used for similarity search are often projected down to 1,024 or 1,536 dimensions for efficiency. The number matters for storage and speed, not for the concept — the space just needs to be large enough to represent fine distinctions.</a:t>
            </a:r>
          </a:p>
          <a:p>
            <a:endParaRPr/>
          </a:p>
          <a:p>
            <a:r>
              <a:rPr b="1"/>
              <a:t>Q: Does cosine similarity actually work — isn't the space mostly empty at high dimensions?</a:t>
            </a:r>
          </a:p>
          <a:p>
            <a:r>
              <a:t>A: The curse of dimensionality is a real concern for random high-dimensional spaces. But embeddings are not random — the training signal pushes semantically similar things close together and different things apart, so the occupied region of the space has meaningful structure. Whether cosine similarity is the optimal metric or whether learned distance functions would do better is a legitimate research question and a fundable one.</a:t>
            </a:r>
          </a:p>
          <a:p>
            <a:endParaRPr/>
          </a:p>
          <a:p>
            <a:r>
              <a:rPr b="1"/>
              <a:t>Q: Can we visualise these spaces?</a:t>
            </a:r>
          </a:p>
          <a:p>
            <a:r>
              <a:t>A: Yes — UMAP and t-SNE project them to 2D or 3D and cluster meaningfully. Visualising an embedding space is a good lab exercise and a publishable component of a dataset paper: it demonstrates that your domain-specific embeddings form sensible clusters, which is evidence that the model understands your domain.</a:t>
            </a:r>
          </a:p>
          <a:p>
            <a:endParaRPr/>
          </a:p>
          <a:p>
            <a:endParaRPr/>
          </a:p>
          <a:p>
            <a:r>
              <a:rPr b="1"/>
              <a:t>─── TRANSCRIPT ───</a:t>
            </a:r>
          </a:p>
          <a:p>
            <a:r>
              <a:t>"First of three ideas: everything becomes a list of numbers."</a:t>
            </a:r>
          </a:p>
          <a:p>
            <a:r>
              <a:t>"An embedding is a coordinate. The model has an encoder — a function that takes any input and produces a vector of numbers. The word 'dog', a photograph of a dog, and a recording of a bark each go through their respective encoders. And all three land in nearly the same region of the vector space."</a:t>
            </a:r>
          </a:p>
          <a:p>
            <a:r>
              <a:t>"Analogy: imagine a library where books, films and recordings about the same subject are shelved together, not in separate rooms by format. Once you have that library, comparing a picture to a sentence is just arithmetic — you measure the distance between their coordinates."</a:t>
            </a:r>
          </a:p>
          <a:p>
            <a:r>
              <a:t>"The vectors are typically 768 to 4,096 numbers long. The exact size matters less than the geometry: the training process shapes the space so that things with similar meaning land close together. Distance in this space is meaning."</a:t>
            </a:r>
          </a:p>
          <a:p>
            <a:r>
              <a:t>"If you want the one equation I will use in Part One: cosine similarity. The angle between two vectors measures how similar they are regardless of their length. Zero degrees means identical meaning. Ninety degrees means unrelated. That is it."</a:t>
            </a:r>
          </a:p>
          <a:p>
            <a:endParaRPr/>
          </a:p>
          <a:p>
            <a:r>
              <a:rPr b="1"/>
              <a:t>─── ANTICIPATED QUESTIONS ───</a:t>
            </a:r>
          </a:p>
          <a:p>
            <a:r>
              <a:rPr b="1"/>
              <a:t>Q: How many dimensions do models actually use?</a:t>
            </a:r>
          </a:p>
          <a:p>
            <a:r>
              <a:t>A: It varies. BERT used 768. Current large models use 3,072 to 8,192 for internal hidden states, though embeddings used for similarity search are often projected down to 1,024 or 1,536 dimensions for efficiency. The number matters for storage and speed, not for the concept — the space just needs to be large enough to represent fine distinctions.</a:t>
            </a:r>
          </a:p>
          <a:p>
            <a:endParaRPr/>
          </a:p>
          <a:p>
            <a:r>
              <a:rPr b="1"/>
              <a:t>Q: Does cosine similarity actually work — isn't the space mostly empty at high dimensions?</a:t>
            </a:r>
          </a:p>
          <a:p>
            <a:r>
              <a:t>A: The curse of dimensionality is a real concern for random high-dimensional spaces. But embeddings are not random — the training signal pushes semantically similar things close together and different things apart, so the occupied region of the space has meaningful structure. Whether cosine similarity is the optimal metric or whether learned distance functions would do better is a legitimate research question and a fundable one.</a:t>
            </a:r>
          </a:p>
          <a:p>
            <a:endParaRPr/>
          </a:p>
          <a:p>
            <a:r>
              <a:rPr b="1"/>
              <a:t>Q: Can we visualise these spaces?</a:t>
            </a:r>
          </a:p>
          <a:p>
            <a:r>
              <a:t>A: Yes — UMAP and t-SNE project them to 2D or 3D and cluster meaningfully. Visualising an embedding space is a good lab exercise and a publishable component of a dataset paper: it demonstrates that your domain-specific embeddings form sensible clusters, which is evidence that the model understands your domain.</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"Second idea: how the shared space gets built. The answer is contrastive training."</a:t>
            </a:r>
          </a:p>
          <a:p>
            <a:r>
              <a:t>"Show the model hundreds of millions of pairs — a caption and the image it describes. For each true pair, adjust the weights to pull the two vectors closer together. For every other caption in the same training batch — which is a wrong answer for that image — push the vectors apart."</a:t>
            </a:r>
          </a:p>
          <a:p>
            <a:r>
              <a:t>"Nobody labelled these pairs by hand. The internet already had hundreds of millions of images sitting next to their captions — in news articles, Wikipedia, academic papers, social media. That accident of web structure is what made this possible. The training data existed before anyone knew what to do with it."</a:t>
            </a:r>
          </a:p>
          <a:p>
            <a:r>
              <a:t>"The canonical reference is CLIP — Contrastive Language-Image Pre-training, Radford and colleagues at OpenAI, 2021, trained on 400 million image-text pairs. If you write a proposal in this area, cite it. Reviewers will expect it in your literature review. The arXiv ID is 2103.00020."</a:t>
            </a:r>
          </a:p>
          <a:p>
            <a:r>
              <a:t>"All modern frontier multimodal models — Gemini, Claude, GPT-4o, Gemma 4, Qwen 3.8 — are trained on variations of this approach at far larger scale. The paradigm from 2021 is still the foundation."</a:t>
            </a:r>
          </a:p>
          <a:p>
            <a:endParaRPr/>
          </a:p>
          <a:p>
            <a:r>
              <a:rPr b="1"/>
              <a:t>─── ANTICIPATED QUESTIONS ───</a:t>
            </a:r>
          </a:p>
          <a:p>
            <a:r>
              <a:rPr b="1"/>
              <a:t>Q: Is CLIP still the best approach or has it been superseded?</a:t>
            </a:r>
          </a:p>
          <a:p>
            <a:r>
              <a:t>A: CLIP established the paradigm. Modern models combine the contrastive objective with generative training — the model learns to both match images to captions and to generate captions from images — which improves performance on tasks that require understanding beyond retrieval. But the core insight — learn a shared space by training on paired data at massive scale — remains the foundation of every current frontier multimodal model.</a:t>
            </a:r>
          </a:p>
          <a:p>
            <a:endParaRPr/>
          </a:p>
          <a:p>
            <a:r>
              <a:rPr b="1"/>
              <a:t>Q: How are the negative pairs selected?</a:t>
            </a:r>
          </a:p>
          <a:p>
            <a:r>
              <a:t>A: In CLIP, every other item in the training batch is a negative. With batch size 32,768, each image is contrasted against 32,767 wrong captions simultaneously. Larger batches were one of the key ingredients that made the approach work — they provide harder negatives. Finding the hardest negatives — wrong captions that are almost right — is still an active research area and a publishable contribution if you propose a method for a specific domain.</a:t>
            </a:r>
          </a:p>
          <a:p>
            <a:endParaRPr/>
          </a:p>
          <a:p>
            <a:r>
              <a:rPr b="1"/>
              <a:t>Q: What happens when the same image has multiple valid captions?</a:t>
            </a:r>
          </a:p>
          <a:p>
            <a:r>
              <a:t>A: This is a genuine limitation. The contrastive loss pushes the single provided caption toward the image and all other captions away — including other valid ones. Modern training pipelines use multiple captions per image and modified loss functions to handle this, but it is not fully solved. It contributes to the confident-wrong-answers failure on slide 20: the model cannot express uncertainty about which of several valid descriptions is intended.</a:t>
            </a:r>
          </a:p>
          <a:p>
            <a:endParaRPr/>
          </a:p>
          <a:p>
            <a:r>
              <a:rPr b="1"/>
              <a:t>─── DELIVERY NOTES ───</a:t>
            </a:r>
          </a:p>
          <a:p>
            <a:r>
              <a:rPr lang="en-US" dirty="0"/>
              <a:t>CLIP is the canonical reference here (Radford et al., 2021; 400 million image-text pairs) - name it, the researchers will want the citation. Emphasise the data point: supervision came free from the structure of the web.</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a:p>
            <a:endParaRPr/>
          </a:p>
          <a:p>
            <a:r>
              <a:rPr b="1"/>
              <a:t>─── TRANSCRIPT ───</a:t>
            </a:r>
          </a:p>
          <a:p>
            <a:r>
              <a:t>"Second idea: how the shared space gets built. The answer is contrastive training."</a:t>
            </a:r>
          </a:p>
          <a:p>
            <a:r>
              <a:t>"Show the model hundreds of millions of pairs — a caption and the image it describes. For each true pair, adjust the weights to pull the two vectors closer together. For every other caption in the same training batch — which is a wrong answer for that image — push the vectors apart."</a:t>
            </a:r>
          </a:p>
          <a:p>
            <a:r>
              <a:t>"Nobody labelled these pairs by hand. The internet already had hundreds of millions of images sitting next to their captions — in news articles, Wikipedia, academic papers, social media. That accident of web structure is what made this possible. The training data existed before anyone knew what to do with it."</a:t>
            </a:r>
          </a:p>
          <a:p>
            <a:r>
              <a:t>"The canonical reference is CLIP — Contrastive Language-Image Pre-training, Radford and colleagues at OpenAI, 2021, trained on 400 million image-text pairs. If you write a proposal in this area, cite it. Reviewers will expect it in your literature review. The arXiv ID is 2103.00020."</a:t>
            </a:r>
          </a:p>
          <a:p>
            <a:r>
              <a:t>"All modern frontier multimodal models — Gemini, Claude, GPT-4o, Gemma 4, Qwen 3.8 — are trained on variations of this approach at far larger scale. The paradigm from 2021 is still the foundation."</a:t>
            </a:r>
          </a:p>
          <a:p>
            <a:endParaRPr/>
          </a:p>
          <a:p>
            <a:r>
              <a:rPr b="1"/>
              <a:t>─── ANTICIPATED QUESTIONS ───</a:t>
            </a:r>
          </a:p>
          <a:p>
            <a:r>
              <a:rPr b="1"/>
              <a:t>Q: Is CLIP still the best approach or has it been superseded?</a:t>
            </a:r>
          </a:p>
          <a:p>
            <a:r>
              <a:t>A: CLIP established the paradigm. Modern models combine the contrastive objective with generative training — the model learns to both match images to captions and to generate captions from images — which improves performance on tasks that require understanding beyond retrieval. But the core insight — learn a shared space by training on paired data at massive scale — remains the foundation of every current frontier multimodal model.</a:t>
            </a:r>
          </a:p>
          <a:p>
            <a:endParaRPr/>
          </a:p>
          <a:p>
            <a:r>
              <a:rPr b="1"/>
              <a:t>Q: How are the negative pairs selected?</a:t>
            </a:r>
          </a:p>
          <a:p>
            <a:r>
              <a:t>A: In CLIP, every other item in the training batch is a negative. With batch size 32,768, each image is contrasted against 32,767 wrong captions simultaneously. Larger batches were one of the key ingredients that made the approach work — they provide harder negatives. Finding the hardest negatives — wrong captions that are almost right — is still an active research area and a publishable contribution if you propose a method for a specific domain.</a:t>
            </a:r>
          </a:p>
          <a:p>
            <a:endParaRPr/>
          </a:p>
          <a:p>
            <a:r>
              <a:rPr b="1"/>
              <a:t>Q: What happens when the same image has multiple valid captions?</a:t>
            </a:r>
          </a:p>
          <a:p>
            <a:r>
              <a:t>A: This is a genuine limitation. The contrastive loss pushes the single provided caption toward the image and all other captions away — including other valid ones. Modern training pipelines use multiple captions per image and modified loss functions to handle this, but it is not fully solved. It contributes to the confident-wrong-answers failure on slide 20: the model cannot express uncertainty about which of several valid descriptions is intended.</a:t>
            </a:r>
          </a:p>
          <a:p>
            <a:endParaRPr/>
          </a:p>
          <a:p>
            <a:endParaRPr/>
          </a:p>
          <a:p>
            <a:r>
              <a:rPr b="1"/>
              <a:t>─── TRANSCRIPT ───</a:t>
            </a:r>
          </a:p>
          <a:p>
            <a:r>
              <a:t>"Second idea: how the shared space gets built. The answer is contrastive training."</a:t>
            </a:r>
          </a:p>
          <a:p>
            <a:r>
              <a:t>"Show the model hundreds of millions of pairs — a caption and the image it describes. For each true pair, adjust the weights to pull the two vectors closer together. For every other caption in the same training batch — which is a wrong answer for that image — push the vectors apart."</a:t>
            </a:r>
          </a:p>
          <a:p>
            <a:r>
              <a:t>"Nobody labelled these pairs by hand. The internet already had hundreds of millions of images sitting next to their captions — in news articles, Wikipedia, academic papers, social media. That accident of web structure is what made this possible. The training data existed before anyone knew what to do with it."</a:t>
            </a:r>
          </a:p>
          <a:p>
            <a:r>
              <a:t>"The canonical reference is CLIP — Contrastive Language-Image Pre-training, Radford and colleagues at OpenAI, 2021, trained on 400 million image-text pairs. If you write a proposal in this area, cite it. Reviewers will expect it in your literature review. The arXiv ID is 2103.00020."</a:t>
            </a:r>
          </a:p>
          <a:p>
            <a:r>
              <a:t>"All modern frontier multimodal models — Gemini, Claude, GPT-4o, Gemma 4, Qwen 3.8 — are trained on variations of this approach at far larger scale. The paradigm from 2021 is still the foundation."</a:t>
            </a:r>
          </a:p>
          <a:p>
            <a:endParaRPr/>
          </a:p>
          <a:p>
            <a:r>
              <a:rPr b="1"/>
              <a:t>─── ANTICIPATED QUESTIONS ───</a:t>
            </a:r>
          </a:p>
          <a:p>
            <a:r>
              <a:rPr b="1"/>
              <a:t>Q: Is CLIP still the best approach or has it been superseded?</a:t>
            </a:r>
          </a:p>
          <a:p>
            <a:r>
              <a:t>A: CLIP established the paradigm. Modern models combine the contrastive objective with generative training — the model learns to both match images to captions and to generate captions from images — which improves performance on tasks that require understanding beyond retrieval. But the core insight — learn a shared space by training on paired data at massive scale — remains the foundation of every current frontier multimodal model.</a:t>
            </a:r>
          </a:p>
          <a:p>
            <a:endParaRPr/>
          </a:p>
          <a:p>
            <a:r>
              <a:rPr b="1"/>
              <a:t>Q: How are the negative pairs selected?</a:t>
            </a:r>
          </a:p>
          <a:p>
            <a:r>
              <a:t>A: In CLIP, every other item in the training batch is a negative. With batch size 32,768, each image is contrasted against 32,767 wrong captions simultaneously. Larger batches were one of the key ingredients that made the approach work — they provide harder negatives. Finding the hardest negatives — wrong captions that are almost right — is still an active research area and a publishable contribution if you propose a method for a specific domain.</a:t>
            </a:r>
          </a:p>
          <a:p>
            <a:endParaRPr/>
          </a:p>
          <a:p>
            <a:r>
              <a:rPr b="1"/>
              <a:t>Q: What happens when the same image has multiple valid captions?</a:t>
            </a:r>
          </a:p>
          <a:p>
            <a:r>
              <a:t>A: This is a genuine limitation. The contrastive loss pushes the single provided caption toward the image and all other captions away — including other valid ones. Modern training pipelines use multiple captions per image and modified loss functions to handle this, but it is not fully solved. It contributes to the confident-wrong-answers failure on slide 20: the model cannot express uncertainty about which of several valid descriptions is intended.</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"Third and final idea of Part One: why the transformer is the right architecture for multimodal data."</a:t>
            </a:r>
          </a:p>
          <a:p>
            <a:r>
              <a:t>"Attention — the core operation inside a transformer — works on a sequence of tokens. The transformer does not care what the tokens represent. It just learns which tokens should attend to which other tokens."</a:t>
            </a:r>
          </a:p>
          <a:p>
            <a:r>
              <a:t>"The key observation: every modality can be converted to a token sequence."</a:t>
            </a:r>
          </a:p>
          <a:p>
            <a:r>
              <a:t>"Text: sub-word pieces. 'Multimodal' becomes two tokens: 'multi' and 'modal'."</a:t>
            </a:r>
          </a:p>
          <a:p>
            <a:r>
              <a:t>"Images: fixed patches. A 224-by-224 image is divided into 196 patches of 16 by 16 pixels. Each patch becomes one token."</a:t>
            </a:r>
          </a:p>
          <a:p>
            <a:r>
              <a:t>"Audio: spectrogram frames. Sound is first converted to a picture of frequency over time — a spectrogram — and that picture is patched exactly like an image."</a:t>
            </a:r>
          </a:p>
          <a:p>
            <a:r>
              <a:t>"Video: frame patches plus a time index. Sampled frames are patched like images, and the time index is encoded alongside spatial position."</a:t>
            </a:r>
          </a:p>
          <a:p>
            <a:r>
              <a:t>"Once all four modalities are token sequences, the same attention machinery that reads a paragraph can read a chest X-ray. Multimodal AI was not a new architecture. It was a new way of feeding the old one."</a:t>
            </a:r>
          </a:p>
          <a:p>
            <a:endParaRPr/>
          </a:p>
          <a:p>
            <a:r>
              <a:rPr b="1"/>
              <a:t>─── ANTICIPATED QUESTIONS ───</a:t>
            </a:r>
          </a:p>
          <a:p>
            <a:r>
              <a:rPr b="1"/>
              <a:t>Q: How does the model know the spatial position of image patches?</a:t>
            </a:r>
          </a:p>
          <a:p>
            <a:r>
              <a:t>A: Learned 2D positional embeddings. The model learns that a patch at row 3, column 5 is in a certain spatial relationship to neighbouring patches. For video, time is added as a third dimension. The attention mechanism then learns which patches should attend to which other patches based on both content and position — more flexible than a CNN, which has spatial locality baked in structurally.</a:t>
            </a:r>
          </a:p>
          <a:p>
            <a:endParaRPr/>
          </a:p>
          <a:p>
            <a:r>
              <a:rPr b="1"/>
              <a:t>Q: How many tokens does one image use — and what does that cost?</a:t>
            </a:r>
          </a:p>
          <a:p>
            <a:r>
              <a:t>A: It depends on resolution and the model's vision token budget. A standard 336-pixel image typically generates 256 to 576 tokens. At high resolution — for dense document reading — models like Gemma 4 can use up to 1,120 tokens per image. One page of text is roughly 500 tokens. So a high-resolution image can cost two pages of text, per call. Gemma 4 lets you set the visual token budget explicitly, trading quality for cost. This is the cost row on the deployment slide.</a:t>
            </a:r>
          </a:p>
          <a:p>
            <a:endParaRPr/>
          </a:p>
          <a:p>
            <a:r>
              <a:rPr b="1"/>
              <a:t>Q: Does the model genuinely understand spatial relationships or just match patches statistically?</a:t>
            </a:r>
          </a:p>
          <a:p>
            <a:r>
              <a:t>A: It learns statistical patterns that enable a surprising amount of spatial reasoning — reading a street sign, identifying which object is on the left, counting objects in a simple scene. But it fails on fine spatial detail — reading a gauge needle precisely, measuring crack width — because attention over 16-by-16 patches loses sub-patch precision. That failure is on slide 20 as an open research problem.</a:t>
            </a:r>
          </a:p>
          <a:p>
            <a:endParaRPr/>
          </a:p>
          <a:p>
            <a:r>
              <a:rPr b="1"/>
              <a:t>─── DELIVERY NOTES ───</a:t>
            </a:r>
          </a:p>
          <a:p>
            <a:r>
              <a:rPr lang="en-US" dirty="0"/>
              <a:t>This is the slide that makes the architecture click for engineers. The punchline: multimodality was not a new architecture, it was a new way of feeding the old one.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a:p>
            <a:endParaRPr/>
          </a:p>
          <a:p>
            <a:r>
              <a:rPr b="1"/>
              <a:t>─── TRANSCRIPT ───</a:t>
            </a:r>
          </a:p>
          <a:p>
            <a:r>
              <a:t>"Third and final idea of Part One: why the transformer is the right architecture for multimodal data."</a:t>
            </a:r>
          </a:p>
          <a:p>
            <a:r>
              <a:t>"Attention — the core operation inside a transformer — works on a sequence of tokens. The transformer does not care what the tokens represent. It just learns which tokens should attend to which other tokens."</a:t>
            </a:r>
          </a:p>
          <a:p>
            <a:r>
              <a:t>"The key observation: every modality can be converted to a token sequence."</a:t>
            </a:r>
          </a:p>
          <a:p>
            <a:r>
              <a:t>"Text: sub-word pieces. 'Multimodal' becomes two tokens: 'multi' and 'modal'."</a:t>
            </a:r>
          </a:p>
          <a:p>
            <a:r>
              <a:t>"Images: fixed patches. A 224-by-224 image is divided into 196 patches of 16 by 16 pixels. Each patch becomes one token."</a:t>
            </a:r>
          </a:p>
          <a:p>
            <a:r>
              <a:t>"Audio: spectrogram frames. Sound is first converted to a picture of frequency over time — a spectrogram — and that picture is patched exactly like an image."</a:t>
            </a:r>
          </a:p>
          <a:p>
            <a:r>
              <a:t>"Video: frame patches plus a time index. Sampled frames are patched like images, and the time index is encoded alongside spatial position."</a:t>
            </a:r>
          </a:p>
          <a:p>
            <a:r>
              <a:t>"Once all four modalities are token sequences, the same attention machinery that reads a paragraph can read a chest X-ray. Multimodal AI was not a new architecture. It was a new way of feeding the old one."</a:t>
            </a:r>
          </a:p>
          <a:p>
            <a:endParaRPr/>
          </a:p>
          <a:p>
            <a:r>
              <a:rPr b="1"/>
              <a:t>─── ANTICIPATED QUESTIONS ───</a:t>
            </a:r>
          </a:p>
          <a:p>
            <a:r>
              <a:rPr b="1"/>
              <a:t>Q: How does the model know the spatial position of image patches?</a:t>
            </a:r>
          </a:p>
          <a:p>
            <a:r>
              <a:t>A: Learned 2D positional embeddings. The model learns that a patch at row 3, column 5 is in a certain spatial relationship to neighbouring patches. For video, time is added as a third dimension. The attention mechanism then learns which patches should attend to which other patches based on both content and position — more flexible than a CNN, which has spatial locality baked in structurally.</a:t>
            </a:r>
          </a:p>
          <a:p>
            <a:endParaRPr/>
          </a:p>
          <a:p>
            <a:r>
              <a:rPr b="1"/>
              <a:t>Q: How many tokens does one image use — and what does that cost?</a:t>
            </a:r>
          </a:p>
          <a:p>
            <a:r>
              <a:t>A: It depends on resolution and the model's vision token budget. A standard 336-pixel image typically generates 256 to 576 tokens. At high resolution — for dense document reading — models like Gemma 4 can use up to 1,120 tokens per image. One page of text is roughly 500 tokens. So a high-resolution image can cost two pages of text, per call. Gemma 4 lets you set the visual token budget explicitly, trading quality for cost. This is the cost row on the deployment slide.</a:t>
            </a:r>
          </a:p>
          <a:p>
            <a:endParaRPr/>
          </a:p>
          <a:p>
            <a:r>
              <a:rPr b="1"/>
              <a:t>Q: Does the model genuinely understand spatial relationships or just match patches statistically?</a:t>
            </a:r>
          </a:p>
          <a:p>
            <a:r>
              <a:t>A: It learns statistical patterns that enable a surprising amount of spatial reasoning — reading a street sign, identifying which object is on the left, counting objects in a simple scene. But it fails on fine spatial detail — reading a gauge needle precisely, measuring crack width — because attention over 16-by-16 patches loses sub-patch precision. That failure is on slide 20 as an open research problem.</a:t>
            </a:r>
          </a:p>
          <a:p>
            <a:endParaRPr/>
          </a:p>
          <a:p>
            <a:endParaRPr/>
          </a:p>
          <a:p>
            <a:r>
              <a:rPr b="1"/>
              <a:t>─── TRANSCRIPT ───</a:t>
            </a:r>
          </a:p>
          <a:p>
            <a:r>
              <a:t>"Third and final idea of Part One: why the transformer is the right architecture for multimodal data."</a:t>
            </a:r>
          </a:p>
          <a:p>
            <a:r>
              <a:t>"Attention — the core operation inside a transformer — works on a sequence of tokens. The transformer does not care what the tokens represent. It just learns which tokens should attend to which other tokens."</a:t>
            </a:r>
          </a:p>
          <a:p>
            <a:r>
              <a:t>"The key observation: every modality can be converted to a token sequence."</a:t>
            </a:r>
          </a:p>
          <a:p>
            <a:r>
              <a:t>"Text: sub-word pieces. 'Multimodal' becomes two tokens: 'multi' and 'modal'."</a:t>
            </a:r>
          </a:p>
          <a:p>
            <a:r>
              <a:t>"Images: fixed patches. A 224-by-224 image is divided into 196 patches of 16 by 16 pixels. Each patch becomes one token."</a:t>
            </a:r>
          </a:p>
          <a:p>
            <a:r>
              <a:t>"Audio: spectrogram frames. Sound is first converted to a picture of frequency over time — a spectrogram — and that picture is patched exactly like an image."</a:t>
            </a:r>
          </a:p>
          <a:p>
            <a:r>
              <a:t>"Video: frame patches plus a time index. Sampled frames are patched like images, and the time index is encoded alongside spatial position."</a:t>
            </a:r>
          </a:p>
          <a:p>
            <a:r>
              <a:t>"Once all four modalities are token sequences, the same attention machinery that reads a paragraph can read a chest X-ray. Multimodal AI was not a new architecture. It was a new way of feeding the old one."</a:t>
            </a:r>
          </a:p>
          <a:p>
            <a:endParaRPr/>
          </a:p>
          <a:p>
            <a:r>
              <a:rPr b="1"/>
              <a:t>─── ANTICIPATED QUESTIONS ───</a:t>
            </a:r>
          </a:p>
          <a:p>
            <a:r>
              <a:rPr b="1"/>
              <a:t>Q: How does the model know the spatial position of image patches?</a:t>
            </a:r>
          </a:p>
          <a:p>
            <a:r>
              <a:t>A: Learned 2D positional embeddings. The model learns that a patch at row 3, column 5 is in a certain spatial relationship to neighbouring patches. For video, time is added as a third dimension. The attention mechanism then learns which patches should attend to which other patches based on both content and position — more flexible than a CNN, which has spatial locality baked in structurally.</a:t>
            </a:r>
          </a:p>
          <a:p>
            <a:endParaRPr/>
          </a:p>
          <a:p>
            <a:r>
              <a:rPr b="1"/>
              <a:t>Q: How many tokens does one image use — and what does that cost?</a:t>
            </a:r>
          </a:p>
          <a:p>
            <a:r>
              <a:t>A: It depends on resolution and the model's vision token budget. A standard 336-pixel image typically generates 256 to 576 tokens. At high resolution — for dense document reading — models like Gemma 4 can use up to 1,120 tokens per image. One page of text is roughly 500 tokens. So a high-resolution image can cost two pages of text, per call. Gemma 4 lets you set the visual token budget explicitly, trading quality for cost. This is the cost row on the deployment slide.</a:t>
            </a:r>
          </a:p>
          <a:p>
            <a:endParaRPr/>
          </a:p>
          <a:p>
            <a:r>
              <a:rPr b="1"/>
              <a:t>Q: Does the model genuinely understand spatial relationships or just match patches statistically?</a:t>
            </a:r>
          </a:p>
          <a:p>
            <a:r>
              <a:t>A: It learns statistical patterns that enable a surprising amount of spatial reasoning — reading a street sign, identifying which object is on the left, counting objects in a simple scene. But it fails on fine spatial detail — reading a gauge needle precisely, measuring crack width — because attention over 16-by-16 patches loses sub-patch precision. That failure is on slide 20 as an open research problem.</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"Here is the design question every multimodal project eventually faces: at what point in the network do the modalities meet?"</a:t>
            </a:r>
          </a:p>
          <a:p>
            <a:r>
              <a:t>"Early fusion: concatenate all input tokens before the model sees any of them. Richest interaction between modalities. Expensive, and needs paired training data across all your modalities — which is often exactly what you do not have."</a:t>
            </a:r>
          </a:p>
          <a:p>
            <a:r>
              <a:t>"Late fusion: separate encoders on each modality, merge only the final output vectors. Cheap, reuses existing models. But the two encoders never see each other's signal, so they miss cross-modal detail."</a:t>
            </a:r>
          </a:p>
          <a:p>
            <a:r>
              <a:t>"Cross-attention: let one modality query the other mid-network. The language model attends to visual features as it generates. This is how Flamingo was designed. Today, most deployed open models project image patches into the language model's token stream at the input — which is functionally early fusion with a frozen visual encoder — and that is what Gemma 4 and Qwen 3.8 do."</a:t>
            </a:r>
          </a:p>
          <a:p>
            <a:r>
              <a:t>"Practical point: for most first projects, do not build fusion at all. Call a pre-trained vision-language model. The fusion is already inside it, trained on far more data than you could assemble. If you need two modalities that no pre-trained model covers together, late fusion on existing encoders is the fastest practical path."</a:t>
            </a:r>
          </a:p>
          <a:p>
            <a:r>
              <a:t>"In two slides I am going to give you three scenarios and ask which strategy you would pick."</a:t>
            </a:r>
          </a:p>
          <a:p>
            <a:endParaRPr/>
          </a:p>
          <a:p>
            <a:r>
              <a:rPr b="1"/>
              <a:t>─── ANTICIPATED QUESTIONS ───</a:t>
            </a:r>
          </a:p>
          <a:p>
            <a:r>
              <a:rPr b="1"/>
              <a:t>Q: Which approach do frontier models like GPT-4o or Gemini actually use?</a:t>
            </a:r>
          </a:p>
          <a:p>
            <a:r>
              <a:t>A: Projection-based fusion. A large CLIP-style visual encoder converts the image into patch embeddings, a learned linear projection maps those into the language model's embedding space, and the combined image-and-text token sequence goes into the language decoder. This is closest to early fusion but with a separately pre-trained visual encoder rather than a jointly trained one. Gemma 4 and Qwen 3.8 use the same pattern. The IBM early/mid/late vocabulary that some textbooks use calls this 'early' fusion; other papers call it visual instruction tuning.</a:t>
            </a:r>
          </a:p>
          <a:p>
            <a:endParaRPr/>
          </a:p>
          <a:p>
            <a:r>
              <a:rPr b="1"/>
              <a:t>Q: When does training early fusion from scratch actually win?</a:t>
            </a:r>
          </a:p>
          <a:p>
            <a:r>
              <a:t>A: When your domain is far from any existing pre-trained model's distribution — medical microscopy at unusual wavelengths, satellite imagery in non-visible bands, industrial sensor signals the web has never seen. In those cases the pre-trained visual encoder simply does not understand your inputs and fine-tuning does not fully recover. But the compute cost is very high and you need large paired training datasets. For most applied work in Indian institutions the fine-tuning route is both cheaper and better.</a:t>
            </a:r>
          </a:p>
          <a:p>
            <a:endParaRPr/>
          </a:p>
          <a:p>
            <a:r>
              <a:rPr b="1"/>
              <a:t>─── DELIVERY NOTES ───</a:t>
            </a:r>
          </a:p>
          <a:p>
            <a:r>
              <a:t>Practical slide - this is the one participants will screenshot for project guidance. Say plainly: your students' first paper does not need cross-attention. A well-evaluated late fusion system on a novel dataset is publishable, and it fits inside one semester of a UG final-year project.</a:t>
            </a:r>
          </a:p>
          <a:p>
            <a:r>
              <a:t>Terminology to have ready: IBM and most textbooks split fusion into early, mid and late. What this slide calls cross-attention is their mid or intermediate fusion. If a participant has read around the topic they may ask - say the labels differ, the three design choices do not. Where today's models sit: Flamingo is the classic cross-attention design; LLaVA, Qwen-VL and Gemma project image patches into the language model's own token stream, which is fusion at the language model's input. Either way the fusion is already trained - which is why the footer says a first project should not build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a:p>
            <a:endParaRPr/>
          </a:p>
          <a:p>
            <a:r>
              <a:rPr b="1"/>
              <a:t>─── TRANSCRIPT ───</a:t>
            </a:r>
          </a:p>
          <a:p>
            <a:r>
              <a:t>"Here is the design question every multimodal project eventually faces: at what point in the network do the modalities meet?"</a:t>
            </a:r>
          </a:p>
          <a:p>
            <a:r>
              <a:t>"Early fusion: concatenate all input tokens before the model sees any of them. Richest interaction between modalities. Expensive, and needs paired training data across all your modalities — which is often exactly what you do not have."</a:t>
            </a:r>
          </a:p>
          <a:p>
            <a:r>
              <a:t>"Late fusion: separate encoders on each modality, merge only the final output vectors. Cheap, reuses existing models. But the two encoders never see each other's signal, so they miss cross-modal detail."</a:t>
            </a:r>
          </a:p>
          <a:p>
            <a:r>
              <a:t>"Cross-attention: let one modality query the other mid-network. The language model attends to visual features as it generates. This is how Flamingo was designed. Today, most deployed open models project image patches into the language model's token stream at the input — which is functionally early fusion with a frozen visual encoder — and that is what Gemma 4 and Qwen 3.8 do."</a:t>
            </a:r>
          </a:p>
          <a:p>
            <a:r>
              <a:t>"Practical point: for most first projects, do not build fusion at all. Call a pre-trained vision-language model. The fusion is already inside it, trained on far more data than you could assemble. If you need two modalities that no pre-trained model covers together, late fusion on existing encoders is the fastest practical path."</a:t>
            </a:r>
          </a:p>
          <a:p>
            <a:r>
              <a:t>"In two slides I am going to give you three scenarios and ask which strategy you would pick."</a:t>
            </a:r>
          </a:p>
          <a:p>
            <a:endParaRPr/>
          </a:p>
          <a:p>
            <a:r>
              <a:rPr b="1"/>
              <a:t>─── ANTICIPATED QUESTIONS ───</a:t>
            </a:r>
          </a:p>
          <a:p>
            <a:r>
              <a:rPr b="1"/>
              <a:t>Q: Which approach do frontier models like GPT-4o or Gemini actually use?</a:t>
            </a:r>
          </a:p>
          <a:p>
            <a:r>
              <a:t>A: Projection-based fusion. A large CLIP-style visual encoder converts the image into patch embeddings, a learned linear projection maps those into the language model's embedding space, and the combined image-and-text token sequence goes into the language decoder. This is closest to early fusion but with a separately pre-trained visual encoder rather than a jointly trained one. Gemma 4 and Qwen 3.8 use the same pattern. The IBM early/mid/late vocabulary that some textbooks use calls this 'early' fusion; other papers call it visual instruction tuning.</a:t>
            </a:r>
          </a:p>
          <a:p>
            <a:endParaRPr/>
          </a:p>
          <a:p>
            <a:r>
              <a:rPr b="1"/>
              <a:t>Q: When does training early fusion from scratch actually win?</a:t>
            </a:r>
          </a:p>
          <a:p>
            <a:r>
              <a:t>A: When your domain is far from any existing pre-trained model's distribution — medical microscopy at unusual wavelengths, satellite imagery in non-visible bands, industrial sensor signals the web has never seen. In those cases the pre-trained visual encoder simply does not understand your inputs and fine-tuning does not fully recover. But the compute cost is very high and you need large paired training datasets. For most applied work in Indian institutions the fine-tuning route is both cheaper and better.</a:t>
            </a:r>
          </a:p>
          <a:p>
            <a:endParaRPr/>
          </a:p>
          <a:p>
            <a:endParaRPr/>
          </a:p>
          <a:p>
            <a:r>
              <a:rPr b="1"/>
              <a:t>─── TRANSCRIPT ───</a:t>
            </a:r>
          </a:p>
          <a:p>
            <a:r>
              <a:t>"Here is the design question every multimodal project eventually faces: at what point in the network do the modalities meet?"</a:t>
            </a:r>
          </a:p>
          <a:p>
            <a:r>
              <a:t>"Early fusion: concatenate all input tokens before the model sees any of them. Richest interaction between modalities. Expensive, and needs paired training data across all your modalities — which is often exactly what you do not have."</a:t>
            </a:r>
          </a:p>
          <a:p>
            <a:r>
              <a:t>"Late fusion: separate encoders on each modality, merge only the final output vectors. Cheap, reuses existing models. But the two encoders never see each other's signal, so they miss cross-modal detail."</a:t>
            </a:r>
          </a:p>
          <a:p>
            <a:r>
              <a:t>"Cross-attention: let one modality query the other mid-network. The language model attends to visual features as it generates. This is how Flamingo was designed. Today, most deployed open models project image patches into the language model's token stream at the input — which is functionally early fusion with a frozen visual encoder — and that is what Gemma 4 and Qwen 3.8 do."</a:t>
            </a:r>
          </a:p>
          <a:p>
            <a:r>
              <a:t>"Practical point: for most first projects, do not build fusion at all. Call a pre-trained vision-language model. The fusion is already inside it, trained on far more data than you could assemble. If you need two modalities that no pre-trained model covers together, late fusion on existing encoders is the fastest practical path."</a:t>
            </a:r>
          </a:p>
          <a:p>
            <a:r>
              <a:t>"In two slides I am going to give you three scenarios and ask which strategy you would pick."</a:t>
            </a:r>
          </a:p>
          <a:p>
            <a:endParaRPr/>
          </a:p>
          <a:p>
            <a:r>
              <a:rPr b="1"/>
              <a:t>─── ANTICIPATED QUESTIONS ───</a:t>
            </a:r>
          </a:p>
          <a:p>
            <a:r>
              <a:rPr b="1"/>
              <a:t>Q: Which approach do frontier models like GPT-4o or Gemini actually use?</a:t>
            </a:r>
          </a:p>
          <a:p>
            <a:r>
              <a:t>A: Projection-based fusion. A large CLIP-style visual encoder converts the image into patch embeddings, a learned linear projection maps those into the language model's embedding space, and the combined image-and-text token sequence goes into the language decoder. This is closest to early fusion but with a separately pre-trained visual encoder rather than a jointly trained one. Gemma 4 and Qwen 3.8 use the same pattern. The IBM early/mid/late vocabulary that some textbooks use calls this 'early' fusion; other papers call it visual instruction tuning.</a:t>
            </a:r>
          </a:p>
          <a:p>
            <a:endParaRPr/>
          </a:p>
          <a:p>
            <a:r>
              <a:rPr b="1"/>
              <a:t>Q: When does training early fusion from scratch actually win?</a:t>
            </a:r>
          </a:p>
          <a:p>
            <a:r>
              <a:t>A: When your domain is far from any existing pre-trained model's distribution — medical microscopy at unusual wavelengths, satellite imagery in non-visible bands, industrial sensor signals the web has never seen. In those cases the pre-trained visual encoder simply does not understand your inputs and fine-tuning does not fully recover. But the compute cost is very high and you need large paired training datasets. For most applied work in Indian institutions the fine-tuning route is both cheaper and better.</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"Two minutes, and I want you to actually do something — not just watch."</a:t>
            </a:r>
          </a:p>
          <a:p>
            <a:r>
              <a:t>"Three scenarios. For each one, think about which strategy you just heard — early fusion, late fusion, or cross-attention — would be the right design choice. Type in the chat: the card number and the strategy. For example: one late, or two cross."</a:t>
            </a:r>
          </a:p>
          <a:p>
            <a:r>
              <a:t>"Card one. Hostel attendance. You have a face photo from the gate camera and an RFID gate log. Both have to agree that the student is present. What strategy?"</a:t>
            </a:r>
          </a:p>
          <a:p>
            <a:r>
              <a:t>"Card two. Crop advisory in your region. A farmer shares a leaf photograph and a voice note in the local language describing the symptoms. An agronomist's diagnosis depends on reading both together — what she says changes where you look in the photograph. What strategy?"</a:t>
            </a:r>
          </a:p>
          <a:p>
            <a:r>
              <a:t>"Card three. Pump health monitoring. Vibration readings and motor current, both sampled at one kilohertz on the same clock. The fault signature shows only in how the two signals move together. What strategy?"</a:t>
            </a:r>
          </a:p>
          <a:p>
            <a:r>
              <a:t>Go silent now. Give the room thirty seconds. Read out the most common answer for each card before you advance. Do not reveal whether they are correct — let the next slide do that.</a:t>
            </a:r>
          </a:p>
          <a:p>
            <a:endParaRPr/>
          </a:p>
          <a:p>
            <a:r>
              <a:rPr b="1"/>
              <a:t>─── ANTICIPATED QUESTIONS ───</a:t>
            </a:r>
          </a:p>
          <a:p>
            <a:r>
              <a:rPr b="1"/>
              <a:t>If the chat is silent — clue for card one:</a:t>
            </a:r>
          </a:p>
          <a:p>
            <a:r>
              <a:t>Ask: 'Does the face recognition system need to know what the RFID log says in order to do its job, or can they both run independently and you just check afterwards?' That usually breaks the silence.</a:t>
            </a:r>
          </a:p>
          <a:p>
            <a:endParaRPr/>
          </a:p>
          <a:p>
            <a:r>
              <a:rPr b="1"/>
              <a:t>If the chat is silent — clue for card two:</a:t>
            </a:r>
          </a:p>
          <a:p>
            <a:r>
              <a:t>Ask: 'If the farmer said something completely different — described a colour the leaf does not have — would that change which part of the photograph an agronomist would examine?' Yes: so the signals must interact.</a:t>
            </a:r>
          </a:p>
          <a:p>
            <a:endParaRPr/>
          </a:p>
          <a:p>
            <a:r>
              <a:rPr b="1"/>
              <a:t>If the room splits on card two:</a:t>
            </a:r>
          </a:p>
          <a:p>
            <a:r>
              <a:t>That is the best outcome: card two is the one where the modern practical answer — use a pre-trained VLM which already has cross-attention built in — differs from the textbook label of 'cross-attention'. Both answers are defensible and the split gives you material for the answers slide.</a:t>
            </a:r>
          </a:p>
          <a:p>
            <a:endParaRPr/>
          </a:p>
          <a:p>
            <a:r>
              <a:rPr b="1"/>
              <a:t>─── DELIVERY NOTES ───</a:t>
            </a:r>
          </a:p>
          <a:p>
            <a:r>
              <a:t>Two minutes, and the most interactive moment of Part One. Read the three scenarios once, then go quiet for thirty seconds and let the chat fill. Do not reveal on this slide - the value is in people committing to an answer before they see yours.</a:t>
            </a:r>
          </a:p>
          <a:p>
            <a:r>
              <a:t>All three are campus or regional problems on purpose: a hostel, a farm, a pump house. Mechanical and civil colleagues get card 3; agriculture and rural-development colleagues get card 2.</a:t>
            </a:r>
          </a:p>
          <a:p>
            <a:r>
              <a:t>Read out the most common answer for each card before you click. If the room splits on card 2, that is the best outcome - it is the only one where the modern answer (use a pre-trained VLM) differs from the textbook label.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a:p>
            <a:endParaRPr/>
          </a:p>
          <a:p>
            <a:r>
              <a:rPr b="1"/>
              <a:t>─── TRANSCRIPT ───</a:t>
            </a:r>
          </a:p>
          <a:p>
            <a:r>
              <a:t>"Two minutes, and I want you to actually do something — not just watch."</a:t>
            </a:r>
          </a:p>
          <a:p>
            <a:r>
              <a:t>"Three scenarios. For each one, think about which strategy you just heard — early fusion, late fusion, or cross-attention — would be the right design choice. Type in the chat: the card number and the strategy. For example: one late, or two cross."</a:t>
            </a:r>
          </a:p>
          <a:p>
            <a:r>
              <a:t>"Card one. Hostel attendance. You have a face photo from the gate camera and an RFID gate log. Both have to agree that the student is present. What strategy?"</a:t>
            </a:r>
          </a:p>
          <a:p>
            <a:r>
              <a:t>"Card two. Crop advisory in your region. A farmer shares a leaf photograph and a voice note in the local language describing the symptoms. An agronomist's diagnosis depends on reading both together — what she says changes where you look in the photograph. What strategy?"</a:t>
            </a:r>
          </a:p>
          <a:p>
            <a:r>
              <a:t>"Card three. Pump health monitoring. Vibration readings and motor current, both sampled at one kilohertz on the same clock. The fault signature shows only in how the two signals move together. What strategy?"</a:t>
            </a:r>
          </a:p>
          <a:p>
            <a:r>
              <a:t>Go silent now. Give the room thirty seconds. Read out the most common answer for each card before you advance. Do not reveal whether they are correct — let the next slide do that.</a:t>
            </a:r>
          </a:p>
          <a:p>
            <a:endParaRPr/>
          </a:p>
          <a:p>
            <a:r>
              <a:rPr b="1"/>
              <a:t>─── ANTICIPATED QUESTIONS ───</a:t>
            </a:r>
          </a:p>
          <a:p>
            <a:r>
              <a:rPr b="1"/>
              <a:t>If the chat is silent — clue for card one:</a:t>
            </a:r>
          </a:p>
          <a:p>
            <a:r>
              <a:t>Ask: 'Does the face recognition system need to know what the RFID log says in order to do its job, or can they both run independently and you just check afterwards?' That usually breaks the silence.</a:t>
            </a:r>
          </a:p>
          <a:p>
            <a:endParaRPr/>
          </a:p>
          <a:p>
            <a:r>
              <a:rPr b="1"/>
              <a:t>If the chat is silent — clue for card two:</a:t>
            </a:r>
          </a:p>
          <a:p>
            <a:r>
              <a:t>Ask: 'If the farmer said something completely different — described a colour the leaf does not have — would that change which part of the photograph an agronomist would examine?' Yes: so the signals must interact.</a:t>
            </a:r>
          </a:p>
          <a:p>
            <a:endParaRPr/>
          </a:p>
          <a:p>
            <a:r>
              <a:rPr b="1"/>
              <a:t>If the room splits on card two:</a:t>
            </a:r>
          </a:p>
          <a:p>
            <a:r>
              <a:t>That is the best outcome: card two is the one where the modern practical answer — use a pre-trained VLM which already has cross-attention built in — differs from the textbook label of 'cross-attention'. Both answers are defensible and the split gives you material for the answers slide.</a:t>
            </a:r>
          </a:p>
          <a:p>
            <a:endParaRPr/>
          </a:p>
          <a:p>
            <a:endParaRPr/>
          </a:p>
          <a:p>
            <a:r>
              <a:rPr b="1"/>
              <a:t>─── TRANSCRIPT ───</a:t>
            </a:r>
          </a:p>
          <a:p>
            <a:r>
              <a:t>"Two minutes, and I want you to actually do something — not just watch."</a:t>
            </a:r>
          </a:p>
          <a:p>
            <a:r>
              <a:t>"Three scenarios. For each one, think about which strategy you just heard — early fusion, late fusion, or cross-attention — would be the right design choice. Type in the chat: the card number and the strategy. For example: one late, or two cross."</a:t>
            </a:r>
          </a:p>
          <a:p>
            <a:r>
              <a:t>"Card one. Hostel attendance. You have a face photo from the gate camera and an RFID gate log. Both have to agree that the student is present. What strategy?"</a:t>
            </a:r>
          </a:p>
          <a:p>
            <a:r>
              <a:t>"Card two. Crop advisory in your region. A farmer shares a leaf photograph and a voice note in the local language describing the symptoms. An agronomist's diagnosis depends on reading both together — what she says changes where you look in the photograph. What strategy?"</a:t>
            </a:r>
          </a:p>
          <a:p>
            <a:r>
              <a:t>"Card three. Pump health monitoring. Vibration readings and motor current, both sampled at one kilohertz on the same clock. The fault signature shows only in how the two signals move together. What strategy?"</a:t>
            </a:r>
          </a:p>
          <a:p>
            <a:r>
              <a:t>Go silent now. Give the room thirty seconds. Read out the most common answer for each card before you advance. Do not reveal whether they are correct — let the next slide do that.</a:t>
            </a:r>
          </a:p>
          <a:p>
            <a:endParaRPr/>
          </a:p>
          <a:p>
            <a:r>
              <a:rPr b="1"/>
              <a:t>─── ANTICIPATED QUESTIONS ───</a:t>
            </a:r>
          </a:p>
          <a:p>
            <a:r>
              <a:rPr b="1"/>
              <a:t>If the chat is silent — clue for card one:</a:t>
            </a:r>
          </a:p>
          <a:p>
            <a:r>
              <a:t>Ask: 'Does the face recognition system need to know what the RFID log says in order to do its job, or can they both run independently and you just check afterwards?' That usually breaks the silence.</a:t>
            </a:r>
          </a:p>
          <a:p>
            <a:endParaRPr/>
          </a:p>
          <a:p>
            <a:r>
              <a:rPr b="1"/>
              <a:t>If the chat is silent — clue for card two:</a:t>
            </a:r>
          </a:p>
          <a:p>
            <a:r>
              <a:t>Ask: 'If the farmer said something completely different — described a colour the leaf does not have — would that change which part of the photograph an agronomist would examine?' Yes: so the signals must interact.</a:t>
            </a:r>
          </a:p>
          <a:p>
            <a:endParaRPr/>
          </a:p>
          <a:p>
            <a:r>
              <a:rPr b="1"/>
              <a:t>If the room splits on card two:</a:t>
            </a:r>
          </a:p>
          <a:p>
            <a:r>
              <a:t>That is the best outcome: card two is the one where the modern practical answer — use a pre-trained VLM which already has cross-attention built in — differs from the textbook label of 'cross-attention'. Both answers are defensible and the split gives you material for the answers slide.</a:t>
            </a:r>
          </a:p>
          <a:p>
            <a:endParaRPr/>
          </a:p>
        </p:txBody>
      </p:sp>
    </p:spTree>
    <p:extLst>
      <p:ext uri="{BB962C8B-B14F-4D97-AF65-F5344CB8AC3E}">
        <p14:creationId xmlns:p14="http://schemas.microsoft.com/office/powerpoint/2010/main" val="10240870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"Here are the answers. And there is one rule that connects all three."</a:t>
            </a:r>
          </a:p>
          <a:p>
            <a:r>
              <a:t>"Card one: late fusion. Face recognition and RFID are both already solved problems with good existing models. Run them independently, merge the binary verdicts with an AND rule. No new AI required. The risk to name: both systems can fail the same way — a spoofed photo plus a borrowed card — so log every disagreement and treat consistent disagreement as a security signal, not a data quality issue."</a:t>
            </a:r>
          </a:p>
          <a:p>
            <a:r>
              <a:t>"Card two: cross-attention in principle. Or — more practically — use a pre-trained vision-language model like Gemma 4 or Qwen 3.8, because they already contain cross-attention trained on far more data than you could assemble. The reason cross-attention is right in principle: what the farmer describes changes which part of the leaf to examine. That is exactly the signal cross-attention captures. The local-language voice note is a deliberate pointer to research problem two on slide 28 — regional-language speech on agricultural imagery is underserved and a structural advantage for institutions in Maharashtra, Tamil Nadu or Gujarat."</a:t>
            </a:r>
          </a:p>
          <a:p>
            <a:r>
              <a:t>"Card three: early fusion. Both sensors run on the same clock, so the signals are naturally aligned in time. The fault shows only in the joint time-frequency pattern — neither signal alone would catch it. Concatenate raw features, train on labelled fault examples. The engineering constraint: clock drift between sensors corrupts this approach immediately. Synchronisation is a hardware problem before it is an AI problem."</a:t>
            </a:r>
          </a:p>
          <a:p>
            <a:r>
              <a:t>"The rule that decides all three: the more one signal changes how you read the other, the earlier the two should meet."</a:t>
            </a:r>
          </a:p>
          <a:p>
            <a:endParaRPr/>
          </a:p>
          <a:p>
            <a:r>
              <a:rPr b="1"/>
              <a:t>─── ANTICIPATED QUESTIONS ───</a:t>
            </a:r>
          </a:p>
          <a:p>
            <a:r>
              <a:rPr b="1"/>
              <a:t>Q: What if I do not have labelled fault examples for card three?</a:t>
            </a:r>
          </a:p>
          <a:p>
            <a:r>
              <a:t>A: That is the real constraint in industrial settings — faults are infrequent by design. The answer is anomaly detection: train on normal operating data and flag statistical deviations. Self-supervised contrastive methods are increasingly used for this and are an active, funded research direction. It also points toward a dataset collection contribution: a labelled industrial fault dataset for a specific machine type is a publishable dataset paper.</a:t>
            </a:r>
          </a:p>
          <a:p>
            <a:endParaRPr/>
          </a:p>
          <a:p>
            <a:r>
              <a:rPr b="1"/>
              <a:t>Q: Could card two use early fusion instead?</a:t>
            </a:r>
          </a:p>
          <a:p>
            <a:r>
              <a:t>A: Technically yes, if you trained jointly on paired leaf-photo-plus-voice-note examples with expert labels. The problem is that no such dataset exists at scale for your target region and language. This is why the practical answer is a pre-trained model: it avoids the paired-data problem. Dataset collection for narrow agricultural domains in regional languages is itself a publishable contribution — and the answer to why it does not exist yet.</a:t>
            </a:r>
          </a:p>
          <a:p>
            <a:endParaRPr/>
          </a:p>
          <a:p>
            <a:r>
              <a:rPr b="1"/>
              <a:t>Q: Is there a fourth strategy I am missing?</a:t>
            </a:r>
          </a:p>
          <a:p>
            <a:r>
              <a:t>A: There are refinements — hierarchical fusion, dynamic routing, mixture-of-experts fusion — but they all reduce to variants of the three strategies on slide 11. For a first project, the three-way classification is the right level of granularity. The refinements matter once you are squeezing the last few percentage points.</a:t>
            </a:r>
          </a:p>
          <a:p>
            <a:endParaRPr/>
          </a:p>
          <a:p>
            <a:r>
              <a:rPr b="1"/>
              <a:t>─── DELIVERY NOTES ───</a:t>
            </a:r>
          </a:p>
          <a:p>
            <a:r>
              <a:t>Walk the three answers in about ninety seconds, then land the footer line - it is the whole of slide 11 compressed into one rule, and it is the line they will reuse when choosing a project design.</a:t>
            </a:r>
          </a:p>
          <a:p>
            <a:r>
              <a:t>Card 1: late fusion is right because each model is already good at its own job and the decision is a simple AND. The risk is correlated failure - a spoofed photo and a borrowed RFID card.</a:t>
            </a:r>
          </a:p>
          <a:p>
            <a:r>
              <a:t>Card 2: the symptoms the farmer describes decide which region of the leaf to inspect, so the signals must interact mid-network. In practice nobody trains this - a pre-trained vision-language model already contains that interaction. The Marathi voice note is a deliberate hook into research problem 02 on slide 28.</a:t>
            </a:r>
          </a:p>
          <a:p>
            <a:r>
              <a:t>Card 3: the fault signature is in the joint pattern of the two streams, so they should meet before any model sees them. It only works if the streams share a clock - a good question to leave with the mechanical engineers in the room.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a:p>
            <a:endParaRPr/>
          </a:p>
          <a:p>
            <a:r>
              <a:rPr b="1"/>
              <a:t>─── TRANSCRIPT ───</a:t>
            </a:r>
          </a:p>
          <a:p>
            <a:r>
              <a:t>"Here are the answers. And there is one rule that connects all three."</a:t>
            </a:r>
          </a:p>
          <a:p>
            <a:r>
              <a:t>"Card one: late fusion. Face recognition and RFID are both already solved problems with good existing models. Run them independently, merge the binary verdicts with an AND rule. No new AI required. The risk to name: both systems can fail the same way — a spoofed photo plus a borrowed card — so log every disagreement and treat consistent disagreement as a security signal, not a data quality issue."</a:t>
            </a:r>
          </a:p>
          <a:p>
            <a:r>
              <a:t>"Card two: cross-attention in principle. Or — more practically — use a pre-trained vision-language model like Gemma 4 or Qwen 3.8, because they already contain cross-attention trained on far more data than you could assemble. The reason cross-attention is right in principle: what the farmer describes changes which part of the leaf to examine. That is exactly the signal cross-attention captures. The local-language voice note is a deliberate pointer to research problem two on slide 28 — regional-language speech on agricultural imagery is underserved and a structural advantage for institutions in Maharashtra, Tamil Nadu or Gujarat."</a:t>
            </a:r>
          </a:p>
          <a:p>
            <a:r>
              <a:t>"Card three: early fusion. Both sensors run on the same clock, so the signals are naturally aligned in time. The fault shows only in the joint time-frequency pattern — neither signal alone would catch it. Concatenate raw features, train on labelled fault examples. The engineering constraint: clock drift between sensors corrupts this approach immediately. Synchronisation is a hardware problem before it is an AI problem."</a:t>
            </a:r>
          </a:p>
          <a:p>
            <a:r>
              <a:t>"The rule that decides all three: the more one signal changes how you read the other, the earlier the two should meet."</a:t>
            </a:r>
          </a:p>
          <a:p>
            <a:endParaRPr/>
          </a:p>
          <a:p>
            <a:r>
              <a:rPr b="1"/>
              <a:t>─── ANTICIPATED QUESTIONS ───</a:t>
            </a:r>
          </a:p>
          <a:p>
            <a:r>
              <a:rPr b="1"/>
              <a:t>Q: What if I do not have labelled fault examples for card three?</a:t>
            </a:r>
          </a:p>
          <a:p>
            <a:r>
              <a:t>A: That is the real constraint in industrial settings — faults are infrequent by design. The answer is anomaly detection: train on normal operating data and flag statistical deviations. Self-supervised contrastive methods are increasingly used for this and are an active, funded research direction. It also points toward a dataset collection contribution: a labelled industrial fault dataset for a specific machine type is a publishable dataset paper.</a:t>
            </a:r>
          </a:p>
          <a:p>
            <a:endParaRPr/>
          </a:p>
          <a:p>
            <a:r>
              <a:rPr b="1"/>
              <a:t>Q: Could card two use early fusion instead?</a:t>
            </a:r>
          </a:p>
          <a:p>
            <a:r>
              <a:t>A: Technically yes, if you trained jointly on paired leaf-photo-plus-voice-note examples with expert labels. The problem is that no such dataset exists at scale for your target region and language. This is why the practical answer is a pre-trained model: it avoids the paired-data problem. Dataset collection for narrow agricultural domains in regional languages is itself a publishable contribution — and the answer to why it does not exist yet.</a:t>
            </a:r>
          </a:p>
          <a:p>
            <a:endParaRPr/>
          </a:p>
          <a:p>
            <a:r>
              <a:rPr b="1"/>
              <a:t>Q: Is there a fourth strategy I am missing?</a:t>
            </a:r>
          </a:p>
          <a:p>
            <a:r>
              <a:t>A: There are refinements — hierarchical fusion, dynamic routing, mixture-of-experts fusion — but they all reduce to variants of the three strategies on slide 11. For a first project, the three-way classification is the right level of granularity. The refinements matter once you are squeezing the last few percentage points.</a:t>
            </a:r>
          </a:p>
          <a:p>
            <a:endParaRPr/>
          </a:p>
          <a:p>
            <a:endParaRPr/>
          </a:p>
          <a:p>
            <a:r>
              <a:rPr b="1"/>
              <a:t>─── TRANSCRIPT ───</a:t>
            </a:r>
          </a:p>
          <a:p>
            <a:r>
              <a:t>"Here are the answers. And there is one rule that connects all three."</a:t>
            </a:r>
          </a:p>
          <a:p>
            <a:r>
              <a:t>"Card one: late fusion. Face recognition and RFID are both already solved problems with good existing models. Run them independently, merge the binary verdicts with an AND rule. No new AI required. The risk to name: both systems can fail the same way — a spoofed photo plus a borrowed card — so log every disagreement and treat consistent disagreement as a security signal, not a data quality issue."</a:t>
            </a:r>
          </a:p>
          <a:p>
            <a:r>
              <a:t>"Card two: cross-attention in principle. Or — more practically — use a pre-trained vision-language model like Gemma 4 or Qwen 3.8, because they already contain cross-attention trained on far more data than you could assemble. The reason cross-attention is right in principle: what the farmer describes changes which part of the leaf to examine. That is exactly the signal cross-attention captures. The local-language voice note is a deliberate pointer to research problem two on slide 28 — regional-language speech on agricultural imagery is underserved and a structural advantage for institutions in Maharashtra, Tamil Nadu or Gujarat."</a:t>
            </a:r>
          </a:p>
          <a:p>
            <a:r>
              <a:t>"Card three: early fusion. Both sensors run on the same clock, so the signals are naturally aligned in time. The fault shows only in the joint time-frequency pattern — neither signal alone would catch it. Concatenate raw features, train on labelled fault examples. The engineering constraint: clock drift between sensors corrupts this approach immediately. Synchronisation is a hardware problem before it is an AI problem."</a:t>
            </a:r>
          </a:p>
          <a:p>
            <a:r>
              <a:t>"The rule that decides all three: the more one signal changes how you read the other, the earlier the two should meet."</a:t>
            </a:r>
          </a:p>
          <a:p>
            <a:endParaRPr/>
          </a:p>
          <a:p>
            <a:r>
              <a:rPr b="1"/>
              <a:t>─── ANTICIPATED QUESTIONS ───</a:t>
            </a:r>
          </a:p>
          <a:p>
            <a:r>
              <a:rPr b="1"/>
              <a:t>Q: What if I do not have labelled fault examples for card three?</a:t>
            </a:r>
          </a:p>
          <a:p>
            <a:r>
              <a:t>A: That is the real constraint in industrial settings — faults are infrequent by design. The answer is anomaly detection: train on normal operating data and flag statistical deviations. Self-supervised contrastive methods are increasingly used for this and are an active, funded research direction. It also points toward a dataset collection contribution: a labelled industrial fault dataset for a specific machine type is a publishable dataset paper.</a:t>
            </a:r>
          </a:p>
          <a:p>
            <a:endParaRPr/>
          </a:p>
          <a:p>
            <a:r>
              <a:rPr b="1"/>
              <a:t>Q: Could card two use early fusion instead?</a:t>
            </a:r>
          </a:p>
          <a:p>
            <a:r>
              <a:t>A: Technically yes, if you trained jointly on paired leaf-photo-plus-voice-note examples with expert labels. The problem is that no such dataset exists at scale for your target region and language. This is why the practical answer is a pre-trained model: it avoids the paired-data problem. Dataset collection for narrow agricultural domains in regional languages is itself a publishable contribution — and the answer to why it does not exist yet.</a:t>
            </a:r>
          </a:p>
          <a:p>
            <a:endParaRPr/>
          </a:p>
          <a:p>
            <a:r>
              <a:rPr b="1"/>
              <a:t>Q: Is there a fourth strategy I am missing?</a:t>
            </a:r>
          </a:p>
          <a:p>
            <a:r>
              <a:t>A: There are refinements — hierarchical fusion, dynamic routing, mixture-of-experts fusion — but they all reduce to variants of the three strategies on slide 11. For a first project, the three-way classification is the right level of granularity. The refinements matter once you are squeezing the last few percentage points.</a:t>
            </a:r>
          </a:p>
          <a:p>
            <a:endParaRPr/>
          </a:p>
        </p:txBody>
      </p:sp>
    </p:spTree>
    <p:extLst>
      <p:ext uri="{BB962C8B-B14F-4D97-AF65-F5344CB8AC3E}">
        <p14:creationId xmlns:p14="http://schemas.microsoft.com/office/powerpoint/2010/main" val="10240870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"The whole of Part One in one line: shared representation beat specialised models."</a:t>
            </a:r>
          </a:p>
          <a:p>
            <a:r>
              <a:t>"Not because any single-modality model got worse — a dedicated OCR engine is still cheaper and more predictable on clean, uniform documents. It won because one shared space lets you ask questions that cross the modality boundary. And almost every real question does."</a:t>
            </a:r>
          </a:p>
          <a:p>
            <a:r>
              <a:t>"We are at roughly the twenty-six-minute mark. If you are watching the recording at two-times speed, this is your natural pause point. The rest of the session is what you do with that shared space."</a:t>
            </a:r>
          </a:p>
          <a:p>
            <a:r>
              <a:t>Breath point. Do not rush into Part Two. Ten seconds of silence is fine.</a:t>
            </a:r>
          </a:p>
          <a:p>
            <a:endParaRPr/>
          </a:p>
          <a:p>
            <a:r>
              <a:rPr b="1"/>
              <a:t>─── ANTICIPATED QUESTIONS ───</a:t>
            </a:r>
          </a:p>
          <a:p>
            <a:r>
              <a:rPr b="1"/>
              <a:t>Q: Is there a textbook that covers this well?</a:t>
            </a:r>
          </a:p>
          <a:p>
            <a:r>
              <a:t>A: The best current entry point is the CMU survey by Liang and colleagues — arXiv 2209.03430 — which maps the field using the vocabulary representation, alignment, reasoning, generation, transference and quantification. That taxonomy works well for both a lecture structure and a proposal outline. I have it on the citations slide in Part Four.</a:t>
            </a:r>
          </a:p>
          <a:p>
            <a:endParaRPr/>
          </a:p>
          <a:p>
            <a:r>
              <a:rPr b="1"/>
              <a:t>─── DELIVERY NOTES ───</a:t>
            </a:r>
          </a:p>
          <a:p>
            <a:r>
              <a:t>Breath point. This is roughly the 26 minute mark. Check the clock here - if you are past 30, cut slide 16 (the acronym map), take slide 17 in thirty seconds and skip slide 19.</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a:p>
            <a:endParaRPr/>
          </a:p>
          <a:p>
            <a:r>
              <a:rPr b="1"/>
              <a:t>─── TRANSCRIPT ───</a:t>
            </a:r>
          </a:p>
          <a:p>
            <a:r>
              <a:t>"The whole of Part One in one line: shared representation beat specialised models."</a:t>
            </a:r>
          </a:p>
          <a:p>
            <a:r>
              <a:t>"Not because any single-modality model got worse — a dedicated OCR engine is still cheaper and more predictable on clean, uniform documents. It won because one shared space lets you ask questions that cross the modality boundary. And almost every real question does."</a:t>
            </a:r>
          </a:p>
          <a:p>
            <a:r>
              <a:t>"We are at roughly the twenty-six-minute mark. If you are watching the recording at two-times speed, this is your natural pause point. The rest of the session is what you do with that shared space."</a:t>
            </a:r>
          </a:p>
          <a:p>
            <a:r>
              <a:t>Breath point. Do not rush into Part Two. Ten seconds of silence is fine.</a:t>
            </a:r>
          </a:p>
          <a:p>
            <a:endParaRPr/>
          </a:p>
          <a:p>
            <a:r>
              <a:rPr b="1"/>
              <a:t>─── ANTICIPATED QUESTIONS ───</a:t>
            </a:r>
          </a:p>
          <a:p>
            <a:r>
              <a:rPr b="1"/>
              <a:t>Q: Is there a textbook that covers this well?</a:t>
            </a:r>
          </a:p>
          <a:p>
            <a:r>
              <a:t>A: The best current entry point is the CMU survey by Liang and colleagues — arXiv 2209.03430 — which maps the field using the vocabulary representation, alignment, reasoning, generation, transference and quantification. That taxonomy works well for both a lecture structure and a proposal outline. I have it on the citations slide in Part Four.</a:t>
            </a:r>
          </a:p>
          <a:p>
            <a:endParaRPr/>
          </a:p>
          <a:p>
            <a:endParaRPr/>
          </a:p>
          <a:p>
            <a:r>
              <a:rPr b="1"/>
              <a:t>─── TRANSCRIPT ───</a:t>
            </a:r>
          </a:p>
          <a:p>
            <a:r>
              <a:t>"The whole of Part One in one line: shared representation beat specialised models."</a:t>
            </a:r>
          </a:p>
          <a:p>
            <a:r>
              <a:t>"Not because any single-modality model got worse — a dedicated OCR engine is still cheaper and more predictable on clean, uniform documents. It won because one shared space lets you ask questions that cross the modality boundary. And almost every real question does."</a:t>
            </a:r>
          </a:p>
          <a:p>
            <a:r>
              <a:t>"We are at roughly the twenty-six-minute mark. If you are watching the recording at two-times speed, this is your natural pause point. The rest of the session is what you do with that shared space."</a:t>
            </a:r>
          </a:p>
          <a:p>
            <a:r>
              <a:t>Breath point. Do not rush into Part Two. Ten seconds of silence is fine.</a:t>
            </a:r>
          </a:p>
          <a:p>
            <a:endParaRPr/>
          </a:p>
          <a:p>
            <a:r>
              <a:rPr b="1"/>
              <a:t>─── ANTICIPATED QUESTIONS ───</a:t>
            </a:r>
          </a:p>
          <a:p>
            <a:r>
              <a:rPr b="1"/>
              <a:t>Q: Is there a textbook that covers this well?</a:t>
            </a:r>
          </a:p>
          <a:p>
            <a:r>
              <a:t>A: The best current entry point is the CMU survey by Liang and colleagues — arXiv 2209.03430 — which maps the field using the vocabulary representation, alignment, reasoning, generation, transference and quantification. That taxonomy works well for both a lecture structure and a proposal outline. I have it on the citations slide in Part Four.</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"Part Two. Eighteen minutes. What is newly possible in 2026 and what still breaks. I will go fast — ninety seconds per shift — because these topics move faster than any slides I can prepare, and you need the architecture section more than you need a survey of products."</a:t>
            </a:r>
          </a:p>
          <a:p>
            <a:endParaRPr/>
          </a:p>
          <a:p>
            <a:r>
              <a:rPr b="1"/>
              <a:t>─── DELIVERY NOTES ───</a:t>
            </a:r>
          </a:p>
          <a:p>
            <a:r>
              <a:t>Pace up here. These slides are fast - 90 seconds each. The energy should rise into the architecture section.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a:p>
            <a:endParaRPr/>
          </a:p>
          <a:p>
            <a:r>
              <a:rPr b="1"/>
              <a:t>─── TRANSCRIPT ───</a:t>
            </a:r>
          </a:p>
          <a:p>
            <a:r>
              <a:t>"Part Two. Eighteen minutes. What is newly possible in 2026 and what still breaks. I will go fast — ninety seconds per shift — because these topics move faster than any slides I can prepare, and you need the architecture section more than you need a survey of products."</a:t>
            </a:r>
          </a:p>
          <a:p>
            <a:endParaRPr/>
          </a:p>
          <a:p>
            <a:r>
              <a:rPr b="1"/>
              <a:t>─── ANTICIPATED QUESTIONS ───</a:t>
            </a:r>
          </a:p>
          <a:p>
            <a:endParaRPr/>
          </a:p>
          <a:p>
            <a:r>
              <a:rPr b="1"/>
              <a:t>─── TRANSCRIPT ───</a:t>
            </a:r>
          </a:p>
          <a:p>
            <a:r>
              <a:t>"Part Two. Eighteen minutes. What is newly possible in 2026 and what still breaks. I will go fast — ninety seconds per shift — because these topics move faster than any slides I can prepare, and you need the architecture section more than you need a survey of products."</a:t>
            </a:r>
          </a:p>
          <a:p>
            <a:endParaRPr/>
          </a:p>
          <a:p>
            <a:r>
              <a:rPr b="1"/>
              <a:t>─── ANTICIPATED QUESTIONS ───</a:t>
            </a: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"Six things that changed in the past twelve months, in order of practical impact."</a:t>
            </a:r>
          </a:p>
          <a:p>
            <a:r>
              <a:t>"Document intelligence: models that read invoices, forms and reports as documents — understanding layout, tables, headers, and margin notes — not just extracting pixels. Production-ready on clean typed documents today. Your institutions already have this use case."</a:t>
            </a:r>
          </a:p>
          <a:p>
            <a:r>
              <a:t>"Chart and diagram reasoning: not 'there is a line going up' but 'Q3 revenue grew 18 percent despite the supplier disruption in July.' Reliable on standard chart types. Fails on ambiguous colour legends and dense scatter plots."</a:t>
            </a:r>
          </a:p>
          <a:p>
            <a:r>
              <a:t>"Speech-native models: audio in, audio out, no transcript in the middle. Qwen 3.5 Omni is the current open-weight example. Prosody and pause carry information that a transcript loses."</a:t>
            </a:r>
          </a:p>
          <a:p>
            <a:r>
              <a:t>"Video understanding: temporal questions — what changed, and when. Still genuinely hard. More on why in three slides."</a:t>
            </a:r>
          </a:p>
          <a:p>
            <a:r>
              <a:t>"Agentic loops: see the screen, decide, act, look again. This is where multimodal AI becomes operational rather than advisory. More in the next slide."</a:t>
            </a:r>
          </a:p>
          <a:p>
            <a:r>
              <a:t>"Small on-device models: Gemma 4 E-series runs on 4 to 12 gigabytes of VRAM, handles images and audio natively, works offline. This changes what is possible in field conditions — agricultural surveys, site inspection, rural infrastructure — with no internet connectivity."</a:t>
            </a:r>
          </a:p>
          <a:p>
            <a:r>
              <a:t>"Three of these reappear in Part Three. Watch for document intelligence, agentic loops, and on-device models."</a:t>
            </a:r>
          </a:p>
          <a:p>
            <a:endParaRPr/>
          </a:p>
          <a:p>
            <a:r>
              <a:rPr b="1"/>
              <a:t>─── ANTICIPATED QUESTIONS ───</a:t>
            </a:r>
          </a:p>
          <a:p>
            <a:r>
              <a:rPr b="1"/>
              <a:t>Q: Is chart reasoning reliable enough for financial reporting?</a:t>
            </a:r>
          </a:p>
          <a:p>
            <a:r>
              <a:t>A: For summarising trends and identifying anomalies — yes, on clean rendered charts. For extracting precise values — read the value at month seven — verify the output carefully. The model interpolates rather than reads pixel coordinates, so it can be off by a few percent on values that are not at a grid line. Build a validation step that checks arithmetic consistency across extracted values.</a:t>
            </a:r>
          </a:p>
          <a:p>
            <a:endParaRPr/>
          </a:p>
          <a:p>
            <a:r>
              <a:rPr b="1"/>
              <a:t>Q: What about sign language or gesture as a modality?</a:t>
            </a:r>
          </a:p>
          <a:p>
            <a:r>
              <a:t>A: A valid and underserved case. Video-based sign language recognition requires combining hand shape, facial expression and body position — inherently multimodal. It is also a high-social-impact research area with almost no coverage in general model training data, which makes it both fundable and publishable at accessibility-focused tracks at CVPR and EMNLP. If anyone in the room works in deaf education or accessibility services, this is a genuinely open problem with a local dataset advantage.</a:t>
            </a:r>
          </a:p>
          <a:p>
            <a:endParaRPr/>
          </a:p>
          <a:p>
            <a:r>
              <a:rPr b="1"/>
              <a:t>─── DELIVERY NOTES ───</a:t>
            </a:r>
          </a:p>
          <a:p>
            <a:r>
              <a:t>Do not linger on all six. Spend real time on document intelligence and agentic loops. Document intelligence is the one your colleges can apply to their own admission forms, attendance registers and lab records this year.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a:p>
            <a:endParaRPr/>
          </a:p>
          <a:p>
            <a:r>
              <a:rPr b="1"/>
              <a:t>─── TRANSCRIPT ───</a:t>
            </a:r>
          </a:p>
          <a:p>
            <a:r>
              <a:t>"Six things that changed in the past twelve months, in order of practical impact."</a:t>
            </a:r>
          </a:p>
          <a:p>
            <a:r>
              <a:t>"Document intelligence: models that read invoices, forms and reports as documents — understanding layout, tables, headers, and margin notes — not just extracting pixels. Production-ready on clean typed documents today. Your institutions already have this use case."</a:t>
            </a:r>
          </a:p>
          <a:p>
            <a:r>
              <a:t>"Chart and diagram reasoning: not 'there is a line going up' but 'Q3 revenue grew 18 percent despite the supplier disruption in July.' Reliable on standard chart types. Fails on ambiguous colour legends and dense scatter plots."</a:t>
            </a:r>
          </a:p>
          <a:p>
            <a:r>
              <a:t>"Speech-native models: audio in, audio out, no transcript in the middle. Qwen 3.5 Omni is the current open-weight example. Prosody and pause carry information that a transcript loses."</a:t>
            </a:r>
          </a:p>
          <a:p>
            <a:r>
              <a:t>"Video understanding: temporal questions — what changed, and when. Still genuinely hard. More on why in three slides."</a:t>
            </a:r>
          </a:p>
          <a:p>
            <a:r>
              <a:t>"Agentic loops: see the screen, decide, act, look again. This is where multimodal AI becomes operational rather than advisory. More in the next slide."</a:t>
            </a:r>
          </a:p>
          <a:p>
            <a:r>
              <a:t>"Small on-device models: Gemma 4 E-series runs on 4 to 12 gigabytes of VRAM, handles images and audio natively, works offline. This changes what is possible in field conditions — agricultural surveys, site inspection, rural infrastructure — with no internet connectivity."</a:t>
            </a:r>
          </a:p>
          <a:p>
            <a:r>
              <a:t>"Three of these reappear in Part Three. Watch for document intelligence, agentic loops, and on-device models."</a:t>
            </a:r>
          </a:p>
          <a:p>
            <a:endParaRPr/>
          </a:p>
          <a:p>
            <a:r>
              <a:rPr b="1"/>
              <a:t>─── ANTICIPATED QUESTIONS ───</a:t>
            </a:r>
          </a:p>
          <a:p>
            <a:r>
              <a:rPr b="1"/>
              <a:t>Q: Is chart reasoning reliable enough for financial reporting?</a:t>
            </a:r>
          </a:p>
          <a:p>
            <a:r>
              <a:t>A: For summarising trends and identifying anomalies — yes, on clean rendered charts. For extracting precise values — read the value at month seven — verify the output carefully. The model interpolates rather than reads pixel coordinates, so it can be off by a few percent on values that are not at a grid line. Build a validation step that checks arithmetic consistency across extracted values.</a:t>
            </a:r>
          </a:p>
          <a:p>
            <a:endParaRPr/>
          </a:p>
          <a:p>
            <a:r>
              <a:rPr b="1"/>
              <a:t>Q: What about sign language or gesture as a modality?</a:t>
            </a:r>
          </a:p>
          <a:p>
            <a:r>
              <a:t>A: A valid and underserved case. Video-based sign language recognition requires combining hand shape, facial expression and body position — inherently multimodal. It is also a high-social-impact research area with almost no coverage in general model training data, which makes it both fundable and publishable at accessibility-focused tracks at CVPR and EMNLP. If anyone in the room works in deaf education or accessibility services, this is a genuinely open problem with a local dataset advantage.</a:t>
            </a:r>
          </a:p>
          <a:p>
            <a:endParaRPr/>
          </a:p>
          <a:p>
            <a:endParaRPr/>
          </a:p>
          <a:p>
            <a:r>
              <a:rPr b="1"/>
              <a:t>─── TRANSCRIPT ───</a:t>
            </a:r>
          </a:p>
          <a:p>
            <a:r>
              <a:t>"Six things that changed in the past twelve months, in order of practical impact."</a:t>
            </a:r>
          </a:p>
          <a:p>
            <a:r>
              <a:t>"Document intelligence: models that read invoices, forms and reports as documents — understanding layout, tables, headers, and margin notes — not just extracting pixels. Production-ready on clean typed documents today. Your institutions already have this use case."</a:t>
            </a:r>
          </a:p>
          <a:p>
            <a:r>
              <a:t>"Chart and diagram reasoning: not 'there is a line going up' but 'Q3 revenue grew 18 percent despite the supplier disruption in July.' Reliable on standard chart types. Fails on ambiguous colour legends and dense scatter plots."</a:t>
            </a:r>
          </a:p>
          <a:p>
            <a:r>
              <a:t>"Speech-native models: audio in, audio out, no transcript in the middle. Qwen 3.5 Omni is the current open-weight example. Prosody and pause carry information that a transcript loses."</a:t>
            </a:r>
          </a:p>
          <a:p>
            <a:r>
              <a:t>"Video understanding: temporal questions — what changed, and when. Still genuinely hard. More on why in three slides."</a:t>
            </a:r>
          </a:p>
          <a:p>
            <a:r>
              <a:t>"Agentic loops: see the screen, decide, act, look again. This is where multimodal AI becomes operational rather than advisory. More in the next slide."</a:t>
            </a:r>
          </a:p>
          <a:p>
            <a:r>
              <a:t>"Small on-device models: Gemma 4 E-series runs on 4 to 12 gigabytes of VRAM, handles images and audio natively, works offline. This changes what is possible in field conditions — agricultural surveys, site inspection, rural infrastructure — with no internet connectivity."</a:t>
            </a:r>
          </a:p>
          <a:p>
            <a:r>
              <a:t>"Three of these reappear in Part Three. Watch for document intelligence, agentic loops, and on-device models."</a:t>
            </a:r>
          </a:p>
          <a:p>
            <a:endParaRPr/>
          </a:p>
          <a:p>
            <a:r>
              <a:rPr b="1"/>
              <a:t>─── ANTICIPATED QUESTIONS ───</a:t>
            </a:r>
          </a:p>
          <a:p>
            <a:r>
              <a:rPr b="1"/>
              <a:t>Q: Is chart reasoning reliable enough for financial reporting?</a:t>
            </a:r>
          </a:p>
          <a:p>
            <a:r>
              <a:t>A: For summarising trends and identifying anomalies — yes, on clean rendered charts. For extracting precise values — read the value at month seven — verify the output carefully. The model interpolates rather than reads pixel coordinates, so it can be off by a few percent on values that are not at a grid line. Build a validation step that checks arithmetic consistency across extracted values.</a:t>
            </a:r>
          </a:p>
          <a:p>
            <a:endParaRPr/>
          </a:p>
          <a:p>
            <a:r>
              <a:rPr b="1"/>
              <a:t>Q: What about sign language or gesture as a modality?</a:t>
            </a:r>
          </a:p>
          <a:p>
            <a:r>
              <a:t>A: A valid and underserved case. Video-based sign language recognition requires combining hand shape, facial expression and body position — inherently multimodal. It is also a high-social-impact research area with almost no coverage in general model training data, which makes it both fundable and publishable at accessibility-focused tracks at CVPR and EMNLP. If anyone in the room works in deaf education or accessibility services, this is a genuinely open problem with a local dataset advantage.</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"This is the slide I spend the most time on in client conversations, because every organisation in this room already has this use case — whether they have named it yet or not."</a:t>
            </a:r>
          </a:p>
          <a:p>
            <a:r>
              <a:t>"The input: a photographed purchase order. Skewed. Coffee stain. Handwritten note in the margin in a second language. Two printed languages on the same page."</a:t>
            </a:r>
          </a:p>
          <a:p>
            <a:r>
              <a:t>"The output: a structured JSON object. Vendor, PO number, total, currency, the margin note, confidence score."</a:t>
            </a:r>
          </a:p>
          <a:p>
            <a:r>
              <a:t>"Three things to notice."</a:t>
            </a:r>
          </a:p>
          <a:p>
            <a:r>
              <a:t>"No OCR step. The model never produces a transcript you then have to parse. It goes directly from image to structure."</a:t>
            </a:r>
          </a:p>
          <a:p>
            <a:r>
              <a:t>"Schema on demand. You define the JSON fields at request time, not at training time. Different document types, different schemas, no retraining."</a:t>
            </a:r>
          </a:p>
          <a:p>
            <a:r>
              <a:t>"One pass for everything. Handwriting and print, two languages, in a single model call."</a:t>
            </a:r>
          </a:p>
          <a:p>
            <a:r>
              <a:t>"The honest number: on clean typed well-scanned documents, production-ready today. On dense handwritten forms in regional scripts — Devanagari, Tamil, regional dialects — not yet. Local hook: every institution in this FDP has decades of undigitised records. Admission registers. Lab notebooks. Field survey forms. That is a dataset nobody else has. And I will tell you what to do with it in Part Four."</a:t>
            </a:r>
          </a:p>
          <a:p>
            <a:endParaRPr/>
          </a:p>
          <a:p>
            <a:r>
              <a:rPr b="1"/>
              <a:t>─── ANTICIPATED QUESTIONS ───</a:t>
            </a:r>
          </a:p>
          <a:p>
            <a:r>
              <a:rPr b="1"/>
              <a:t>Q: What does a confidence score of 0.94 actually mean?</a:t>
            </a:r>
          </a:p>
          <a:p>
            <a:r>
              <a:t>A: It is the model's self-reported estimate of its own certainty. It is not a calibrated probability — a 0.94 does not reliably mean the field is correct 94 percent of the time. It is a useful routing signal: high confidence goes through, low confidence goes to a human reviewer. Making this number trustworthy is research problem three on slide 28 — calibration and abstention — and it is essential before you deploy in any consequential setting.</a:t>
            </a:r>
          </a:p>
          <a:p>
            <a:endParaRPr/>
          </a:p>
          <a:p>
            <a:r>
              <a:rPr b="1"/>
              <a:t>Q: Can current models handle handwritten Tamil or Devanagari?</a:t>
            </a:r>
          </a:p>
          <a:p>
            <a:r>
              <a:t>A: For printed text in those scripts, current frontier models are reasonable. For cursive or regional handwriting styles — particularly in older institutional records — they are unreliable. Qwen3-VL was trained on 32 languages and performs better on Indic scripts than earlier models, but 'better' is relative. Dense handwriting in regional scripts remains an open problem and a structural research opportunity for institutions in Tamil Nadu, Maharashtra, Gujarat or Karnataka. A benchmark dataset for your script and document type is a publishable contribution.</a:t>
            </a:r>
          </a:p>
          <a:p>
            <a:endParaRPr/>
          </a:p>
          <a:p>
            <a:r>
              <a:rPr b="1"/>
              <a:t>Q: What about DPDP compliance for documents containing personal data?</a:t>
            </a:r>
          </a:p>
          <a:p>
            <a:r>
              <a:t>A: You need to answer this before building the system, not after. For student records, patient images, or financial documents: you cannot send them to a hosted API without informed consent and a data processing agreement under the Digital Personal Data Protection Act 2023. The self-hosted route on slide 25 — running Qwen3.8 or Gemma 4 on IndiaAI compute or your own server — keeps everything on your infrastructure. Build the legal answer before building the technical pipeline.</a:t>
            </a:r>
          </a:p>
          <a:p>
            <a:endParaRPr/>
          </a:p>
          <a:p>
            <a:r>
              <a:rPr b="1"/>
              <a:t>─── DELIVERY NOTES ───</a:t>
            </a:r>
          </a:p>
          <a:p>
            <a:r>
              <a:t>Tell them the honest number: on clean typed documents this is production-ready today. On dense handwritten forms it is not. Do not oversell - the credibility you keep here pays off in the funding section. Local hook: every institution in this FDP has decades of undigitised records. That is a dataset nobody else has.</a:t>
            </a:r>
          </a:p>
          <a:p>
            <a:endParaRPr/>
          </a:p>
          <a:p>
            <a:r>
              <a:t>The 0.94 in the JSON is the model’s own number, not a calibrated probability. Flag it here in one sentence so nobody leaves thinking the field can be trusted as a measurement.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a:p>
            <a:endParaRPr/>
          </a:p>
          <a:p>
            <a:r>
              <a:rPr b="1"/>
              <a:t>─── TRANSCRIPT ───</a:t>
            </a:r>
          </a:p>
          <a:p>
            <a:r>
              <a:t>"This is the slide I spend the most time on in client conversations, because every organisation in this room already has this use case — whether they have named it yet or not."</a:t>
            </a:r>
          </a:p>
          <a:p>
            <a:r>
              <a:t>"The input: a photographed purchase order. Skewed. Coffee stain. Handwritten note in the margin in a second language. Two printed languages on the same page."</a:t>
            </a:r>
          </a:p>
          <a:p>
            <a:r>
              <a:t>"The output: a structured JSON object. Vendor, PO number, total, currency, the margin note, confidence score."</a:t>
            </a:r>
          </a:p>
          <a:p>
            <a:r>
              <a:t>"Three things to notice."</a:t>
            </a:r>
          </a:p>
          <a:p>
            <a:r>
              <a:t>"No OCR step. The model never produces a transcript you then have to parse. It goes directly from image to structure."</a:t>
            </a:r>
          </a:p>
          <a:p>
            <a:r>
              <a:t>"Schema on demand. You define the JSON fields at request time, not at training time. Different document types, different schemas, no retraining."</a:t>
            </a:r>
          </a:p>
          <a:p>
            <a:r>
              <a:t>"One pass for everything. Handwriting and print, two languages, in a single model call."</a:t>
            </a:r>
          </a:p>
          <a:p>
            <a:r>
              <a:t>"The honest number: on clean typed well-scanned documents, production-ready today. On dense handwritten forms in regional scripts — Devanagari, Tamil, regional dialects — not yet. Local hook: every institution in this FDP has decades of undigitised records. Admission registers. Lab notebooks. Field survey forms. That is a dataset nobody else has. And I will tell you what to do with it in Part Four."</a:t>
            </a:r>
          </a:p>
          <a:p>
            <a:endParaRPr/>
          </a:p>
          <a:p>
            <a:r>
              <a:rPr b="1"/>
              <a:t>─── ANTICIPATED QUESTIONS ───</a:t>
            </a:r>
          </a:p>
          <a:p>
            <a:r>
              <a:rPr b="1"/>
              <a:t>Q: What does a confidence score of 0.94 actually mean?</a:t>
            </a:r>
          </a:p>
          <a:p>
            <a:r>
              <a:t>A: It is the model's self-reported estimate of its own certainty. It is not a calibrated probability — a 0.94 does not reliably mean the field is correct 94 percent of the time. It is a useful routing signal: high confidence goes through, low confidence goes to a human reviewer. Making this number trustworthy is research problem three on slide 28 — calibration and abstention — and it is essential before you deploy in any consequential setting.</a:t>
            </a:r>
          </a:p>
          <a:p>
            <a:endParaRPr/>
          </a:p>
          <a:p>
            <a:r>
              <a:rPr b="1"/>
              <a:t>Q: Can current models handle handwritten Tamil or Devanagari?</a:t>
            </a:r>
          </a:p>
          <a:p>
            <a:r>
              <a:t>A: For printed text in those scripts, current frontier models are reasonable. For cursive or regional handwriting styles — particularly in older institutional records — they are unreliable. Qwen3-VL was trained on 32 languages and performs better on Indic scripts than earlier models, but 'better' is relative. Dense handwriting in regional scripts remains an open problem and a structural research opportunity for institutions in Tamil Nadu, Maharashtra, Gujarat or Karnataka. A benchmark dataset for your script and document type is a publishable contribution.</a:t>
            </a:r>
          </a:p>
          <a:p>
            <a:endParaRPr/>
          </a:p>
          <a:p>
            <a:r>
              <a:rPr b="1"/>
              <a:t>Q: What about DPDP compliance for documents containing personal data?</a:t>
            </a:r>
          </a:p>
          <a:p>
            <a:r>
              <a:t>A: You need to answer this before building the system, not after. For student records, patient images, or financial documents: you cannot send them to a hosted API without informed consent and a data processing agreement under the Digital Personal Data Protection Act 2023. The self-hosted route on slide 25 — running Qwen3.8 or Gemma 4 on IndiaAI compute or your own server — keeps everything on your infrastructure. Build the legal answer before building the technical pipeline.</a:t>
            </a:r>
          </a:p>
          <a:p>
            <a:endParaRPr/>
          </a:p>
          <a:p>
            <a:endParaRPr/>
          </a:p>
          <a:p>
            <a:r>
              <a:rPr b="1"/>
              <a:t>─── TRANSCRIPT ───</a:t>
            </a:r>
          </a:p>
          <a:p>
            <a:r>
              <a:t>"This is the slide I spend the most time on in client conversations, because every organisation in this room already has this use case — whether they have named it yet or not."</a:t>
            </a:r>
          </a:p>
          <a:p>
            <a:r>
              <a:t>"The input: a photographed purchase order. Skewed. Coffee stain. Handwritten note in the margin in a second language. Two printed languages on the same page."</a:t>
            </a:r>
          </a:p>
          <a:p>
            <a:r>
              <a:t>"The output: a structured JSON object. Vendor, PO number, total, currency, the margin note, confidence score."</a:t>
            </a:r>
          </a:p>
          <a:p>
            <a:r>
              <a:t>"Three things to notice."</a:t>
            </a:r>
          </a:p>
          <a:p>
            <a:r>
              <a:t>"No OCR step. The model never produces a transcript you then have to parse. It goes directly from image to structure."</a:t>
            </a:r>
          </a:p>
          <a:p>
            <a:r>
              <a:t>"Schema on demand. You define the JSON fields at request time, not at training time. Different document types, different schemas, no retraining."</a:t>
            </a:r>
          </a:p>
          <a:p>
            <a:r>
              <a:t>"One pass for everything. Handwriting and print, two languages, in a single model call."</a:t>
            </a:r>
          </a:p>
          <a:p>
            <a:r>
              <a:t>"The honest number: on clean typed well-scanned documents, production-ready today. On dense handwritten forms in regional scripts — Devanagari, Tamil, regional dialects — not yet. Local hook: every institution in this FDP has decades of undigitised records. Admission registers. Lab notebooks. Field survey forms. That is a dataset nobody else has. And I will tell you what to do with it in Part Four."</a:t>
            </a:r>
          </a:p>
          <a:p>
            <a:endParaRPr/>
          </a:p>
          <a:p>
            <a:r>
              <a:rPr b="1"/>
              <a:t>─── ANTICIPATED QUESTIONS ───</a:t>
            </a:r>
          </a:p>
          <a:p>
            <a:r>
              <a:rPr b="1"/>
              <a:t>Q: What does a confidence score of 0.94 actually mean?</a:t>
            </a:r>
          </a:p>
          <a:p>
            <a:r>
              <a:t>A: It is the model's self-reported estimate of its own certainty. It is not a calibrated probability — a 0.94 does not reliably mean the field is correct 94 percent of the time. It is a useful routing signal: high confidence goes through, low confidence goes to a human reviewer. Making this number trustworthy is research problem three on slide 28 — calibration and abstention — and it is essential before you deploy in any consequential setting.</a:t>
            </a:r>
          </a:p>
          <a:p>
            <a:endParaRPr/>
          </a:p>
          <a:p>
            <a:r>
              <a:rPr b="1"/>
              <a:t>Q: Can current models handle handwritten Tamil or Devanagari?</a:t>
            </a:r>
          </a:p>
          <a:p>
            <a:r>
              <a:t>A: For printed text in those scripts, current frontier models are reasonable. For cursive or regional handwriting styles — particularly in older institutional records — they are unreliable. Qwen3-VL was trained on 32 languages and performs better on Indic scripts than earlier models, but 'better' is relative. Dense handwriting in regional scripts remains an open problem and a structural research opportunity for institutions in Tamil Nadu, Maharashtra, Gujarat or Karnataka. A benchmark dataset for your script and document type is a publishable contribution.</a:t>
            </a:r>
          </a:p>
          <a:p>
            <a:endParaRPr/>
          </a:p>
          <a:p>
            <a:r>
              <a:rPr b="1"/>
              <a:t>Q: What about DPDP compliance for documents containing personal data?</a:t>
            </a:r>
          </a:p>
          <a:p>
            <a:r>
              <a:t>A: You need to answer this before building the system, not after. For student records, patient images, or financial documents: you cannot send them to a hosted API without informed consent and a data processing agreement under the Digital Personal Data Protection Act 2023. The self-hosted route on slide 25 — running Qwen3.8 or Gemma 4 on IndiaAI compute or your own server — keeps everything on your infrastructure. Build the legal answer before building the technical pipeline.</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"When the model can look and then act."</a:t>
            </a:r>
          </a:p>
          <a:p>
            <a:r>
              <a:t>"Four steps. Observe: screenshot, camera frame, or dashboard image. Reason: what state is the system in, what should happen next? Act: call an API, click, file a ticket, stop a line. Verify: look again, confirm the action landed."</a:t>
            </a:r>
          </a:p>
          <a:p>
            <a:r>
              <a:t>"This is not new in principle — rule-based automation has done this for decades. What is new is that the model understands what it is looking at well enough to handle the unstructured cases that rules cannot cover: a form with an extra field this week, a dashboard with an unfamiliar layout, an error message that does not match any prior pattern."</a:t>
            </a:r>
          </a:p>
          <a:p>
            <a:r>
              <a:t>"The failure mode nobody warns you about: the loop is only as safe as the verify step. A system that acts without verifying will confidently repeat the same wrong action forever. Design the verify step before you design the act step. Make the loop interruptible — a human should be able to pause it at any moment."</a:t>
            </a:r>
          </a:p>
          <a:p>
            <a:r>
              <a:t>"Current state in 2026: Claude Sonnet and GPT-5 both support computer-use natively. Gemma 4 and Qwen 3.8 support tool-calling with vision but do not ship a built-in computer-use abstraction — you build the loop around them."</a:t>
            </a:r>
          </a:p>
          <a:p>
            <a:endParaRPr/>
          </a:p>
          <a:p>
            <a:r>
              <a:rPr b="1"/>
              <a:t>─── ANTICIPATED QUESTIONS ───</a:t>
            </a:r>
          </a:p>
          <a:p>
            <a:r>
              <a:rPr b="1"/>
              <a:t>Q: What tools can the model actually call?</a:t>
            </a:r>
          </a:p>
          <a:p>
            <a:r>
              <a:t>A: Whatever the host application gives it access to. Standard patterns: web search, code execution, REST API calls, file read and write, and computer control via screenshot-and-click. The model calls a tool by generating a structured tool-use response; the host executes it and returns the result as the next message. The loop on this slide is the outer structure; the model itself just produces one response per iteration. The scope of tool access is an engineering decision and a security boundary you control.</a:t>
            </a:r>
          </a:p>
          <a:p>
            <a:endParaRPr/>
          </a:p>
          <a:p>
            <a:r>
              <a:rPr b="1"/>
              <a:t>Q: How do you prevent an irreversible action?</a:t>
            </a:r>
          </a:p>
          <a:p>
            <a:r>
              <a:t>A: Write to a draft before a live system. Stage changes before committing. Require a human confirmation step for high-stakes or irreversible actions. Set a maximum iteration count — a loop that runs more than twenty steps without completing is stuck and should alert a human. And build the interruptible-by-design principle in from the start: the loop should have a kill switch the operator can trigger at any point.</a:t>
            </a:r>
          </a:p>
          <a:p>
            <a:endParaRPr/>
          </a:p>
          <a:p>
            <a:r>
              <a:rPr b="1"/>
              <a:t>Q: Is this safe enough for any real deployment?</a:t>
            </a:r>
          </a:p>
          <a:p>
            <a:r>
              <a:t>A: The verify step, the threshold routing, and the human review queue are the safety mechanisms. A well-designed agentic system is safer than a human doing the same task manually, because the human can also make errors and does not produce an audit log. The risk comes from deploying without verify — from treating the act step as the final step. The architecture on slide 23 builds verify in as stage five and logs every decision precisely to address this.</a:t>
            </a:r>
          </a:p>
          <a:p>
            <a:endParaRPr/>
          </a:p>
          <a:p>
            <a:r>
              <a:rPr b="1"/>
              <a:t>─── DELIVERY NOTES ───</a:t>
            </a:r>
          </a:p>
          <a:p>
            <a:r>
              <a:rPr lang="en-US" dirty="0"/>
              <a:t>The verify-first advice is the most useful practical thing in Part Two. Industry people will write it down.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a:p>
            <a:endParaRPr/>
          </a:p>
          <a:p>
            <a:r>
              <a:rPr b="1"/>
              <a:t>─── TRANSCRIPT ───</a:t>
            </a:r>
          </a:p>
          <a:p>
            <a:r>
              <a:t>"When the model can look and then act."</a:t>
            </a:r>
          </a:p>
          <a:p>
            <a:r>
              <a:t>"Four steps. Observe: screenshot, camera frame, or dashboard image. Reason: what state is the system in, what should happen next? Act: call an API, click, file a ticket, stop a line. Verify: look again, confirm the action landed."</a:t>
            </a:r>
          </a:p>
          <a:p>
            <a:r>
              <a:t>"This is not new in principle — rule-based automation has done this for decades. What is new is that the model understands what it is looking at well enough to handle the unstructured cases that rules cannot cover: a form with an extra field this week, a dashboard with an unfamiliar layout, an error message that does not match any prior pattern."</a:t>
            </a:r>
          </a:p>
          <a:p>
            <a:r>
              <a:t>"The failure mode nobody warns you about: the loop is only as safe as the verify step. A system that acts without verifying will confidently repeat the same wrong action forever. Design the verify step before you design the act step. Make the loop interruptible — a human should be able to pause it at any moment."</a:t>
            </a:r>
          </a:p>
          <a:p>
            <a:r>
              <a:t>"Current state in 2026: Claude Sonnet and GPT-5 both support computer-use natively. Gemma 4 and Qwen 3.8 support tool-calling with vision but do not ship a built-in computer-use abstraction — you build the loop around them."</a:t>
            </a:r>
          </a:p>
          <a:p>
            <a:endParaRPr/>
          </a:p>
          <a:p>
            <a:r>
              <a:rPr b="1"/>
              <a:t>─── ANTICIPATED QUESTIONS ───</a:t>
            </a:r>
          </a:p>
          <a:p>
            <a:r>
              <a:rPr b="1"/>
              <a:t>Q: What tools can the model actually call?</a:t>
            </a:r>
          </a:p>
          <a:p>
            <a:r>
              <a:t>A: Whatever the host application gives it access to. Standard patterns: web search, code execution, REST API calls, file read and write, and computer control via screenshot-and-click. The model calls a tool by generating a structured tool-use response; the host executes it and returns the result as the next message. The loop on this slide is the outer structure; the model itself just produces one response per iteration. The scope of tool access is an engineering decision and a security boundary you control.</a:t>
            </a:r>
          </a:p>
          <a:p>
            <a:endParaRPr/>
          </a:p>
          <a:p>
            <a:r>
              <a:rPr b="1"/>
              <a:t>Q: How do you prevent an irreversible action?</a:t>
            </a:r>
          </a:p>
          <a:p>
            <a:r>
              <a:t>A: Write to a draft before a live system. Stage changes before committing. Require a human confirmation step for high-stakes or irreversible actions. Set a maximum iteration count — a loop that runs more than twenty steps without completing is stuck and should alert a human. And build the interruptible-by-design principle in from the start: the loop should have a kill switch the operator can trigger at any point.</a:t>
            </a:r>
          </a:p>
          <a:p>
            <a:endParaRPr/>
          </a:p>
          <a:p>
            <a:r>
              <a:rPr b="1"/>
              <a:t>Q: Is this safe enough for any real deployment?</a:t>
            </a:r>
          </a:p>
          <a:p>
            <a:r>
              <a:t>A: The verify step, the threshold routing, and the human review queue are the safety mechanisms. A well-designed agentic system is safer than a human doing the same task manually, because the human can also make errors and does not produce an audit log. The risk comes from deploying without verify — from treating the act step as the final step. The architecture on slide 23 builds verify in as stage five and logs every decision precisely to address this.</a:t>
            </a:r>
          </a:p>
          <a:p>
            <a:endParaRPr/>
          </a:p>
          <a:p>
            <a:endParaRPr/>
          </a:p>
          <a:p>
            <a:r>
              <a:rPr b="1"/>
              <a:t>─── TRANSCRIPT ───</a:t>
            </a:r>
          </a:p>
          <a:p>
            <a:r>
              <a:t>"When the model can look and then act."</a:t>
            </a:r>
          </a:p>
          <a:p>
            <a:r>
              <a:t>"Four steps. Observe: screenshot, camera frame, or dashboard image. Reason: what state is the system in, what should happen next? Act: call an API, click, file a ticket, stop a line. Verify: look again, confirm the action landed."</a:t>
            </a:r>
          </a:p>
          <a:p>
            <a:r>
              <a:t>"This is not new in principle — rule-based automation has done this for decades. What is new is that the model understands what it is looking at well enough to handle the unstructured cases that rules cannot cover: a form with an extra field this week, a dashboard with an unfamiliar layout, an error message that does not match any prior pattern."</a:t>
            </a:r>
          </a:p>
          <a:p>
            <a:r>
              <a:t>"The failure mode nobody warns you about: the loop is only as safe as the verify step. A system that acts without verifying will confidently repeat the same wrong action forever. Design the verify step before you design the act step. Make the loop interruptible — a human should be able to pause it at any moment."</a:t>
            </a:r>
          </a:p>
          <a:p>
            <a:r>
              <a:t>"Current state in 2026: Claude Sonnet and GPT-5 both support computer-use natively. Gemma 4 and Qwen 3.8 support tool-calling with vision but do not ship a built-in computer-use abstraction — you build the loop around them."</a:t>
            </a:r>
          </a:p>
          <a:p>
            <a:endParaRPr/>
          </a:p>
          <a:p>
            <a:r>
              <a:rPr b="1"/>
              <a:t>─── ANTICIPATED QUESTIONS ───</a:t>
            </a:r>
          </a:p>
          <a:p>
            <a:r>
              <a:rPr b="1"/>
              <a:t>Q: What tools can the model actually call?</a:t>
            </a:r>
          </a:p>
          <a:p>
            <a:r>
              <a:t>A: Whatever the host application gives it access to. Standard patterns: web search, code execution, REST API calls, file read and write, and computer control via screenshot-and-click. The model calls a tool by generating a structured tool-use response; the host executes it and returns the result as the next message. The loop on this slide is the outer structure; the model itself just produces one response per iteration. The scope of tool access is an engineering decision and a security boundary you control.</a:t>
            </a:r>
          </a:p>
          <a:p>
            <a:endParaRPr/>
          </a:p>
          <a:p>
            <a:r>
              <a:rPr b="1"/>
              <a:t>Q: How do you prevent an irreversible action?</a:t>
            </a:r>
          </a:p>
          <a:p>
            <a:r>
              <a:t>A: Write to a draft before a live system. Stage changes before committing. Require a human confirmation step for high-stakes or irreversible actions. Set a maximum iteration count — a loop that runs more than twenty steps without completing is stuck and should alert a human. And build the interruptible-by-design principle in from the start: the loop should have a kill switch the operator can trigger at any point.</a:t>
            </a:r>
          </a:p>
          <a:p>
            <a:endParaRPr/>
          </a:p>
          <a:p>
            <a:r>
              <a:rPr b="1"/>
              <a:t>Q: Is this safe enough for any real deployment?</a:t>
            </a:r>
          </a:p>
          <a:p>
            <a:r>
              <a:t>A: The verify step, the threshold routing, and the human review queue are the safety mechanisms. A well-designed agentic system is safer than a human doing the same task manually, because the human can also make errors and does not produce an audit log. The risk comes from deploying without verify — from treating the act step as the final step. The architecture on slide 23 builds verify in as stage five and logs every decision precisely to address this.</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"This is the most important slide in Part Two. Not because it tells you what is broken — you can find that anywhere — but because every one of these six failures is a research problem that is unsolved, measurable, and agreed by reviewers to matter. Each one is a candidate for your next proposal."</a:t>
            </a:r>
          </a:p>
          <a:p>
            <a:r>
              <a:t>"Fine spatial detail: counting objects in a crowd, reading a gauge needle, measuring crack width precisely. Fails reliably. Why: attention over 16-by-16 patches loses sub-patch precision. Metric: spatial localisation error on a benchmark like DocVQA or a domain-specific equivalent."</a:t>
            </a:r>
          </a:p>
          <a:p>
            <a:r>
              <a:t>"Dense handwriting: cursive, medical notes, multi-language forms. Unreliable even for frontier models. Why: dramatically underrepresented in training data. Metric: field-level F1 on a domain-specific annotated dataset."</a:t>
            </a:r>
          </a:p>
          <a:p>
            <a:r>
              <a:t>"Confident wrong answers: the model rarely says it cannot read something. It guesses fluently. Technically: calibration failure. Metric: Expected Calibration Error and selective risk curves."</a:t>
            </a:r>
          </a:p>
          <a:p>
            <a:r>
              <a:t>"Long video: context cost grows fast, and most systems sample frames. The event you care about may be between sampled frames. Metric: temporal understanding benchmarks on long-form video."</a:t>
            </a:r>
          </a:p>
          <a:p>
            <a:r>
              <a:t>"Cost and latency: one image can cost as many tokens as a page of text, on every call. At Indian institutional volumes, this matters. Metric: cost per successful extraction at target throughput."</a:t>
            </a:r>
          </a:p>
          <a:p>
            <a:r>
              <a:t>"Evaluation itself: we do not have good benchmarks for cross-modal reasoning quality in most domains. Both a problem and the single fastest route to a first publication."</a:t>
            </a:r>
          </a:p>
          <a:p>
            <a:r>
              <a:t>Chat poll three: "Which of these six is your institution best positioned to address? Name the one in the chat." Read results. If fine spatial detail or long video come up, link them to rows 4 and 5 on slide 28. If dense handwriting comes up, link to row 2. If evaluation comes up, link to row 1.</a:t>
            </a:r>
          </a:p>
          <a:p>
            <a:endParaRPr/>
          </a:p>
          <a:p>
            <a:r>
              <a:rPr b="1"/>
              <a:t>─── ANTICIPATED QUESTIONS ───</a:t>
            </a:r>
          </a:p>
          <a:p>
            <a:r>
              <a:rPr b="1"/>
              <a:t>Q: Are these fundamental limits or will scale solve them?</a:t>
            </a:r>
          </a:p>
          <a:p>
            <a:r>
              <a:t>A: Mixed. Fine spatial detail and confident wrong answers are likely to improve with scale but may be partially architectural — patch-based attention has geometric limits that are not solved just by adding parameters. Dense handwriting and evaluation are pure data and engineering problems: solvable with enough labelled examples and the right infrastructure. Long video is an architecture problem with active research funding at all major labs. Cost and latency will improve as hardware improves. The fundable problems are the data and engineering ones — because you can show measurable progress without waiting for architectural breakthroughs.</a:t>
            </a:r>
          </a:p>
          <a:p>
            <a:endParaRPr/>
          </a:p>
          <a:p>
            <a:r>
              <a:rPr b="1"/>
              <a:t>Q: What is the current state of hallucination — have the 2026 models solved it?</a:t>
            </a:r>
          </a:p>
          <a:p>
            <a:r>
              <a:t>A: Substantially improved on grounded tasks where there is a document to check against. For document extraction, combining JSON schema enforcement with field-level confidence scoring has reduced hallucination rates dramatically in production systems. The harder open problem is on tasks that require world knowledge not in the input: the model cannot yet reliably distinguish what it knows from what it is confabulating. Making that distinction — calibrated abstention — is research problem three on slide 28.</a:t>
            </a:r>
          </a:p>
          <a:p>
            <a:endParaRPr/>
          </a:p>
          <a:p>
            <a:r>
              <a:rPr b="1"/>
              <a:t>Q: Is there one benchmark that covers all six failure modes?</a:t>
            </a:r>
          </a:p>
          <a:p>
            <a:r>
              <a:t>A: No single benchmark. MMMU and MMMU-Pro test multi-discipline reasoning. DocVQA tests document understanding. ChartQA tests chart reasoning. MMStar, MMBench, and MathVista test other aspects. Li and Lu 2024 maintain an index of 200-plus benchmarks — search it for your domain before claiming novelty. The gaps in that index are where a new benchmark paper lives.</a:t>
            </a:r>
          </a:p>
          <a:p>
            <a:endParaRPr/>
          </a:p>
          <a:p>
            <a:r>
              <a:rPr b="1"/>
              <a:t>─── DELIVERY NOTES ───</a:t>
            </a:r>
          </a:p>
          <a:p>
            <a:r>
              <a:t>This slide does double duty - it is the credibility slide and the topic-selection slide. Say the last line slowly, and tell them to photograph it. For an FDP room, this is the single most valuable slide in the deck: six research problems, all measurable, none needing a large GPU budget.</a:t>
            </a:r>
          </a:p>
          <a:p>
            <a:endParaRPr/>
          </a:p>
          <a:p>
            <a:r>
              <a:t>Run the chat poll on the last line - it takes fifteen seconds and it gives you the room’s own failure case to name again on slide 28 and slide 37. Keep the tally; it is the cheapest way to make Part Four feel addressed to them.</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a:p>
            <a:endParaRPr/>
          </a:p>
          <a:p>
            <a:r>
              <a:rPr b="1"/>
              <a:t>─── TRANSCRIPT ───</a:t>
            </a:r>
          </a:p>
          <a:p>
            <a:r>
              <a:t>"This is the most important slide in Part Two. Not because it tells you what is broken — you can find that anywhere — but because every one of these six failures is a research problem that is unsolved, measurable, and agreed by reviewers to matter. Each one is a candidate for your next proposal."</a:t>
            </a:r>
          </a:p>
          <a:p>
            <a:r>
              <a:t>"Fine spatial detail: counting objects in a crowd, reading a gauge needle, measuring crack width precisely. Fails reliably. Why: attention over 16-by-16 patches loses sub-patch precision. Metric: spatial localisation error on a benchmark like DocVQA or a domain-specific equivalent."</a:t>
            </a:r>
          </a:p>
          <a:p>
            <a:r>
              <a:t>"Dense handwriting: cursive, medical notes, multi-language forms. Unreliable even for frontier models. Why: dramatically underrepresented in training data. Metric: field-level F1 on a domain-specific annotated dataset."</a:t>
            </a:r>
          </a:p>
          <a:p>
            <a:r>
              <a:t>"Confident wrong answers: the model rarely says it cannot read something. It guesses fluently. Technically: calibration failure. Metric: Expected Calibration Error and selective risk curves."</a:t>
            </a:r>
          </a:p>
          <a:p>
            <a:r>
              <a:t>"Long video: context cost grows fast, and most systems sample frames. The event you care about may be between sampled frames. Metric: temporal understanding benchmarks on long-form video."</a:t>
            </a:r>
          </a:p>
          <a:p>
            <a:r>
              <a:t>"Cost and latency: one image can cost as many tokens as a page of text, on every call. At Indian institutional volumes, this matters. Metric: cost per successful extraction at target throughput."</a:t>
            </a:r>
          </a:p>
          <a:p>
            <a:r>
              <a:t>"Evaluation itself: we do not have good benchmarks for cross-modal reasoning quality in most domains. Both a problem and the single fastest route to a first publication."</a:t>
            </a:r>
          </a:p>
          <a:p>
            <a:r>
              <a:t>Chat poll three: "Which of these six is your institution best positioned to address? Name the one in the chat." Read results. If fine spatial detail or long video come up, link them to rows 4 and 5 on slide 28. If dense handwriting comes up, link to row 2. If evaluation comes up, link to row 1.</a:t>
            </a:r>
          </a:p>
          <a:p>
            <a:endParaRPr/>
          </a:p>
          <a:p>
            <a:r>
              <a:rPr b="1"/>
              <a:t>─── ANTICIPATED QUESTIONS ───</a:t>
            </a:r>
          </a:p>
          <a:p>
            <a:r>
              <a:rPr b="1"/>
              <a:t>Q: Are these fundamental limits or will scale solve them?</a:t>
            </a:r>
          </a:p>
          <a:p>
            <a:r>
              <a:t>A: Mixed. Fine spatial detail and confident wrong answers are likely to improve with scale but may be partially architectural — patch-based attention has geometric limits that are not solved just by adding parameters. Dense handwriting and evaluation are pure data and engineering problems: solvable with enough labelled examples and the right infrastructure. Long video is an architecture problem with active research funding at all major labs. Cost and latency will improve as hardware improves. The fundable problems are the data and engineering ones — because you can show measurable progress without waiting for architectural breakthroughs.</a:t>
            </a:r>
          </a:p>
          <a:p>
            <a:endParaRPr/>
          </a:p>
          <a:p>
            <a:r>
              <a:rPr b="1"/>
              <a:t>Q: What is the current state of hallucination — have the 2026 models solved it?</a:t>
            </a:r>
          </a:p>
          <a:p>
            <a:r>
              <a:t>A: Substantially improved on grounded tasks where there is a document to check against. For document extraction, combining JSON schema enforcement with field-level confidence scoring has reduced hallucination rates dramatically in production systems. The harder open problem is on tasks that require world knowledge not in the input: the model cannot yet reliably distinguish what it knows from what it is confabulating. Making that distinction — calibrated abstention — is research problem three on slide 28.</a:t>
            </a:r>
          </a:p>
          <a:p>
            <a:endParaRPr/>
          </a:p>
          <a:p>
            <a:r>
              <a:rPr b="1"/>
              <a:t>Q: Is there one benchmark that covers all six failure modes?</a:t>
            </a:r>
          </a:p>
          <a:p>
            <a:r>
              <a:t>A: No single benchmark. MMMU and MMMU-Pro test multi-discipline reasoning. DocVQA tests document understanding. ChartQA tests chart reasoning. MMStar, MMBench, and MathVista test other aspects. Li and Lu 2024 maintain an index of 200-plus benchmarks — search it for your domain before claiming novelty. The gaps in that index are where a new benchmark paper lives.</a:t>
            </a:r>
          </a:p>
          <a:p>
            <a:endParaRPr/>
          </a:p>
          <a:p>
            <a:endParaRPr/>
          </a:p>
          <a:p>
            <a:r>
              <a:rPr b="1"/>
              <a:t>─── TRANSCRIPT ───</a:t>
            </a:r>
          </a:p>
          <a:p>
            <a:r>
              <a:t>"This is the most important slide in Part Two. Not because it tells you what is broken — you can find that anywhere — but because every one of these six failures is a research problem that is unsolved, measurable, and agreed by reviewers to matter. Each one is a candidate for your next proposal."</a:t>
            </a:r>
          </a:p>
          <a:p>
            <a:r>
              <a:t>"Fine spatial detail: counting objects in a crowd, reading a gauge needle, measuring crack width precisely. Fails reliably. Why: attention over 16-by-16 patches loses sub-patch precision. Metric: spatial localisation error on a benchmark like DocVQA or a domain-specific equivalent."</a:t>
            </a:r>
          </a:p>
          <a:p>
            <a:r>
              <a:t>"Dense handwriting: cursive, medical notes, multi-language forms. Unreliable even for frontier models. Why: dramatically underrepresented in training data. Metric: field-level F1 on a domain-specific annotated dataset."</a:t>
            </a:r>
          </a:p>
          <a:p>
            <a:r>
              <a:t>"Confident wrong answers: the model rarely says it cannot read something. It guesses fluently. Technically: calibration failure. Metric: Expected Calibration Error and selective risk curves."</a:t>
            </a:r>
          </a:p>
          <a:p>
            <a:r>
              <a:t>"Long video: context cost grows fast, and most systems sample frames. The event you care about may be between sampled frames. Metric: temporal understanding benchmarks on long-form video."</a:t>
            </a:r>
          </a:p>
          <a:p>
            <a:r>
              <a:t>"Cost and latency: one image can cost as many tokens as a page of text, on every call. At Indian institutional volumes, this matters. Metric: cost per successful extraction at target throughput."</a:t>
            </a:r>
          </a:p>
          <a:p>
            <a:r>
              <a:t>"Evaluation itself: we do not have good benchmarks for cross-modal reasoning quality in most domains. Both a problem and the single fastest route to a first publication."</a:t>
            </a:r>
          </a:p>
          <a:p>
            <a:r>
              <a:t>Chat poll three: "Which of these six is your institution best positioned to address? Name the one in the chat." Read results. If fine spatial detail or long video come up, link them to rows 4 and 5 on slide 28. If dense handwriting comes up, link to row 2. If evaluation comes up, link to row 1.</a:t>
            </a:r>
          </a:p>
          <a:p>
            <a:endParaRPr/>
          </a:p>
          <a:p>
            <a:r>
              <a:rPr b="1"/>
              <a:t>─── ANTICIPATED QUESTIONS ───</a:t>
            </a:r>
          </a:p>
          <a:p>
            <a:r>
              <a:rPr b="1"/>
              <a:t>Q: Are these fundamental limits or will scale solve them?</a:t>
            </a:r>
          </a:p>
          <a:p>
            <a:r>
              <a:t>A: Mixed. Fine spatial detail and confident wrong answers are likely to improve with scale but may be partially architectural — patch-based attention has geometric limits that are not solved just by adding parameters. Dense handwriting and evaluation are pure data and engineering problems: solvable with enough labelled examples and the right infrastructure. Long video is an architecture problem with active research funding at all major labs. Cost and latency will improve as hardware improves. The fundable problems are the data and engineering ones — because you can show measurable progress without waiting for architectural breakthroughs.</a:t>
            </a:r>
          </a:p>
          <a:p>
            <a:endParaRPr/>
          </a:p>
          <a:p>
            <a:r>
              <a:rPr b="1"/>
              <a:t>Q: What is the current state of hallucination — have the 2026 models solved it?</a:t>
            </a:r>
          </a:p>
          <a:p>
            <a:r>
              <a:t>A: Substantially improved on grounded tasks where there is a document to check against. For document extraction, combining JSON schema enforcement with field-level confidence scoring has reduced hallucination rates dramatically in production systems. The harder open problem is on tasks that require world knowledge not in the input: the model cannot yet reliably distinguish what it knows from what it is confabulating. Making that distinction — calibrated abstention — is research problem three on slide 28.</a:t>
            </a:r>
          </a:p>
          <a:p>
            <a:endParaRPr/>
          </a:p>
          <a:p>
            <a:r>
              <a:rPr b="1"/>
              <a:t>Q: Is there one benchmark that covers all six failure modes?</a:t>
            </a:r>
          </a:p>
          <a:p>
            <a:r>
              <a:t>A: No single benchmark. MMMU and MMMU-Pro test multi-discipline reasoning. DocVQA tests document understanding. ChartQA tests chart reasoning. MMStar, MMBench, and MathVista test other aspects. Li and Lu 2024 maintain an index of 200-plus benchmarks — search it for your domain before claiming novelty. The gaps in that index are where a new benchmark paper lives.</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 TRANSCRIPT ───</a:t>
            </a:r>
          </a:p>
          <a:p>
            <a:r>
              <a:t>"The whole of Part Two in one line: what breaks is more useful to you than what works."</a:t>
            </a:r>
          </a:p>
          <a:p>
            <a:r>
              <a:t>"The working half is a product demo anyone can give. The broken half — fine spatial detail, dense handwriting, long video, confident wrong answers, cost, evaluation — is a list of six problems that are unsolved, measurable, and already agreed to matter by the research community. That is the half with your name on it."</a:t>
            </a:r>
          </a:p>
          <a:p>
            <a:r>
              <a:t>Deliver the line and then go silent for ten seconds. Resist filling the silence.</a:t>
            </a:r>
          </a:p>
          <a:p>
            <a:r>
              <a:t>"Part Three."</a:t>
            </a:r>
          </a:p>
          <a:p>
            <a:endParaRPr/>
          </a:p>
          <a:p>
            <a:r>
              <a:rPr b="1"/>
              <a:t>─── DELIVERY NOTES ───</a:t>
            </a:r>
          </a:p>
          <a:p>
            <a:r>
              <a:t>Breath point, roughly the 44 minute mark. Ten seconds of silence after the big line - resist filling it.</a:t>
            </a:r>
          </a:p>
          <a:p>
            <a:endParaRPr/>
          </a:p>
          <a:p>
            <a:r>
              <a:t>This is the pivot of the whole session. Everything before it was capability; everything after it is what a faculty member does with capability. If you are running late, this is the one slide in the deck you must not skip.</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 TRANSCRIPT ───</a:t>
            </a:r>
          </a:p>
          <a:p>
            <a:r>
              <a:t>"Part Three. Sixteen minutes. The architecture — drawn the way a solution architect would draw it, not the way a research paper describes it."</a:t>
            </a:r>
          </a:p>
          <a:p>
            <a:r>
              <a:t>"If you have been mentally switching off at technical content, this is the section to come back for. It is the least technical section and the most reusable."</a:t>
            </a:r>
          </a:p>
          <a:p>
            <a:endParaRPr/>
          </a:p>
          <a:p>
            <a:r>
              <a:rPr b="1"/>
              <a:t>─── DELIVERY NOTES ───</a:t>
            </a:r>
          </a:p>
          <a:p>
            <a:r>
              <a:t>This section replaces the live demo. Say why, plainly: a recorded demo ages badly and a live one fails on a shared screen, but an architecture you can draw on a whiteboard is what your participants will actually reuse - in a lecture, in a project review, in a proposal.</a:t>
            </a:r>
          </a:p>
          <a:p>
            <a:endParaRPr/>
          </a:p>
          <a:p>
            <a:r>
              <a:t>16 minutes for three slides. Draw the five stages on a whiteboard or annotate the slide as you speak if your platform allows it.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 TRANSCRIPT ───</a:t>
            </a:r>
          </a:p>
          <a:p>
            <a:r>
              <a:t>"Almost every multimodal system in production reduces to this. Five stages. Two cross-cutting concerns. Walk left to right with me."</a:t>
            </a:r>
          </a:p>
          <a:p>
            <a:r>
              <a:t>"Stage one, ingest: receive the raw file, normalise the format, chunk if necessary, keep the original. Never discard the source file — you need it for audit and for the verify step."</a:t>
            </a:r>
          </a:p>
          <a:p>
            <a:r>
              <a:t>"Stage two, encode: convert each modality to tokens. Image patches. Audio spectrogram frames. Text sub-words. For most applied work, you are using pre-trained encoders here — you are not training them."</a:t>
            </a:r>
          </a:p>
          <a:p>
            <a:r>
              <a:t>"Stage three, reason: the orange box. This is the only stage that did not exist in 2019. A vision-language model takes everything in one prompt and produces one output. For a first project: Claude Sonnet, Gemini 2.5 Pro, or GPT-5 via API. For self-hosted: Qwen3.8-27B or Gemma 4 31B."</a:t>
            </a:r>
          </a:p>
          <a:p>
            <a:r>
              <a:t>"Stage four, structure: impose a JSON schema on the output. Parse and validate. Assign a confidence score per field."</a:t>
            </a:r>
          </a:p>
          <a:p>
            <a:r>
              <a:t>"Stage five, verify: apply thresholds and rules. High confidence goes forward. Low confidence goes to a human review queue. Every case — approved or not — is logged."</a:t>
            </a:r>
          </a:p>
          <a:p>
            <a:r>
              <a:t>"Cross-cutting across all five: build your evaluation set before you build the system. Set your cost and latency budget before you write the first line of code. Understand your DPDP obligations before you collect the data. Define your fallback path before you deploy."</a:t>
            </a:r>
          </a:p>
          <a:p>
            <a:r>
              <a:t>"The most important line on this slide: stages one, two, four and five are ordinary software engineering. Only stage three is new. And most projects fail on the other four."</a:t>
            </a:r>
          </a:p>
          <a:p>
            <a:r>
              <a:t>"Draw this on a whiteboard when you get back to your office. Five minutes. It will make your next proposal substantially better."</a:t>
            </a:r>
          </a:p>
          <a:p>
            <a:endParaRPr/>
          </a:p>
          <a:p>
            <a:r>
              <a:rPr b="1"/>
              <a:t>─── ANTICIPATED QUESTIONS ───</a:t>
            </a:r>
          </a:p>
          <a:p>
            <a:r>
              <a:rPr b="1"/>
              <a:t>Q: Where does training fit in this architecture?</a:t>
            </a:r>
          </a:p>
          <a:p>
            <a:r>
              <a:t>A: For most applied work, it does not appear at all. You are composing pre-trained components — encoder and reasoning model — not training anything from scratch. Fine-tuning is a later optimisation, relevant when you have hundreds of domain-specific examples and want the model more reliable on your specific schema. A first paper demonstrating this pipeline on a novel dataset is publishable without any training.</a:t>
            </a:r>
          </a:p>
          <a:p>
            <a:endParaRPr/>
          </a:p>
          <a:p>
            <a:r>
              <a:rPr b="1"/>
              <a:t>Q: Where does RAG — retrieval-augmented generation — fit?</a:t>
            </a:r>
          </a:p>
          <a:p>
            <a:r>
              <a:t>A: A retrieval step inserts between stages two and three. After encoding the query, you retrieve relevant context from a knowledge base — prior cases, product manuals, regulatory text — and include it in the stage-three prompt alongside the original inputs. For multimodal RAG, you often retrieve text documents based on visual similarity queries, which is an interesting research direction in itself.</a:t>
            </a:r>
          </a:p>
          <a:p>
            <a:endParaRPr/>
          </a:p>
          <a:p>
            <a:r>
              <a:rPr b="1"/>
              <a:t>Q: How do you handle a 500-page document?</a:t>
            </a:r>
          </a:p>
          <a:p>
            <a:r>
              <a:t>A: Three options. Chunking: split into sections of 20 to 30 pages, process each independently, aggregate the results. Summarisation cascade: summarise each section first, then reason over the summaries. Long-context models: Llama 4 Scout supports up to ten million tokens in principle, though reliable attention across that range is still a research problem. For most practical applications, chunking with 10 to 15 percent overlap between chunks is the most reliable approach today.</a:t>
            </a:r>
          </a:p>
          <a:p>
            <a:endParaRPr/>
          </a:p>
          <a:p>
            <a:r>
              <a:rPr b="1"/>
              <a:t>Q: What does 'data governance' in the cross-cutting band mean practically?</a:t>
            </a:r>
          </a:p>
          <a:p>
            <a:r>
              <a:t>A: Three questions to answer before you collect data. One: do you have consent from data subjects, or a legal basis for processing without consent under DPDP 2023? Two: where does the data travel — on-campus, cloud API, third-country server — and is that consistent with your consent and any contractual obligations? Three: if the data is personal, who has access to it and for how long? Build the answers into your project design, not as an afterthought before submission.</a:t>
            </a:r>
          </a:p>
          <a:p>
            <a:endParaRPr/>
          </a:p>
          <a:p>
            <a:r>
              <a:rPr b="1"/>
              <a:t>─── DELIVERY NOTES ───</a:t>
            </a:r>
          </a:p>
          <a:p>
            <a:r>
              <a:t>The spine of this section. Walk it left to right in about four minutes, then deliver the closing line slowly.</a:t>
            </a:r>
          </a:p>
          <a:p>
            <a:endParaRPr/>
          </a:p>
          <a:p>
            <a:r>
              <a:t>The point that lands with experienced faculty: the coral box is the only part that did not exist in 2019, and it is the part requiring the least code. Everything a project actually dies of - dirty ingestion, no evaluation set, no fallback, unbounded cost - lives in the grey boxes and the black band.</a:t>
            </a:r>
          </a:p>
          <a:p>
            <a:endParaRPr/>
          </a:p>
          <a:p>
            <a:r>
              <a:t>If someone asks where training fits: for most applied work it does not. You are composing pre-trained encoders, not training them. Fine-tuning is a later optimisation, and say so - it saves your participants a wasted semester.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 TRANSCRIPT ───</a:t>
            </a:r>
          </a:p>
          <a:p>
            <a:r>
              <a:t>"The question from slide two, run through the five stages you just saw."</a:t>
            </a:r>
          </a:p>
          <a:p>
            <a:r>
              <a:t>"Inputs: a 4-megabyte JPEG of the cracked weld, a 90-second drone clip sampled to 12 frames, a 40-second voice note from the site engineer, and a CSV of six months of pressure readings."</a:t>
            </a:r>
          </a:p>
          <a:p>
            <a:r>
              <a:t>"Encode: photograph and sampled frames become image tokens. Voice note becomes audio tokens or a transcript. CSV becomes a table in the prompt."</a:t>
            </a:r>
          </a:p>
          <a:p>
            <a:r>
              <a:t>"Compose: one message carrying all four encoded inputs plus the engineer's question. Routed to a single vision-language model. No orchestration layer, no pipeline of smaller models."</a:t>
            </a:r>
          </a:p>
          <a:p>
            <a:r>
              <a:t>"Output: defect type — transverse crack. Severity — high. Monsoon safe — false. Evidence — image, video, audio, sensors. Confidence — 0.81."</a:t>
            </a:r>
          </a:p>
          <a:p>
            <a:r>
              <a:t>"Verify: 0.81 is below the 0.9 threshold we set. Routed to a human review queue."</a:t>
            </a:r>
          </a:p>
          <a:p>
            <a:r>
              <a:t>"Three things to draw attention to."</a:t>
            </a:r>
          </a:p>
          <a:p>
            <a:r>
              <a:t>"First: the video is sampled to 12 frames. That sampling decision is where most video pipelines quietly lose the event they were looking for. This is the long-video failure from the honest slide, inside this very example."</a:t>
            </a:r>
          </a:p>
          <a:p>
            <a:r>
              <a:t>"Second: the model cites which modality supported each part of its answer. That evidence field is what makes the output auditable. Reviewers, ethics committees and operators will all ask for it."</a:t>
            </a:r>
          </a:p>
          <a:p>
            <a:r>
              <a:t>"Third: the system does not make the final decision. 0.81 under a 0.9 threshold means a human engineer inspects it. That is not a limitation — that is the correct design for anything a pipeline operator would sign off on."</a:t>
            </a:r>
          </a:p>
          <a:p>
            <a:r>
              <a:t>"No OCR engine. No video classifier. No four pipelines to stitch together. One request where 2019 needed four pipelines and a human."</a:t>
            </a:r>
          </a:p>
          <a:p>
            <a:endParaRPr/>
          </a:p>
          <a:p>
            <a:r>
              <a:rPr b="1"/>
              <a:t>─── ANTICIPATED QUESTIONS ───</a:t>
            </a:r>
          </a:p>
          <a:p>
            <a:r>
              <a:rPr b="1"/>
              <a:t>Q: How was the 0.9 threshold set?</a:t>
            </a:r>
          </a:p>
          <a:p>
            <a:r>
              <a:t>A: On an evaluation set, calibrated for the precision-recall trade-off appropriate for the domain. For a pipeline safety decision, you want high recall — almost never let a genuinely unsafe weld go through automatically — even at the cost of more human reviews. For a low-stakes document extraction task you might accept lower recall and higher throughput. The threshold is a business decision set before deployment, not a technical parameter tuned after the fact.</a:t>
            </a:r>
          </a:p>
          <a:p>
            <a:endParaRPr/>
          </a:p>
          <a:p>
            <a:r>
              <a:rPr b="1"/>
              <a:t>Q: The model cites four modalities as evidence — does that mean it actually used all four?</a:t>
            </a:r>
          </a:p>
          <a:p>
            <a:r>
              <a:t>A: Attention maps can tell you which tokens the model attended to most heavily, but interpreting attention as evidence is imprecise — the model may attend to a token without that token materially changing the output. The evidence field in the output is the model's self-report, which is useful for audit but is not a rigorous causal attribution. Mechanistic interpretability — understanding exactly which inputs caused which outputs — is an active research area, and for high-stakes decisions you would want a more rigorous approach than self-reported evidence.</a:t>
            </a:r>
          </a:p>
          <a:p>
            <a:endParaRPr/>
          </a:p>
          <a:p>
            <a:r>
              <a:rPr b="1"/>
              <a:t>Q: What model would you use for this in production today?</a:t>
            </a:r>
          </a:p>
          <a:p>
            <a:r>
              <a:t>A: For a prototype: Claude Sonnet or Gemini 2.5 Pro via API — both handle image, audio and structured data in a single request. For a production system where the data cannot leave site: Qwen3.8-27B self-hosted on IndiaAI compute — open-weight, full multimodal capability, auditable. The choice is dictated by the 'data leaves campus' row on slide 25, not by which model scores highest on a benchmark.</a:t>
            </a:r>
          </a:p>
          <a:p>
            <a:endParaRPr/>
          </a:p>
          <a:p>
            <a:r>
              <a:rPr b="1"/>
              <a:t>─── DELIVERY NOTES ───</a:t>
            </a:r>
          </a:p>
          <a:p>
            <a:r>
              <a:t>This closes the loop on the opening slide - the room has been waiting 50 minutes for it. Take four minutes.</a:t>
            </a:r>
          </a:p>
          <a:p>
            <a:endParaRPr/>
          </a:p>
          <a:p>
            <a:r>
              <a:t>Three things to draw attention to. First, the video is sampled down to twelve frames, not streamed whole; that sampling decision is where most video pipelines quietly lose the event they were looking for, and it is on the honest slide as an open problem. Second, the model cites which modality supported its answer - that evidence field is what makes the output auditable, and reviewers of your papers will ask for it. Third, the system declines to decide: 0.81 under a 0.9 threshold means a human looks at it, and that is the difference between a demo and something an engineering department would sign off on.</a:t>
            </a:r>
          </a:p>
          <a:p>
            <a:endParaRPr/>
          </a:p>
          <a:p>
            <a:r>
              <a:t>If asked whether the model really understands the sensor trend: be honest. It reads a small table well and a long one badly. That is a research problem, not a secret.</a:t>
            </a:r>
          </a:p>
          <a:p>
            <a:endParaRPr/>
          </a:p>
          <a:p>
            <a:r>
              <a:t>Say plainly that the 0.81 is self-reported and uncalibrated. Thresholding on it is a routing decision, not a guarantee - and making that number trustworthy is research problem 03 on slide 28. That admission is what separates this from a vendor demo.</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 TRANSCRIPT ───</a:t>
            </a:r>
          </a:p>
          <a:p>
            <a:r>
              <a:t>"The architecture does not change. Where the model executes changes everything else."</a:t>
            </a:r>
          </a:p>
          <a:p>
            <a:r>
              <a:t>"Hosted API: somebody else's GPU, called over HTTPS. One to four seconds per image, typically. No upfront cost — pay per call. The data leaves your campus. Start here for first projects, papers and pilots. Clear the data route with your ethics committee before you start."</a:t>
            </a:r>
          </a:p>
          <a:p>
            <a:r>
              <a:t>"Self-hosted open model: download the weights, run on your own or a rented GPU. Qwen3.8-27B or Gemma 4 31B. Zero cost per call once you have the hardware. Data stays on your network. Fixed cost shape: the GPU costs the same whether it is idle or busy. This is where IndiaAI compute is relevant — 38,231 GPUs at approximately 65 rupees per GPU-hour for registered academic institutions. Register at compute.indiaai.gov.in before you need it."</a:t>
            </a:r>
          </a:p>
          <a:p>
            <a:r>
              <a:t>"On-device edge: Gemma 4 E2B or E4B, running on 4 to 12 gigabytes of VRAM. Handles images and audio natively. Under a second latency. Works offline. Data never leaves the device. For field conditions — agricultural surveys, infrastructure inspection, remote clinics — where connectivity is unreliable."</a:t>
            </a:r>
          </a:p>
          <a:p>
            <a:r>
              <a:t>"The row that matters most for this room: 'data leaves campus.' For student records, patient images, industrial IP, or anything under a DPDP obligation, you must answer that question before writing the first line of code. The answer determines your column."</a:t>
            </a:r>
          </a:p>
          <a:p>
            <a:r>
              <a:t>"Start hosted. Move to self-hosted only when a 200-example evaluation set says the open model is close enough to justify the infrastructure investment."</a:t>
            </a:r>
          </a:p>
          <a:p>
            <a:endParaRPr/>
          </a:p>
          <a:p>
            <a:r>
              <a:rPr b="1"/>
              <a:t>─── ANTICIPATED QUESTIONS ───</a:t>
            </a:r>
          </a:p>
          <a:p>
            <a:r>
              <a:rPr b="1"/>
              <a:t>Q: What is the economics of running Gemma 4 31B on IndiaAI compute?</a:t>
            </a:r>
          </a:p>
          <a:p>
            <a:r>
              <a:t>A: At 65 rupees per GPU-hour, one H100-class GPU processes roughly 20 to 30 images per minute at full quality. A batch job to digitise 10,000 old forms would take 6 to 8 hours of GPU time — roughly 400 to 500 rupees total. For a real-time interactive system, the GPU runs continuously, so economics depend on utilisation rate. The pilot calculation is worth doing before the proposal — reviewers respect quantified cost estimates in applied AI proposals.</a:t>
            </a:r>
          </a:p>
          <a:p>
            <a:endParaRPr/>
          </a:p>
          <a:p>
            <a:r>
              <a:rPr b="1"/>
              <a:t>Q: What about Google Colab as a starting point?</a:t>
            </a:r>
          </a:p>
          <a:p>
            <a:r>
              <a:t>A: Colab free tier gives a T4 GPU that can run Qwen3-VL 4B or Gemma 4 E4B comfortably. Colab Pro adds an A100 for larger models. It is the best starting point for the lab exercise on slide 36 and for a proof of concept before you apply for IndiaAI compute. Do not run production workloads on Colab — sessions disconnect without warning and there is no data-at-rest security guarantee. Treat it as a prototyping environment, not a deployment environment.</a:t>
            </a:r>
          </a:p>
          <a:p>
            <a:endParaRPr/>
          </a:p>
          <a:p>
            <a:r>
              <a:rPr b="1"/>
              <a:t>Q: When does self-hosting make economic sense over a hosted API?</a:t>
            </a:r>
          </a:p>
          <a:p>
            <a:r>
              <a:t>A: Typically when your monthly API cost would exceed the cost of renting a GPU continuously. At current API pricing and IndiaAI compute rates, the break-even is roughly 2,000 to 5,000 image API calls per day, depending on resolution and output length. Below that, the API is cheaper because you are not paying for idle GPU time. Above that, self-hosted becomes cheaper. Run the numbers for your expected volume before committing to the infrastructure.</a:t>
            </a:r>
          </a:p>
          <a:p>
            <a:endParaRPr/>
          </a:p>
          <a:p>
            <a:r>
              <a:rPr b="1"/>
              <a:t>─── DELIVERY NOTES ───</a:t>
            </a:r>
          </a:p>
          <a:p>
            <a:r>
              <a:t>Four minutes, and the most practically useful slide of the section for a room with no budget.</a:t>
            </a:r>
          </a:p>
          <a:p>
            <a:endParaRPr/>
          </a:p>
          <a:p>
            <a:r>
              <a:t>The row that matters for this audience is 'data leaves campus'. Any project touching student records, patient images or industry data needs the middle or right column, and that decision has to be made before the proposal is written, not after. Tie it back: the IndiaAI compute pillar at about Rs 65 per GPU-hour is what makes the middle column affordable for a college.</a:t>
            </a:r>
          </a:p>
          <a:p>
            <a:endParaRPr/>
          </a:p>
          <a:p>
            <a:r>
              <a:t>The closing line is the discipline point. Most teams self-host first out of enthusiasm, spend a semester on infrastructure, and never build the test set that would have told them whether it was necessary.</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 TRANSCRIPT ───</a:t>
            </a:r>
          </a:p>
          <a:p>
            <a:r>
              <a:t>"One stage is new. The other four decide whether it ships."</a:t>
            </a:r>
          </a:p>
          <a:p>
            <a:r>
              <a:t>"Ingest, encode, structure and verify are software engineering. They are where multimodal projects actually die — on dirty inputs, on a missing evaluation set, on no fallback when the model abstains, on cost nobody budgeted."</a:t>
            </a:r>
          </a:p>
          <a:p>
            <a:r>
              <a:t>"Decide where the model runs before you write the proposal. That decision has legal, financial and technical implications, and reviewers will ask."</a:t>
            </a:r>
          </a:p>
          <a:p>
            <a:r>
              <a:t>Forty-five seconds, then move to Part Four without pausing.</a:t>
            </a:r>
          </a:p>
          <a:p>
            <a:endParaRPr/>
          </a:p>
          <a:p>
            <a:r>
              <a:rPr b="1"/>
              <a:t>─── DELIVERY NOTES ───</a:t>
            </a:r>
          </a:p>
          <a:p>
            <a:r>
              <a:t>Roughly the 60 minute mark. The line participants should leave with is that the architecture, not the model, is the engineering contribution - which is also what makes an applied multimodal paper publishable rather than a tool report.</a:t>
            </a:r>
          </a:p>
          <a:p>
            <a:endParaRPr/>
          </a:p>
          <a:p>
            <a:r>
              <a:t>If someone in chat asks which open model to use, this is the slide to answer from: the choice matters far less than the four stages around it.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"Part Four. Twenty minutes. Research, funding and what you do next week. This is the part of the session you will not get anywhere else in this FDP."</a:t>
            </a:r>
          </a:p>
          <a:p>
            <a:r>
              <a:t>"Say explicitly: the next several slides alternate between the researcher use and the classroom use, because most people in this room do both."</a:t>
            </a:r>
          </a:p>
          <a:p>
            <a:endParaRPr/>
          </a:p>
          <a:p>
            <a:r>
              <a:rPr b="1"/>
              <a:t>─── DELIVERY NOTES ───</a:t>
            </a:r>
          </a:p>
          <a:p>
            <a:r>
              <a:t>Say explicitly: the next five slides alternate between the research use and the classroom use, because most people in this room do both. Nobody switches off.</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a:p>
            <a:endParaRPr/>
          </a:p>
          <a:p>
            <a:r>
              <a:rPr b="1"/>
              <a:t>─── TRANSCRIPT ───</a:t>
            </a:r>
          </a:p>
          <a:p>
            <a:r>
              <a:t>"Part Four. Twenty minutes. Research, funding and what you do next week. This is the part of the session you will not get anywhere else in this FDP."</a:t>
            </a:r>
          </a:p>
          <a:p>
            <a:r>
              <a:t>"Say explicitly: the next several slides alternate between the researcher use and the classroom use, because most people in this room do both."</a:t>
            </a:r>
          </a:p>
          <a:p>
            <a:endParaRPr/>
          </a:p>
          <a:p>
            <a:r>
              <a:rPr b="1"/>
              <a:t>─── ANTICIPATED QUESTIONS ───</a:t>
            </a:r>
          </a:p>
          <a:p>
            <a:endParaRPr/>
          </a:p>
          <a:p>
            <a:r>
              <a:rPr b="1"/>
              <a:t>─── TRANSCRIPT ───</a:t>
            </a:r>
          </a:p>
          <a:p>
            <a:r>
              <a:t>"Part Four. Twenty minutes. Research, funding and what you do next week. This is the part of the session you will not get anywhere else in this FDP."</a:t>
            </a:r>
          </a:p>
          <a:p>
            <a:r>
              <a:t>"Say explicitly: the next several slides alternate between the researcher use and the classroom use, because most people in this room do both."</a:t>
            </a:r>
          </a:p>
          <a:p>
            <a:endParaRPr/>
          </a:p>
          <a:p>
            <a:r>
              <a:rPr b="1"/>
              <a:t>─── ANTICIPATED QUESTIONS ───</a:t>
            </a: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"Five research problems, ranked roughly by how easy it is to publish something real without a large compute budget."</a:t>
            </a:r>
          </a:p>
          <a:p>
            <a:r>
              <a:t>"Row one: evaluation and benchmarks. Build a hard, well-documented test set for a domain nobody has covered. Check the Li and Lu 2024 index — which I will name on the next slide — before you start. If the domain is uncovered, a 300 to 500 example expert-labelled benchmark is a publishable dataset paper that will be cited for years. Almost no compute required."</a:t>
            </a:r>
          </a:p>
          <a:p>
            <a:r>
              <a:t>"Row two: low-resource language and script. Devanagari, Tamil, regional handwriting, code-mixed text in images. Every institution in this FDP is in a state with a rich script tradition that is dramatically underrepresented in current model training. You have a structural advantage here that no lab in California has. Field-level F1 by script is the metric."</a:t>
            </a:r>
          </a:p>
          <a:p>
            <a:r>
              <a:t>"Row three: calibration and abstention. Teaching a model to say it cannot read something, and having that refusal be reliable. Expected Calibration Error and selective risk curves are the measures. Essential for any production deployment and fundable as a standalone research problem."</a:t>
            </a:r>
          </a:p>
          <a:p>
            <a:r>
              <a:t>"Row four: efficient fusion. Same accuracy at a fraction of the token count — and the path to long video. Accuracy per token and per rupee of compute. Most technically demanding, most publishable at top venues."</a:t>
            </a:r>
          </a:p>
          <a:p>
            <a:r>
              <a:t>"Row five: domain grounding. Medical, agricultural or industrial imagery with expert-verified labels, where fine spatial detail decides the answer. Expert agreement and spatial localisation error are the measures."</a:t>
            </a:r>
          </a:p>
          <a:p>
            <a:r>
              <a:t>"Rows one and two need almost no GPU. A good dataset paper outlives most model papers. The model from your paper will be superseded in six months. The dataset will be cited for ten years."</a:t>
            </a:r>
          </a:p>
          <a:p>
            <a:r>
              <a:t>Chat poll four: "Which row matches your institution's strongest advantage? Type the number." Read results and name the row the most common answer points to.</a:t>
            </a:r>
          </a:p>
          <a:p>
            <a:endParaRPr/>
          </a:p>
          <a:p>
            <a:r>
              <a:rPr b="1"/>
              <a:t>─── ANTICIPATED QUESTIONS ───</a:t>
            </a:r>
          </a:p>
          <a:p>
            <a:r>
              <a:rPr b="1"/>
              <a:t>Q: How do I verify my domain is genuinely uncovered before I spend a semester on it?</a:t>
            </a:r>
          </a:p>
          <a:p>
            <a:r>
              <a:t>A: Use the Li and Lu 2024 benchmark index as your first check — it tracks 200-plus MLLM benchmarks. Search for your domain keyword. Then search arXiv for domain-specific multimodal dataset papers. If you find fewer than two benchmark papers for your specific task-and-domain combination, the field is open. Frame your claim precisely: 'existing benchmarks do not cover handwritten Devanagari medical prescriptions' is verifiable and narrow enough for a reviewer to evaluate.</a:t>
            </a:r>
          </a:p>
          <a:p>
            <a:endParaRPr/>
          </a:p>
          <a:p>
            <a:r>
              <a:rPr b="1"/>
              <a:t>Q: What makes a dataset paper accepted at a top venue?</a:t>
            </a:r>
          </a:p>
          <a:p>
            <a:r>
              <a:t>A: Five things: a clearly motivated task that existing benchmarks do not cover; a rigorous, documented collection and annotation protocol; an inter-annotator agreement measurement that demonstrates the task is well-defined; baseline results showing that current models do not solve the task; and the data released publicly under a clear license. At NeurIPS Datasets and Benchmarks, ACL, EMNLP and CVPR, the public release is not optional. Withholding data for competitive advantage is a rejection reason at these venues.</a:t>
            </a:r>
          </a:p>
          <a:p>
            <a:endParaRPr/>
          </a:p>
          <a:p>
            <a:r>
              <a:rPr b="1"/>
              <a:t>Q: Can undergraduate students contribute to a fundable research project?</a:t>
            </a:r>
          </a:p>
          <a:p>
            <a:r>
              <a:t>A: Yes, and specifically on rows one and two. A 500-example benchmark for a regional-language document task, built by three to four undergraduates under faculty supervision, with inter-annotator agreement and baseline results, is publishable at domain-specific workshops and Indian venues including the ICVGIP dataset track. The students gain experience; the faculty member gains a first-authored contribution; the institution gains data it owns.</a:t>
            </a:r>
          </a:p>
          <a:p>
            <a:endParaRPr/>
          </a:p>
          <a:p>
            <a:r>
              <a:rPr b="1"/>
              <a:t>─── DELIVERY NOTES ───</a:t>
            </a:r>
          </a:p>
          <a:p>
            <a:r>
              <a:t>The dataset-and-benchmark route is the most reliable first publication for a scholar without compute. Say it plainly, they rarely hear it. Point out that problem 02 is the one where a college in Tamil Nadu or Maharashtra has a structural advantage over a lab in California - they have the scripts, the forms and the speakers.</a:t>
            </a:r>
          </a:p>
          <a:p>
            <a:endParaRPr/>
          </a:p>
          <a:p>
            <a:r>
              <a:t>If you polled the room on slide 20, name the winning failure here and point at the row and the measure it maps to. Fine spatial detail lands on row 05, long video on row 04.</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a:p>
            <a:endParaRPr/>
          </a:p>
          <a:p>
            <a:r>
              <a:rPr b="1"/>
              <a:t>─── TRANSCRIPT ───</a:t>
            </a:r>
          </a:p>
          <a:p>
            <a:r>
              <a:t>"Five research problems, ranked roughly by how easy it is to publish something real without a large compute budget."</a:t>
            </a:r>
          </a:p>
          <a:p>
            <a:r>
              <a:t>"Row one: evaluation and benchmarks. Build a hard, well-documented test set for a domain nobody has covered. Check the Li and Lu 2024 index — which I will name on the next slide — before you start. If the domain is uncovered, a 300 to 500 example expert-labelled benchmark is a publishable dataset paper that will be cited for years. Almost no compute required."</a:t>
            </a:r>
          </a:p>
          <a:p>
            <a:r>
              <a:t>"Row two: low-resource language and script. Devanagari, Tamil, regional handwriting, code-mixed text in images. Every institution in this FDP is in a state with a rich script tradition that is dramatically underrepresented in current model training. You have a structural advantage here that no lab in California has. Field-level F1 by script is the metric."</a:t>
            </a:r>
          </a:p>
          <a:p>
            <a:r>
              <a:t>"Row three: calibration and abstention. Teaching a model to say it cannot read something, and having that refusal be reliable. Expected Calibration Error and selective risk curves are the measures. Essential for any production deployment and fundable as a standalone research problem."</a:t>
            </a:r>
          </a:p>
          <a:p>
            <a:r>
              <a:t>"Row four: efficient fusion. Same accuracy at a fraction of the token count — and the path to long video. Accuracy per token and per rupee of compute. Most technically demanding, most publishable at top venues."</a:t>
            </a:r>
          </a:p>
          <a:p>
            <a:r>
              <a:t>"Row five: domain grounding. Medical, agricultural or industrial imagery with expert-verified labels, where fine spatial detail decides the answer. Expert agreement and spatial localisation error are the measures."</a:t>
            </a:r>
          </a:p>
          <a:p>
            <a:r>
              <a:t>"Rows one and two need almost no GPU. A good dataset paper outlives most model papers. The model from your paper will be superseded in six months. The dataset will be cited for ten years."</a:t>
            </a:r>
          </a:p>
          <a:p>
            <a:r>
              <a:t>Chat poll four: "Which row matches your institution's strongest advantage? Type the number." Read results and name the row the most common answer points to.</a:t>
            </a:r>
          </a:p>
          <a:p>
            <a:endParaRPr/>
          </a:p>
          <a:p>
            <a:r>
              <a:rPr b="1"/>
              <a:t>─── ANTICIPATED QUESTIONS ───</a:t>
            </a:r>
          </a:p>
          <a:p>
            <a:r>
              <a:rPr b="1"/>
              <a:t>Q: How do I verify my domain is genuinely uncovered before I spend a semester on it?</a:t>
            </a:r>
          </a:p>
          <a:p>
            <a:r>
              <a:t>A: Use the Li and Lu 2024 benchmark index as your first check — it tracks 200-plus MLLM benchmarks. Search for your domain keyword. Then search arXiv for domain-specific multimodal dataset papers. If you find fewer than two benchmark papers for your specific task-and-domain combination, the field is open. Frame your claim precisely: 'existing benchmarks do not cover handwritten Devanagari medical prescriptions' is verifiable and narrow enough for a reviewer to evaluate.</a:t>
            </a:r>
          </a:p>
          <a:p>
            <a:endParaRPr/>
          </a:p>
          <a:p>
            <a:r>
              <a:rPr b="1"/>
              <a:t>Q: What makes a dataset paper accepted at a top venue?</a:t>
            </a:r>
          </a:p>
          <a:p>
            <a:r>
              <a:t>A: Five things: a clearly motivated task that existing benchmarks do not cover; a rigorous, documented collection and annotation protocol; an inter-annotator agreement measurement that demonstrates the task is well-defined; baseline results showing that current models do not solve the task; and the data released publicly under a clear license. At NeurIPS Datasets and Benchmarks, ACL, EMNLP and CVPR, the public release is not optional. Withholding data for competitive advantage is a rejection reason at these venues.</a:t>
            </a:r>
          </a:p>
          <a:p>
            <a:endParaRPr/>
          </a:p>
          <a:p>
            <a:r>
              <a:rPr b="1"/>
              <a:t>Q: Can undergraduate students contribute to a fundable research project?</a:t>
            </a:r>
          </a:p>
          <a:p>
            <a:r>
              <a:t>A: Yes, and specifically on rows one and two. A 500-example benchmark for a regional-language document task, built by three to four undergraduates under faculty supervision, with inter-annotator agreement and baseline results, is publishable at domain-specific workshops and Indian venues including the ICVGIP dataset track. The students gain experience; the faculty member gains a first-authored contribution; the institution gains data it owns.</a:t>
            </a:r>
          </a:p>
          <a:p>
            <a:endParaRPr/>
          </a:p>
          <a:p>
            <a:endParaRPr/>
          </a:p>
          <a:p>
            <a:r>
              <a:rPr b="1"/>
              <a:t>─── TRANSCRIPT ───</a:t>
            </a:r>
          </a:p>
          <a:p>
            <a:r>
              <a:t>"Five research problems, ranked roughly by how easy it is to publish something real without a large compute budget."</a:t>
            </a:r>
          </a:p>
          <a:p>
            <a:r>
              <a:t>"Row one: evaluation and benchmarks. Build a hard, well-documented test set for a domain nobody has covered. Check the Li and Lu 2024 index — which I will name on the next slide — before you start. If the domain is uncovered, a 300 to 500 example expert-labelled benchmark is a publishable dataset paper that will be cited for years. Almost no compute required."</a:t>
            </a:r>
          </a:p>
          <a:p>
            <a:r>
              <a:t>"Row two: low-resource language and script. Devanagari, Tamil, regional handwriting, code-mixed text in images. Every institution in this FDP is in a state with a rich script tradition that is dramatically underrepresented in current model training. You have a structural advantage here that no lab in California has. Field-level F1 by script is the metric."</a:t>
            </a:r>
          </a:p>
          <a:p>
            <a:r>
              <a:t>"Row three: calibration and abstention. Teaching a model to say it cannot read something, and having that refusal be reliable. Expected Calibration Error and selective risk curves are the measures. Essential for any production deployment and fundable as a standalone research problem."</a:t>
            </a:r>
          </a:p>
          <a:p>
            <a:r>
              <a:t>"Row four: efficient fusion. Same accuracy at a fraction of the token count — and the path to long video. Accuracy per token and per rupee of compute. Most technically demanding, most publishable at top venues."</a:t>
            </a:r>
          </a:p>
          <a:p>
            <a:r>
              <a:t>"Row five: domain grounding. Medical, agricultural or industrial imagery with expert-verified labels, where fine spatial detail decides the answer. Expert agreement and spatial localisation error are the measures."</a:t>
            </a:r>
          </a:p>
          <a:p>
            <a:r>
              <a:t>"Rows one and two need almost no GPU. A good dataset paper outlives most model papers. The model from your paper will be superseded in six months. The dataset will be cited for ten years."</a:t>
            </a:r>
          </a:p>
          <a:p>
            <a:r>
              <a:t>Chat poll four: "Which row matches your institution's strongest advantage? Type the number." Read results and name the row the most common answer points to.</a:t>
            </a:r>
          </a:p>
          <a:p>
            <a:endParaRPr/>
          </a:p>
          <a:p>
            <a:r>
              <a:rPr b="1"/>
              <a:t>─── ANTICIPATED QUESTIONS ───</a:t>
            </a:r>
          </a:p>
          <a:p>
            <a:r>
              <a:rPr b="1"/>
              <a:t>Q: How do I verify my domain is genuinely uncovered before I spend a semester on it?</a:t>
            </a:r>
          </a:p>
          <a:p>
            <a:r>
              <a:t>A: Use the Li and Lu 2024 benchmark index as your first check — it tracks 200-plus MLLM benchmarks. Search for your domain keyword. Then search arXiv for domain-specific multimodal dataset papers. If you find fewer than two benchmark papers for your specific task-and-domain combination, the field is open. Frame your claim precisely: 'existing benchmarks do not cover handwritten Devanagari medical prescriptions' is verifiable and narrow enough for a reviewer to evaluate.</a:t>
            </a:r>
          </a:p>
          <a:p>
            <a:endParaRPr/>
          </a:p>
          <a:p>
            <a:r>
              <a:rPr b="1"/>
              <a:t>Q: What makes a dataset paper accepted at a top venue?</a:t>
            </a:r>
          </a:p>
          <a:p>
            <a:r>
              <a:t>A: Five things: a clearly motivated task that existing benchmarks do not cover; a rigorous, documented collection and annotation protocol; an inter-annotator agreement measurement that demonstrates the task is well-defined; baseline results showing that current models do not solve the task; and the data released publicly under a clear license. At NeurIPS Datasets and Benchmarks, ACL, EMNLP and CVPR, the public release is not optional. Withholding data for competitive advantage is a rejection reason at these venues.</a:t>
            </a:r>
          </a:p>
          <a:p>
            <a:endParaRPr/>
          </a:p>
          <a:p>
            <a:r>
              <a:rPr b="1"/>
              <a:t>Q: Can undergraduate students contribute to a fundable research project?</a:t>
            </a:r>
          </a:p>
          <a:p>
            <a:r>
              <a:t>A: Yes, and specifically on rows one and two. A 500-example benchmark for a regional-language document task, built by three to four undergraduates under faculty supervision, with inter-annotator agreement and baseline results, is publishable at domain-specific workshops and Indian venues including the ICVGIP dataset track. The students gain experience; the faculty member gains a first-authored contribution; the institution gains data it owns.</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"Five references. Two that will still be right in five years. Three that need re-checking before you submit."</a:t>
            </a:r>
          </a:p>
          <a:p>
            <a:r>
              <a:t>"Row one: CLIP — Radford and colleagues, 2021, arXiv 2103.00020. Contrastive image-text pre-training on 400 million pairs. The shared space from slide 8 begins here. Stable reference — will not date."</a:t>
            </a:r>
          </a:p>
          <a:p>
            <a:r>
              <a:t>"Row two: Liang and colleagues, 2022, CMU survey, arXiv 2209.03430. The vocabulary — representation, alignment, reasoning, generation, transference, quantification. Use this to frame any proposal. Also stable."</a:t>
            </a:r>
          </a:p>
          <a:p>
            <a:r>
              <a:t>"Row three: Yin and colleagues, 2023, arXiv 2306.13549. Standard MLLM survey, published in National Science Review 2024. Living document — check the arXiv version number before you cite."</a:t>
            </a:r>
          </a:p>
          <a:p>
            <a:r>
              <a:t>"Row four: Li and Lu, 2024, arXiv 2408.08632. Benchmark index, now past 200 entries and still growing. Use it to verify novelty before you spend a semester on a dataset that already exists."</a:t>
            </a:r>
          </a:p>
          <a:p>
            <a:r>
              <a:t>"Row five: Qwen3-VL, Bai and colleagues, 2025, arXiv 2511.21631. I have left this row in specifically to make a point: this reference has already been superseded by Qwen 3.5 in February 2026 and Qwen3.8 in August 2026, and by Gemma 4 in April 2026. Say that out loud when you show this slide. 'The row that dates fastest is the model row. That is how fast this field moves.' It is the most memorable way to make the point about which rows to re-check."</a:t>
            </a:r>
          </a:p>
          <a:p>
            <a:r>
              <a:t>"Rows one and two anchor your framing and introduction. They belong in the framing section of any proposal. Rows three to five go in the methods and related work sections — check the month you submit."</a:t>
            </a:r>
          </a:p>
          <a:p>
            <a:endParaRPr/>
          </a:p>
          <a:p>
            <a:r>
              <a:rPr b="1"/>
              <a:t>─── ANTICIPATED QUESTIONS ───</a:t>
            </a:r>
          </a:p>
          <a:p>
            <a:r>
              <a:rPr b="1"/>
              <a:t>Q: Are there other surveys worth knowing?</a:t>
            </a:r>
          </a:p>
          <a:p>
            <a:r>
              <a:t>A: Yes. Flamingo — Alayrac and colleagues, 2022, DeepMind — is the landmark for cross-attention architecture. LLaVA — Liu and colleagues, 2023 — is the landmark for visual instruction tuning. Driess and colleagues 2023 (PaLM-E) is relevant for embodied AI and robotics. For Indic-language multimodal work, the AI4Bharat work on Samanantar and IndicBERT provides relevant background. None replace the Liang survey as the framing reference, but they matter if your work touches architecture or regional language.</a:t>
            </a:r>
          </a:p>
          <a:p>
            <a:endParaRPr/>
          </a:p>
          <a:p>
            <a:r>
              <a:rPr b="1"/>
              <a:t>Q: How do I keep up with a field that moves this fast?</a:t>
            </a:r>
          </a:p>
          <a:p>
            <a:r>
              <a:t>A: Three sources. arXiv daily: filter cs.CV and cs.CL, scan titles and abstracts, fifteen minutes per morning. Papers With Code: it surfaces benchmark leaderboard updates and links papers to code, telling you whether a result is actually replicable. Hugging Face model releases: every significant open-weight release comes with a model card that includes benchmark numbers and known limitations, often more practically informative than the paper itself for understanding what a model can and cannot do.</a:t>
            </a:r>
          </a:p>
          <a:p>
            <a:endParaRPr/>
          </a:p>
          <a:p>
            <a:r>
              <a:rPr b="1"/>
              <a:t>─── DELIVERY NOTES ───</a:t>
            </a:r>
          </a:p>
          <a:p>
            <a:r>
              <a:t>Sixty seconds, and tell the room to photograph it. This is the slide that separates an FDP session from a product talk - it says where the ideas came from and gives every scholar in the room five things they can cite on Monday.</a:t>
            </a:r>
          </a:p>
          <a:p>
            <a:r>
              <a:t>The split is the message. Rows one and two will still be correct in five years, so they belong in the framing section of any proposal. Rows three to five are living documents and will be wrong at some point - row five already is, since Qwen 3.5 (February 2026) and Gemma 4 (April 2026) replaced the models it describes. Say that out loud; it is the most memorable way to make the point, which is why the arXiv numbers are on the slide - a participant can re-check them in under a minute.</a:t>
            </a:r>
          </a:p>
          <a:p>
            <a:r>
              <a:t>Row four is the practical one and the reason to slow down here. It comes with a maintained index of MLLM benchmarks that keeps growing past the 200 in the paper - check the current count on the day. Slide 28 told them the easiest first publication is a benchmark for a domain nobody has covered; row four is how they check that claim is actually true before they spend a semester on it. Reviewers will check. Say that.</a:t>
            </a:r>
          </a:p>
          <a:p>
            <a:r>
              <a:t>Row two gives the formal vocabulary - representation, alignment, reasoning, generation, transference, quantification. A proposal that names its challenge in those terms reads as informed rather than enthusiastic, and that is worth more to a first-time applicant than any model recommendation.</a:t>
            </a:r>
          </a:p>
          <a:p>
            <a:r>
              <a:t>Terminology note if it comes up: IBM and several textbooks describe fusion as early, mid and late. What this deck calls cross-attention on slide 11 is what they call mid or intermediate fusion. Same three design choices, different labels.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a:p>
            <a:endParaRPr/>
          </a:p>
          <a:p>
            <a:r>
              <a:rPr b="1"/>
              <a:t>─── TRANSCRIPT ───</a:t>
            </a:r>
          </a:p>
          <a:p>
            <a:r>
              <a:t>"Five references. Two that will still be right in five years. Three that need re-checking before you submit."</a:t>
            </a:r>
          </a:p>
          <a:p>
            <a:r>
              <a:t>"Row one: CLIP — Radford and colleagues, 2021, arXiv 2103.00020. Contrastive image-text pre-training on 400 million pairs. The shared space from slide 8 begins here. Stable reference — will not date."</a:t>
            </a:r>
          </a:p>
          <a:p>
            <a:r>
              <a:t>"Row two: Liang and colleagues, 2022, CMU survey, arXiv 2209.03430. The vocabulary — representation, alignment, reasoning, generation, transference, quantification. Use this to frame any proposal. Also stable."</a:t>
            </a:r>
          </a:p>
          <a:p>
            <a:r>
              <a:t>"Row three: Yin and colleagues, 2023, arXiv 2306.13549. Standard MLLM survey, published in National Science Review 2024. Living document — check the arXiv version number before you cite."</a:t>
            </a:r>
          </a:p>
          <a:p>
            <a:r>
              <a:t>"Row four: Li and Lu, 2024, arXiv 2408.08632. Benchmark index, now past 200 entries and still growing. Use it to verify novelty before you spend a semester on a dataset that already exists."</a:t>
            </a:r>
          </a:p>
          <a:p>
            <a:r>
              <a:t>"Row five: Qwen3-VL, Bai and colleagues, 2025, arXiv 2511.21631. I have left this row in specifically to make a point: this reference has already been superseded by Qwen 3.5 in February 2026 and Qwen3.8 in August 2026, and by Gemma 4 in April 2026. Say that out loud when you show this slide. 'The row that dates fastest is the model row. That is how fast this field moves.' It is the most memorable way to make the point about which rows to re-check."</a:t>
            </a:r>
          </a:p>
          <a:p>
            <a:r>
              <a:t>"Rows one and two anchor your framing and introduction. They belong in the framing section of any proposal. Rows three to five go in the methods and related work sections — check the month you submit."</a:t>
            </a:r>
          </a:p>
          <a:p>
            <a:endParaRPr/>
          </a:p>
          <a:p>
            <a:r>
              <a:rPr b="1"/>
              <a:t>─── ANTICIPATED QUESTIONS ───</a:t>
            </a:r>
          </a:p>
          <a:p>
            <a:r>
              <a:rPr b="1"/>
              <a:t>Q: Are there other surveys worth knowing?</a:t>
            </a:r>
          </a:p>
          <a:p>
            <a:r>
              <a:t>A: Yes. Flamingo — Alayrac and colleagues, 2022, DeepMind — is the landmark for cross-attention architecture. LLaVA — Liu and colleagues, 2023 — is the landmark for visual instruction tuning. Driess and colleagues 2023 (PaLM-E) is relevant for embodied AI and robotics. For Indic-language multimodal work, the AI4Bharat work on Samanantar and IndicBERT provides relevant background. None replace the Liang survey as the framing reference, but they matter if your work touches architecture or regional language.</a:t>
            </a:r>
          </a:p>
          <a:p>
            <a:endParaRPr/>
          </a:p>
          <a:p>
            <a:r>
              <a:rPr b="1"/>
              <a:t>Q: How do I keep up with a field that moves this fast?</a:t>
            </a:r>
          </a:p>
          <a:p>
            <a:r>
              <a:t>A: Three sources. arXiv daily: filter cs.CV and cs.CL, scan titles and abstracts, fifteen minutes per morning. Papers With Code: it surfaces benchmark leaderboard updates and links papers to code, telling you whether a result is actually replicable. Hugging Face model releases: every significant open-weight release comes with a model card that includes benchmark numbers and known limitations, often more practically informative than the paper itself for understanding what a model can and cannot do.</a:t>
            </a:r>
          </a:p>
          <a:p>
            <a:endParaRPr/>
          </a:p>
          <a:p>
            <a:endParaRPr/>
          </a:p>
          <a:p>
            <a:r>
              <a:rPr b="1"/>
              <a:t>─── TRANSCRIPT ───</a:t>
            </a:r>
          </a:p>
          <a:p>
            <a:r>
              <a:t>"Five references. Two that will still be right in five years. Three that need re-checking before you submit."</a:t>
            </a:r>
          </a:p>
          <a:p>
            <a:r>
              <a:t>"Row one: CLIP — Radford and colleagues, 2021, arXiv 2103.00020. Contrastive image-text pre-training on 400 million pairs. The shared space from slide 8 begins here. Stable reference — will not date."</a:t>
            </a:r>
          </a:p>
          <a:p>
            <a:r>
              <a:t>"Row two: Liang and colleagues, 2022, CMU survey, arXiv 2209.03430. The vocabulary — representation, alignment, reasoning, generation, transference, quantification. Use this to frame any proposal. Also stable."</a:t>
            </a:r>
          </a:p>
          <a:p>
            <a:r>
              <a:t>"Row three: Yin and colleagues, 2023, arXiv 2306.13549. Standard MLLM survey, published in National Science Review 2024. Living document — check the arXiv version number before you cite."</a:t>
            </a:r>
          </a:p>
          <a:p>
            <a:r>
              <a:t>"Row four: Li and Lu, 2024, arXiv 2408.08632. Benchmark index, now past 200 entries and still growing. Use it to verify novelty before you spend a semester on a dataset that already exists."</a:t>
            </a:r>
          </a:p>
          <a:p>
            <a:r>
              <a:t>"Row five: Qwen3-VL, Bai and colleagues, 2025, arXiv 2511.21631. I have left this row in specifically to make a point: this reference has already been superseded by Qwen 3.5 in February 2026 and Qwen3.8 in August 2026, and by Gemma 4 in April 2026. Say that out loud when you show this slide. 'The row that dates fastest is the model row. That is how fast this field moves.' It is the most memorable way to make the point about which rows to re-check."</a:t>
            </a:r>
          </a:p>
          <a:p>
            <a:r>
              <a:t>"Rows one and two anchor your framing and introduction. They belong in the framing section of any proposal. Rows three to five go in the methods and related work sections — check the month you submit."</a:t>
            </a:r>
          </a:p>
          <a:p>
            <a:endParaRPr/>
          </a:p>
          <a:p>
            <a:r>
              <a:rPr b="1"/>
              <a:t>─── ANTICIPATED QUESTIONS ───</a:t>
            </a:r>
          </a:p>
          <a:p>
            <a:r>
              <a:rPr b="1"/>
              <a:t>Q: Are there other surveys worth knowing?</a:t>
            </a:r>
          </a:p>
          <a:p>
            <a:r>
              <a:t>A: Yes. Flamingo — Alayrac and colleagues, 2022, DeepMind — is the landmark for cross-attention architecture. LLaVA — Liu and colleagues, 2023 — is the landmark for visual instruction tuning. Driess and colleagues 2023 (PaLM-E) is relevant for embodied AI and robotics. For Indic-language multimodal work, the AI4Bharat work on Samanantar and IndicBERT provides relevant background. None replace the Liang survey as the framing reference, but they matter if your work touches architecture or regional language.</a:t>
            </a:r>
          </a:p>
          <a:p>
            <a:endParaRPr/>
          </a:p>
          <a:p>
            <a:r>
              <a:rPr b="1"/>
              <a:t>Q: How do I keep up with a field that moves this fast?</a:t>
            </a:r>
          </a:p>
          <a:p>
            <a:r>
              <a:t>A: Three sources. arXiv daily: filter cs.CV and cs.CL, scan titles and abstracts, fifteen minutes per morning. Papers With Code: it surfaces benchmark leaderboard updates and links papers to code, telling you whether a result is actually replicable. Hugging Face model releases: every significant open-weight release comes with a model card that includes benchmark numbers and known limitations, often more practically informative than the paper itself for understanding what a model can and cannot do.</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"Five steps from a working prototype to a submitted paper."</a:t>
            </a:r>
          </a:p>
          <a:p>
            <a:r>
              <a:t>"Step one: narrow the claim. Not 'multimodal AI for healthcare.' Instead: 'reading handwritten dosage fields on prescription pads from three government hospital formats where existing OCR fails on degraded paper.' Specific enough for a reviewer to evaluate. Small enough to actually build and measure."</a:t>
            </a:r>
          </a:p>
          <a:p>
            <a:r>
              <a:t>"Step two: build the test set. 300 to 500 hard examples, expert-labelled, with the disagreements documented. If experts disagreed on 20 percent of examples, that tells you something important about task difficulty and belongs in the paper."</a:t>
            </a:r>
          </a:p>
          <a:p>
            <a:r>
              <a:t>"Step three: beat a real baseline. Compare against the obvious pipeline for your domain — the 2019 architecture. If you do not beat it, report that. A negative result on a well-constructed benchmark still contributes knowledge and is publishable at the right venue."</a:t>
            </a:r>
          </a:p>
          <a:p>
            <a:r>
              <a:t>"Step four: report the failures. A confusion analysis of where the system breaks is what reviewers actually read. Not the headline accuracy number — the breakdown by failure mode."</a:t>
            </a:r>
          </a:p>
          <a:p>
            <a:r>
              <a:t>"Step five: release the data. The dataset is what gets cited five years later, not the model."</a:t>
            </a:r>
          </a:p>
          <a:p>
            <a:r>
              <a:t>"Venues: ACL, EMNLP, CVPR, ICCV, NeurIPS Datasets and Benchmarks, plus domain journals in medicine, agriculture and engineering that welcome a well-evaluated applied system."</a:t>
            </a:r>
          </a:p>
          <a:p>
            <a:endParaRPr/>
          </a:p>
          <a:p>
            <a:r>
              <a:rPr b="1"/>
              <a:t>─── ANTICIPATED QUESTIONS ───</a:t>
            </a:r>
          </a:p>
          <a:p>
            <a:r>
              <a:rPr b="1"/>
              <a:t>Q: How long does building a 300-example test set actually take?</a:t>
            </a:r>
          </a:p>
          <a:p>
            <a:r>
              <a:t>A: With three annotators and a clear annotation guide, expect three to four weeks for 300 examples of moderate complexity — a form with ten to fifteen fields per image. Dense handwriting annotation takes longer. Medical images requiring expert annotation — radiologist or pathologist level — take longer still and require IRB or ethics committee approval. Build this as the main deliverable of a final-year project: four students over one semester can produce a solid annotated dataset.</a:t>
            </a:r>
          </a:p>
          <a:p>
            <a:endParaRPr/>
          </a:p>
          <a:p>
            <a:r>
              <a:rPr b="1"/>
              <a:t>Q: What if my method does not beat the 2019 baseline?</a:t>
            </a:r>
          </a:p>
          <a:p>
            <a:r>
              <a:t>A: Report it honestly and explain why. A paper that shows 'we benchmarked a multimodal system against the current pipeline, found the pipeline is still better on this specific domain, and here is the analysis of why and what would need to change' is a contribution. It tells the community where the technology does not yet work. Negative results on well-constructed benchmarks are explicitly welcomed at EMNLP's Negative Results track and at NeurIPS workshops.</a:t>
            </a:r>
          </a:p>
          <a:p>
            <a:endParaRPr/>
          </a:p>
          <a:p>
            <a:r>
              <a:rPr b="1"/>
              <a:t>Q: Do I need a large GPU cluster to publish at CVPR?</a:t>
            </a:r>
          </a:p>
          <a:p>
            <a:r>
              <a:t>A: Not for a dataset or evaluation paper. If your contribution is the benchmark and the baseline results, you can run the baselines using hosted APIs or the IndiaAI compute allocation, and the compute cost is part of your experimental setup section. GPU-intensive training is expected for model papers, not for dataset, evaluation or analysis papers — and the first publication from a new research group is usually much stronger as a dataset paper than as a model paper.</a:t>
            </a:r>
          </a:p>
          <a:p>
            <a:endParaRPr/>
          </a:p>
          <a:p>
            <a:r>
              <a:rPr b="1"/>
              <a:t>─── DELIVERY NOTES ───</a:t>
            </a:r>
          </a:p>
          <a:p>
            <a:r>
              <a:t>Step 1 is where most first papers die - the claim is too broad to evaluate. Push hard on narrowing. This slide is also a ready-made review checklist for the PhD scholars they supervise.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a:p>
            <a:endParaRPr/>
          </a:p>
          <a:p>
            <a:r>
              <a:rPr b="1"/>
              <a:t>─── TRANSCRIPT ───</a:t>
            </a:r>
          </a:p>
          <a:p>
            <a:r>
              <a:t>"Five steps from a working prototype to a submitted paper."</a:t>
            </a:r>
          </a:p>
          <a:p>
            <a:r>
              <a:t>"Step one: narrow the claim. Not 'multimodal AI for healthcare.' Instead: 'reading handwritten dosage fields on prescription pads from three government hospital formats where existing OCR fails on degraded paper.' Specific enough for a reviewer to evaluate. Small enough to actually build and measure."</a:t>
            </a:r>
          </a:p>
          <a:p>
            <a:r>
              <a:t>"Step two: build the test set. 300 to 500 hard examples, expert-labelled, with the disagreements documented. If experts disagreed on 20 percent of examples, that tells you something important about task difficulty and belongs in the paper."</a:t>
            </a:r>
          </a:p>
          <a:p>
            <a:r>
              <a:t>"Step three: beat a real baseline. Compare against the obvious pipeline for your domain — the 2019 architecture. If you do not beat it, report that. A negative result on a well-constructed benchmark still contributes knowledge and is publishable at the right venue."</a:t>
            </a:r>
          </a:p>
          <a:p>
            <a:r>
              <a:t>"Step four: report the failures. A confusion analysis of where the system breaks is what reviewers actually read. Not the headline accuracy number — the breakdown by failure mode."</a:t>
            </a:r>
          </a:p>
          <a:p>
            <a:r>
              <a:t>"Step five: release the data. The dataset is what gets cited five years later, not the model."</a:t>
            </a:r>
          </a:p>
          <a:p>
            <a:r>
              <a:t>"Venues: ACL, EMNLP, CVPR, ICCV, NeurIPS Datasets and Benchmarks, plus domain journals in medicine, agriculture and engineering that welcome a well-evaluated applied system."</a:t>
            </a:r>
          </a:p>
          <a:p>
            <a:endParaRPr/>
          </a:p>
          <a:p>
            <a:r>
              <a:rPr b="1"/>
              <a:t>─── ANTICIPATED QUESTIONS ───</a:t>
            </a:r>
          </a:p>
          <a:p>
            <a:r>
              <a:rPr b="1"/>
              <a:t>Q: How long does building a 300-example test set actually take?</a:t>
            </a:r>
          </a:p>
          <a:p>
            <a:r>
              <a:t>A: With three annotators and a clear annotation guide, expect three to four weeks for 300 examples of moderate complexity — a form with ten to fifteen fields per image. Dense handwriting annotation takes longer. Medical images requiring expert annotation — radiologist or pathologist level — take longer still and require IRB or ethics committee approval. Build this as the main deliverable of a final-year project: four students over one semester can produce a solid annotated dataset.</a:t>
            </a:r>
          </a:p>
          <a:p>
            <a:endParaRPr/>
          </a:p>
          <a:p>
            <a:r>
              <a:rPr b="1"/>
              <a:t>Q: What if my method does not beat the 2019 baseline?</a:t>
            </a:r>
          </a:p>
          <a:p>
            <a:r>
              <a:t>A: Report it honestly and explain why. A paper that shows 'we benchmarked a multimodal system against the current pipeline, found the pipeline is still better on this specific domain, and here is the analysis of why and what would need to change' is a contribution. It tells the community where the technology does not yet work. Negative results on well-constructed benchmarks are explicitly welcomed at EMNLP's Negative Results track and at NeurIPS workshops.</a:t>
            </a:r>
          </a:p>
          <a:p>
            <a:endParaRPr/>
          </a:p>
          <a:p>
            <a:r>
              <a:rPr b="1"/>
              <a:t>Q: Do I need a large GPU cluster to publish at CVPR?</a:t>
            </a:r>
          </a:p>
          <a:p>
            <a:r>
              <a:t>A: Not for a dataset or evaluation paper. If your contribution is the benchmark and the baseline results, you can run the baselines using hosted APIs or the IndiaAI compute allocation, and the compute cost is part of your experimental setup section. GPU-intensive training is expected for model papers, not for dataset, evaluation or analysis papers — and the first publication from a new research group is usually much stronger as a dataset paper than as a model paper.</a:t>
            </a:r>
          </a:p>
          <a:p>
            <a:endParaRPr/>
          </a:p>
          <a:p>
            <a:endParaRPr/>
          </a:p>
          <a:p>
            <a:r>
              <a:rPr b="1"/>
              <a:t>─── TRANSCRIPT ───</a:t>
            </a:r>
          </a:p>
          <a:p>
            <a:r>
              <a:t>"Five steps from a working prototype to a submitted paper."</a:t>
            </a:r>
          </a:p>
          <a:p>
            <a:r>
              <a:t>"Step one: narrow the claim. Not 'multimodal AI for healthcare.' Instead: 'reading handwritten dosage fields on prescription pads from three government hospital formats where existing OCR fails on degraded paper.' Specific enough for a reviewer to evaluate. Small enough to actually build and measure."</a:t>
            </a:r>
          </a:p>
          <a:p>
            <a:r>
              <a:t>"Step two: build the test set. 300 to 500 hard examples, expert-labelled, with the disagreements documented. If experts disagreed on 20 percent of examples, that tells you something important about task difficulty and belongs in the paper."</a:t>
            </a:r>
          </a:p>
          <a:p>
            <a:r>
              <a:t>"Step three: beat a real baseline. Compare against the obvious pipeline for your domain — the 2019 architecture. If you do not beat it, report that. A negative result on a well-constructed benchmark still contributes knowledge and is publishable at the right venue."</a:t>
            </a:r>
          </a:p>
          <a:p>
            <a:r>
              <a:t>"Step four: report the failures. A confusion analysis of where the system breaks is what reviewers actually read. Not the headline accuracy number — the breakdown by failure mode."</a:t>
            </a:r>
          </a:p>
          <a:p>
            <a:r>
              <a:t>"Step five: release the data. The dataset is what gets cited five years later, not the model."</a:t>
            </a:r>
          </a:p>
          <a:p>
            <a:r>
              <a:t>"Venues: ACL, EMNLP, CVPR, ICCV, NeurIPS Datasets and Benchmarks, plus domain journals in medicine, agriculture and engineering that welcome a well-evaluated applied system."</a:t>
            </a:r>
          </a:p>
          <a:p>
            <a:endParaRPr/>
          </a:p>
          <a:p>
            <a:r>
              <a:rPr b="1"/>
              <a:t>─── ANTICIPATED QUESTIONS ───</a:t>
            </a:r>
          </a:p>
          <a:p>
            <a:r>
              <a:rPr b="1"/>
              <a:t>Q: How long does building a 300-example test set actually take?</a:t>
            </a:r>
          </a:p>
          <a:p>
            <a:r>
              <a:t>A: With three annotators and a clear annotation guide, expect three to four weeks for 300 examples of moderate complexity — a form with ten to fifteen fields per image. Dense handwriting annotation takes longer. Medical images requiring expert annotation — radiologist or pathologist level — take longer still and require IRB or ethics committee approval. Build this as the main deliverable of a final-year project: four students over one semester can produce a solid annotated dataset.</a:t>
            </a:r>
          </a:p>
          <a:p>
            <a:endParaRPr/>
          </a:p>
          <a:p>
            <a:r>
              <a:rPr b="1"/>
              <a:t>Q: What if my method does not beat the 2019 baseline?</a:t>
            </a:r>
          </a:p>
          <a:p>
            <a:r>
              <a:t>A: Report it honestly and explain why. A paper that shows 'we benchmarked a multimodal system against the current pipeline, found the pipeline is still better on this specific domain, and here is the analysis of why and what would need to change' is a contribution. It tells the community where the technology does not yet work. Negative results on well-constructed benchmarks are explicitly welcomed at EMNLP's Negative Results track and at NeurIPS workshops.</a:t>
            </a:r>
          </a:p>
          <a:p>
            <a:endParaRPr/>
          </a:p>
          <a:p>
            <a:r>
              <a:rPr b="1"/>
              <a:t>Q: Do I need a large GPU cluster to publish at CVPR?</a:t>
            </a:r>
          </a:p>
          <a:p>
            <a:r>
              <a:t>A: Not for a dataset or evaluation paper. If your contribution is the benchmark and the baseline results, you can run the baselines using hosted APIs or the IndiaAI compute allocation, and the compute cost is part of your experimental setup section. GPU-intensive training is expected for model papers, not for dataset, evaluation or analysis papers — and the first publication from a new research group is usually much stronger as a dataset paper than as a model paper.</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"This slide requires me to be precise, because every number on it is sourced from parliamentary records."</a:t>
            </a:r>
          </a:p>
          <a:p>
            <a:r>
              <a:t>"The chart shows the IndiaAI Mission's revised estimates against funds actually released, from MeitY's reply to the Rajya Sabha, 9 February 2026. In 2024-25: 173 crore rupee revised estimate, 21.79 crore released. In 2025-26: 800 crore revised estimate, 379.15 crore released."</a:t>
            </a:r>
          </a:p>
          <a:p>
            <a:r>
              <a:t>"The right-hand panel shows what the Parliamentary Standing Committee on IT found in its 31st report, August 2026. Of 190 approved compute projects, just 27 are with academia or researchers — the rest are government entities and startups. 150 undergraduate fellows were selected against a target of 5,000; MeitY cited low awareness. Just 32 percent of the 2025-26 revised estimate had been spent by 31 December 2025."</a:t>
            </a:r>
          </a:p>
          <a:p>
            <a:r>
              <a:t>"Why does this matter to you? Because a modest, specific, well-scoped multimodal proposal from an AICTE-approved institution faces less competition right now than it will in three years, when awareness catches up. The compute exists. The grants are open. The gap is applications."</a:t>
            </a:r>
          </a:p>
          <a:p>
            <a:r>
              <a:t>"I want to be precise about one thing: the slow release rate has ordinary explanations — compute subsidy is paid against usage, not upfront. This is not money that simply sits there waiting to be claimed without any process. But the access routes are underutilised relative to what is available, and that underutilisation is a real structural opportunity."</a:t>
            </a:r>
          </a:p>
          <a:p>
            <a:r>
              <a:t>Deliver the last line as an invitation, not as a complaint about government bureaucracy. The credibility you built in Part Two pays off here — this is not a motivational speech, it is a data-backed observation.</a:t>
            </a:r>
          </a:p>
          <a:p>
            <a:endParaRPr/>
          </a:p>
          <a:p>
            <a:r>
              <a:rPr b="1"/>
              <a:t>─── ANTICIPATED QUESTIONS ───</a:t>
            </a:r>
          </a:p>
          <a:p>
            <a:r>
              <a:rPr b="1"/>
              <a:t>Q: Can a private AICTE-approved engineering college apply for IndiaAI compute?</a:t>
            </a:r>
          </a:p>
          <a:p>
            <a:r>
              <a:t>A: Yes. The IndiaAI compute portal is open to academic institutions, including private colleges that are AICTE-approved. You register the institution at compute.indiaai.gov.in, submit a project proposal describing your intended use, and if approved receive access to the subsidised GPU pool. Of the 190 projects approved as of March 2026, 27 are with academia and researchers — so it is not hypothetical. Register before you need it; the approval process takes weeks, not days.</a:t>
            </a:r>
          </a:p>
          <a:p>
            <a:endParaRPr/>
          </a:p>
          <a:p>
            <a:r>
              <a:rPr b="1"/>
              <a:t>Q: How long does an ANRF ARG grant take from application to funding?</a:t>
            </a:r>
          </a:p>
          <a:p>
            <a:r>
              <a:t>A: The 2026 ARG cycle ran pre-proposals from 15 May to 10 June. Full proposals for shortlisted applicants were typically due 8 to 12 weeks after shortlisting. Funding decisions came roughly 6 to 9 months after the full proposal submission. Plan for a 12 to 15 month timeline from the pre-proposal deadline to first funding disbursement. The next cycle is expected around May 2027. Submit a pre-proposal on day one — the window closes hard and late submissions are not accepted.</a:t>
            </a:r>
          </a:p>
          <a:p>
            <a:endParaRPr/>
          </a:p>
          <a:p>
            <a:r>
              <a:rPr b="1"/>
              <a:t>Q: Is the Finance Ministry budget cut a concern?</a:t>
            </a:r>
          </a:p>
          <a:p>
            <a:r>
              <a:t>A: The budget estimate for 2026-27 is 1,000 crore, which is lower than the original proposal and lower than the previous year's 2,000 crore budget estimate. The revised estimate for 2025-26 was 800 crore — so the pattern of revision downward is real. For individual researchers, the practical impact is limited: compute access is granted project by project, not against the aggregate budget line. Monitor indiaai.gov.in for any changes to the per-hour subsidy rate or eligibility criteria, which are more directly relevant than the headline budget figure.</a:t>
            </a:r>
          </a:p>
          <a:p>
            <a:endParaRPr/>
          </a:p>
          <a:p>
            <a:r>
              <a:rPr b="1"/>
              <a:t>─── DELIVERY NOTES ───</a:t>
            </a:r>
          </a:p>
          <a:p>
            <a:r>
              <a:t>Your strongest slide for this room - every participant's institution is eligible and almost none have applied. Deliver the last line as an invitation, not a complaint about bureaucracy.</a:t>
            </a:r>
          </a:p>
          <a:p>
            <a:endParaRPr/>
          </a:p>
          <a:p>
            <a:r>
              <a:t>Be precise if challenged: the bars are the revised estimates, which is what MeitY itself compared releases against in the Rajya Sabha reply. The original budget estimates were higher (551.75 and 2,000 crore), so the gap only widens on that basis. Release lag also has ordinary causes - compute subsidy is paid against usage - so do not present it as money anyone can simply claim. The honest reading: the programmes are open, academia is under-represented, and awareness is low by the ministry's own account. Do not overstate it - you spent Part Two building credibility.</a:t>
            </a:r>
          </a:p>
          <a:p>
            <a:endParaRPr/>
          </a:p>
          <a:p>
            <a:r>
              <a:t>Verify these figures the week you present. They move.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a:p>
            <a:endParaRPr/>
          </a:p>
          <a:p>
            <a:r>
              <a:rPr b="1"/>
              <a:t>─── TRANSCRIPT ───</a:t>
            </a:r>
          </a:p>
          <a:p>
            <a:r>
              <a:t>"This slide requires me to be precise, because every number on it is sourced from parliamentary records."</a:t>
            </a:r>
          </a:p>
          <a:p>
            <a:r>
              <a:t>"The chart shows the IndiaAI Mission's revised estimates against funds actually released, from MeitY's reply to the Rajya Sabha, 9 February 2026. In 2024-25: 173 crore rupee revised estimate, 21.79 crore released. In 2025-26: 800 crore revised estimate, 379.15 crore released."</a:t>
            </a:r>
          </a:p>
          <a:p>
            <a:r>
              <a:t>"The right-hand panel shows what the Parliamentary Standing Committee on IT found in its 31st report, August 2026. Of 190 approved compute projects, just 27 are with academia or researchers — the rest are government entities and startups. 150 undergraduate fellows were selected against a target of 5,000; MeitY cited low awareness. Just 32 percent of the 2025-26 revised estimate had been spent by 31 December 2025."</a:t>
            </a:r>
          </a:p>
          <a:p>
            <a:r>
              <a:t>"Why does this matter to you? Because a modest, specific, well-scoped multimodal proposal from an AICTE-approved institution faces less competition right now than it will in three years, when awareness catches up. The compute exists. The grants are open. The gap is applications."</a:t>
            </a:r>
          </a:p>
          <a:p>
            <a:r>
              <a:t>"I want to be precise about one thing: the slow release rate has ordinary explanations — compute subsidy is paid against usage, not upfront. This is not money that simply sits there waiting to be claimed without any process. But the access routes are underutilised relative to what is available, and that underutilisation is a real structural opportunity."</a:t>
            </a:r>
          </a:p>
          <a:p>
            <a:r>
              <a:t>Deliver the last line as an invitation, not as a complaint about government bureaucracy. The credibility you built in Part Two pays off here — this is not a motivational speech, it is a data-backed observation.</a:t>
            </a:r>
          </a:p>
          <a:p>
            <a:endParaRPr/>
          </a:p>
          <a:p>
            <a:r>
              <a:rPr b="1"/>
              <a:t>─── ANTICIPATED QUESTIONS ───</a:t>
            </a:r>
          </a:p>
          <a:p>
            <a:r>
              <a:rPr b="1"/>
              <a:t>Q: Can a private AICTE-approved engineering college apply for IndiaAI compute?</a:t>
            </a:r>
          </a:p>
          <a:p>
            <a:r>
              <a:t>A: Yes. The IndiaAI compute portal is open to academic institutions, including private colleges that are AICTE-approved. You register the institution at compute.indiaai.gov.in, submit a project proposal describing your intended use, and if approved receive access to the subsidised GPU pool. Of the 190 projects approved as of March 2026, 27 are with academia and researchers — so it is not hypothetical. Register before you need it; the approval process takes weeks, not days.</a:t>
            </a:r>
          </a:p>
          <a:p>
            <a:endParaRPr/>
          </a:p>
          <a:p>
            <a:r>
              <a:rPr b="1"/>
              <a:t>Q: How long does an ANRF ARG grant take from application to funding?</a:t>
            </a:r>
          </a:p>
          <a:p>
            <a:r>
              <a:t>A: The 2026 ARG cycle ran pre-proposals from 15 May to 10 June. Full proposals for shortlisted applicants were typically due 8 to 12 weeks after shortlisting. Funding decisions came roughly 6 to 9 months after the full proposal submission. Plan for a 12 to 15 month timeline from the pre-proposal deadline to first funding disbursement. The next cycle is expected around May 2027. Submit a pre-proposal on day one — the window closes hard and late submissions are not accepted.</a:t>
            </a:r>
          </a:p>
          <a:p>
            <a:endParaRPr/>
          </a:p>
          <a:p>
            <a:r>
              <a:rPr b="1"/>
              <a:t>Q: Is the Finance Ministry budget cut a concern?</a:t>
            </a:r>
          </a:p>
          <a:p>
            <a:r>
              <a:t>A: The budget estimate for 2026-27 is 1,000 crore, which is lower than the original proposal and lower than the previous year's 2,000 crore budget estimate. The revised estimate for 2025-26 was 800 crore — so the pattern of revision downward is real. For individual researchers, the practical impact is limited: compute access is granted project by project, not against the aggregate budget line. Monitor indiaai.gov.in for any changes to the per-hour subsidy rate or eligibility criteria, which are more directly relevant than the headline budget figure.</a:t>
            </a:r>
          </a:p>
          <a:p>
            <a:endParaRPr/>
          </a:p>
          <a:p>
            <a:endParaRPr/>
          </a:p>
          <a:p>
            <a:r>
              <a:rPr b="1"/>
              <a:t>─── TRANSCRIPT ───</a:t>
            </a:r>
          </a:p>
          <a:p>
            <a:r>
              <a:t>"This slide requires me to be precise, because every number on it is sourced from parliamentary records."</a:t>
            </a:r>
          </a:p>
          <a:p>
            <a:r>
              <a:t>"The chart shows the IndiaAI Mission's revised estimates against funds actually released, from MeitY's reply to the Rajya Sabha, 9 February 2026. In 2024-25: 173 crore rupee revised estimate, 21.79 crore released. In 2025-26: 800 crore revised estimate, 379.15 crore released."</a:t>
            </a:r>
          </a:p>
          <a:p>
            <a:r>
              <a:t>"The right-hand panel shows what the Parliamentary Standing Committee on IT found in its 31st report, August 2026. Of 190 approved compute projects, just 27 are with academia or researchers — the rest are government entities and startups. 150 undergraduate fellows were selected against a target of 5,000; MeitY cited low awareness. Just 32 percent of the 2025-26 revised estimate had been spent by 31 December 2025."</a:t>
            </a:r>
          </a:p>
          <a:p>
            <a:r>
              <a:t>"Why does this matter to you? Because a modest, specific, well-scoped multimodal proposal from an AICTE-approved institution faces less competition right now than it will in three years, when awareness catches up. The compute exists. The grants are open. The gap is applications."</a:t>
            </a:r>
          </a:p>
          <a:p>
            <a:r>
              <a:t>"I want to be precise about one thing: the slow release rate has ordinary explanations — compute subsidy is paid against usage, not upfront. This is not money that simply sits there waiting to be claimed without any process. But the access routes are underutilised relative to what is available, and that underutilisation is a real structural opportunity."</a:t>
            </a:r>
          </a:p>
          <a:p>
            <a:r>
              <a:t>Deliver the last line as an invitation, not as a complaint about government bureaucracy. The credibility you built in Part Two pays off here — this is not a motivational speech, it is a data-backed observation.</a:t>
            </a:r>
          </a:p>
          <a:p>
            <a:endParaRPr/>
          </a:p>
          <a:p>
            <a:r>
              <a:rPr b="1"/>
              <a:t>─── ANTICIPATED QUESTIONS ───</a:t>
            </a:r>
          </a:p>
          <a:p>
            <a:r>
              <a:rPr b="1"/>
              <a:t>Q: Can a private AICTE-approved engineering college apply for IndiaAI compute?</a:t>
            </a:r>
          </a:p>
          <a:p>
            <a:r>
              <a:t>A: Yes. The IndiaAI compute portal is open to academic institutions, including private colleges that are AICTE-approved. You register the institution at compute.indiaai.gov.in, submit a project proposal describing your intended use, and if approved receive access to the subsidised GPU pool. Of the 190 projects approved as of March 2026, 27 are with academia and researchers — so it is not hypothetical. Register before you need it; the approval process takes weeks, not days.</a:t>
            </a:r>
          </a:p>
          <a:p>
            <a:endParaRPr/>
          </a:p>
          <a:p>
            <a:r>
              <a:rPr b="1"/>
              <a:t>Q: How long does an ANRF ARG grant take from application to funding?</a:t>
            </a:r>
          </a:p>
          <a:p>
            <a:r>
              <a:t>A: The 2026 ARG cycle ran pre-proposals from 15 May to 10 June. Full proposals for shortlisted applicants were typically due 8 to 12 weeks after shortlisting. Funding decisions came roughly 6 to 9 months after the full proposal submission. Plan for a 12 to 15 month timeline from the pre-proposal deadline to first funding disbursement. The next cycle is expected around May 2027. Submit a pre-proposal on day one — the window closes hard and late submissions are not accepted.</a:t>
            </a:r>
          </a:p>
          <a:p>
            <a:endParaRPr/>
          </a:p>
          <a:p>
            <a:r>
              <a:rPr b="1"/>
              <a:t>Q: Is the Finance Ministry budget cut a concern?</a:t>
            </a:r>
          </a:p>
          <a:p>
            <a:r>
              <a:t>A: The budget estimate for 2026-27 is 1,000 crore, which is lower than the original proposal and lower than the previous year's 2,000 crore budget estimate. The revised estimate for 2025-26 was 800 crore — so the pattern of revision downward is real. For individual researchers, the practical impact is limited: compute access is granted project by project, not against the aggregate budget line. Monitor indiaai.gov.in for any changes to the per-hour subsidy rate or eligibility criteria, which are more directly relevant than the headline budget figure.</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"Five routes. Point at the two you can act on this week."</a:t>
            </a:r>
          </a:p>
          <a:p>
            <a:r>
              <a:t>"ANRF Advanced Research Grant: replaced SERB under the ANRF Act 2023. Up to 5 crore rupees over up to 5 years, covering TRL 1 to 6. The 2026 pre-proposal window ran 15 May to 10 June. The next window is expected around May 2027. Submit on day one — the window closes hard at 5 PM."</a:t>
            </a:r>
          </a:p>
          <a:p>
            <a:r>
              <a:t>"ANRF catalytic and partnership programmes: designed for industry-academia pairs. If you have a company partner — even a small one — it strengthens your case and fits the ANRF design, which aims for a majority of its corpus to come from non-government sources."</a:t>
            </a:r>
          </a:p>
          <a:p>
            <a:r>
              <a:t>"IndiaAI Mission compute and application pillars: 38,231 GPUs at approximately 65 rupees per GPU-hour. Register your institution at compute.indiaai.gov.in before you need it. This is the route you can start today."</a:t>
            </a:r>
          </a:p>
          <a:p>
            <a:r>
              <a:t>"RDI Fund: the government's Research, Development and Innovation financing scheme — a 1 lakh crore corpus for company R and D. Faculty reach this through an industry or startup partner, not directly as academic applicants."</a:t>
            </a:r>
          </a:p>
          <a:p>
            <a:r>
              <a:t>"Industry sponsored problem statements: often faster than a grant cycle and — crucially — comes with domain data you cannot otherwise access. A company sharing its proprietary dataset for joint research gives you something arXiv cannot."</a:t>
            </a:r>
          </a:p>
          <a:p>
            <a:r>
              <a:t>"Check anrfonline.in and indiaai.gov.in for live call windows. They open and close on short notice. Bookmark both pages today."</a:t>
            </a:r>
          </a:p>
          <a:p>
            <a:endParaRPr/>
          </a:p>
          <a:p>
            <a:r>
              <a:rPr b="1"/>
              <a:t>─── ANTICIPATED QUESTIONS ───</a:t>
            </a:r>
          </a:p>
          <a:p>
            <a:r>
              <a:rPr b="1"/>
              <a:t>Q: Can a PhD student be the principal investigator?</a:t>
            </a:r>
          </a:p>
          <a:p>
            <a:r>
              <a:t>A: No for ANRF ARG — the PI must be a permanent faculty member at an eligible institution. A PhD student can be a co-investigator or research associate on a faculty-led grant. The IndiaAI fellows programme and student compute allocations under the IndiaAI Mission have separate eligibility criteria and are designed for students directly — check indiaai.gov.in for current open calls.</a:t>
            </a:r>
          </a:p>
          <a:p>
            <a:endParaRPr/>
          </a:p>
          <a:p>
            <a:r>
              <a:rPr b="1"/>
              <a:t>Q: What is the overhead rate for ANRF ARG?</a:t>
            </a:r>
          </a:p>
          <a:p>
            <a:r>
              <a:t>A: Overheads are paid to the host institution separately, per ANRF norms. The project budget covers research personnel, consumables, travel, equipment, software licenses, cloud compute credits, and publication costs. For projects over 1 crore at National Research Laboratories, 50 percent of non-recurring expenses must be contributed by the host institution — this requirement was relaxed for academic institutions in the 2026 ARG call. Check the current call document at anrfonline.in for the rules applicable to your institution type.</a:t>
            </a:r>
          </a:p>
          <a:p>
            <a:endParaRPr/>
          </a:p>
          <a:p>
            <a:r>
              <a:rPr b="1"/>
              <a:t>Q: Is industry sponsorship a requirement or just an advantage?</a:t>
            </a:r>
          </a:p>
          <a:p>
            <a:r>
              <a:t>A: It is an advantage for the ARG, not a requirement. The catalytic and partnership programmes explicitly require an industry co-funder. For a pure academic research proposal with no industry partner, the Advanced Research Grant is the right route. An industry partner strengthens the case for translational impact — which is a scoring criterion — but a strong purely academic proposal in a genuinely novel domain is fundable without one.</a:t>
            </a:r>
          </a:p>
          <a:p>
            <a:endParaRPr/>
          </a:p>
          <a:p>
            <a:r>
              <a:rPr b="1"/>
              <a:t>─── DELIVERY NOTES ───</a:t>
            </a:r>
          </a:p>
          <a:p>
            <a:r>
              <a:t>Verify the current call windows the week of the talk - these change. Do not read the whole slide. Point at ANRF and the IndiaAI compute pillar, which are the two that an AICTE-approved institution can act on immediately, and move on.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a:p>
            <a:endParaRPr/>
          </a:p>
          <a:p>
            <a:r>
              <a:rPr b="1"/>
              <a:t>─── TRANSCRIPT ───</a:t>
            </a:r>
          </a:p>
          <a:p>
            <a:r>
              <a:t>"Five routes. Point at the two you can act on this week."</a:t>
            </a:r>
          </a:p>
          <a:p>
            <a:r>
              <a:t>"ANRF Advanced Research Grant: replaced SERB under the ANRF Act 2023. Up to 5 crore rupees over up to 5 years, covering TRL 1 to 6. The 2026 pre-proposal window ran 15 May to 10 June. The next window is expected around May 2027. Submit on day one — the window closes hard at 5 PM."</a:t>
            </a:r>
          </a:p>
          <a:p>
            <a:r>
              <a:t>"ANRF catalytic and partnership programmes: designed for industry-academia pairs. If you have a company partner — even a small one — it strengthens your case and fits the ANRF design, which aims for a majority of its corpus to come from non-government sources."</a:t>
            </a:r>
          </a:p>
          <a:p>
            <a:r>
              <a:t>"IndiaAI Mission compute and application pillars: 38,231 GPUs at approximately 65 rupees per GPU-hour. Register your institution at compute.indiaai.gov.in before you need it. This is the route you can start today."</a:t>
            </a:r>
          </a:p>
          <a:p>
            <a:r>
              <a:t>"RDI Fund: the government's Research, Development and Innovation financing scheme — a 1 lakh crore corpus for company R and D. Faculty reach this through an industry or startup partner, not directly as academic applicants."</a:t>
            </a:r>
          </a:p>
          <a:p>
            <a:r>
              <a:t>"Industry sponsored problem statements: often faster than a grant cycle and — crucially — comes with domain data you cannot otherwise access. A company sharing its proprietary dataset for joint research gives you something arXiv cannot."</a:t>
            </a:r>
          </a:p>
          <a:p>
            <a:r>
              <a:t>"Check anrfonline.in and indiaai.gov.in for live call windows. They open and close on short notice. Bookmark both pages today."</a:t>
            </a:r>
          </a:p>
          <a:p>
            <a:endParaRPr/>
          </a:p>
          <a:p>
            <a:r>
              <a:rPr b="1"/>
              <a:t>─── ANTICIPATED QUESTIONS ───</a:t>
            </a:r>
          </a:p>
          <a:p>
            <a:r>
              <a:rPr b="1"/>
              <a:t>Q: Can a PhD student be the principal investigator?</a:t>
            </a:r>
          </a:p>
          <a:p>
            <a:r>
              <a:t>A: No for ANRF ARG — the PI must be a permanent faculty member at an eligible institution. A PhD student can be a co-investigator or research associate on a faculty-led grant. The IndiaAI fellows programme and student compute allocations under the IndiaAI Mission have separate eligibility criteria and are designed for students directly — check indiaai.gov.in for current open calls.</a:t>
            </a:r>
          </a:p>
          <a:p>
            <a:endParaRPr/>
          </a:p>
          <a:p>
            <a:r>
              <a:rPr b="1"/>
              <a:t>Q: What is the overhead rate for ANRF ARG?</a:t>
            </a:r>
          </a:p>
          <a:p>
            <a:r>
              <a:t>A: Overheads are paid to the host institution separately, per ANRF norms. The project budget covers research personnel, consumables, travel, equipment, software licenses, cloud compute credits, and publication costs. For projects over 1 crore at National Research Laboratories, 50 percent of non-recurring expenses must be contributed by the host institution — this requirement was relaxed for academic institutions in the 2026 ARG call. Check the current call document at anrfonline.in for the rules applicable to your institution type.</a:t>
            </a:r>
          </a:p>
          <a:p>
            <a:endParaRPr/>
          </a:p>
          <a:p>
            <a:r>
              <a:rPr b="1"/>
              <a:t>Q: Is industry sponsorship a requirement or just an advantage?</a:t>
            </a:r>
          </a:p>
          <a:p>
            <a:r>
              <a:t>A: It is an advantage for the ARG, not a requirement. The catalytic and partnership programmes explicitly require an industry co-funder. For a pure academic research proposal with no industry partner, the Advanced Research Grant is the right route. An industry partner strengthens the case for translational impact — which is a scoring criterion — but a strong purely academic proposal in a genuinely novel domain is fundable without one.</a:t>
            </a:r>
          </a:p>
          <a:p>
            <a:endParaRPr/>
          </a:p>
          <a:p>
            <a:endParaRPr/>
          </a:p>
          <a:p>
            <a:r>
              <a:rPr b="1"/>
              <a:t>─── TRANSCRIPT ───</a:t>
            </a:r>
          </a:p>
          <a:p>
            <a:r>
              <a:t>"Five routes. Point at the two you can act on this week."</a:t>
            </a:r>
          </a:p>
          <a:p>
            <a:r>
              <a:t>"ANRF Advanced Research Grant: replaced SERB under the ANRF Act 2023. Up to 5 crore rupees over up to 5 years, covering TRL 1 to 6. The 2026 pre-proposal window ran 15 May to 10 June. The next window is expected around May 2027. Submit on day one — the window closes hard at 5 PM."</a:t>
            </a:r>
          </a:p>
          <a:p>
            <a:r>
              <a:t>"ANRF catalytic and partnership programmes: designed for industry-academia pairs. If you have a company partner — even a small one — it strengthens your case and fits the ANRF design, which aims for a majority of its corpus to come from non-government sources."</a:t>
            </a:r>
          </a:p>
          <a:p>
            <a:r>
              <a:t>"IndiaAI Mission compute and application pillars: 38,231 GPUs at approximately 65 rupees per GPU-hour. Register your institution at compute.indiaai.gov.in before you need it. This is the route you can start today."</a:t>
            </a:r>
          </a:p>
          <a:p>
            <a:r>
              <a:t>"RDI Fund: the government's Research, Development and Innovation financing scheme — a 1 lakh crore corpus for company R and D. Faculty reach this through an industry or startup partner, not directly as academic applicants."</a:t>
            </a:r>
          </a:p>
          <a:p>
            <a:r>
              <a:t>"Industry sponsored problem statements: often faster than a grant cycle and — crucially — comes with domain data you cannot otherwise access. A company sharing its proprietary dataset for joint research gives you something arXiv cannot."</a:t>
            </a:r>
          </a:p>
          <a:p>
            <a:r>
              <a:t>"Check anrfonline.in and indiaai.gov.in for live call windows. They open and close on short notice. Bookmark both pages today."</a:t>
            </a:r>
          </a:p>
          <a:p>
            <a:endParaRPr/>
          </a:p>
          <a:p>
            <a:r>
              <a:rPr b="1"/>
              <a:t>─── ANTICIPATED QUESTIONS ───</a:t>
            </a:r>
          </a:p>
          <a:p>
            <a:r>
              <a:rPr b="1"/>
              <a:t>Q: Can a PhD student be the principal investigator?</a:t>
            </a:r>
          </a:p>
          <a:p>
            <a:r>
              <a:t>A: No for ANRF ARG — the PI must be a permanent faculty member at an eligible institution. A PhD student can be a co-investigator or research associate on a faculty-led grant. The IndiaAI fellows programme and student compute allocations under the IndiaAI Mission have separate eligibility criteria and are designed for students directly — check indiaai.gov.in for current open calls.</a:t>
            </a:r>
          </a:p>
          <a:p>
            <a:endParaRPr/>
          </a:p>
          <a:p>
            <a:r>
              <a:rPr b="1"/>
              <a:t>Q: What is the overhead rate for ANRF ARG?</a:t>
            </a:r>
          </a:p>
          <a:p>
            <a:r>
              <a:t>A: Overheads are paid to the host institution separately, per ANRF norms. The project budget covers research personnel, consumables, travel, equipment, software licenses, cloud compute credits, and publication costs. For projects over 1 crore at National Research Laboratories, 50 percent of non-recurring expenses must be contributed by the host institution — this requirement was relaxed for academic institutions in the 2026 ARG call. Check the current call document at anrfonline.in for the rules applicable to your institution type.</a:t>
            </a:r>
          </a:p>
          <a:p>
            <a:endParaRPr/>
          </a:p>
          <a:p>
            <a:r>
              <a:rPr b="1"/>
              <a:t>Q: Is industry sponsorship a requirement or just an advantage?</a:t>
            </a:r>
          </a:p>
          <a:p>
            <a:r>
              <a:t>A: It is an advantage for the ARG, not a requirement. The catalytic and partnership programmes explicitly require an industry co-funder. For a pure academic research proposal with no industry partner, the Advanced Research Grant is the right route. An industry partner strengthens the case for translational impact — which is a scoring criterion — but a strong purely academic proposal in a genuinely novel domain is fundable without one.</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"You have something no AI startup has: a captive cohort of students, and decades of campus records that nobody has ever digitised."</a:t>
            </a:r>
          </a:p>
          <a:p>
            <a:r>
              <a:t>"Read this ladder from the bottom up."</a:t>
            </a:r>
          </a:p>
          <a:p>
            <a:r>
              <a:t>"Rung one, this week: take slides 6 to 14 — the three ideas and the fusion round — into your next class. The embedding idea fits in a twenty-minute lecture inside any AI, image processing or signal processing course. No new lab, no new equipment, no syllabus resubmission. This rung needs no approval from anyone."</a:t>
            </a:r>
          </a:p>
          <a:p>
            <a:r>
              <a:t>"Rung two, this semester: give one final-year team slide 23 and a set of your own campus documents. Admission forms, lab records, field photographs. That is a project and a dataset at once. Data that no one else has. Clear consent and anonymise first."</a:t>
            </a:r>
          </a:p>
          <a:p>
            <a:r>
              <a:t>"Rung three: a student paper or dataset from that project. 300 to 500 examples, expert-labelled, with baseline results. Publishable."</a:t>
            </a:r>
          </a:p>
          <a:p>
            <a:r>
              <a:t>"Rung four: a mini-project on campus data with a pilot result. That pilot result goes in the preliminary data section of your funding proposal."</a:t>
            </a:r>
          </a:p>
          <a:p>
            <a:r>
              <a:t>"Rung five: a funded proposal to ANRF or IndiaAI, with the pilot result in hand. Pilot results are the single strongest differentiator in competitive grant cycles."</a:t>
            </a:r>
          </a:p>
          <a:p>
            <a:r>
              <a:t>"Most departments try to start at rung five and are rejected for having no pilot data. The ladder is the reason why. Each rung is a semester, not a weekend."</a:t>
            </a:r>
          </a:p>
          <a:p>
            <a:endParaRPr/>
          </a:p>
          <a:p>
            <a:r>
              <a:rPr b="1"/>
              <a:t>─── ANTICIPATED QUESTIONS ───</a:t>
            </a:r>
          </a:p>
          <a:p>
            <a:r>
              <a:rPr b="1"/>
              <a:t>Q: Do I need ethics or DPDP clearance for using student records in a research project?</a:t>
            </a:r>
          </a:p>
          <a:p>
            <a:r>
              <a:t>A: Yes. Under DPDP 2023, processing student personal data for research requires informed consent and a documented legitimate purpose. In practice: draft a consent form, explain what is collected and for what purpose, anonymise wherever possible, store data securely, and get approval from your institution's ethics committee before you begin. Plan four to eight weeks for this approval. Build it into your semester-one timeline, not as an afterthought before submission.</a:t>
            </a:r>
          </a:p>
          <a:p>
            <a:endParaRPr/>
          </a:p>
          <a:p>
            <a:r>
              <a:rPr b="1"/>
              <a:t>Q: How many hours does rung two realistically take from a student team?</a:t>
            </a:r>
          </a:p>
          <a:p>
            <a:r>
              <a:t>A: For a final-year project team of three to four students over one semester: two weeks to learn the five-stage architecture using the slides and free API access, four to six weeks to collect and annotate 200 to 300 examples, two weeks to build and run the pipeline, two weeks to write up. That is the full semester. The annotation is the bottleneck — plan for it explicitly in the project brief.</a:t>
            </a:r>
          </a:p>
          <a:p>
            <a:endParaRPr/>
          </a:p>
          <a:p>
            <a:r>
              <a:rPr b="1"/>
              <a:t>Q: What if my domain has privacy-sensitive data — can I still publish?</a:t>
            </a:r>
          </a:p>
          <a:p>
            <a:r>
              <a:t>A: Yes, with appropriate anonymisation and institutional approval. Many published medical and educational datasets use anonymisation protocols that remove personally identifying information while preserving the task-relevant content. The annotation protocol section of your paper documents the anonymisation approach, and reviewers accept this. The key is that the protocol must be documented, approved and consistent — not ad hoc.</a:t>
            </a:r>
          </a:p>
          <a:p>
            <a:endParaRPr/>
          </a:p>
          <a:p>
            <a:r>
              <a:rPr b="1"/>
              <a:t>─── DELIVERY NOTES ───</a:t>
            </a:r>
          </a:p>
          <a:p>
            <a:r>
              <a:t>Read bottom to top - the ladder is drawn rising. Two honest points. First, each rung is a semester, not a weekend, and rung one is the only one that needs no approval from anybody. Second, most departments try to jump straight to rung five and are rejected for having no pilot data; the ladder is the reason why.</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a:p>
            <a:endParaRPr/>
          </a:p>
          <a:p>
            <a:r>
              <a:rPr b="1"/>
              <a:t>─── TRANSCRIPT ───</a:t>
            </a:r>
          </a:p>
          <a:p>
            <a:r>
              <a:t>"You have something no AI startup has: a captive cohort of students, and decades of campus records that nobody has ever digitised."</a:t>
            </a:r>
          </a:p>
          <a:p>
            <a:r>
              <a:t>"Read this ladder from the bottom up."</a:t>
            </a:r>
          </a:p>
          <a:p>
            <a:r>
              <a:t>"Rung one, this week: take slides 6 to 14 — the three ideas and the fusion round — into your next class. The embedding idea fits in a twenty-minute lecture inside any AI, image processing or signal processing course. No new lab, no new equipment, no syllabus resubmission. This rung needs no approval from anyone."</a:t>
            </a:r>
          </a:p>
          <a:p>
            <a:r>
              <a:t>"Rung two, this semester: give one final-year team slide 23 and a set of your own campus documents. Admission forms, lab records, field photographs. That is a project and a dataset at once. Data that no one else has. Clear consent and anonymise first."</a:t>
            </a:r>
          </a:p>
          <a:p>
            <a:r>
              <a:t>"Rung three: a student paper or dataset from that project. 300 to 500 examples, expert-labelled, with baseline results. Publishable."</a:t>
            </a:r>
          </a:p>
          <a:p>
            <a:r>
              <a:t>"Rung four: a mini-project on campus data with a pilot result. That pilot result goes in the preliminary data section of your funding proposal."</a:t>
            </a:r>
          </a:p>
          <a:p>
            <a:r>
              <a:t>"Rung five: a funded proposal to ANRF or IndiaAI, with the pilot result in hand. Pilot results are the single strongest differentiator in competitive grant cycles."</a:t>
            </a:r>
          </a:p>
          <a:p>
            <a:r>
              <a:t>"Most departments try to start at rung five and are rejected for having no pilot data. The ladder is the reason why. Each rung is a semester, not a weekend."</a:t>
            </a:r>
          </a:p>
          <a:p>
            <a:endParaRPr/>
          </a:p>
          <a:p>
            <a:r>
              <a:rPr b="1"/>
              <a:t>─── ANTICIPATED QUESTIONS ───</a:t>
            </a:r>
          </a:p>
          <a:p>
            <a:r>
              <a:rPr b="1"/>
              <a:t>Q: Do I need ethics or DPDP clearance for using student records in a research project?</a:t>
            </a:r>
          </a:p>
          <a:p>
            <a:r>
              <a:t>A: Yes. Under DPDP 2023, processing student personal data for research requires informed consent and a documented legitimate purpose. In practice: draft a consent form, explain what is collected and for what purpose, anonymise wherever possible, store data securely, and get approval from your institution's ethics committee before you begin. Plan four to eight weeks for this approval. Build it into your semester-one timeline, not as an afterthought before submission.</a:t>
            </a:r>
          </a:p>
          <a:p>
            <a:endParaRPr/>
          </a:p>
          <a:p>
            <a:r>
              <a:rPr b="1"/>
              <a:t>Q: How many hours does rung two realistically take from a student team?</a:t>
            </a:r>
          </a:p>
          <a:p>
            <a:r>
              <a:t>A: For a final-year project team of three to four students over one semester: two weeks to learn the five-stage architecture using the slides and free API access, four to six weeks to collect and annotate 200 to 300 examples, two weeks to build and run the pipeline, two weeks to write up. That is the full semester. The annotation is the bottleneck — plan for it explicitly in the project brief.</a:t>
            </a:r>
          </a:p>
          <a:p>
            <a:endParaRPr/>
          </a:p>
          <a:p>
            <a:r>
              <a:rPr b="1"/>
              <a:t>Q: What if my domain has privacy-sensitive data — can I still publish?</a:t>
            </a:r>
          </a:p>
          <a:p>
            <a:r>
              <a:t>A: Yes, with appropriate anonymisation and institutional approval. Many published medical and educational datasets use anonymisation protocols that remove personally identifying information while preserving the task-relevant content. The annotation protocol section of your paper documents the anonymisation approach, and reviewers accept this. The key is that the protocol must be documented, approved and consistent — not ad hoc.</a:t>
            </a:r>
          </a:p>
          <a:p>
            <a:endParaRPr/>
          </a:p>
          <a:p>
            <a:endParaRPr/>
          </a:p>
          <a:p>
            <a:r>
              <a:rPr b="1"/>
              <a:t>─── TRANSCRIPT ───</a:t>
            </a:r>
          </a:p>
          <a:p>
            <a:r>
              <a:t>"You have something no AI startup has: a captive cohort of students, and decades of campus records that nobody has ever digitised."</a:t>
            </a:r>
          </a:p>
          <a:p>
            <a:r>
              <a:t>"Read this ladder from the bottom up."</a:t>
            </a:r>
          </a:p>
          <a:p>
            <a:r>
              <a:t>"Rung one, this week: take slides 6 to 14 — the three ideas and the fusion round — into your next class. The embedding idea fits in a twenty-minute lecture inside any AI, image processing or signal processing course. No new lab, no new equipment, no syllabus resubmission. This rung needs no approval from anyone."</a:t>
            </a:r>
          </a:p>
          <a:p>
            <a:r>
              <a:t>"Rung two, this semester: give one final-year team slide 23 and a set of your own campus documents. Admission forms, lab records, field photographs. That is a project and a dataset at once. Data that no one else has. Clear consent and anonymise first."</a:t>
            </a:r>
          </a:p>
          <a:p>
            <a:r>
              <a:t>"Rung three: a student paper or dataset from that project. 300 to 500 examples, expert-labelled, with baseline results. Publishable."</a:t>
            </a:r>
          </a:p>
          <a:p>
            <a:r>
              <a:t>"Rung four: a mini-project on campus data with a pilot result. That pilot result goes in the preliminary data section of your funding proposal."</a:t>
            </a:r>
          </a:p>
          <a:p>
            <a:r>
              <a:t>"Rung five: a funded proposal to ANRF or IndiaAI, with the pilot result in hand. Pilot results are the single strongest differentiator in competitive grant cycles."</a:t>
            </a:r>
          </a:p>
          <a:p>
            <a:r>
              <a:t>"Most departments try to start at rung five and are rejected for having no pilot data. The ladder is the reason why. Each rung is a semester, not a weekend."</a:t>
            </a:r>
          </a:p>
          <a:p>
            <a:endParaRPr/>
          </a:p>
          <a:p>
            <a:r>
              <a:rPr b="1"/>
              <a:t>─── ANTICIPATED QUESTIONS ───</a:t>
            </a:r>
          </a:p>
          <a:p>
            <a:r>
              <a:rPr b="1"/>
              <a:t>Q: Do I need ethics or DPDP clearance for using student records in a research project?</a:t>
            </a:r>
          </a:p>
          <a:p>
            <a:r>
              <a:t>A: Yes. Under DPDP 2023, processing student personal data for research requires informed consent and a documented legitimate purpose. In practice: draft a consent form, explain what is collected and for what purpose, anonymise wherever possible, store data securely, and get approval from your institution's ethics committee before you begin. Plan four to eight weeks for this approval. Build it into your semester-one timeline, not as an afterthought before submission.</a:t>
            </a:r>
          </a:p>
          <a:p>
            <a:endParaRPr/>
          </a:p>
          <a:p>
            <a:r>
              <a:rPr b="1"/>
              <a:t>Q: How many hours does rung two realistically take from a student team?</a:t>
            </a:r>
          </a:p>
          <a:p>
            <a:r>
              <a:t>A: For a final-year project team of three to four students over one semester: two weeks to learn the five-stage architecture using the slides and free API access, four to six weeks to collect and annotate 200 to 300 examples, two weeks to build and run the pipeline, two weeks to write up. That is the full semester. The annotation is the bottleneck — plan for it explicitly in the project brief.</a:t>
            </a:r>
          </a:p>
          <a:p>
            <a:endParaRPr/>
          </a:p>
          <a:p>
            <a:r>
              <a:rPr b="1"/>
              <a:t>Q: What if my domain has privacy-sensitive data — can I still publish?</a:t>
            </a:r>
          </a:p>
          <a:p>
            <a:r>
              <a:t>A: Yes, with appropriate anonymisation and institutional approval. Many published medical and educational datasets use anonymisation protocols that remove personally identifying information while preserving the task-relevant content. The annotation protocol section of your paper documents the anonymisation approach, and reviewers accept this. The key is that the protocol must be documented, approved and consistent — not ad hoc.</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 TRANSCRIPT ───</a:t>
            </a:r>
          </a:p>
          <a:p>
            <a:r>
              <a:t>"Narrow claims get funded. Broad ones get returned."</a:t>
            </a:r>
          </a:p>
          <a:p>
            <a:r>
              <a:t>"The compute is subsidised. The calls are open. Most of the allocation is going unclaimed. What is scarce is not budget or GPUs — it is a claim narrow enough for a reviewer to score, backed by a test set nobody else can build."</a:t>
            </a:r>
          </a:p>
          <a:p>
            <a:r>
              <a:t>"Your campus data is that test set. It is already sitting in your department."</a:t>
            </a:r>
          </a:p>
          <a:p>
            <a:r>
              <a:t>Forty-five seconds. Then move directly to the summary slide.</a:t>
            </a:r>
          </a:p>
          <a:p>
            <a:endParaRPr/>
          </a:p>
          <a:p>
            <a:r>
              <a:rPr b="1"/>
              <a:t>─── DELIVERY NOTES ───</a:t>
            </a:r>
          </a:p>
          <a:p>
            <a:r>
              <a:t>Roughly the 76 minute mark. Deliver this as an invitation. The room contains people who assume grants are for IITs and NITs - the funding slide already showed them otherwise, and this line is the takeaway from it.</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 TRANSCRIPT ───</a:t>
            </a:r>
          </a:p>
          <a:p>
            <a:r>
              <a:t>"Four lines. If you remember nothing else from tonight, remember these."</a:t>
            </a:r>
          </a:p>
          <a:p>
            <a:r>
              <a:t>"Part One: shared representation beat specialised models. A dedicated OCR engine is still cheaper on clean scans. The shared space wins the cross-modal questions, and almost every real question is cross-modal."</a:t>
            </a:r>
          </a:p>
          <a:p>
            <a:r>
              <a:t>"Part Two: what breaks is more useful to you than what works. Six unsolved, measurable problems that reviewers already agree matter."</a:t>
            </a:r>
          </a:p>
          <a:p>
            <a:r>
              <a:t>"Part Three: one stage is new; the other four decide whether it ships. The architecture is ordinary engineering with one new component. Most projects fail on the engineering."</a:t>
            </a:r>
          </a:p>
          <a:p>
            <a:r>
              <a:t>"Part Four: narrow claims get funded. Broad ones get returned."</a:t>
            </a:r>
          </a:p>
          <a:p>
            <a:r>
              <a:t>Pause after the fourth line. Let it sit for ten seconds.</a:t>
            </a:r>
          </a:p>
          <a:p>
            <a:r>
              <a:t>"Take a photograph of this slide. Two slides left — what to do tonight, and what to do Monday."</a:t>
            </a:r>
          </a:p>
          <a:p>
            <a:endParaRPr/>
          </a:p>
          <a:p>
            <a:r>
              <a:rPr b="1"/>
              <a:t>─── DELIVERY NOTES ───</a:t>
            </a:r>
          </a:p>
          <a:p>
            <a:r>
              <a:t>Ninety seconds, no more. You have just delivered the Part Four line, so read the first three aloud and let the fourth sit on screen - repeating it word for word one slide later sounds like padding.</a:t>
            </a:r>
          </a:p>
          <a:p>
            <a:endParaRPr/>
          </a:p>
          <a:p>
            <a:r>
              <a:t>This is the photograph slide. Pause on it, say so, and give the room a moment before you move to the two closing slides - the free toolkit tonight, then the Monday actions.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"Three routes to a working multimodal system. In order of time."</a:t>
            </a:r>
          </a:p>
          <a:p>
            <a:r>
              <a:t>"In a browser, five minutes: open any chat interface that accepts image uploads — you already have access to one. Photograph a document from your desk. Describe the JSON structure you want in the prompt. That is the whole of stage three from slide 23, done in your browser, with no installation and no purchase order."</a:t>
            </a:r>
          </a:p>
          <a:p>
            <a:r>
              <a:t>"In a Colab notebook, thirty minutes: open Google Colab, free tier, load a small open vision-language model from Hugging Face, run it on twenty documents of your own. This is the lab exercise you can assign to students next week."</a:t>
            </a:r>
          </a:p>
          <a:p>
            <a:r>
              <a:t>"On your own laptop, one hour: install Ollama, download Gemma 4 E4B — it handles images and audio natively — or Qwen3-VL 4B. Runs offline on 8 to 12 gigabytes of VRAM. Nothing ever leaves the room."</a:t>
            </a:r>
          </a:p>
          <a:p>
            <a:r>
              <a:t>"The first two need no GPU of your own, no licence and no request to IT."</a:t>
            </a:r>
          </a:p>
          <a:p>
            <a:r>
              <a:t>"One warning: model names move faster than syllabi. The architecture on slide 23 does not move. Verify the current open model recommendations before you run the Colab notebook — check the Hugging Face leaderboards that morning. Current as of September 2026."</a:t>
            </a:r>
          </a:p>
          <a:p>
            <a:endParaRPr/>
          </a:p>
          <a:p>
            <a:r>
              <a:rPr b="1"/>
              <a:t>─── ANTICIPATED QUESTIONS ───</a:t>
            </a:r>
          </a:p>
          <a:p>
            <a:r>
              <a:rPr b="1"/>
              <a:t>Q: Which browser-based tool is best for a first try?</a:t>
            </a:r>
          </a:p>
          <a:p>
            <a:r>
              <a:t>A: Any of Claude.ai, Gemini, or ChatGPT in their current free-tier form accept image uploads and can do document extraction. For a first attempt, Claude is well-documented for structured output tasks using XML or JSON in the prompt. For the lab exercise in Colab, the Hugging Face transformers library gives you the most control and the most learning value. For the offline route on a laptop, Ollama with Gemma 4 E4B is the current recommended starting point as of September 2026.</a:t>
            </a:r>
          </a:p>
          <a:p>
            <a:endParaRPr/>
          </a:p>
          <a:p>
            <a:r>
              <a:rPr b="1"/>
              <a:t>Q: What if I do not have a Google account for Colab?</a:t>
            </a:r>
          </a:p>
          <a:p>
            <a:r>
              <a:t>A: Kaggle notebooks are an alternative with free GPU access and no Google account required. Alternatively, the IndiaAI compute allocation that you registered for can be accessed through one of the 14 empanelled providers — each has a web interface. For students with no GPU access at all, the browser route in option one requires nothing beyond an internet connection.</a:t>
            </a:r>
          </a:p>
          <a:p>
            <a:endParaRPr/>
          </a:p>
          <a:p>
            <a:r>
              <a:rPr b="1"/>
              <a:t>─── DELIVERY NOTES ───</a:t>
            </a:r>
          </a:p>
          <a:p>
            <a:r>
              <a:t>This slide pays off the promise you made in the first twenty seconds - that they could run this themselves tonight, for free. Do not skip it, and do not let it become a tools lecture. Ninety seconds.</a:t>
            </a:r>
          </a:p>
          <a:p>
            <a:r>
              <a:t>Point at the first card and say plainly that it is the whole of stage 3 from slide 23, done in a browser, with no install request to IT and no purchase order. That is the sentence that gets a room of faculty to actually try it.</a:t>
            </a:r>
          </a:p>
          <a:p>
            <a:r>
              <a:t>The third card is for anyone whose data cannot leave campus - and after the deployment slide they now know who they are. An 8B open model on a 12 GB card is inside the budget of a department that already bought one gaming laptop for final-year projects.</a:t>
            </a:r>
          </a:p>
          <a:p>
            <a:r>
              <a:t>Say the closing line as a warning: verify these model names the week you present. Gemma 4 and Qwen3-VL are current as of September 2026, and both families move fast - Gemma 3 and Qwen 3.5 were the answer only months ago. The five-stage architecture does not, which is exactly why the architecture was the session and this slide is only the footnote.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a:p>
            <a:endParaRPr/>
          </a:p>
          <a:p>
            <a:r>
              <a:rPr b="1"/>
              <a:t>─── TRANSCRIPT ───</a:t>
            </a:r>
          </a:p>
          <a:p>
            <a:r>
              <a:t>"Three routes to a working multimodal system. In order of time."</a:t>
            </a:r>
          </a:p>
          <a:p>
            <a:r>
              <a:t>"In a browser, five minutes: open any chat interface that accepts image uploads — you already have access to one. Photograph a document from your desk. Describe the JSON structure you want in the prompt. That is the whole of stage three from slide 23, done in your browser, with no installation and no purchase order."</a:t>
            </a:r>
          </a:p>
          <a:p>
            <a:r>
              <a:t>"In a Colab notebook, thirty minutes: open Google Colab, free tier, load a small open vision-language model from Hugging Face, run it on twenty documents of your own. This is the lab exercise you can assign to students next week."</a:t>
            </a:r>
          </a:p>
          <a:p>
            <a:r>
              <a:t>"On your own laptop, one hour: install Ollama, download Gemma 4 E4B — it handles images and audio natively — or Qwen3-VL 4B. Runs offline on 8 to 12 gigabytes of VRAM. Nothing ever leaves the room."</a:t>
            </a:r>
          </a:p>
          <a:p>
            <a:r>
              <a:t>"The first two need no GPU of your own, no licence and no request to IT."</a:t>
            </a:r>
          </a:p>
          <a:p>
            <a:r>
              <a:t>"One warning: model names move faster than syllabi. The architecture on slide 23 does not move. Verify the current open model recommendations before you run the Colab notebook — check the Hugging Face leaderboards that morning. Current as of September 2026."</a:t>
            </a:r>
          </a:p>
          <a:p>
            <a:endParaRPr/>
          </a:p>
          <a:p>
            <a:r>
              <a:rPr b="1"/>
              <a:t>─── ANTICIPATED QUESTIONS ───</a:t>
            </a:r>
          </a:p>
          <a:p>
            <a:r>
              <a:rPr b="1"/>
              <a:t>Q: Which browser-based tool is best for a first try?</a:t>
            </a:r>
          </a:p>
          <a:p>
            <a:r>
              <a:t>A: Any of Claude.ai, Gemini, or ChatGPT in their current free-tier form accept image uploads and can do document extraction. For a first attempt, Claude is well-documented for structured output tasks using XML or JSON in the prompt. For the lab exercise in Colab, the Hugging Face transformers library gives you the most control and the most learning value. For the offline route on a laptop, Ollama with Gemma 4 E4B is the current recommended starting point as of September 2026.</a:t>
            </a:r>
          </a:p>
          <a:p>
            <a:endParaRPr/>
          </a:p>
          <a:p>
            <a:r>
              <a:rPr b="1"/>
              <a:t>Q: What if I do not have a Google account for Colab?</a:t>
            </a:r>
          </a:p>
          <a:p>
            <a:r>
              <a:t>A: Kaggle notebooks are an alternative with free GPU access and no Google account required. Alternatively, the IndiaAI compute allocation that you registered for can be accessed through one of the 14 empanelled providers — each has a web interface. For students with no GPU access at all, the browser route in option one requires nothing beyond an internet connection.</a:t>
            </a:r>
          </a:p>
          <a:p>
            <a:endParaRPr/>
          </a:p>
          <a:p>
            <a:endParaRPr/>
          </a:p>
          <a:p>
            <a:r>
              <a:rPr b="1"/>
              <a:t>─── TRANSCRIPT ───</a:t>
            </a:r>
          </a:p>
          <a:p>
            <a:r>
              <a:t>"Three routes to a working multimodal system. In order of time."</a:t>
            </a:r>
          </a:p>
          <a:p>
            <a:r>
              <a:t>"In a browser, five minutes: open any chat interface that accepts image uploads — you already have access to one. Photograph a document from your desk. Describe the JSON structure you want in the prompt. That is the whole of stage three from slide 23, done in your browser, with no installation and no purchase order."</a:t>
            </a:r>
          </a:p>
          <a:p>
            <a:r>
              <a:t>"In a Colab notebook, thirty minutes: open Google Colab, free tier, load a small open vision-language model from Hugging Face, run it on twenty documents of your own. This is the lab exercise you can assign to students next week."</a:t>
            </a:r>
          </a:p>
          <a:p>
            <a:r>
              <a:t>"On your own laptop, one hour: install Ollama, download Gemma 4 E4B — it handles images and audio natively — or Qwen3-VL 4B. Runs offline on 8 to 12 gigabytes of VRAM. Nothing ever leaves the room."</a:t>
            </a:r>
          </a:p>
          <a:p>
            <a:r>
              <a:t>"The first two need no GPU of your own, no licence and no request to IT."</a:t>
            </a:r>
          </a:p>
          <a:p>
            <a:r>
              <a:t>"One warning: model names move faster than syllabi. The architecture on slide 23 does not move. Verify the current open model recommendations before you run the Colab notebook — check the Hugging Face leaderboards that morning. Current as of September 2026."</a:t>
            </a:r>
          </a:p>
          <a:p>
            <a:endParaRPr/>
          </a:p>
          <a:p>
            <a:r>
              <a:rPr b="1"/>
              <a:t>─── ANTICIPATED QUESTIONS ───</a:t>
            </a:r>
          </a:p>
          <a:p>
            <a:r>
              <a:rPr b="1"/>
              <a:t>Q: Which browser-based tool is best for a first try?</a:t>
            </a:r>
          </a:p>
          <a:p>
            <a:r>
              <a:t>A: Any of Claude.ai, Gemini, or ChatGPT in their current free-tier form accept image uploads and can do document extraction. For a first attempt, Claude is well-documented for structured output tasks using XML or JSON in the prompt. For the lab exercise in Colab, the Hugging Face transformers library gives you the most control and the most learning value. For the offline route on a laptop, Ollama with Gemma 4 E4B is the current recommended starting point as of September 2026.</a:t>
            </a:r>
          </a:p>
          <a:p>
            <a:endParaRPr/>
          </a:p>
          <a:p>
            <a:r>
              <a:rPr b="1"/>
              <a:t>Q: What if I do not have a Google account for Colab?</a:t>
            </a:r>
          </a:p>
          <a:p>
            <a:r>
              <a:t>A: Kaggle notebooks are an alternative with free GPU access and no Google account required. Alternatively, the IndiaAI compute allocation that you registered for can be accessed through one of the 14 empanelled providers — each has a web interface. For students with no GPU access at all, the browser route in option one requires nothing beyond an internet connection.</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"Three actions. Each roughly two hours. Pick one."</a:t>
            </a:r>
          </a:p>
          <a:p>
            <a:r>
              <a:t>"If you teach: take slides 6 to 14 into your next class. The embedding idea — everything becomes a list of numbers — fits in a twenty-minute lecture inside any AI or signal processing course. Add the fusion poll from slides 12 and 13 as a five-minute student exercise. No new lab, no syllabus change."</a:t>
            </a:r>
          </a:p>
          <a:p>
            <a:r>
              <a:t>"If you research: pick one failure case from slide 20 and spend two hours writing a specific domain statement. Which documents. Which institution. Which script. Which task. Which metric would show progress. That statement is the first paragraph of your next proposal."</a:t>
            </a:r>
          </a:p>
          <a:p>
            <a:r>
              <a:t>"If you guide projects: brief one final-year team on slide 23 and give them a set of your own campus documents. Two-week task: run the first three stages on ten documents and show you the output. That is their proof of concept and your preliminary data."</a:t>
            </a:r>
          </a:p>
          <a:p>
            <a:r>
              <a:t>"None of these need a GPU or a budget approval. If your institution is not registered on the IndiaAI compute portal, do that this week — approval takes longer than writing the proposal will."</a:t>
            </a:r>
          </a:p>
          <a:p>
            <a:r>
              <a:t>Chat poll five, last one: "Type T for teach, R for research, or P for project. I want to see where this room is going. And I will read the tally out loud before I close."</a:t>
            </a:r>
          </a:p>
          <a:p>
            <a:r>
              <a:t>Read the tally. Comment on the distribution — if more Ts than Rs, note that the teaching action directly feeds into the research action one semester later. If more Rs, remind them the next ANRF window opens around May.</a:t>
            </a:r>
          </a:p>
          <a:p>
            <a:endParaRPr/>
          </a:p>
          <a:p>
            <a:r>
              <a:rPr b="1"/>
              <a:t>─── ANTICIPATED QUESTIONS ───</a:t>
            </a:r>
          </a:p>
          <a:p>
            <a:r>
              <a:rPr b="1"/>
              <a:t>Q: How do I stay current with the field after today?</a:t>
            </a:r>
          </a:p>
          <a:p>
            <a:r>
              <a:t>A: Three steps. Subscribe to the Hugging Face daily digest — it surfaces new model releases and dataset drops. Follow arXiv cs.CV and cs.CL, filtered by the keyword 'multimodal' — fifteen minutes per morning covers the field. And set a six-month calendar reminder to re-check the five citations on slide 29, specifically rows three through five, before you submit anything — those rows will have changed.</a:t>
            </a:r>
          </a:p>
          <a:p>
            <a:endParaRPr/>
          </a:p>
          <a:p>
            <a:r>
              <a:rPr b="1"/>
              <a:t>Q: Is there a community for Indian researchers working on multimodal AI?</a:t>
            </a:r>
          </a:p>
          <a:p>
            <a:r>
              <a:t>A: AI4Bharat at IIT Madras is the central hub for Indic-language AI including multimodal work. Their datasets and models — IndicBERT, Samanantar, and newer multimodal work — are directly relevant to research problem two. The IndiaAI Mission runs workshops and the IndiaAI Fellows programme. And ATAL FDPs like this one are networking events — the people in this chat tonight are your nearest peers on these problems. Ask the coordinator for the participant list if they share it.</a:t>
            </a:r>
          </a:p>
          <a:p>
            <a:endParaRPr/>
          </a:p>
          <a:p>
            <a:r>
              <a:rPr b="1"/>
              <a:t>─── DELIVERY NOTES ───</a:t>
            </a:r>
          </a:p>
          <a:p>
            <a:r>
              <a:t>Land this hard. A session that ends with a specific Monday action gets remembered; one that ends with "the future is exciting" does not. Ask them to type which of the three they are picking into the chat - it takes ten seconds and it is the closest thing to a commitment you can get online.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a:p>
            <a:endParaRPr/>
          </a:p>
          <a:p>
            <a:r>
              <a:rPr b="1"/>
              <a:t>─── TRANSCRIPT ───</a:t>
            </a:r>
          </a:p>
          <a:p>
            <a:r>
              <a:t>"Three actions. Each roughly two hours. Pick one."</a:t>
            </a:r>
          </a:p>
          <a:p>
            <a:r>
              <a:t>"If you teach: take slides 6 to 14 into your next class. The embedding idea — everything becomes a list of numbers — fits in a twenty-minute lecture inside any AI or signal processing course. Add the fusion poll from slides 12 and 13 as a five-minute student exercise. No new lab, no syllabus change."</a:t>
            </a:r>
          </a:p>
          <a:p>
            <a:r>
              <a:t>"If you research: pick one failure case from slide 20 and spend two hours writing a specific domain statement. Which documents. Which institution. Which script. Which task. Which metric would show progress. That statement is the first paragraph of your next proposal."</a:t>
            </a:r>
          </a:p>
          <a:p>
            <a:r>
              <a:t>"If you guide projects: brief one final-year team on slide 23 and give them a set of your own campus documents. Two-week task: run the first three stages on ten documents and show you the output. That is their proof of concept and your preliminary data."</a:t>
            </a:r>
          </a:p>
          <a:p>
            <a:r>
              <a:t>"None of these need a GPU or a budget approval. If your institution is not registered on the IndiaAI compute portal, do that this week — approval takes longer than writing the proposal will."</a:t>
            </a:r>
          </a:p>
          <a:p>
            <a:r>
              <a:t>Chat poll five, last one: "Type T for teach, R for research, or P for project. I want to see where this room is going. And I will read the tally out loud before I close."</a:t>
            </a:r>
          </a:p>
          <a:p>
            <a:r>
              <a:t>Read the tally. Comment on the distribution — if more Ts than Rs, note that the teaching action directly feeds into the research action one semester later. If more Rs, remind them the next ANRF window opens around May.</a:t>
            </a:r>
          </a:p>
          <a:p>
            <a:endParaRPr/>
          </a:p>
          <a:p>
            <a:r>
              <a:rPr b="1"/>
              <a:t>─── ANTICIPATED QUESTIONS ───</a:t>
            </a:r>
          </a:p>
          <a:p>
            <a:r>
              <a:rPr b="1"/>
              <a:t>Q: How do I stay current with the field after today?</a:t>
            </a:r>
          </a:p>
          <a:p>
            <a:r>
              <a:t>A: Three steps. Subscribe to the Hugging Face daily digest — it surfaces new model releases and dataset drops. Follow arXiv cs.CV and cs.CL, filtered by the keyword 'multimodal' — fifteen minutes per morning covers the field. And set a six-month calendar reminder to re-check the five citations on slide 29, specifically rows three through five, before you submit anything — those rows will have changed.</a:t>
            </a:r>
          </a:p>
          <a:p>
            <a:endParaRPr/>
          </a:p>
          <a:p>
            <a:r>
              <a:rPr b="1"/>
              <a:t>Q: Is there a community for Indian researchers working on multimodal AI?</a:t>
            </a:r>
          </a:p>
          <a:p>
            <a:r>
              <a:t>A: AI4Bharat at IIT Madras is the central hub for Indic-language AI including multimodal work. Their datasets and models — IndicBERT, Samanantar, and newer multimodal work — are directly relevant to research problem two. The IndiaAI Mission runs workshops and the IndiaAI Fellows programme. And ATAL FDPs like this one are networking events — the people in this chat tonight are your nearest peers on these problems. Ask the coordinator for the participant list if they share it.</a:t>
            </a:r>
          </a:p>
          <a:p>
            <a:endParaRPr/>
          </a:p>
          <a:p>
            <a:endParaRPr/>
          </a:p>
          <a:p>
            <a:r>
              <a:rPr b="1"/>
              <a:t>─── TRANSCRIPT ───</a:t>
            </a:r>
          </a:p>
          <a:p>
            <a:r>
              <a:t>"Three actions. Each roughly two hours. Pick one."</a:t>
            </a:r>
          </a:p>
          <a:p>
            <a:r>
              <a:t>"If you teach: take slides 6 to 14 into your next class. The embedding idea — everything becomes a list of numbers — fits in a twenty-minute lecture inside any AI or signal processing course. Add the fusion poll from slides 12 and 13 as a five-minute student exercise. No new lab, no syllabus change."</a:t>
            </a:r>
          </a:p>
          <a:p>
            <a:r>
              <a:t>"If you research: pick one failure case from slide 20 and spend two hours writing a specific domain statement. Which documents. Which institution. Which script. Which task. Which metric would show progress. That statement is the first paragraph of your next proposal."</a:t>
            </a:r>
          </a:p>
          <a:p>
            <a:r>
              <a:t>"If you guide projects: brief one final-year team on slide 23 and give them a set of your own campus documents. Two-week task: run the first three stages on ten documents and show you the output. That is their proof of concept and your preliminary data."</a:t>
            </a:r>
          </a:p>
          <a:p>
            <a:r>
              <a:t>"None of these need a GPU or a budget approval. If your institution is not registered on the IndiaAI compute portal, do that this week — approval takes longer than writing the proposal will."</a:t>
            </a:r>
          </a:p>
          <a:p>
            <a:r>
              <a:t>Chat poll five, last one: "Type T for teach, R for research, or P for project. I want to see where this room is going. And I will read the tally out loud before I close."</a:t>
            </a:r>
          </a:p>
          <a:p>
            <a:r>
              <a:t>Read the tally. Comment on the distribution — if more Ts than Rs, note that the teaching action directly feeds into the research action one semester later. If more Rs, remind them the next ANRF window opens around May.</a:t>
            </a:r>
          </a:p>
          <a:p>
            <a:endParaRPr/>
          </a:p>
          <a:p>
            <a:r>
              <a:rPr b="1"/>
              <a:t>─── ANTICIPATED QUESTIONS ───</a:t>
            </a:r>
          </a:p>
          <a:p>
            <a:r>
              <a:rPr b="1"/>
              <a:t>Q: How do I stay current with the field after today?</a:t>
            </a:r>
          </a:p>
          <a:p>
            <a:r>
              <a:t>A: Three steps. Subscribe to the Hugging Face daily digest — it surfaces new model releases and dataset drops. Follow arXiv cs.CV and cs.CL, filtered by the keyword 'multimodal' — fifteen minutes per morning covers the field. And set a six-month calendar reminder to re-check the five citations on slide 29, specifically rows three through five, before you submit anything — those rows will have changed.</a:t>
            </a:r>
          </a:p>
          <a:p>
            <a:endParaRPr/>
          </a:p>
          <a:p>
            <a:r>
              <a:rPr b="1"/>
              <a:t>Q: Is there a community for Indian researchers working on multimodal AI?</a:t>
            </a:r>
          </a:p>
          <a:p>
            <a:r>
              <a:t>A: AI4Bharat at IIT Madras is the central hub for Indic-language AI including multimodal work. Their datasets and models — IndicBERT, Samanantar, and newer multimodal work — are directly relevant to research problem two. The IndiaAI Mission runs workshops and the IndiaAI Fellows programme. And ATAL FDPs like this one are networking events — the people in this chat tonight are your nearest peers on these problems. Ask the coordinator for the participant list if they share it.</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"Thank you. The slides link is on the screen — photograph it now."</a:t>
            </a:r>
          </a:p>
          <a:p>
            <a:r>
              <a:t>"Reading list: CLIP, Flamingo, LLaVA, Qwen3-VL — all on arXiv. The IDs are on slide 29."</a:t>
            </a:r>
          </a:p>
          <a:p>
            <a:r>
              <a:t>"Questions: type in the chat. I will read them off the screen."</a:t>
            </a:r>
          </a:p>
          <a:p>
            <a:r>
              <a:t>If the Q&amp;A runs dry before time is up, go back to the opening scenario: "Let me ask you the question from slide two again, now that you have the vocabulary to answer it properly: what are the engineering decisions — not the model choice — that would make the weld inspection system trustworthy enough for a real pipeline operator to sign off on?"</a:t>
            </a:r>
          </a:p>
          <a:p>
            <a:r>
              <a:t>Pocket answers for common final Q&amp;A questions are below.</a:t>
            </a:r>
          </a:p>
          <a:p>
            <a:endParaRPr/>
          </a:p>
          <a:p>
            <a:r>
              <a:rPr b="1"/>
              <a:t>─── ANTICIPATED QUESTIONS ───</a:t>
            </a:r>
          </a:p>
          <a:p>
            <a:r>
              <a:rPr b="1"/>
              <a:t>Q: What is the single biggest mistake you see in applied multimodal projects?</a:t>
            </a:r>
          </a:p>
          <a:p>
            <a:r>
              <a:t>A: Building stage three first. Teams spend a month evaluating models, build a beautiful model-calling pipeline, and then discover that their stage one — document ingestion — produces inconsistent outputs because scans come in at different resolutions and orientations, and model performance varies wildly as a result. Build stage one and your evaluation set before you write a single line of model-calling code.</a:t>
            </a:r>
          </a:p>
          <a:p>
            <a:endParaRPr/>
          </a:p>
          <a:p>
            <a:r>
              <a:rPr b="1"/>
              <a:t>Q: What should I read first after this session?</a:t>
            </a:r>
          </a:p>
          <a:p>
            <a:r>
              <a:t>A: The Liang CMU survey, arXiv 2209.03430. Read the introduction and the taxonomy section. That gives you the vocabulary to read everything else without getting confused by inconsistent terminology across papers. The whole survey is 100-plus pages; the taxonomy and representative papers sections are the most immediately useful.</a:t>
            </a:r>
          </a:p>
          <a:p>
            <a:endParaRPr/>
          </a:p>
          <a:p>
            <a:r>
              <a:rPr b="1"/>
              <a:t>Q: How do I convince my HOD or management to invest time in this?</a:t>
            </a:r>
          </a:p>
          <a:p>
            <a:r>
              <a:t>A: Start with rung one of the ladder — slides 6 to 14 in your next class. No investment required, no approval needed. If students respond well, that is the evidence you bring to the HOD. The pilot-result-first approach on the funding slide is the same logic: prove it small before asking for resources to scale.</a:t>
            </a:r>
          </a:p>
          <a:p>
            <a:endParaRPr/>
          </a:p>
          <a:p>
            <a:r>
              <a:rPr b="1"/>
              <a:t>Q: Will you be available for follow-up questions?</a:t>
            </a:r>
          </a:p>
          <a:p>
            <a:r>
              <a:t>A: The contact address is on this slide. For follow-up questions about specific proposals or technical implementations, email is the best route. For questions about ANRF and IndiaAI grant applications, the respective portals — anrfonline.in and indiaai.gov.in — have help desks that are more authoritative than any answer I can give in real time.</a:t>
            </a:r>
          </a:p>
          <a:p>
            <a:endParaRPr/>
          </a:p>
          <a:p>
            <a:r>
              <a:rPr b="1"/>
              <a:t>─── DELIVERY NOTES ───</a:t>
            </a:r>
          </a:p>
          <a:p>
            <a:r>
              <a:t>The slide link is the one field still to fill before you send the deck to the coordinator - ATAL asks for presentation files about a week in advance, and this deck is what participants keep. Since there is no demo, the deck has to stand alone: make sure slides 23 to 25 are legible in the PDF you send.</a:t>
            </a:r>
          </a:p>
          <a:p>
            <a:endParaRPr/>
          </a:p>
          <a:p>
            <a:r>
              <a:t>Keep this slide up for the whole Q and A so people can photograph it. If questions run dry, ask them the question from slide 2 again now that they have the vocabulary to answer it.</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a:p>
            <a:endParaRPr/>
          </a:p>
          <a:p>
            <a:r>
              <a:rPr b="1"/>
              <a:t>─── TRANSCRIPT ───</a:t>
            </a:r>
          </a:p>
          <a:p>
            <a:r>
              <a:t>"Thank you. The slides link is on the screen — photograph it now."</a:t>
            </a:r>
          </a:p>
          <a:p>
            <a:r>
              <a:t>"Reading list: CLIP, Flamingo, LLaVA, Qwen3-VL — all on arXiv. The IDs are on slide 29."</a:t>
            </a:r>
          </a:p>
          <a:p>
            <a:r>
              <a:t>"Questions: type in the chat. I will read them off the screen."</a:t>
            </a:r>
          </a:p>
          <a:p>
            <a:r>
              <a:t>If the Q&amp;A runs dry before time is up, go back to the opening scenario: "Let me ask you the question from slide two again, now that you have the vocabulary to answer it properly: what are the engineering decisions — not the model choice — that would make the weld inspection system trustworthy enough for a real pipeline operator to sign off on?"</a:t>
            </a:r>
          </a:p>
          <a:p>
            <a:r>
              <a:t>Pocket answers for common final Q&amp;A questions are below.</a:t>
            </a:r>
          </a:p>
          <a:p>
            <a:endParaRPr/>
          </a:p>
          <a:p>
            <a:r>
              <a:rPr b="1"/>
              <a:t>─── ANTICIPATED QUESTIONS ───</a:t>
            </a:r>
          </a:p>
          <a:p>
            <a:r>
              <a:rPr b="1"/>
              <a:t>Q: What is the single biggest mistake you see in applied multimodal projects?</a:t>
            </a:r>
          </a:p>
          <a:p>
            <a:r>
              <a:t>A: Building stage three first. Teams spend a month evaluating models, build a beautiful model-calling pipeline, and then discover that their stage one — document ingestion — produces inconsistent outputs because scans come in at different resolutions and orientations, and model performance varies wildly as a result. Build stage one and your evaluation set before you write a single line of model-calling code.</a:t>
            </a:r>
          </a:p>
          <a:p>
            <a:endParaRPr/>
          </a:p>
          <a:p>
            <a:r>
              <a:rPr b="1"/>
              <a:t>Q: What should I read first after this session?</a:t>
            </a:r>
          </a:p>
          <a:p>
            <a:r>
              <a:t>A: The Liang CMU survey, arXiv 2209.03430. Read the introduction and the taxonomy section. That gives you the vocabulary to read everything else without getting confused by inconsistent terminology across papers. The whole survey is 100-plus pages; the taxonomy and representative papers sections are the most immediately useful.</a:t>
            </a:r>
          </a:p>
          <a:p>
            <a:endParaRPr/>
          </a:p>
          <a:p>
            <a:r>
              <a:rPr b="1"/>
              <a:t>Q: How do I convince my HOD or management to invest time in this?</a:t>
            </a:r>
          </a:p>
          <a:p>
            <a:r>
              <a:t>A: Start with rung one of the ladder — slides 6 to 14 in your next class. No investment required, no approval needed. If students respond well, that is the evidence you bring to the HOD. The pilot-result-first approach on the funding slide is the same logic: prove it small before asking for resources to scale.</a:t>
            </a:r>
          </a:p>
          <a:p>
            <a:endParaRPr/>
          </a:p>
          <a:p>
            <a:r>
              <a:rPr b="1"/>
              <a:t>Q: Will you be available for follow-up questions?</a:t>
            </a:r>
          </a:p>
          <a:p>
            <a:r>
              <a:t>A: The contact address is on this slide. For follow-up questions about specific proposals or technical implementations, email is the best route. For questions about ANRF and IndiaAI grant applications, the respective portals — anrfonline.in and indiaai.gov.in — have help desks that are more authoritative than any answer I can give in real time.</a:t>
            </a:r>
          </a:p>
          <a:p>
            <a:endParaRPr/>
          </a:p>
          <a:p>
            <a:endParaRPr/>
          </a:p>
          <a:p>
            <a:r>
              <a:rPr b="1"/>
              <a:t>─── TRANSCRIPT ───</a:t>
            </a:r>
          </a:p>
          <a:p>
            <a:r>
              <a:t>"Thank you. The slides link is on the screen — photograph it now."</a:t>
            </a:r>
          </a:p>
          <a:p>
            <a:r>
              <a:t>"Reading list: CLIP, Flamingo, LLaVA, Qwen3-VL — all on arXiv. The IDs are on slide 29."</a:t>
            </a:r>
          </a:p>
          <a:p>
            <a:r>
              <a:t>"Questions: type in the chat. I will read them off the screen."</a:t>
            </a:r>
          </a:p>
          <a:p>
            <a:r>
              <a:t>If the Q&amp;A runs dry before time is up, go back to the opening scenario: "Let me ask you the question from slide two again, now that you have the vocabulary to answer it properly: what are the engineering decisions — not the model choice — that would make the weld inspection system trustworthy enough for a real pipeline operator to sign off on?"</a:t>
            </a:r>
          </a:p>
          <a:p>
            <a:r>
              <a:t>Pocket answers for common final Q&amp;A questions are below.</a:t>
            </a:r>
          </a:p>
          <a:p>
            <a:endParaRPr/>
          </a:p>
          <a:p>
            <a:r>
              <a:rPr b="1"/>
              <a:t>─── ANTICIPATED QUESTIONS ───</a:t>
            </a:r>
          </a:p>
          <a:p>
            <a:r>
              <a:rPr b="1"/>
              <a:t>Q: What is the single biggest mistake you see in applied multimodal projects?</a:t>
            </a:r>
          </a:p>
          <a:p>
            <a:r>
              <a:t>A: Building stage three first. Teams spend a month evaluating models, build a beautiful model-calling pipeline, and then discover that their stage one — document ingestion — produces inconsistent outputs because scans come in at different resolutions and orientations, and model performance varies wildly as a result. Build stage one and your evaluation set before you write a single line of model-calling code.</a:t>
            </a:r>
          </a:p>
          <a:p>
            <a:endParaRPr/>
          </a:p>
          <a:p>
            <a:r>
              <a:rPr b="1"/>
              <a:t>Q: What should I read first after this session?</a:t>
            </a:r>
          </a:p>
          <a:p>
            <a:r>
              <a:t>A: The Liang CMU survey, arXiv 2209.03430. Read the introduction and the taxonomy section. That gives you the vocabulary to read everything else without getting confused by inconsistent terminology across papers. The whole survey is 100-plus pages; the taxonomy and representative papers sections are the most immediately useful.</a:t>
            </a:r>
          </a:p>
          <a:p>
            <a:endParaRPr/>
          </a:p>
          <a:p>
            <a:r>
              <a:rPr b="1"/>
              <a:t>Q: How do I convince my HOD or management to invest time in this?</a:t>
            </a:r>
          </a:p>
          <a:p>
            <a:r>
              <a:t>A: Start with rung one of the ladder — slides 6 to 14 in your next class. No investment required, no approval needed. If students respond well, that is the evidence you bring to the HOD. The pilot-result-first approach on the funding slide is the same logic: prove it small before asking for resources to scale.</a:t>
            </a:r>
          </a:p>
          <a:p>
            <a:endParaRPr/>
          </a:p>
          <a:p>
            <a:r>
              <a:rPr b="1"/>
              <a:t>Q: Will you be available for follow-up questions?</a:t>
            </a:r>
          </a:p>
          <a:p>
            <a:r>
              <a:t>A: The contact address is on this slide. For follow-up questions about specific proposals or technical implementations, email is the best route. For questions about ANRF and IndiaAI grant applications, the respective portals — anrfonline.in and indiaai.gov.in — have help desks that are more authoritative than any answer I can give in real time.</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"If this question arrived in the chat, answer in thirty seconds and return to Q&amp;A."</a:t>
            </a:r>
          </a:p>
          <a:p>
            <a:r>
              <a:t>"The choice depends on one row from slide 25: does the data leave your campus?"</a:t>
            </a:r>
          </a:p>
          <a:p>
            <a:r>
              <a:t>"If yes — you can use a hosted API: Claude Sonnet, Gemini 2.5 Pro, or GPT-5. All handle messy real-world documents well today. Best starting point for a first project or a paper pilot."</a:t>
            </a:r>
          </a:p>
          <a:p>
            <a:r>
              <a:t>"If no — self-hosted open weights: Qwen3.8-27B is the best overall open-weight vision-language model as of August 2026 — 27 billion parameters, native vision, Apache 2.0 license. Gemma 4 31B is close and leads on spatial reasoning benchmarks. For on-device use: Gemma 4 E4B handles images and audio natively on 4 to 12 gigabytes of VRAM. For student laptops with limited memory: Qwen3-VL 4B or Gemma 4 E2B."</a:t>
            </a:r>
          </a:p>
          <a:p>
            <a:r>
              <a:t>"These names will change in six months. The deployment decision — where the data lives — will not. That decision is your model choice framework."</a:t>
            </a:r>
          </a:p>
          <a:p>
            <a:r>
              <a:t>Do not present this slide during the session. Keep it in reserve for the Q&amp;A.</a:t>
            </a:r>
          </a:p>
          <a:p>
            <a:endParaRPr/>
          </a:p>
          <a:p>
            <a:r>
              <a:rPr b="1"/>
              <a:t>─── ANTICIPATED QUESTIONS ───</a:t>
            </a:r>
          </a:p>
          <a:p>
            <a:r>
              <a:rPr b="1"/>
              <a:t>Q: Is there a free option that handles images well?</a:t>
            </a:r>
          </a:p>
          <a:p>
            <a:r>
              <a:t>A: Yes. The free tiers of Claude.ai, Google Gemini and ChatGPT all accept image uploads within session limits. For self-hosted without a GPU, Gemma 4 E2B runs on CPU very slowly but works. For free GPU access, Google Colab free tier runs Gemma 4 E4B or Qwen3-VL 4B comfortably within a session.</a:t>
            </a:r>
          </a:p>
          <a:p>
            <a:endParaRPr/>
          </a:p>
          <a:p>
            <a:r>
              <a:rPr b="1"/>
              <a:t>Q: Which model is best for Indic-script documents specifically?</a:t>
            </a:r>
          </a:p>
          <a:p>
            <a:r>
              <a:t>A: Qwen3.8 and Qwen3-VL were trained with explicit multilingual OCR support including 32 languages. For Indian-language documents, the Qwen family currently has the broadest coverage and the best-documented multilingual evaluation. Run your own 50-example evaluation on your specific script and document type before committing — general benchmarks do not predict domain-specific performance reliably.</a:t>
            </a:r>
          </a:p>
          <a:p>
            <a:endParaRPr/>
          </a:p>
          <a:p>
            <a:r>
              <a:rPr b="1"/>
              <a:t>─── DELIVERY NOTES ───</a:t>
            </a:r>
          </a:p>
          <a:p>
            <a:r>
              <a:t>Do not present this slide. It exists because the same question always arrives in the chat - which model should I actually use - and answering it live costs four minutes you do not have and dates the recording.</a:t>
            </a:r>
          </a:p>
          <a:p>
            <a:r>
              <a:t>If it is asked during Q and A, jump here, answer in thirty seconds, and go back. The answer is the footer: choose on where your data is allowed to live and what cost shape you can defend, then look at benchmarks. A department that picks on leaderboard position alone will re-pick every semester.</a:t>
            </a:r>
          </a:p>
          <a:p>
            <a:r>
              <a:t>Because participants keep the deck, this slide keeps earning after the session - but it is also the first thing in the deck that will go stale. Put a date on it before you send the file to the coordinator, so anyone reading it in six months knows to re-check.</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a:p>
            <a:endParaRPr/>
          </a:p>
          <a:p>
            <a:r>
              <a:rPr b="1"/>
              <a:t>─── TRANSCRIPT ───</a:t>
            </a:r>
          </a:p>
          <a:p>
            <a:r>
              <a:t>"If this question arrived in the chat, answer in thirty seconds and return to Q&amp;A."</a:t>
            </a:r>
          </a:p>
          <a:p>
            <a:r>
              <a:t>"The choice depends on one row from slide 25: does the data leave your campus?"</a:t>
            </a:r>
          </a:p>
          <a:p>
            <a:r>
              <a:t>"If yes — you can use a hosted API: Claude Sonnet, Gemini 2.5 Pro, or GPT-5. All handle messy real-world documents well today. Best starting point for a first project or a paper pilot."</a:t>
            </a:r>
          </a:p>
          <a:p>
            <a:r>
              <a:t>"If no — self-hosted open weights: Qwen3.8-27B is the best overall open-weight vision-language model as of August 2026 — 27 billion parameters, native vision, Apache 2.0 license. Gemma 4 31B is close and leads on spatial reasoning benchmarks. For on-device use: Gemma 4 E4B handles images and audio natively on 4 to 12 gigabytes of VRAM. For student laptops with limited memory: Qwen3-VL 4B or Gemma 4 E2B."</a:t>
            </a:r>
          </a:p>
          <a:p>
            <a:r>
              <a:t>"These names will change in six months. The deployment decision — where the data lives — will not. That decision is your model choice framework."</a:t>
            </a:r>
          </a:p>
          <a:p>
            <a:r>
              <a:t>Do not present this slide during the session. Keep it in reserve for the Q&amp;A.</a:t>
            </a:r>
          </a:p>
          <a:p>
            <a:endParaRPr/>
          </a:p>
          <a:p>
            <a:r>
              <a:rPr b="1"/>
              <a:t>─── ANTICIPATED QUESTIONS ───</a:t>
            </a:r>
          </a:p>
          <a:p>
            <a:r>
              <a:rPr b="1"/>
              <a:t>Q: Is there a free option that handles images well?</a:t>
            </a:r>
          </a:p>
          <a:p>
            <a:r>
              <a:t>A: Yes. The free tiers of Claude.ai, Google Gemini and ChatGPT all accept image uploads within session limits. For self-hosted without a GPU, Gemma 4 E2B runs on CPU very slowly but works. For free GPU access, Google Colab free tier runs Gemma 4 E4B or Qwen3-VL 4B comfortably within a session.</a:t>
            </a:r>
          </a:p>
          <a:p>
            <a:endParaRPr/>
          </a:p>
          <a:p>
            <a:r>
              <a:rPr b="1"/>
              <a:t>Q: Which model is best for Indic-script documents specifically?</a:t>
            </a:r>
          </a:p>
          <a:p>
            <a:r>
              <a:t>A: Qwen3.8 and Qwen3-VL were trained with explicit multilingual OCR support including 32 languages. For Indian-language documents, the Qwen family currently has the broadest coverage and the best-documented multilingual evaluation. Run your own 50-example evaluation on your specific script and document type before committing — general benchmarks do not predict domain-specific performance reliably.</a:t>
            </a:r>
          </a:p>
          <a:p>
            <a:endParaRPr/>
          </a:p>
          <a:p>
            <a:endParaRPr/>
          </a:p>
          <a:p>
            <a:r>
              <a:rPr b="1"/>
              <a:t>─── TRANSCRIPT ───</a:t>
            </a:r>
          </a:p>
          <a:p>
            <a:r>
              <a:t>"If this question arrived in the chat, answer in thirty seconds and return to Q&amp;A."</a:t>
            </a:r>
          </a:p>
          <a:p>
            <a:r>
              <a:t>"The choice depends on one row from slide 25: does the data leave your campus?"</a:t>
            </a:r>
          </a:p>
          <a:p>
            <a:r>
              <a:t>"If yes — you can use a hosted API: Claude Sonnet, Gemini 2.5 Pro, or GPT-5. All handle messy real-world documents well today. Best starting point for a first project or a paper pilot."</a:t>
            </a:r>
          </a:p>
          <a:p>
            <a:r>
              <a:t>"If no — self-hosted open weights: Qwen3.8-27B is the best overall open-weight vision-language model as of August 2026 — 27 billion parameters, native vision, Apache 2.0 license. Gemma 4 31B is close and leads on spatial reasoning benchmarks. For on-device use: Gemma 4 E4B handles images and audio natively on 4 to 12 gigabytes of VRAM. For student laptops with limited memory: Qwen3-VL 4B or Gemma 4 E2B."</a:t>
            </a:r>
          </a:p>
          <a:p>
            <a:r>
              <a:t>"These names will change in six months. The deployment decision — where the data lives — will not. That decision is your model choice framework."</a:t>
            </a:r>
          </a:p>
          <a:p>
            <a:r>
              <a:t>Do not present this slide during the session. Keep it in reserve for the Q&amp;A.</a:t>
            </a:r>
          </a:p>
          <a:p>
            <a:endParaRPr/>
          </a:p>
          <a:p>
            <a:r>
              <a:rPr b="1"/>
              <a:t>─── ANTICIPATED QUESTIONS ───</a:t>
            </a:r>
          </a:p>
          <a:p>
            <a:r>
              <a:rPr b="1"/>
              <a:t>Q: Is there a free option that handles images well?</a:t>
            </a:r>
          </a:p>
          <a:p>
            <a:r>
              <a:t>A: Yes. The free tiers of Claude.ai, Google Gemini and ChatGPT all accept image uploads within session limits. For self-hosted without a GPU, Gemma 4 E2B runs on CPU very slowly but works. For free GPU access, Google Colab free tier runs Gemma 4 E4B or Qwen3-VL 4B comfortably within a session.</a:t>
            </a:r>
          </a:p>
          <a:p>
            <a:endParaRPr/>
          </a:p>
          <a:p>
            <a:r>
              <a:rPr b="1"/>
              <a:t>Q: Which model is best for Indic-script documents specifically?</a:t>
            </a:r>
          </a:p>
          <a:p>
            <a:r>
              <a:t>A: Qwen3.8 and Qwen3-VL were trained with explicit multilingual OCR support including 32 languages. For Indian-language documents, the Qwen family currently has the broadest coverage and the best-documented multilingual evaluation. Run your own 50-example evaluation on your specific script and document type before committing — general benchmarks do not predict domain-specific performance reliably.</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"If this topic came up in Q&amp;A, walk through the four families quickly."</a:t>
            </a:r>
          </a:p>
          <a:p>
            <a:r>
              <a:t>"Task quality: accuracy, precision, recall, F1. Exact match and field-level extraction accuracy for document tasks. Every paper reports these and every reviewer expects them."</a:t>
            </a:r>
          </a:p>
          <a:p>
            <a:r>
              <a:t>"Cross-modal quality: alignment accuracy — does the answer come from the right part of the image? Evidence grounding — does the model cite the modality that actually supported the answer? Per-modality ablation — how much does each modality contribute to the output?"</a:t>
            </a:r>
          </a:p>
          <a:p>
            <a:r>
              <a:t>"Trust: calibration error — is the confidence score trustworthy? Hallucination rate on a held-out set. Abstention rate — how often does the model correctly decline to answer rather than guess?"</a:t>
            </a:r>
          </a:p>
          <a:p>
            <a:r>
              <a:t>"Engineering: latency per image, cost per successful extraction, throughput at peak load."</a:t>
            </a:r>
          </a:p>
          <a:p>
            <a:r>
              <a:t>"Report the engineering numbers next to the accuracy numbers in every paper. A system that is right and unaffordable has not been fully evaluated."</a:t>
            </a:r>
          </a:p>
          <a:p>
            <a:r>
              <a:t>Do not present this during the session. Keep it available for the Q&amp;A or for follow-up discussions.</a:t>
            </a:r>
          </a:p>
          <a:p>
            <a:endParaRPr/>
          </a:p>
          <a:p>
            <a:r>
              <a:rPr b="1"/>
              <a:t>─── ANTICIPATED QUESTIONS ───</a:t>
            </a:r>
          </a:p>
          <a:p>
            <a:r>
              <a:rPr b="1"/>
              <a:t>Q: What is 'good' calibration — is there a number to aim for?</a:t>
            </a:r>
          </a:p>
          <a:p>
            <a:r>
              <a:t>A: Expected Calibration Error below 5 percent is a rough threshold in the vision-language literature. More useful than the number is the reliability diagram — a plot of predicted confidence against actual accuracy across probability bins. If the curve runs close to the diagonal, the model is calibrated. A model that consistently predicts 90 percent confidence but is right 70 percent of the time has ECE around 20 percent and is dangerously miscalibrated for a production routing system that relies on its confidence scores.</a:t>
            </a:r>
          </a:p>
          <a:p>
            <a:endParaRPr/>
          </a:p>
          <a:p>
            <a:r>
              <a:rPr b="1"/>
              <a:t>Q: How do you evaluate free-form outputs like image captioning?</a:t>
            </a:r>
          </a:p>
          <a:p>
            <a:r>
              <a:t>A: For tasks with a fixed schema — document extraction — use field-level exact match or normalised edit distance. For free-form outputs — image captioning, visual question answering — use BLEU, ROUGE and BERTScore for automatic evaluation, supplemented by human evaluation for a subset of 50 to 100 examples. Human evaluation is expensive but necessary for any paper claiming state-of-the-art on a subjective task. Report both automated and human evaluation numbers; reviewers at CVPR and EMNLP expect both for subjective tasks.</a:t>
            </a:r>
          </a:p>
          <a:p>
            <a:endParaRPr/>
          </a:p>
          <a:p>
            <a:r>
              <a:rPr b="1"/>
              <a:t>─── DELIVERY NOTES ───</a:t>
            </a:r>
          </a:p>
          <a:p>
            <a:r>
              <a:t>Do not present this during the session. Keep it available for the Q and A or for follow-up discussions.</a:t>
            </a:r>
          </a:p>
        </p:txBody>
      </p:sp>
      <p:sp>
        <p:nvSpPr>
          <p:cNvPr id="4" name="Slide Number Placeholder 3"/>
          <p:cNvSpPr>
            <a:spLocks noGrp="1"/>
          </p:cNvSpPr>
          <p:nvPr>
            <p:ph type="sldNum" sz="quarter" idx="10"/>
          </p:nvPr>
        </p:nvSpPr>
        <p:spPr/>
        <p:txBody>
          <a:bodyPr/>
          <a:lstStyle/>
          <a:p>
            <a:r>
              <a:t>Do not present this during the session. Keep it available for the Q and A or for follow-up discussions.</a:t>
            </a:r>
          </a:p>
          <a:p>
            <a:endParaRPr/>
          </a:p>
          <a:p>
            <a:r>
              <a:rPr b="1"/>
              <a:t>─── TRANSCRIPT ───</a:t>
            </a:r>
          </a:p>
          <a:p>
            <a:r>
              <a:t>"If this topic came up in Q&amp;A, walk through the four families quickly."</a:t>
            </a:r>
          </a:p>
          <a:p>
            <a:r>
              <a:t>"Task quality: accuracy, precision, recall, F1. Exact match and field-level extraction accuracy for document tasks. Every paper reports these and every reviewer expects them."</a:t>
            </a:r>
          </a:p>
          <a:p>
            <a:r>
              <a:t>"Cross-modal quality: alignment accuracy — does the answer come from the right part of the image? Evidence grounding — does the model cite the modality that actually supported the answer? Per-modality ablation — how much does each modality contribute to the output?"</a:t>
            </a:r>
          </a:p>
          <a:p>
            <a:r>
              <a:t>"Trust: calibration error — is the confidence score trustworthy? Hallucination rate on a held-out set. Abstention rate — how often does the model correctly decline to answer rather than guess?"</a:t>
            </a:r>
          </a:p>
          <a:p>
            <a:r>
              <a:t>"Engineering: latency per image, cost per successful extraction, throughput at peak load."</a:t>
            </a:r>
          </a:p>
          <a:p>
            <a:r>
              <a:t>"Report the engineering numbers next to the accuracy numbers in every paper. A system that is right and unaffordable has not been fully evaluated."</a:t>
            </a:r>
          </a:p>
          <a:p>
            <a:r>
              <a:t>Do not present this during the session. Keep it available for the Q&amp;A or for follow-up discussions.</a:t>
            </a:r>
          </a:p>
          <a:p>
            <a:endParaRPr/>
          </a:p>
          <a:p>
            <a:r>
              <a:rPr b="1"/>
              <a:t>─── ANTICIPATED QUESTIONS ───</a:t>
            </a:r>
          </a:p>
          <a:p>
            <a:r>
              <a:rPr b="1"/>
              <a:t>Q: What is 'good' calibration — is there a number to aim for?</a:t>
            </a:r>
          </a:p>
          <a:p>
            <a:r>
              <a:t>A: Expected Calibration Error below 5 percent is a rough threshold in the vision-language literature. More useful than the number is the reliability diagram — a plot of predicted confidence against actual accuracy across probability bins. If the curve runs close to the diagonal, the model is calibrated. A model that consistently predicts 90 percent confidence but is right 70 percent of the time has ECE around 20 percent and is dangerously miscalibrated for a production routing system that relies on its confidence scores.</a:t>
            </a:r>
          </a:p>
          <a:p>
            <a:endParaRPr/>
          </a:p>
          <a:p>
            <a:r>
              <a:rPr b="1"/>
              <a:t>Q: How do you evaluate free-form outputs like image captioning?</a:t>
            </a:r>
          </a:p>
          <a:p>
            <a:r>
              <a:t>A: For tasks with a fixed schema — document extraction — use field-level exact match or normalised edit distance. For free-form outputs — image captioning, visual question answering — use BLEU, ROUGE and BERTScore for automatic evaluation, supplemented by human evaluation for a subset of 50 to 100 examples. Human evaluation is expensive but necessary for any paper claiming state-of-the-art on a subjective task. Report both automated and human evaluation numbers; reviewers at CVPR and EMNLP expect both for subjective tasks.</a:t>
            </a:r>
          </a:p>
          <a:p>
            <a:endParaRPr/>
          </a:p>
        </p:txBody>
      </p:sp>
    </p:spTree>
    <p:extLst>
      <p:ext uri="{BB962C8B-B14F-4D97-AF65-F5344CB8AC3E}">
        <p14:creationId xmlns:p14="http://schemas.microsoft.com/office/powerpoint/2010/main" val="1024086992"/>
      </p:ext>
    </p:extLst>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 TRANSCRIPT ───</a:t>
            </a:r>
          </a:p>
          <a:p>
            <a:r>
              <a:t>"Before the six shifts, two minutes on vocabulary, because this question always arrives in the chat."</a:t>
            </a:r>
          </a:p>
          <a:p>
            <a:r>
              <a:t>"Many of you have seen a poster on LinkedIn or WhatsApp: eight specialised AI models, eight neat flowcharts. LLM, LCM, LAM, MoE, VLM, SLM, MLM, SAM. It is a useful poster and a slightly misleading one, because it draws eight peers. They are not peers. Each acronym names a different property of a model."</a:t>
            </a:r>
          </a:p>
          <a:p>
            <a:r>
              <a:t>"Four of them are this session. First, VLM, the vision-language model. Read the column from the top. The image goes through a vision encoder - that is idea one, everything becomes a list of numbers. The encoder was usually trained contrastively, so its numbers already line up with language - that is idea two. A projector hands them to a language model as tokens - that is idea three. Part One, stacked in one column. This is the model that sits at stage three of the architecture in Part Three."</a:t>
            </a:r>
          </a:p>
          <a:p>
            <a:r>
              <a:t>"Second, SAM, the Segment Anything Model. You give it an image and a point, a box or a short phrase, and it returns the exact outline in pixels. A VLM tells you there is a crack in the weld. SAM tells you which pixels are the crack. Hold that thought until the slide on what still breaks."</a:t>
            </a:r>
          </a:p>
          <a:p>
            <a:r>
              <a:t>"Third, SLM, the small language model. That name is only about size. Same design, far fewer parameters, compressed until it runs on a phone or a factory gateway. Many small models also read images, so SLM and VLM are not alternatives - one model can be both."</a:t>
            </a:r>
          </a:p>
          <a:p>
            <a:r>
              <a:t>"Fourth, LAM, the large action model. In practice that is a vision-language model placed in a loop: look, decide, act, look again. That is the second deep dive in this part."</a:t>
            </a:r>
          </a:p>
          <a:p>
            <a:r>
              <a:t>"The bottom row is real, and it belongs with the NLP and deep learning sessions of this FDP, so I will not teach it here. One caution to pass on to your students: MLM, masked language model, is a way of training. MLLM, with two Ls, is a multimodal LLM. One letter apart, and a completely different thing."</a:t>
            </a:r>
          </a:p>
          <a:p>
            <a:r>
              <a:t>Do not walk through the bottom row. If someone asks about one of the four, the answers are below. Move on at the two-minute mark.</a:t>
            </a:r>
          </a:p>
          <a:p>
            <a:endParaRPr/>
          </a:p>
          <a:p>
            <a:r>
              <a:rPr b="1"/>
              <a:t>─── ANTICIPATED QUESTIONS ───</a:t>
            </a:r>
          </a:p>
          <a:p>
            <a:r>
              <a:t>Q: Is MoE a type of model like the other seven?</a:t>
            </a:r>
          </a:p>
          <a:p>
            <a:r>
              <a:t>A: No. Mixture of experts is a way of wiring a layer. A small router sends each token to a few of many expert sub-networks, so only part of the model runs for any one token. An LLM, a VLM or an SLM can each be built with it or without it - Mixtral and DeepSeek-V3 are well-known examples. The poster draws it next to LLM as if the two were rivals. They are not.</a:t>
            </a:r>
          </a:p>
          <a:p>
            <a:endParaRPr/>
          </a:p>
          <a:p>
            <a:r>
              <a:t>Q: What is a large concept model, and is it multimodal?</a:t>
            </a:r>
          </a:p>
          <a:p>
            <a:r>
              <a:t>A: A research proposal from Meta, December 2024 (arXiv 2412.08821). Instead of predicting the next token it predicts the next sentence, held as one embedding in a space called SONAR. The link to this session is idea 1: SONAR is a shared embedding space for text in 200 languages and speech input in 76, so it is the shared-space idea from slide 9 applied to whole sentences. It is a 1.6 billion parameter prototype, not something to build a project on this year. Also warn students that LCM is used for latent consistency models in image generation - check which one a paper means.</a:t>
            </a:r>
          </a:p>
          <a:p>
            <a:endParaRPr/>
          </a:p>
          <a:p>
            <a:r>
              <a:t>Q: Is LAM a real research term?</a:t>
            </a:r>
          </a:p>
          <a:p>
            <a:r>
              <a:t>A: It started as a product term. Rabbit used it at the R1 launch in January 2024, and Salesforce has released models under the name xLAM. In papers you will more often see GUI agent, computer-use agent or, for robots, vision-language-action model (VLA). For a proposal, use the paper terms and name the benchmark you will evaluate on.</a:t>
            </a:r>
          </a:p>
          <a:p>
            <a:endParaRPr/>
          </a:p>
          <a:p>
            <a:r>
              <a:t>Q: Where does SAM fit in the five-stage architecture?</a:t>
            </a:r>
          </a:p>
          <a:p>
            <a:r>
              <a:t>A: As a tool next to stage 3, or as a check in stage 5. The usual pattern is three steps: the VLM names the defect, SAM outlines it, and ordinary geometry measures the outline against a known scale. That turns fine spatial detail from a model problem into a pipeline problem, and each step can be evaluated on its own. Prompting by short phrase arrived with SAM 3 in November 2025 - the first two versions take points and boxes only. Check the current version before you teach it.</a:t>
            </a:r>
          </a:p>
          <a:p>
            <a:endParaRPr/>
          </a:p>
          <a:p>
            <a:r>
              <a:t>Q: Can I use the original poster in my own class?</a:t>
            </a:r>
          </a:p>
          <a:p>
            <a:r>
              <a:t>A: As a discussion prompt, yes. As a reference, no. Its source is not clear, and several of its boxes - advanced patterning, hidden process, compact tokenization, neuro-symbolic integration - do not trace back to a paper. That makes a good fifteen-minute exercise: give students the poster and ask them to find every box they cannot source. They learn the eight terms and they learn to distrust an infographic.</a:t>
            </a:r>
          </a:p>
          <a:p>
            <a:endParaRPr/>
          </a:p>
          <a:p>
            <a:r>
              <a:rPr b="1"/>
              <a:t>─── DELIVERY NOTES ───</a:t>
            </a:r>
          </a:p>
          <a:p>
            <a:r>
              <a:t>Two minutes, no more. This slide is here because the eight-model poster is circulating and someone will paste it into the chat. Answering it here costs two minutes. Answering it in Q and A costs ten.</a:t>
            </a:r>
          </a:p>
          <a:p>
            <a:endParaRPr/>
          </a:p>
          <a:p>
            <a:r>
              <a:t>Teach the top row and skip the bottom row. The one sentence to land is the footer: an acronym can name a model's input, its task, its size, its output, its training method or one layer inside it - so the eight cannot be compared like for like.</a:t>
            </a:r>
          </a:p>
          <a:p>
            <a:endParaRPr/>
          </a:p>
          <a:p>
            <a:r>
              <a:t>Slow down on the VLM column and say the three words - encoder, projector, language model - while pointing at each box. Learning outcome 3 asks participants to name every component, and this is the only slide that draws the inside of the model. Slide 23 draws the system around it.</a:t>
            </a:r>
          </a:p>
          <a:p>
            <a:endParaRPr/>
          </a:p>
          <a:p>
            <a:r>
              <a:t>This is a recall moment, not new content. The VLM column is Part One again in different words. If the platform allows it, ask the room which of the three ideas the first box is before you say it.</a:t>
            </a:r>
          </a:p>
          <a:p>
            <a:endParaRPr/>
          </a:p>
          <a:p>
            <a:r>
              <a:t>Not a poll - the chat stays at five. If you are running late this is the first slide to cut. Say "the acronym map is in the deck, read it afterwards" and go straight to slide 17.</a:t>
            </a:r>
          </a:p>
          <a:p>
            <a:endParaRPr/>
          </a:p>
          <a:p>
            <a:r>
              <a:t>Do not show the original poster on screen. Its source is unclear and you would be defending boxes you did not draw. This slide is redrawn from the primary papers.</a:t>
            </a:r>
          </a:p>
          <a:p>
            <a:endParaRPr/>
          </a:p>
          <a:p>
            <a:r>
              <a:t>Check before presenting: the current SAM version, and that the NLP and deep learning sessions are still on the FDP schedule under those names.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a:p>
            <a:endParaRPr/>
          </a:p>
          <a:p>
            <a:r>
              <a:rPr b="1"/>
              <a:t>─── TRANSCRIPT ───</a:t>
            </a:r>
          </a:p>
          <a:p>
            <a:r>
              <a:t>"Part Two. Eighteen minutes. What is newly possible in 2026 and what still breaks. I will go fast — ninety seconds per shift — because these topics move faster than any slides I can prepare, and you need the architecture section more than you need a survey of products."</a:t>
            </a:r>
          </a:p>
          <a:p>
            <a:endParaRPr/>
          </a:p>
          <a:p>
            <a:r>
              <a:rPr b="1"/>
              <a:t>─── ANTICIPATED QUESTIONS ───</a:t>
            </a:r>
          </a:p>
          <a:p>
            <a:endParaRPr/>
          </a:p>
          <a:p>
            <a:r>
              <a:rPr b="1"/>
              <a:t>─── TRANSCRIPT ───</a:t>
            </a:r>
          </a:p>
          <a:p>
            <a:r>
              <a:t>"Part Two. Eighteen minutes. What is newly possible in 2026 and what still breaks. I will go fast — ninety seconds per shift — because these topics move faster than any slides I can prepare, and you need the architecture section more than you need a survey of products."</a:t>
            </a:r>
          </a:p>
          <a:p>
            <a:endParaRPr/>
          </a:p>
          <a:p>
            <a:r>
              <a:rPr b="1"/>
              <a:t>─── ANTICIPATED QUESTIONS ───</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chart" Target="../charts/char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hyperlink" Target="https://github.com/lksmangai/DeepLearning/blob/master/Multimodal-AI-ATAL-FDP-Deck.pptx"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1417320"/>
            <a:ext cx="155448" cy="155448"/>
          </a:xfrm>
          <a:prstGeom prst="ellipse">
            <a:avLst/>
          </a:prstGeom>
          <a:solidFill>
            <a:srgbClr val="00C2A8"/>
          </a:solidFill>
          <a:ln/>
        </p:spPr>
        <p:txBody>
          <a:bodyPr/>
          <a:lstStyle/>
          <a:p>
            <a:endParaRPr lang="en-IN"/>
          </a:p>
        </p:txBody>
      </p:sp>
      <p:sp>
        <p:nvSpPr>
          <p:cNvPr id="3" name="Shape 1"/>
          <p:cNvSpPr/>
          <p:nvPr/>
        </p:nvSpPr>
        <p:spPr>
          <a:xfrm>
            <a:off x="912114" y="1417320"/>
            <a:ext cx="155448" cy="155448"/>
          </a:xfrm>
          <a:prstGeom prst="ellipse">
            <a:avLst/>
          </a:prstGeom>
          <a:solidFill>
            <a:srgbClr val="FF6B4A"/>
          </a:solidFill>
          <a:ln/>
        </p:spPr>
        <p:txBody>
          <a:bodyPr/>
          <a:lstStyle/>
          <a:p>
            <a:endParaRPr lang="en-IN"/>
          </a:p>
        </p:txBody>
      </p:sp>
      <p:sp>
        <p:nvSpPr>
          <p:cNvPr id="4" name="Shape 2"/>
          <p:cNvSpPr/>
          <p:nvPr/>
        </p:nvSpPr>
        <p:spPr>
          <a:xfrm>
            <a:off x="1184148" y="1417320"/>
            <a:ext cx="155448" cy="155448"/>
          </a:xfrm>
          <a:prstGeom prst="ellipse">
            <a:avLst/>
          </a:prstGeom>
          <a:solidFill>
            <a:srgbClr val="FFC24A"/>
          </a:solidFill>
          <a:ln/>
        </p:spPr>
        <p:txBody>
          <a:bodyPr/>
          <a:lstStyle/>
          <a:p>
            <a:endParaRPr lang="en-IN"/>
          </a:p>
        </p:txBody>
      </p:sp>
      <p:sp>
        <p:nvSpPr>
          <p:cNvPr id="5" name="Text 3"/>
          <p:cNvSpPr/>
          <p:nvPr/>
        </p:nvSpPr>
        <p:spPr>
          <a:xfrm>
            <a:off x="640080" y="1874520"/>
            <a:ext cx="10241280" cy="1554480"/>
          </a:xfrm>
          <a:prstGeom prst="rect">
            <a:avLst/>
          </a:prstGeom>
          <a:noFill/>
          <a:ln/>
        </p:spPr>
        <p:txBody>
          <a:bodyPr wrap="square" lIns="0" tIns="0" rIns="0" bIns="0" rtlCol="0" anchor="ctr"/>
          <a:lstStyle/>
          <a:p>
            <a:pPr marL="0" indent="0">
              <a:lnSpc>
                <a:spcPts val="4600"/>
              </a:lnSpc>
              <a:buNone/>
            </a:pPr>
            <a:r>
              <a:rPr lang="en-US" sz="4000" b="1" dirty="0">
                <a:solidFill>
                  <a:srgbClr val="FFFFFF"/>
                </a:solidFill>
                <a:latin typeface="Arial" pitchFamily="34" charset="0"/>
                <a:ea typeface="Arial" pitchFamily="34" charset="-122"/>
                <a:cs typeface="Arial" pitchFamily="34" charset="-120"/>
              </a:rPr>
              <a:t>Multimodal Artificial Intelligence</a:t>
            </a:r>
            <a:endParaRPr lang="en-US" sz="4000" dirty="0"/>
          </a:p>
          <a:p>
            <a:pPr marL="0" indent="0">
              <a:lnSpc>
                <a:spcPts val="4600"/>
              </a:lnSpc>
              <a:buNone/>
            </a:pPr>
            <a:r>
              <a:rPr lang="en-US" sz="3200" b="1" dirty="0">
                <a:solidFill>
                  <a:srgbClr val="FFC24A"/>
                </a:solidFill>
                <a:latin typeface="Arial" pitchFamily="34" charset="0"/>
                <a:ea typeface="Arial" pitchFamily="34" charset="-122"/>
                <a:cs typeface="Arial" pitchFamily="34" charset="-120"/>
              </a:rPr>
              <a:t>One model that looks, listens and reads</a:t>
            </a:r>
            <a:endParaRPr lang="en-US" sz="4000" dirty="0"/>
          </a:p>
        </p:txBody>
      </p:sp>
      <p:sp>
        <p:nvSpPr>
          <p:cNvPr id="6" name="Text 4"/>
          <p:cNvSpPr/>
          <p:nvPr/>
        </p:nvSpPr>
        <p:spPr>
          <a:xfrm>
            <a:off x="640080" y="3493008"/>
            <a:ext cx="9601200" cy="411480"/>
          </a:xfrm>
          <a:prstGeom prst="rect">
            <a:avLst/>
          </a:prstGeom>
          <a:noFill/>
          <a:ln/>
        </p:spPr>
        <p:txBody>
          <a:bodyPr wrap="square" lIns="0" tIns="0" rIns="0" bIns="0" rtlCol="0" anchor="ctr"/>
          <a:lstStyle/>
          <a:p>
            <a:pPr marL="0" indent="0">
              <a:buNone/>
            </a:pPr>
            <a:r>
              <a:rPr lang="en-US" sz="2000" dirty="0">
                <a:solidFill>
                  <a:srgbClr val="A8B2C4"/>
                </a:solidFill>
                <a:latin typeface="Calibri" pitchFamily="34" charset="0"/>
                <a:ea typeface="Calibri" pitchFamily="34" charset="-122"/>
                <a:cs typeface="Calibri" pitchFamily="34" charset="-120"/>
              </a:rPr>
              <a:t>FDP: Emerging Trends in AI and Data Science</a:t>
            </a:r>
            <a:endParaRPr lang="en-US" sz="2000" dirty="0"/>
          </a:p>
        </p:txBody>
      </p:sp>
      <p:sp>
        <p:nvSpPr>
          <p:cNvPr id="7" name="Shape 5"/>
          <p:cNvSpPr/>
          <p:nvPr/>
        </p:nvSpPr>
        <p:spPr>
          <a:xfrm>
            <a:off x="640080" y="4224528"/>
            <a:ext cx="3063240" cy="475488"/>
          </a:xfrm>
          <a:prstGeom prst="roundRect">
            <a:avLst>
              <a:gd name="adj" fmla="val 50000"/>
            </a:avLst>
          </a:prstGeom>
          <a:solidFill>
            <a:srgbClr val="FF6B4A"/>
          </a:solidFill>
          <a:ln/>
        </p:spPr>
        <p:txBody>
          <a:bodyPr/>
          <a:lstStyle/>
          <a:p>
            <a:endParaRPr lang="en-IN"/>
          </a:p>
        </p:txBody>
      </p:sp>
      <p:sp>
        <p:nvSpPr>
          <p:cNvPr id="8" name="Text 6"/>
          <p:cNvSpPr/>
          <p:nvPr/>
        </p:nvSpPr>
        <p:spPr>
          <a:xfrm>
            <a:off x="640080" y="4224528"/>
            <a:ext cx="3063240" cy="475488"/>
          </a:xfrm>
          <a:prstGeom prst="rect">
            <a:avLst/>
          </a:prstGeom>
          <a:noFill/>
          <a:ln/>
        </p:spPr>
        <p:txBody>
          <a:bodyPr wrap="square" lIns="0" tIns="0" rIns="0" bIns="0" rtlCol="0" anchor="ctr"/>
          <a:lstStyle/>
          <a:p>
            <a:pPr marL="0" indent="0" algn="ctr">
              <a:buNone/>
            </a:pPr>
            <a:r>
              <a:rPr lang="en-US" sz="1200" b="1" kern="0" spc="100" dirty="0">
                <a:solidFill>
                  <a:srgbClr val="0E1524"/>
                </a:solidFill>
                <a:latin typeface="Arial" pitchFamily="34" charset="0"/>
                <a:ea typeface="Arial" pitchFamily="34" charset="-122"/>
                <a:cs typeface="Arial" pitchFamily="34" charset="-120"/>
              </a:rPr>
              <a:t>SESSION 6  ·  MULTIMODAL AI</a:t>
            </a:r>
            <a:endParaRPr lang="en-US" sz="1200" dirty="0"/>
          </a:p>
        </p:txBody>
      </p:sp>
      <p:sp>
        <p:nvSpPr>
          <p:cNvPr id="9" name="Text 7"/>
          <p:cNvSpPr/>
          <p:nvPr/>
        </p:nvSpPr>
        <p:spPr>
          <a:xfrm>
            <a:off x="640080" y="4983480"/>
            <a:ext cx="7315200" cy="27432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AICTE ATAL Academy Online FDP  ·  90 minutes  ·  Keep the chat open for five quick polls</a:t>
            </a:r>
            <a:endParaRPr lang="en-US" sz="1300" dirty="0"/>
          </a:p>
        </p:txBody>
      </p:sp>
      <p:sp>
        <p:nvSpPr>
          <p:cNvPr id="11" name="Text 7"/>
          <p:cNvSpPr/>
          <p:nvPr/>
        </p:nvSpPr>
        <p:spPr>
          <a:xfrm>
            <a:off x="640080" y="5410200"/>
            <a:ext cx="10241280" cy="27432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S. Lakshmanaraj  ·  Enterprise AI Architect - Services  ·  Ideas to Impacts, a Praavega.ai company</a:t>
            </a:r>
            <a:endParaRPr lang="en-US" sz="1300" dirty="0"/>
          </a:p>
        </p:txBody>
      </p:sp>
      <p:sp>
        <p:nvSpPr>
          <p:cNvPr id="10" name="Text 8"/>
          <p:cNvSpPr/>
          <p:nvPr/>
        </p:nvSpPr>
        <p:spPr>
          <a:xfrm>
            <a:off x="640080" y="5842000"/>
            <a:ext cx="10241280" cy="274320"/>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37+ years in enterprise IT  ·  the last four building AI systems  ·  Pune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685800"/>
            <a:ext cx="10908792" cy="64008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Four files. One model.</a:t>
            </a:r>
            <a:endParaRPr lang="en-US" sz="3400" dirty="0"/>
          </a:p>
        </p:txBody>
      </p:sp>
      <p:sp>
        <p:nvSpPr>
          <p:cNvPr id="3" name="Text 1"/>
          <p:cNvSpPr/>
          <p:nvPr/>
        </p:nvSpPr>
        <p:spPr>
          <a:xfrm>
            <a:off x="640080" y="1371600"/>
            <a:ext cx="9601200" cy="320040"/>
          </a:xfrm>
          <a:prstGeom prst="rect">
            <a:avLst/>
          </a:prstGeom>
          <a:noFill/>
          <a:ln/>
        </p:spPr>
        <p:txBody>
          <a:bodyPr wrap="square" lIns="0" tIns="0" rIns="0" bIns="0" rtlCol="0" anchor="ctr"/>
          <a:lstStyle/>
          <a:p>
            <a:pPr marL="0" indent="0">
              <a:buNone/>
            </a:pPr>
            <a:r>
              <a:rPr lang="en-US" sz="1500" dirty="0">
                <a:solidFill>
                  <a:srgbClr val="A8B2C4"/>
                </a:solidFill>
                <a:latin typeface="Calibri" pitchFamily="34" charset="0"/>
                <a:ea typeface="Calibri" pitchFamily="34" charset="-122"/>
                <a:cs typeface="Calibri" pitchFamily="34" charset="-120"/>
              </a:rPr>
              <a:t>Five years ago this needed four teams, four models, and four pipelines.</a:t>
            </a:r>
            <a:endParaRPr lang="en-US" sz="1500" dirty="0"/>
          </a:p>
        </p:txBody>
      </p:sp>
      <p:sp>
        <p:nvSpPr>
          <p:cNvPr id="4" name="Shape 2"/>
          <p:cNvSpPr/>
          <p:nvPr/>
        </p:nvSpPr>
        <p:spPr>
          <a:xfrm>
            <a:off x="640080" y="2148840"/>
            <a:ext cx="2500884" cy="1783080"/>
          </a:xfrm>
          <a:prstGeom prst="roundRect">
            <a:avLst>
              <a:gd name="adj" fmla="val 5128"/>
            </a:avLst>
          </a:prstGeom>
          <a:solidFill>
            <a:srgbClr val="1B2437"/>
          </a:solidFill>
          <a:ln/>
        </p:spPr>
        <p:txBody>
          <a:bodyPr/>
          <a:lstStyle/>
          <a:p>
            <a:endParaRPr lang="en-IN"/>
          </a:p>
        </p:txBody>
      </p:sp>
      <p:sp>
        <p:nvSpPr>
          <p:cNvPr id="5" name="Shape 3"/>
          <p:cNvSpPr/>
          <p:nvPr/>
        </p:nvSpPr>
        <p:spPr>
          <a:xfrm>
            <a:off x="932688" y="2450592"/>
            <a:ext cx="274320" cy="274320"/>
          </a:xfrm>
          <a:prstGeom prst="ellipse">
            <a:avLst/>
          </a:prstGeom>
          <a:solidFill>
            <a:srgbClr val="FF6B4A"/>
          </a:solidFill>
          <a:ln/>
        </p:spPr>
        <p:txBody>
          <a:bodyPr/>
          <a:lstStyle/>
          <a:p>
            <a:endParaRPr lang="en-IN"/>
          </a:p>
        </p:txBody>
      </p:sp>
      <p:sp>
        <p:nvSpPr>
          <p:cNvPr id="6" name="Text 4"/>
          <p:cNvSpPr/>
          <p:nvPr/>
        </p:nvSpPr>
        <p:spPr>
          <a:xfrm>
            <a:off x="1325880" y="2468880"/>
            <a:ext cx="1615084" cy="237744"/>
          </a:xfrm>
          <a:prstGeom prst="rect">
            <a:avLst/>
          </a:prstGeom>
          <a:noFill/>
          <a:ln/>
        </p:spPr>
        <p:txBody>
          <a:bodyPr wrap="square" lIns="0" tIns="0" rIns="0" bIns="0" rtlCol="0" anchor="ctr"/>
          <a:lstStyle/>
          <a:p>
            <a:pPr marL="0" indent="0">
              <a:buNone/>
            </a:pPr>
            <a:r>
              <a:rPr lang="en-US" sz="1000" b="1" kern="0" spc="150" dirty="0">
                <a:solidFill>
                  <a:srgbClr val="FF6B4A"/>
                </a:solidFill>
                <a:latin typeface="Arial" pitchFamily="34" charset="0"/>
                <a:ea typeface="Arial" pitchFamily="34" charset="-122"/>
                <a:cs typeface="Arial" pitchFamily="34" charset="-120"/>
              </a:rPr>
              <a:t>IMAGE</a:t>
            </a:r>
            <a:endParaRPr lang="en-US" sz="1000" dirty="0"/>
          </a:p>
        </p:txBody>
      </p:sp>
      <p:sp>
        <p:nvSpPr>
          <p:cNvPr id="7" name="Text 5"/>
          <p:cNvSpPr/>
          <p:nvPr/>
        </p:nvSpPr>
        <p:spPr>
          <a:xfrm>
            <a:off x="932688" y="2852928"/>
            <a:ext cx="1915668" cy="292608"/>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A photograph</a:t>
            </a:r>
            <a:endParaRPr lang="en-US" sz="1700" dirty="0"/>
          </a:p>
        </p:txBody>
      </p:sp>
      <p:sp>
        <p:nvSpPr>
          <p:cNvPr id="8" name="Text 6"/>
          <p:cNvSpPr/>
          <p:nvPr/>
        </p:nvSpPr>
        <p:spPr>
          <a:xfrm>
            <a:off x="932688" y="3200400"/>
            <a:ext cx="1915668" cy="548640"/>
          </a:xfrm>
          <a:prstGeom prst="rect">
            <a:avLst/>
          </a:prstGeom>
          <a:noFill/>
          <a:ln/>
        </p:spPr>
        <p:txBody>
          <a:bodyPr wrap="square" lIns="0" tIns="0" rIns="0" bIns="0" rtlCol="0" anchor="ctr"/>
          <a:lstStyle/>
          <a:p>
            <a:pPr marL="0" indent="0">
              <a:buNone/>
            </a:pPr>
            <a:r>
              <a:rPr lang="en-US" sz="1250" dirty="0">
                <a:solidFill>
                  <a:srgbClr val="A8B2C4"/>
                </a:solidFill>
                <a:latin typeface="Calibri" pitchFamily="34" charset="0"/>
                <a:ea typeface="Calibri" pitchFamily="34" charset="-122"/>
                <a:cs typeface="Calibri" pitchFamily="34" charset="-120"/>
              </a:rPr>
              <a:t>A cracked weld on a pipeline joint</a:t>
            </a:r>
            <a:endParaRPr lang="en-US" sz="1250" dirty="0"/>
          </a:p>
        </p:txBody>
      </p:sp>
      <p:sp>
        <p:nvSpPr>
          <p:cNvPr id="9" name="Shape 7"/>
          <p:cNvSpPr/>
          <p:nvPr/>
        </p:nvSpPr>
        <p:spPr>
          <a:xfrm>
            <a:off x="6245352" y="2148840"/>
            <a:ext cx="2500884" cy="1783080"/>
          </a:xfrm>
          <a:prstGeom prst="roundRect">
            <a:avLst>
              <a:gd name="adj" fmla="val 5128"/>
            </a:avLst>
          </a:prstGeom>
          <a:solidFill>
            <a:srgbClr val="1B2437"/>
          </a:solidFill>
          <a:ln/>
        </p:spPr>
        <p:txBody>
          <a:bodyPr/>
          <a:lstStyle/>
          <a:p>
            <a:endParaRPr lang="en-IN"/>
          </a:p>
        </p:txBody>
      </p:sp>
      <p:sp>
        <p:nvSpPr>
          <p:cNvPr id="10" name="Shape 8"/>
          <p:cNvSpPr/>
          <p:nvPr/>
        </p:nvSpPr>
        <p:spPr>
          <a:xfrm>
            <a:off x="6537960" y="2450592"/>
            <a:ext cx="274320" cy="274320"/>
          </a:xfrm>
          <a:prstGeom prst="ellipse">
            <a:avLst/>
          </a:prstGeom>
          <a:solidFill>
            <a:srgbClr val="00C2A8"/>
          </a:solidFill>
          <a:ln/>
        </p:spPr>
        <p:txBody>
          <a:bodyPr/>
          <a:lstStyle/>
          <a:p>
            <a:endParaRPr lang="en-IN"/>
          </a:p>
        </p:txBody>
      </p:sp>
      <p:sp>
        <p:nvSpPr>
          <p:cNvPr id="11" name="Text 9"/>
          <p:cNvSpPr/>
          <p:nvPr/>
        </p:nvSpPr>
        <p:spPr>
          <a:xfrm>
            <a:off x="6931152" y="2468880"/>
            <a:ext cx="1615084" cy="237744"/>
          </a:xfrm>
          <a:prstGeom prst="rect">
            <a:avLst/>
          </a:prstGeom>
          <a:noFill/>
          <a:ln/>
        </p:spPr>
        <p:txBody>
          <a:bodyPr wrap="square" lIns="0" tIns="0" rIns="0" bIns="0" rtlCol="0" anchor="ctr"/>
          <a:lstStyle/>
          <a:p>
            <a:pPr marL="0" indent="0">
              <a:buNone/>
            </a:pPr>
            <a:r>
              <a:rPr lang="en-US" sz="1000" b="1" kern="0" spc="150" dirty="0">
                <a:solidFill>
                  <a:srgbClr val="00C2A8"/>
                </a:solidFill>
                <a:latin typeface="Arial" pitchFamily="34" charset="0"/>
                <a:ea typeface="Arial" pitchFamily="34" charset="-122"/>
                <a:cs typeface="Arial" pitchFamily="34" charset="-120"/>
              </a:rPr>
              <a:t>AUDIO</a:t>
            </a:r>
            <a:endParaRPr lang="en-US" sz="1000" dirty="0"/>
          </a:p>
        </p:txBody>
      </p:sp>
      <p:sp>
        <p:nvSpPr>
          <p:cNvPr id="12" name="Text 10"/>
          <p:cNvSpPr/>
          <p:nvPr/>
        </p:nvSpPr>
        <p:spPr>
          <a:xfrm>
            <a:off x="6537960" y="2852928"/>
            <a:ext cx="1915668" cy="292608"/>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A voice note</a:t>
            </a:r>
            <a:endParaRPr lang="en-US" sz="1700" dirty="0"/>
          </a:p>
        </p:txBody>
      </p:sp>
      <p:sp>
        <p:nvSpPr>
          <p:cNvPr id="13" name="Text 11"/>
          <p:cNvSpPr/>
          <p:nvPr/>
        </p:nvSpPr>
        <p:spPr>
          <a:xfrm>
            <a:off x="6537960" y="3200400"/>
            <a:ext cx="1915668" cy="548640"/>
          </a:xfrm>
          <a:prstGeom prst="rect">
            <a:avLst/>
          </a:prstGeom>
          <a:noFill/>
          <a:ln/>
        </p:spPr>
        <p:txBody>
          <a:bodyPr wrap="square" lIns="0" tIns="0" rIns="0" bIns="0" rtlCol="0" anchor="ctr"/>
          <a:lstStyle/>
          <a:p>
            <a:pPr marL="0" indent="0">
              <a:buNone/>
            </a:pPr>
            <a:r>
              <a:rPr lang="en-US" sz="1250" dirty="0">
                <a:solidFill>
                  <a:srgbClr val="A8B2C4"/>
                </a:solidFill>
                <a:latin typeface="Calibri" pitchFamily="34" charset="0"/>
                <a:ea typeface="Calibri" pitchFamily="34" charset="-122"/>
                <a:cs typeface="Calibri" pitchFamily="34" charset="-120"/>
              </a:rPr>
              <a:t>The site engineer describing what he saw</a:t>
            </a:r>
            <a:endParaRPr lang="en-US" sz="1250" dirty="0"/>
          </a:p>
        </p:txBody>
      </p:sp>
      <p:sp>
        <p:nvSpPr>
          <p:cNvPr id="14" name="Shape 12"/>
          <p:cNvSpPr/>
          <p:nvPr/>
        </p:nvSpPr>
        <p:spPr>
          <a:xfrm>
            <a:off x="9047988" y="2148840"/>
            <a:ext cx="2500884" cy="1783080"/>
          </a:xfrm>
          <a:prstGeom prst="roundRect">
            <a:avLst>
              <a:gd name="adj" fmla="val 5128"/>
            </a:avLst>
          </a:prstGeom>
          <a:solidFill>
            <a:srgbClr val="1B2437"/>
          </a:solidFill>
          <a:ln/>
        </p:spPr>
        <p:txBody>
          <a:bodyPr/>
          <a:lstStyle/>
          <a:p>
            <a:endParaRPr lang="en-IN"/>
          </a:p>
        </p:txBody>
      </p:sp>
      <p:sp>
        <p:nvSpPr>
          <p:cNvPr id="15" name="Shape 13"/>
          <p:cNvSpPr/>
          <p:nvPr/>
        </p:nvSpPr>
        <p:spPr>
          <a:xfrm>
            <a:off x="9340596" y="2450592"/>
            <a:ext cx="274320" cy="274320"/>
          </a:xfrm>
          <a:prstGeom prst="ellipse">
            <a:avLst/>
          </a:prstGeom>
          <a:solidFill>
            <a:srgbClr val="A8B2C4"/>
          </a:solidFill>
          <a:ln/>
        </p:spPr>
        <p:txBody>
          <a:bodyPr/>
          <a:lstStyle/>
          <a:p>
            <a:endParaRPr lang="en-IN"/>
          </a:p>
        </p:txBody>
      </p:sp>
      <p:sp>
        <p:nvSpPr>
          <p:cNvPr id="16" name="Text 14"/>
          <p:cNvSpPr/>
          <p:nvPr/>
        </p:nvSpPr>
        <p:spPr>
          <a:xfrm>
            <a:off x="9733788" y="2468880"/>
            <a:ext cx="1615084" cy="237744"/>
          </a:xfrm>
          <a:prstGeom prst="rect">
            <a:avLst/>
          </a:prstGeom>
          <a:noFill/>
          <a:ln/>
        </p:spPr>
        <p:txBody>
          <a:bodyPr wrap="square" lIns="0" tIns="0" rIns="0" bIns="0" rtlCol="0" anchor="ctr"/>
          <a:lstStyle/>
          <a:p>
            <a:pPr marL="0" indent="0">
              <a:buNone/>
            </a:pPr>
            <a:r>
              <a:rPr lang="en-US" sz="1000" b="1" kern="0" spc="150" dirty="0">
                <a:solidFill>
                  <a:srgbClr val="A8B2C4"/>
                </a:solidFill>
                <a:latin typeface="Arial" pitchFamily="34" charset="0"/>
                <a:ea typeface="Arial" pitchFamily="34" charset="-122"/>
                <a:cs typeface="Arial" pitchFamily="34" charset="-120"/>
              </a:rPr>
              <a:t>STRUCTURED</a:t>
            </a:r>
            <a:endParaRPr lang="en-US" sz="1000" dirty="0"/>
          </a:p>
        </p:txBody>
      </p:sp>
      <p:sp>
        <p:nvSpPr>
          <p:cNvPr id="17" name="Text 15"/>
          <p:cNvSpPr/>
          <p:nvPr/>
        </p:nvSpPr>
        <p:spPr>
          <a:xfrm>
            <a:off x="9340596" y="2852928"/>
            <a:ext cx="1915668" cy="292608"/>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A spreadsheet</a:t>
            </a:r>
            <a:endParaRPr lang="en-US" sz="1700" dirty="0"/>
          </a:p>
        </p:txBody>
      </p:sp>
      <p:sp>
        <p:nvSpPr>
          <p:cNvPr id="18" name="Text 16"/>
          <p:cNvSpPr/>
          <p:nvPr/>
        </p:nvSpPr>
        <p:spPr>
          <a:xfrm>
            <a:off x="9340596" y="3200400"/>
            <a:ext cx="1915668" cy="548640"/>
          </a:xfrm>
          <a:prstGeom prst="rect">
            <a:avLst/>
          </a:prstGeom>
          <a:noFill/>
          <a:ln/>
        </p:spPr>
        <p:txBody>
          <a:bodyPr wrap="square" lIns="0" tIns="0" rIns="0" bIns="0" rtlCol="0" anchor="ctr"/>
          <a:lstStyle/>
          <a:p>
            <a:pPr marL="0" indent="0">
              <a:buNone/>
            </a:pPr>
            <a:r>
              <a:rPr lang="en-US" sz="1250" dirty="0">
                <a:solidFill>
                  <a:srgbClr val="A8B2C4"/>
                </a:solidFill>
                <a:latin typeface="Calibri" pitchFamily="34" charset="0"/>
                <a:ea typeface="Calibri" pitchFamily="34" charset="-122"/>
                <a:cs typeface="Calibri" pitchFamily="34" charset="-120"/>
              </a:rPr>
              <a:t>Six months of pressure sensor readings</a:t>
            </a:r>
            <a:endParaRPr lang="en-US" sz="1250" dirty="0"/>
          </a:p>
        </p:txBody>
      </p:sp>
      <p:sp>
        <p:nvSpPr>
          <p:cNvPr id="19" name="Shape 17"/>
          <p:cNvSpPr/>
          <p:nvPr/>
        </p:nvSpPr>
        <p:spPr>
          <a:xfrm>
            <a:off x="640080" y="4434840"/>
            <a:ext cx="10908792" cy="1234440"/>
          </a:xfrm>
          <a:prstGeom prst="roundRect">
            <a:avLst>
              <a:gd name="adj" fmla="val 7407"/>
            </a:avLst>
          </a:prstGeom>
          <a:solidFill>
            <a:srgbClr val="FFFFFF"/>
          </a:solidFill>
          <a:ln/>
        </p:spPr>
        <p:txBody>
          <a:bodyPr/>
          <a:lstStyle/>
          <a:p>
            <a:endParaRPr lang="en-IN"/>
          </a:p>
        </p:txBody>
      </p:sp>
      <p:sp>
        <p:nvSpPr>
          <p:cNvPr id="20" name="Text 18"/>
          <p:cNvSpPr/>
          <p:nvPr/>
        </p:nvSpPr>
        <p:spPr>
          <a:xfrm>
            <a:off x="1005840" y="4617720"/>
            <a:ext cx="10149840" cy="365760"/>
          </a:xfrm>
          <a:prstGeom prst="rect">
            <a:avLst/>
          </a:prstGeom>
          <a:noFill/>
          <a:ln/>
        </p:spPr>
        <p:txBody>
          <a:bodyPr wrap="square" lIns="0" tIns="0" rIns="0" bIns="0" rtlCol="0" anchor="ctr"/>
          <a:lstStyle/>
          <a:p>
            <a:pPr marL="0" indent="0">
              <a:buNone/>
            </a:pPr>
            <a:r>
              <a:rPr lang="en-US" sz="2000" b="1" dirty="0">
                <a:solidFill>
                  <a:srgbClr val="0E1524"/>
                </a:solidFill>
                <a:latin typeface="Arial" pitchFamily="34" charset="0"/>
                <a:ea typeface="Arial" pitchFamily="34" charset="-122"/>
                <a:cs typeface="Arial" pitchFamily="34" charset="-120"/>
              </a:rPr>
              <a:t>"Is this joint safe to run through monsoon season?"</a:t>
            </a:r>
            <a:endParaRPr lang="en-US" sz="2000" dirty="0"/>
          </a:p>
        </p:txBody>
      </p:sp>
      <p:sp>
        <p:nvSpPr>
          <p:cNvPr id="21" name="Text 19"/>
          <p:cNvSpPr/>
          <p:nvPr/>
        </p:nvSpPr>
        <p:spPr>
          <a:xfrm>
            <a:off x="1005840" y="5047488"/>
            <a:ext cx="10149840" cy="320040"/>
          </a:xfrm>
          <a:prstGeom prst="rect">
            <a:avLst/>
          </a:prstGeom>
          <a:noFill/>
          <a:ln/>
        </p:spPr>
        <p:txBody>
          <a:bodyPr wrap="square" lIns="0" tIns="0" rIns="0" bIns="0" rtlCol="0" anchor="ctr"/>
          <a:lstStyle/>
          <a:p>
            <a:pPr marL="0" indent="0">
              <a:buNone/>
            </a:pPr>
            <a:r>
              <a:rPr lang="en-US" sz="1400" i="1" dirty="0">
                <a:solidFill>
                  <a:srgbClr val="6B7689"/>
                </a:solidFill>
                <a:latin typeface="Calibri" pitchFamily="34" charset="0"/>
                <a:ea typeface="Calibri" pitchFamily="34" charset="-122"/>
                <a:cs typeface="Calibri" pitchFamily="34" charset="-120"/>
              </a:rPr>
              <a:t>One question. One model. It has to look, watch, listen, and read the numbers to answer it.</a:t>
            </a:r>
            <a:endParaRPr lang="en-US" sz="1400" dirty="0"/>
          </a:p>
        </p:txBody>
      </p:sp>
      <p:sp>
        <p:nvSpPr>
          <p:cNvPr id="22" name="Shape 2"/>
          <p:cNvSpPr/>
          <p:nvPr/>
        </p:nvSpPr>
        <p:spPr>
          <a:xfrm>
            <a:off x="3442716" y="2148840"/>
            <a:ext cx="2500884" cy="1783080"/>
          </a:xfrm>
          <a:prstGeom prst="roundRect">
            <a:avLst>
              <a:gd name="adj" fmla="val 5128"/>
            </a:avLst>
          </a:prstGeom>
          <a:solidFill>
            <a:srgbClr val="1B2437"/>
          </a:solidFill>
          <a:ln/>
        </p:spPr>
        <p:txBody>
          <a:bodyPr/>
          <a:lstStyle/>
          <a:p>
            <a:endParaRPr lang="en-IN"/>
          </a:p>
        </p:txBody>
      </p:sp>
      <p:sp>
        <p:nvSpPr>
          <p:cNvPr id="23" name="Shape 3"/>
          <p:cNvSpPr/>
          <p:nvPr/>
        </p:nvSpPr>
        <p:spPr>
          <a:xfrm>
            <a:off x="3735324" y="2450592"/>
            <a:ext cx="274320" cy="274320"/>
          </a:xfrm>
          <a:prstGeom prst="ellipse">
            <a:avLst/>
          </a:prstGeom>
          <a:solidFill>
            <a:srgbClr val="FFC24A"/>
          </a:solidFill>
          <a:ln/>
        </p:spPr>
        <p:txBody>
          <a:bodyPr/>
          <a:lstStyle/>
          <a:p>
            <a:endParaRPr lang="en-IN"/>
          </a:p>
        </p:txBody>
      </p:sp>
      <p:sp>
        <p:nvSpPr>
          <p:cNvPr id="24" name="Text 4"/>
          <p:cNvSpPr/>
          <p:nvPr/>
        </p:nvSpPr>
        <p:spPr>
          <a:xfrm>
            <a:off x="4128516" y="2468880"/>
            <a:ext cx="1615084" cy="237744"/>
          </a:xfrm>
          <a:prstGeom prst="rect">
            <a:avLst/>
          </a:prstGeom>
          <a:noFill/>
          <a:ln/>
        </p:spPr>
        <p:txBody>
          <a:bodyPr wrap="square" lIns="0" tIns="0" rIns="0" bIns="0" rtlCol="0" anchor="ctr"/>
          <a:lstStyle/>
          <a:p>
            <a:pPr marL="0" indent="0">
              <a:buNone/>
            </a:pPr>
            <a:r>
              <a:rPr lang="en-US" sz="1000" b="1" kern="0" spc="150" dirty="0">
                <a:solidFill>
                  <a:srgbClr val="FFC24A"/>
                </a:solidFill>
                <a:latin typeface="Arial" pitchFamily="34" charset="0"/>
                <a:ea typeface="Arial" pitchFamily="34" charset="-122"/>
                <a:cs typeface="Arial" pitchFamily="34" charset="-120"/>
              </a:rPr>
              <a:t>VIDEO</a:t>
            </a:r>
            <a:endParaRPr lang="en-US" sz="1000" dirty="0"/>
          </a:p>
        </p:txBody>
      </p:sp>
      <p:sp>
        <p:nvSpPr>
          <p:cNvPr id="25" name="Text 5"/>
          <p:cNvSpPr/>
          <p:nvPr/>
        </p:nvSpPr>
        <p:spPr>
          <a:xfrm>
            <a:off x="3735324" y="2852928"/>
            <a:ext cx="1915668" cy="292608"/>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A drone clip</a:t>
            </a:r>
            <a:endParaRPr lang="en-US" sz="1700" dirty="0"/>
          </a:p>
        </p:txBody>
      </p:sp>
      <p:sp>
        <p:nvSpPr>
          <p:cNvPr id="26" name="Text 6"/>
          <p:cNvSpPr/>
          <p:nvPr/>
        </p:nvSpPr>
        <p:spPr>
          <a:xfrm>
            <a:off x="3735324" y="3200400"/>
            <a:ext cx="1915668" cy="548640"/>
          </a:xfrm>
          <a:prstGeom prst="rect">
            <a:avLst/>
          </a:prstGeom>
          <a:noFill/>
          <a:ln/>
        </p:spPr>
        <p:txBody>
          <a:bodyPr wrap="square" lIns="0" tIns="0" rIns="0" bIns="0" rtlCol="0" anchor="ctr"/>
          <a:lstStyle/>
          <a:p>
            <a:pPr marL="0" indent="0">
              <a:buNone/>
            </a:pPr>
            <a:r>
              <a:rPr lang="en-US" sz="1250" dirty="0">
                <a:solidFill>
                  <a:srgbClr val="A8B2C4"/>
                </a:solidFill>
                <a:latin typeface="Calibri" pitchFamily="34" charset="0"/>
                <a:ea typeface="Calibri" pitchFamily="34" charset="-122"/>
                <a:cs typeface="Calibri" pitchFamily="34" charset="-120"/>
              </a:rPr>
              <a:t>90 seconds along the same pipeline run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ROADMAP</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How the next 90 minutes runs</a:t>
            </a:r>
            <a:endParaRPr lang="en-US" sz="3400" dirty="0"/>
          </a:p>
        </p:txBody>
      </p:sp>
      <p:sp>
        <p:nvSpPr>
          <p:cNvPr id="4" name="Shape 2"/>
          <p:cNvSpPr/>
          <p:nvPr/>
        </p:nvSpPr>
        <p:spPr>
          <a:xfrm>
            <a:off x="640080" y="1600200"/>
            <a:ext cx="10908792" cy="621792"/>
          </a:xfrm>
          <a:prstGeom prst="roundRect">
            <a:avLst>
              <a:gd name="adj" fmla="val 11765"/>
            </a:avLst>
          </a:prstGeom>
          <a:solidFill>
            <a:srgbClr val="F4F6FA"/>
          </a:solidFill>
          <a:ln/>
        </p:spPr>
        <p:txBody>
          <a:bodyPr/>
          <a:lstStyle/>
          <a:p>
            <a:endParaRPr lang="en-IN"/>
          </a:p>
        </p:txBody>
      </p:sp>
      <p:sp>
        <p:nvSpPr>
          <p:cNvPr id="5" name="Text 3"/>
          <p:cNvSpPr/>
          <p:nvPr/>
        </p:nvSpPr>
        <p:spPr>
          <a:xfrm>
            <a:off x="896112" y="1600200"/>
            <a:ext cx="1188720" cy="621792"/>
          </a:xfrm>
          <a:prstGeom prst="rect">
            <a:avLst/>
          </a:prstGeom>
          <a:noFill/>
          <a:ln/>
        </p:spPr>
        <p:txBody>
          <a:bodyPr wrap="square" lIns="0" tIns="0" rIns="0" bIns="0" rtlCol="0" anchor="ctr"/>
          <a:lstStyle/>
          <a:p>
            <a:pPr marL="0" indent="0">
              <a:buNone/>
            </a:pPr>
            <a:r>
              <a:rPr lang="en-US" sz="1300" b="1" dirty="0">
                <a:solidFill>
                  <a:srgbClr val="6B7689"/>
                </a:solidFill>
                <a:latin typeface="Arial" pitchFamily="34" charset="0"/>
                <a:ea typeface="Arial" pitchFamily="34" charset="-122"/>
                <a:cs typeface="Arial" pitchFamily="34" charset="-120"/>
              </a:rPr>
              <a:t>00-06 min</a:t>
            </a:r>
            <a:endParaRPr lang="en-US" sz="1300" dirty="0"/>
          </a:p>
        </p:txBody>
      </p:sp>
      <p:sp>
        <p:nvSpPr>
          <p:cNvPr id="6" name="Text 4"/>
          <p:cNvSpPr/>
          <p:nvPr/>
        </p:nvSpPr>
        <p:spPr>
          <a:xfrm>
            <a:off x="2240280" y="1600200"/>
            <a:ext cx="2834640" cy="621792"/>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Opening</a:t>
            </a:r>
            <a:endParaRPr lang="en-US" sz="1500" dirty="0"/>
          </a:p>
        </p:txBody>
      </p:sp>
      <p:sp>
        <p:nvSpPr>
          <p:cNvPr id="7" name="Text 5"/>
          <p:cNvSpPr/>
          <p:nvPr/>
        </p:nvSpPr>
        <p:spPr>
          <a:xfrm>
            <a:off x="5166360" y="1600200"/>
            <a:ext cx="6035040" cy="621792"/>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Why this topic, and what you leave with</a:t>
            </a:r>
            <a:endParaRPr lang="en-US" sz="1300" dirty="0"/>
          </a:p>
        </p:txBody>
      </p:sp>
      <p:sp>
        <p:nvSpPr>
          <p:cNvPr id="8" name="Shape 6"/>
          <p:cNvSpPr/>
          <p:nvPr/>
        </p:nvSpPr>
        <p:spPr>
          <a:xfrm>
            <a:off x="640080" y="2359152"/>
            <a:ext cx="10908792" cy="621792"/>
          </a:xfrm>
          <a:prstGeom prst="roundRect">
            <a:avLst>
              <a:gd name="adj" fmla="val 11765"/>
            </a:avLst>
          </a:prstGeom>
          <a:solidFill>
            <a:srgbClr val="F4F6FA"/>
          </a:solidFill>
          <a:ln/>
        </p:spPr>
        <p:txBody>
          <a:bodyPr/>
          <a:lstStyle/>
          <a:p>
            <a:endParaRPr lang="en-IN"/>
          </a:p>
        </p:txBody>
      </p:sp>
      <p:sp>
        <p:nvSpPr>
          <p:cNvPr id="9" name="Text 7"/>
          <p:cNvSpPr/>
          <p:nvPr/>
        </p:nvSpPr>
        <p:spPr>
          <a:xfrm>
            <a:off x="896112" y="2359152"/>
            <a:ext cx="1188720" cy="621792"/>
          </a:xfrm>
          <a:prstGeom prst="rect">
            <a:avLst/>
          </a:prstGeom>
          <a:noFill/>
          <a:ln/>
        </p:spPr>
        <p:txBody>
          <a:bodyPr wrap="square" lIns="0" tIns="0" rIns="0" bIns="0" rtlCol="0" anchor="ctr"/>
          <a:lstStyle/>
          <a:p>
            <a:pPr marL="0" indent="0">
              <a:buNone/>
            </a:pPr>
            <a:r>
              <a:rPr lang="en-US" sz="1300" b="1" dirty="0">
                <a:solidFill>
                  <a:srgbClr val="00C2A8"/>
                </a:solidFill>
                <a:latin typeface="Arial" pitchFamily="34" charset="0"/>
                <a:ea typeface="Arial" pitchFamily="34" charset="-122"/>
                <a:cs typeface="Arial" pitchFamily="34" charset="-120"/>
              </a:rPr>
              <a:t>06-26 min</a:t>
            </a:r>
            <a:endParaRPr lang="en-US" sz="1300" dirty="0"/>
          </a:p>
        </p:txBody>
      </p:sp>
      <p:sp>
        <p:nvSpPr>
          <p:cNvPr id="10" name="Text 8"/>
          <p:cNvSpPr/>
          <p:nvPr/>
        </p:nvSpPr>
        <p:spPr>
          <a:xfrm>
            <a:off x="2240280" y="2359152"/>
            <a:ext cx="2834640" cy="621792"/>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Fundamentals</a:t>
            </a:r>
            <a:endParaRPr lang="en-US" sz="1500" dirty="0"/>
          </a:p>
        </p:txBody>
      </p:sp>
      <p:sp>
        <p:nvSpPr>
          <p:cNvPr id="11" name="Text 9"/>
          <p:cNvSpPr/>
          <p:nvPr/>
        </p:nvSpPr>
        <p:spPr>
          <a:xfrm>
            <a:off x="5166360" y="2359152"/>
            <a:ext cx="6035040" cy="621792"/>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What actually changed under the hood</a:t>
            </a:r>
            <a:endParaRPr lang="en-US" sz="1300" dirty="0"/>
          </a:p>
        </p:txBody>
      </p:sp>
      <p:sp>
        <p:nvSpPr>
          <p:cNvPr id="12" name="Shape 10"/>
          <p:cNvSpPr/>
          <p:nvPr/>
        </p:nvSpPr>
        <p:spPr>
          <a:xfrm>
            <a:off x="640080" y="3118104"/>
            <a:ext cx="10908792" cy="621792"/>
          </a:xfrm>
          <a:prstGeom prst="roundRect">
            <a:avLst>
              <a:gd name="adj" fmla="val 11765"/>
            </a:avLst>
          </a:prstGeom>
          <a:solidFill>
            <a:srgbClr val="F4F6FA"/>
          </a:solidFill>
          <a:ln/>
        </p:spPr>
        <p:txBody>
          <a:bodyPr/>
          <a:lstStyle/>
          <a:p>
            <a:endParaRPr lang="en-IN"/>
          </a:p>
        </p:txBody>
      </p:sp>
      <p:sp>
        <p:nvSpPr>
          <p:cNvPr id="13" name="Text 11"/>
          <p:cNvSpPr/>
          <p:nvPr/>
        </p:nvSpPr>
        <p:spPr>
          <a:xfrm>
            <a:off x="896112" y="3118104"/>
            <a:ext cx="1188720" cy="621792"/>
          </a:xfrm>
          <a:prstGeom prst="rect">
            <a:avLst/>
          </a:prstGeom>
          <a:noFill/>
          <a:ln/>
        </p:spPr>
        <p:txBody>
          <a:bodyPr wrap="square" lIns="0" tIns="0" rIns="0" bIns="0" rtlCol="0" anchor="ctr"/>
          <a:lstStyle/>
          <a:p>
            <a:pPr marL="0" indent="0">
              <a:buNone/>
            </a:pPr>
            <a:r>
              <a:rPr lang="en-US" sz="1300" b="1" dirty="0">
                <a:solidFill>
                  <a:srgbClr val="FF6B4A"/>
                </a:solidFill>
                <a:latin typeface="Arial" pitchFamily="34" charset="0"/>
                <a:ea typeface="Arial" pitchFamily="34" charset="-122"/>
                <a:cs typeface="Arial" pitchFamily="34" charset="-120"/>
              </a:rPr>
              <a:t>26-44 min</a:t>
            </a:r>
            <a:endParaRPr lang="en-US" sz="1300" dirty="0"/>
          </a:p>
        </p:txBody>
      </p:sp>
      <p:sp>
        <p:nvSpPr>
          <p:cNvPr id="14" name="Text 12"/>
          <p:cNvSpPr/>
          <p:nvPr/>
        </p:nvSpPr>
        <p:spPr>
          <a:xfrm>
            <a:off x="2240280" y="3118104"/>
            <a:ext cx="2834640" cy="621792"/>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Innovation</a:t>
            </a:r>
            <a:endParaRPr lang="en-US" sz="1500" dirty="0"/>
          </a:p>
        </p:txBody>
      </p:sp>
      <p:sp>
        <p:nvSpPr>
          <p:cNvPr id="15" name="Text 13"/>
          <p:cNvSpPr/>
          <p:nvPr/>
        </p:nvSpPr>
        <p:spPr>
          <a:xfrm>
            <a:off x="5166360" y="3118104"/>
            <a:ext cx="6035040" cy="621792"/>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What is newly possible, and what still breaks</a:t>
            </a:r>
            <a:endParaRPr lang="en-US" sz="1300" dirty="0"/>
          </a:p>
        </p:txBody>
      </p:sp>
      <p:sp>
        <p:nvSpPr>
          <p:cNvPr id="16" name="Shape 14"/>
          <p:cNvSpPr/>
          <p:nvPr/>
        </p:nvSpPr>
        <p:spPr>
          <a:xfrm>
            <a:off x="640080" y="3877056"/>
            <a:ext cx="10908792" cy="621792"/>
          </a:xfrm>
          <a:prstGeom prst="roundRect">
            <a:avLst>
              <a:gd name="adj" fmla="val 11765"/>
            </a:avLst>
          </a:prstGeom>
          <a:solidFill>
            <a:srgbClr val="0E1524"/>
          </a:solidFill>
          <a:ln/>
        </p:spPr>
        <p:txBody>
          <a:bodyPr/>
          <a:lstStyle/>
          <a:p>
            <a:endParaRPr lang="en-IN"/>
          </a:p>
        </p:txBody>
      </p:sp>
      <p:sp>
        <p:nvSpPr>
          <p:cNvPr id="17" name="Text 15"/>
          <p:cNvSpPr/>
          <p:nvPr/>
        </p:nvSpPr>
        <p:spPr>
          <a:xfrm>
            <a:off x="896112" y="3877056"/>
            <a:ext cx="1188720" cy="621792"/>
          </a:xfrm>
          <a:prstGeom prst="rect">
            <a:avLst/>
          </a:prstGeom>
          <a:noFill/>
          <a:ln/>
        </p:spPr>
        <p:txBody>
          <a:bodyPr wrap="square" lIns="0" tIns="0" rIns="0" bIns="0" rtlCol="0" anchor="ctr"/>
          <a:lstStyle/>
          <a:p>
            <a:pPr marL="0" indent="0">
              <a:buNone/>
            </a:pPr>
            <a:r>
              <a:rPr lang="en-US" sz="1300" b="1" dirty="0">
                <a:solidFill>
                  <a:srgbClr val="FFC24A"/>
                </a:solidFill>
                <a:latin typeface="Arial" pitchFamily="34" charset="0"/>
                <a:ea typeface="Arial" pitchFamily="34" charset="-122"/>
                <a:cs typeface="Arial" pitchFamily="34" charset="-120"/>
              </a:rPr>
              <a:t>44-60 min</a:t>
            </a:r>
            <a:endParaRPr lang="en-US" sz="1300" dirty="0"/>
          </a:p>
        </p:txBody>
      </p:sp>
      <p:sp>
        <p:nvSpPr>
          <p:cNvPr id="18" name="Text 16"/>
          <p:cNvSpPr/>
          <p:nvPr/>
        </p:nvSpPr>
        <p:spPr>
          <a:xfrm>
            <a:off x="2240280" y="3877056"/>
            <a:ext cx="2834640" cy="621792"/>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Architecture</a:t>
            </a:r>
            <a:endParaRPr lang="en-US" sz="1500" dirty="0"/>
          </a:p>
        </p:txBody>
      </p:sp>
      <p:sp>
        <p:nvSpPr>
          <p:cNvPr id="19" name="Text 17"/>
          <p:cNvSpPr/>
          <p:nvPr/>
        </p:nvSpPr>
        <p:spPr>
          <a:xfrm>
            <a:off x="5166360" y="3877056"/>
            <a:ext cx="6035040" cy="621792"/>
          </a:xfrm>
          <a:prstGeom prst="rect">
            <a:avLst/>
          </a:prstGeom>
          <a:noFill/>
          <a:ln/>
        </p:spPr>
        <p:txBody>
          <a:bodyPr wrap="square" lIns="0" tIns="0" rIns="0" bIns="0" rtlCol="0" anchor="ctr"/>
          <a:lstStyle/>
          <a:p>
            <a:pPr marL="0" indent="0">
              <a:buNone/>
            </a:pPr>
            <a:r>
              <a:rPr lang="en-US" sz="1300" dirty="0">
                <a:solidFill>
                  <a:srgbClr val="A8B2C4"/>
                </a:solidFill>
                <a:latin typeface="Calibri" pitchFamily="34" charset="0"/>
                <a:ea typeface="Calibri" pitchFamily="34" charset="-122"/>
                <a:cs typeface="Calibri" pitchFamily="34" charset="-120"/>
              </a:rPr>
              <a:t>How one of these is assembled, stage by stage</a:t>
            </a:r>
            <a:endParaRPr lang="en-US" sz="1300" dirty="0"/>
          </a:p>
        </p:txBody>
      </p:sp>
      <p:sp>
        <p:nvSpPr>
          <p:cNvPr id="20" name="Shape 18"/>
          <p:cNvSpPr/>
          <p:nvPr/>
        </p:nvSpPr>
        <p:spPr>
          <a:xfrm>
            <a:off x="640080" y="4636008"/>
            <a:ext cx="10908792" cy="621792"/>
          </a:xfrm>
          <a:prstGeom prst="roundRect">
            <a:avLst>
              <a:gd name="adj" fmla="val 11765"/>
            </a:avLst>
          </a:prstGeom>
          <a:solidFill>
            <a:srgbClr val="F4F6FA"/>
          </a:solidFill>
          <a:ln/>
        </p:spPr>
        <p:txBody>
          <a:bodyPr/>
          <a:lstStyle/>
          <a:p>
            <a:endParaRPr lang="en-IN"/>
          </a:p>
        </p:txBody>
      </p:sp>
      <p:sp>
        <p:nvSpPr>
          <p:cNvPr id="21" name="Text 19"/>
          <p:cNvSpPr/>
          <p:nvPr/>
        </p:nvSpPr>
        <p:spPr>
          <a:xfrm>
            <a:off x="896112" y="4636008"/>
            <a:ext cx="1188720" cy="621792"/>
          </a:xfrm>
          <a:prstGeom prst="rect">
            <a:avLst/>
          </a:prstGeom>
          <a:noFill/>
          <a:ln/>
        </p:spPr>
        <p:txBody>
          <a:bodyPr wrap="square" lIns="0" tIns="0" rIns="0" bIns="0" rtlCol="0" anchor="ctr"/>
          <a:lstStyle/>
          <a:p>
            <a:pPr marL="0" indent="0">
              <a:buNone/>
            </a:pPr>
            <a:r>
              <a:rPr lang="en-US" sz="1300" b="1" dirty="0">
                <a:solidFill>
                  <a:srgbClr val="00C2A8"/>
                </a:solidFill>
                <a:latin typeface="Arial" pitchFamily="34" charset="0"/>
                <a:ea typeface="Arial" pitchFamily="34" charset="-122"/>
                <a:cs typeface="Arial" pitchFamily="34" charset="-120"/>
              </a:rPr>
              <a:t>60-80 min</a:t>
            </a:r>
            <a:endParaRPr lang="en-US" sz="1300" dirty="0"/>
          </a:p>
        </p:txBody>
      </p:sp>
      <p:sp>
        <p:nvSpPr>
          <p:cNvPr id="22" name="Text 20"/>
          <p:cNvSpPr/>
          <p:nvPr/>
        </p:nvSpPr>
        <p:spPr>
          <a:xfrm>
            <a:off x="2240280" y="4636008"/>
            <a:ext cx="2834640" cy="621792"/>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Research and Teaching</a:t>
            </a:r>
            <a:endParaRPr lang="en-US" sz="1500" dirty="0"/>
          </a:p>
        </p:txBody>
      </p:sp>
      <p:sp>
        <p:nvSpPr>
          <p:cNvPr id="23" name="Text 21"/>
          <p:cNvSpPr/>
          <p:nvPr/>
        </p:nvSpPr>
        <p:spPr>
          <a:xfrm>
            <a:off x="5166360" y="4636008"/>
            <a:ext cx="6035040" cy="621792"/>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Publications, grants, and classroom use</a:t>
            </a:r>
            <a:endParaRPr lang="en-US" sz="1300" dirty="0"/>
          </a:p>
        </p:txBody>
      </p:sp>
      <p:sp>
        <p:nvSpPr>
          <p:cNvPr id="24" name="Shape 22"/>
          <p:cNvSpPr/>
          <p:nvPr/>
        </p:nvSpPr>
        <p:spPr>
          <a:xfrm>
            <a:off x="640080" y="5394960"/>
            <a:ext cx="10908792" cy="621792"/>
          </a:xfrm>
          <a:prstGeom prst="roundRect">
            <a:avLst>
              <a:gd name="adj" fmla="val 11765"/>
            </a:avLst>
          </a:prstGeom>
          <a:solidFill>
            <a:srgbClr val="F4F6FA"/>
          </a:solidFill>
          <a:ln/>
        </p:spPr>
        <p:txBody>
          <a:bodyPr/>
          <a:lstStyle/>
          <a:p>
            <a:endParaRPr lang="en-IN"/>
          </a:p>
        </p:txBody>
      </p:sp>
      <p:sp>
        <p:nvSpPr>
          <p:cNvPr id="25" name="Text 23"/>
          <p:cNvSpPr/>
          <p:nvPr/>
        </p:nvSpPr>
        <p:spPr>
          <a:xfrm>
            <a:off x="896112" y="5394960"/>
            <a:ext cx="1188720" cy="621792"/>
          </a:xfrm>
          <a:prstGeom prst="rect">
            <a:avLst/>
          </a:prstGeom>
          <a:noFill/>
          <a:ln/>
        </p:spPr>
        <p:txBody>
          <a:bodyPr wrap="square" lIns="0" tIns="0" rIns="0" bIns="0" rtlCol="0" anchor="ctr"/>
          <a:lstStyle/>
          <a:p>
            <a:pPr marL="0" indent="0">
              <a:buNone/>
            </a:pPr>
            <a:r>
              <a:rPr lang="en-US" sz="1300" b="1" dirty="0">
                <a:solidFill>
                  <a:srgbClr val="6B7689"/>
                </a:solidFill>
                <a:latin typeface="Arial" pitchFamily="34" charset="0"/>
                <a:ea typeface="Arial" pitchFamily="34" charset="-122"/>
                <a:cs typeface="Arial" pitchFamily="34" charset="-120"/>
              </a:rPr>
              <a:t>80-90 min</a:t>
            </a:r>
            <a:endParaRPr lang="en-US" sz="1300" dirty="0"/>
          </a:p>
        </p:txBody>
      </p:sp>
      <p:sp>
        <p:nvSpPr>
          <p:cNvPr id="26" name="Text 24"/>
          <p:cNvSpPr/>
          <p:nvPr/>
        </p:nvSpPr>
        <p:spPr>
          <a:xfrm>
            <a:off x="2240280" y="5394960"/>
            <a:ext cx="2834640" cy="621792"/>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Q and A</a:t>
            </a:r>
            <a:endParaRPr lang="en-US" sz="1500" dirty="0"/>
          </a:p>
        </p:txBody>
      </p:sp>
      <p:sp>
        <p:nvSpPr>
          <p:cNvPr id="27" name="Text 25"/>
          <p:cNvSpPr/>
          <p:nvPr/>
        </p:nvSpPr>
        <p:spPr>
          <a:xfrm>
            <a:off x="5166360" y="5394960"/>
            <a:ext cx="6035040" cy="621792"/>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Open floor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LEARNING OUTCOMES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What you should be able to do by the end</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Four outcomes. The first two are teachable next week, the third needs only a whiteboard, the fourth is a proposal.</a:t>
            </a:r>
            <a:endParaRPr lang="en-US" sz="1400" dirty="0"/>
          </a:p>
        </p:txBody>
      </p:sp>
      <p:sp>
        <p:nvSpPr>
          <p:cNvPr id="5" name="Shape 3"/>
          <p:cNvSpPr/>
          <p:nvPr/>
        </p:nvSpPr>
        <p:spPr>
          <a:xfrm>
            <a:off x="640080" y="2011680"/>
            <a:ext cx="10908792" cy="694944"/>
          </a:xfrm>
          <a:prstGeom prst="roundRect">
            <a:avLst>
              <a:gd name="adj" fmla="val 10526"/>
            </a:avLst>
          </a:prstGeom>
          <a:solidFill>
            <a:srgbClr val="F4F6FA"/>
          </a:solidFill>
          <a:ln/>
        </p:spPr>
        <p:txBody>
          <a:bodyPr/>
          <a:lstStyle/>
          <a:p>
            <a:endParaRPr lang="en-IN"/>
          </a:p>
        </p:txBody>
      </p:sp>
      <p:sp>
        <p:nvSpPr>
          <p:cNvPr id="6" name="Shape 4"/>
          <p:cNvSpPr/>
          <p:nvPr/>
        </p:nvSpPr>
        <p:spPr>
          <a:xfrm>
            <a:off x="896112" y="2185416"/>
            <a:ext cx="347472" cy="347472"/>
          </a:xfrm>
          <a:prstGeom prst="ellipse">
            <a:avLst/>
          </a:prstGeom>
          <a:solidFill>
            <a:srgbClr val="FF6B4A"/>
          </a:solidFill>
          <a:ln/>
        </p:spPr>
        <p:txBody>
          <a:bodyPr/>
          <a:lstStyle/>
          <a:p>
            <a:endParaRPr lang="en-IN"/>
          </a:p>
        </p:txBody>
      </p:sp>
      <p:sp>
        <p:nvSpPr>
          <p:cNvPr id="7" name="Text 5"/>
          <p:cNvSpPr/>
          <p:nvPr/>
        </p:nvSpPr>
        <p:spPr>
          <a:xfrm>
            <a:off x="896112" y="2185416"/>
            <a:ext cx="347472" cy="347472"/>
          </a:xfrm>
          <a:prstGeom prst="rect">
            <a:avLst/>
          </a:prstGeom>
          <a:noFill/>
          <a:ln/>
        </p:spPr>
        <p:txBody>
          <a:bodyPr wrap="square" lIns="0" tIns="0" rIns="0" bIns="0" rtlCol="0" anchor="ctr"/>
          <a:lstStyle/>
          <a:p>
            <a:pPr marL="0" indent="0" algn="ctr">
              <a:buNone/>
            </a:pPr>
            <a:r>
              <a:rPr lang="en-US" sz="1300" b="1" dirty="0">
                <a:solidFill>
                  <a:srgbClr val="0E1524"/>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1417320" y="2011680"/>
            <a:ext cx="2651760" cy="694944"/>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Explain the shared space</a:t>
            </a:r>
            <a:endParaRPr lang="en-US" sz="1550" dirty="0"/>
          </a:p>
        </p:txBody>
      </p:sp>
      <p:sp>
        <p:nvSpPr>
          <p:cNvPr id="9" name="Text 7"/>
          <p:cNvSpPr/>
          <p:nvPr/>
        </p:nvSpPr>
        <p:spPr>
          <a:xfrm>
            <a:off x="4160520" y="2011680"/>
            <a:ext cx="7040880" cy="694944"/>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Say, without equations, why one model can now handle an image, a sentence and a sound clip</a:t>
            </a:r>
            <a:endParaRPr lang="en-US" sz="1300" dirty="0"/>
          </a:p>
        </p:txBody>
      </p:sp>
      <p:sp>
        <p:nvSpPr>
          <p:cNvPr id="10" name="Shape 8"/>
          <p:cNvSpPr/>
          <p:nvPr/>
        </p:nvSpPr>
        <p:spPr>
          <a:xfrm>
            <a:off x="640080" y="2852928"/>
            <a:ext cx="10908792" cy="694944"/>
          </a:xfrm>
          <a:prstGeom prst="roundRect">
            <a:avLst>
              <a:gd name="adj" fmla="val 10526"/>
            </a:avLst>
          </a:prstGeom>
          <a:solidFill>
            <a:srgbClr val="F4F6FA"/>
          </a:solidFill>
          <a:ln/>
        </p:spPr>
        <p:txBody>
          <a:bodyPr/>
          <a:lstStyle/>
          <a:p>
            <a:endParaRPr lang="en-IN"/>
          </a:p>
        </p:txBody>
      </p:sp>
      <p:sp>
        <p:nvSpPr>
          <p:cNvPr id="11" name="Shape 9"/>
          <p:cNvSpPr/>
          <p:nvPr/>
        </p:nvSpPr>
        <p:spPr>
          <a:xfrm>
            <a:off x="896112" y="3026664"/>
            <a:ext cx="347472" cy="347472"/>
          </a:xfrm>
          <a:prstGeom prst="ellipse">
            <a:avLst/>
          </a:prstGeom>
          <a:solidFill>
            <a:srgbClr val="FFC24A"/>
          </a:solidFill>
          <a:ln/>
        </p:spPr>
        <p:txBody>
          <a:bodyPr/>
          <a:lstStyle/>
          <a:p>
            <a:endParaRPr lang="en-IN"/>
          </a:p>
        </p:txBody>
      </p:sp>
      <p:sp>
        <p:nvSpPr>
          <p:cNvPr id="12" name="Text 10"/>
          <p:cNvSpPr/>
          <p:nvPr/>
        </p:nvSpPr>
        <p:spPr>
          <a:xfrm>
            <a:off x="896112" y="3026664"/>
            <a:ext cx="347472" cy="347472"/>
          </a:xfrm>
          <a:prstGeom prst="rect">
            <a:avLst/>
          </a:prstGeom>
          <a:noFill/>
          <a:ln/>
        </p:spPr>
        <p:txBody>
          <a:bodyPr wrap="square" lIns="0" tIns="0" rIns="0" bIns="0" rtlCol="0" anchor="ctr"/>
          <a:lstStyle/>
          <a:p>
            <a:pPr marL="0" indent="0" algn="ctr">
              <a:buNone/>
            </a:pPr>
            <a:r>
              <a:rPr lang="en-US" sz="1300" b="1" dirty="0">
                <a:solidFill>
                  <a:srgbClr val="0E1524"/>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1417320" y="2852928"/>
            <a:ext cx="2651760" cy="694944"/>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Choose a fusion strategy</a:t>
            </a:r>
            <a:endParaRPr lang="en-US" sz="1550" dirty="0"/>
          </a:p>
        </p:txBody>
      </p:sp>
      <p:sp>
        <p:nvSpPr>
          <p:cNvPr id="14" name="Text 12"/>
          <p:cNvSpPr/>
          <p:nvPr/>
        </p:nvSpPr>
        <p:spPr>
          <a:xfrm>
            <a:off x="4160520" y="2852928"/>
            <a:ext cx="7040880" cy="694944"/>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Pick between early, late and cross-attention fusion for a project, and defend the choice</a:t>
            </a:r>
            <a:endParaRPr lang="en-US" sz="1300" dirty="0"/>
          </a:p>
        </p:txBody>
      </p:sp>
      <p:sp>
        <p:nvSpPr>
          <p:cNvPr id="15" name="Shape 13"/>
          <p:cNvSpPr/>
          <p:nvPr/>
        </p:nvSpPr>
        <p:spPr>
          <a:xfrm>
            <a:off x="640080" y="3694176"/>
            <a:ext cx="10908792" cy="694944"/>
          </a:xfrm>
          <a:prstGeom prst="roundRect">
            <a:avLst>
              <a:gd name="adj" fmla="val 10526"/>
            </a:avLst>
          </a:prstGeom>
          <a:solidFill>
            <a:srgbClr val="F4F6FA"/>
          </a:solidFill>
          <a:ln/>
        </p:spPr>
        <p:txBody>
          <a:bodyPr/>
          <a:lstStyle/>
          <a:p>
            <a:endParaRPr lang="en-IN"/>
          </a:p>
        </p:txBody>
      </p:sp>
      <p:sp>
        <p:nvSpPr>
          <p:cNvPr id="16" name="Shape 14"/>
          <p:cNvSpPr/>
          <p:nvPr/>
        </p:nvSpPr>
        <p:spPr>
          <a:xfrm>
            <a:off x="896112" y="3867912"/>
            <a:ext cx="347472" cy="347472"/>
          </a:xfrm>
          <a:prstGeom prst="ellipse">
            <a:avLst/>
          </a:prstGeom>
          <a:solidFill>
            <a:srgbClr val="00C2A8"/>
          </a:solidFill>
          <a:ln/>
        </p:spPr>
        <p:txBody>
          <a:bodyPr/>
          <a:lstStyle/>
          <a:p>
            <a:endParaRPr lang="en-IN"/>
          </a:p>
        </p:txBody>
      </p:sp>
      <p:sp>
        <p:nvSpPr>
          <p:cNvPr id="17" name="Text 15"/>
          <p:cNvSpPr/>
          <p:nvPr/>
        </p:nvSpPr>
        <p:spPr>
          <a:xfrm>
            <a:off x="896112" y="3867912"/>
            <a:ext cx="347472" cy="347472"/>
          </a:xfrm>
          <a:prstGeom prst="rect">
            <a:avLst/>
          </a:prstGeom>
          <a:noFill/>
          <a:ln/>
        </p:spPr>
        <p:txBody>
          <a:bodyPr wrap="square" lIns="0" tIns="0" rIns="0" bIns="0" rtlCol="0" anchor="ctr"/>
          <a:lstStyle/>
          <a:p>
            <a:pPr marL="0" indent="0" algn="ctr">
              <a:buNone/>
            </a:pPr>
            <a:r>
              <a:rPr lang="en-US" sz="1300" b="1" dirty="0">
                <a:solidFill>
                  <a:srgbClr val="0E1524"/>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1417320" y="3694176"/>
            <a:ext cx="2651760" cy="694944"/>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Draw the architecture</a:t>
            </a:r>
            <a:endParaRPr lang="en-US" sz="1550" dirty="0"/>
          </a:p>
        </p:txBody>
      </p:sp>
      <p:sp>
        <p:nvSpPr>
          <p:cNvPr id="19" name="Text 17"/>
          <p:cNvSpPr/>
          <p:nvPr/>
        </p:nvSpPr>
        <p:spPr>
          <a:xfrm>
            <a:off x="4160520" y="3694176"/>
            <a:ext cx="7040880" cy="694944"/>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Sketch an end-to-end multimodal system for your own domain and name every component</a:t>
            </a:r>
            <a:endParaRPr lang="en-US" sz="1300" dirty="0"/>
          </a:p>
        </p:txBody>
      </p:sp>
      <p:sp>
        <p:nvSpPr>
          <p:cNvPr id="20" name="Shape 18"/>
          <p:cNvSpPr/>
          <p:nvPr/>
        </p:nvSpPr>
        <p:spPr>
          <a:xfrm>
            <a:off x="640080" y="4535424"/>
            <a:ext cx="10908792" cy="694944"/>
          </a:xfrm>
          <a:prstGeom prst="roundRect">
            <a:avLst>
              <a:gd name="adj" fmla="val 10526"/>
            </a:avLst>
          </a:prstGeom>
          <a:solidFill>
            <a:srgbClr val="F4F6FA"/>
          </a:solidFill>
          <a:ln/>
        </p:spPr>
        <p:txBody>
          <a:bodyPr/>
          <a:lstStyle/>
          <a:p>
            <a:endParaRPr lang="en-IN"/>
          </a:p>
        </p:txBody>
      </p:sp>
      <p:sp>
        <p:nvSpPr>
          <p:cNvPr id="21" name="Shape 19"/>
          <p:cNvSpPr/>
          <p:nvPr/>
        </p:nvSpPr>
        <p:spPr>
          <a:xfrm>
            <a:off x="896112" y="4709160"/>
            <a:ext cx="347472" cy="347472"/>
          </a:xfrm>
          <a:prstGeom prst="ellipse">
            <a:avLst/>
          </a:prstGeom>
          <a:solidFill>
            <a:srgbClr val="6B7689"/>
          </a:solidFill>
          <a:ln/>
        </p:spPr>
        <p:txBody>
          <a:bodyPr/>
          <a:lstStyle/>
          <a:p>
            <a:endParaRPr lang="en-IN"/>
          </a:p>
        </p:txBody>
      </p:sp>
      <p:sp>
        <p:nvSpPr>
          <p:cNvPr id="22" name="Text 20"/>
          <p:cNvSpPr/>
          <p:nvPr/>
        </p:nvSpPr>
        <p:spPr>
          <a:xfrm>
            <a:off x="896112" y="4709160"/>
            <a:ext cx="347472" cy="347472"/>
          </a:xfrm>
          <a:prstGeom prst="rect">
            <a:avLst/>
          </a:prstGeom>
          <a:noFill/>
          <a:ln/>
        </p:spPr>
        <p:txBody>
          <a:bodyPr wrap="square" lIns="0" tIns="0" rIns="0" bIns="0" rtlCol="0" anchor="ctr"/>
          <a:lstStyle/>
          <a:p>
            <a:pPr marL="0" indent="0" algn="ctr">
              <a:buNone/>
            </a:pPr>
            <a:r>
              <a:rPr lang="en-US" sz="1300" b="1" dirty="0">
                <a:solidFill>
                  <a:srgbClr val="0E1524"/>
                </a:solidFill>
                <a:latin typeface="Arial" pitchFamily="34" charset="0"/>
                <a:ea typeface="Arial" pitchFamily="34" charset="-122"/>
                <a:cs typeface="Arial" pitchFamily="34" charset="-120"/>
              </a:rPr>
              <a:t>4</a:t>
            </a:r>
            <a:endParaRPr lang="en-US" sz="1300" dirty="0"/>
          </a:p>
        </p:txBody>
      </p:sp>
      <p:sp>
        <p:nvSpPr>
          <p:cNvPr id="23" name="Text 21"/>
          <p:cNvSpPr/>
          <p:nvPr/>
        </p:nvSpPr>
        <p:spPr>
          <a:xfrm>
            <a:off x="1417320" y="4535424"/>
            <a:ext cx="2651760" cy="694944"/>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Frame a fundable problem</a:t>
            </a:r>
            <a:endParaRPr lang="en-US" sz="1550" dirty="0"/>
          </a:p>
        </p:txBody>
      </p:sp>
      <p:sp>
        <p:nvSpPr>
          <p:cNvPr id="24" name="Text 22"/>
          <p:cNvSpPr/>
          <p:nvPr/>
        </p:nvSpPr>
        <p:spPr>
          <a:xfrm>
            <a:off x="4160520" y="4535424"/>
            <a:ext cx="7040880" cy="694944"/>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Turn one open failure case into a narrow, evaluable proposal for an ANRF or IndiaAI call</a:t>
            </a:r>
            <a:endParaRPr lang="en-US" sz="1300" dirty="0"/>
          </a:p>
        </p:txBody>
      </p:sp>
      <p:sp>
        <p:nvSpPr>
          <p:cNvPr id="25" name="Text 23"/>
          <p:cNvSpPr/>
          <p:nvPr/>
        </p:nvSpPr>
        <p:spPr>
          <a:xfrm>
            <a:off x="640080" y="5532120"/>
            <a:ext cx="10908792" cy="365760"/>
          </a:xfrm>
          <a:prstGeom prst="rect">
            <a:avLst/>
          </a:prstGeom>
          <a:noFill/>
          <a:ln/>
        </p:spPr>
        <p:txBody>
          <a:bodyPr wrap="square" lIns="0" tIns="0" rIns="0" bIns="0" rtlCol="0" anchor="ctr"/>
          <a:lstStyle/>
          <a:p>
            <a:pPr marL="0" indent="0">
              <a:buNone/>
            </a:pPr>
            <a:r>
              <a:rPr lang="en-US" sz="1600" b="1" dirty="0">
                <a:solidFill>
                  <a:srgbClr val="0E1524"/>
                </a:solidFill>
                <a:latin typeface="Arial" pitchFamily="34" charset="0"/>
                <a:ea typeface="Arial" pitchFamily="34" charset="-122"/>
                <a:cs typeface="Arial" pitchFamily="34" charset="-120"/>
              </a:rPr>
              <a:t>Outcome 1 fits into an existing AI or image-processing course with no new lab. Outcome 3 needs a whiteboard.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2331720"/>
            <a:ext cx="164592" cy="164592"/>
          </a:xfrm>
          <a:prstGeom prst="ellipse">
            <a:avLst/>
          </a:prstGeom>
          <a:solidFill>
            <a:srgbClr val="00C2A8"/>
          </a:solidFill>
          <a:ln/>
        </p:spPr>
        <p:txBody>
          <a:bodyPr/>
          <a:lstStyle/>
          <a:p>
            <a:endParaRPr lang="en-IN"/>
          </a:p>
        </p:txBody>
      </p:sp>
      <p:sp>
        <p:nvSpPr>
          <p:cNvPr id="3" name="Shape 1"/>
          <p:cNvSpPr/>
          <p:nvPr/>
        </p:nvSpPr>
        <p:spPr>
          <a:xfrm>
            <a:off x="928116" y="2331720"/>
            <a:ext cx="164592" cy="164592"/>
          </a:xfrm>
          <a:prstGeom prst="ellipse">
            <a:avLst/>
          </a:prstGeom>
          <a:solidFill>
            <a:srgbClr val="FF6B4A"/>
          </a:solidFill>
          <a:ln/>
        </p:spPr>
        <p:txBody>
          <a:bodyPr/>
          <a:lstStyle/>
          <a:p>
            <a:endParaRPr lang="en-IN"/>
          </a:p>
        </p:txBody>
      </p:sp>
      <p:sp>
        <p:nvSpPr>
          <p:cNvPr id="4" name="Shape 2"/>
          <p:cNvSpPr/>
          <p:nvPr/>
        </p:nvSpPr>
        <p:spPr>
          <a:xfrm>
            <a:off x="1216152" y="2331720"/>
            <a:ext cx="164592" cy="164592"/>
          </a:xfrm>
          <a:prstGeom prst="ellipse">
            <a:avLst/>
          </a:prstGeom>
          <a:solidFill>
            <a:srgbClr val="FFC24A"/>
          </a:solidFill>
          <a:ln/>
        </p:spPr>
        <p:txBody>
          <a:bodyPr/>
          <a:lstStyle/>
          <a:p>
            <a:endParaRPr lang="en-IN"/>
          </a:p>
        </p:txBody>
      </p:sp>
      <p:sp>
        <p:nvSpPr>
          <p:cNvPr id="5" name="Text 3"/>
          <p:cNvSpPr/>
          <p:nvPr/>
        </p:nvSpPr>
        <p:spPr>
          <a:xfrm>
            <a:off x="640080" y="2788920"/>
            <a:ext cx="5486400" cy="274320"/>
          </a:xfrm>
          <a:prstGeom prst="rect">
            <a:avLst/>
          </a:prstGeom>
          <a:noFill/>
          <a:ln/>
        </p:spPr>
        <p:txBody>
          <a:bodyPr wrap="square" lIns="0" tIns="0" rIns="0" bIns="0" rtlCol="0" anchor="ctr"/>
          <a:lstStyle/>
          <a:p>
            <a:pPr marL="0" indent="0">
              <a:buNone/>
            </a:pPr>
            <a:r>
              <a:rPr lang="en-US" sz="1300" b="1" kern="0" spc="300" dirty="0">
                <a:solidFill>
                  <a:srgbClr val="FF6B4A"/>
                </a:solidFill>
                <a:latin typeface="Arial" pitchFamily="34" charset="0"/>
                <a:ea typeface="Arial" pitchFamily="34" charset="-122"/>
                <a:cs typeface="Arial" pitchFamily="34" charset="-120"/>
              </a:rPr>
              <a:t>PART ONE</a:t>
            </a:r>
            <a:endParaRPr lang="en-US" sz="1300" dirty="0"/>
          </a:p>
        </p:txBody>
      </p:sp>
      <p:sp>
        <p:nvSpPr>
          <p:cNvPr id="6" name="Text 4"/>
          <p:cNvSpPr/>
          <p:nvPr/>
        </p:nvSpPr>
        <p:spPr>
          <a:xfrm>
            <a:off x="640080" y="3127248"/>
            <a:ext cx="8229600" cy="914400"/>
          </a:xfrm>
          <a:prstGeom prst="rect">
            <a:avLst/>
          </a:prstGeom>
          <a:noFill/>
          <a:ln/>
        </p:spPr>
        <p:txBody>
          <a:bodyPr wrap="square" lIns="0" tIns="0" rIns="0" bIns="0" rtlCol="0" anchor="ctr"/>
          <a:lstStyle/>
          <a:p>
            <a:pPr marL="0" indent="0">
              <a:buNone/>
            </a:pPr>
            <a:r>
              <a:rPr lang="en-US" sz="5200" b="1" dirty="0">
                <a:solidFill>
                  <a:srgbClr val="FFFFFF"/>
                </a:solidFill>
                <a:latin typeface="Arial" pitchFamily="34" charset="0"/>
                <a:ea typeface="Arial" pitchFamily="34" charset="-122"/>
                <a:cs typeface="Arial" pitchFamily="34" charset="-120"/>
              </a:rPr>
              <a:t>Fundamentals</a:t>
            </a:r>
            <a:endParaRPr lang="en-US" sz="5200" dirty="0"/>
          </a:p>
        </p:txBody>
      </p:sp>
      <p:sp>
        <p:nvSpPr>
          <p:cNvPr id="7" name="Text 5"/>
          <p:cNvSpPr/>
          <p:nvPr/>
        </p:nvSpPr>
        <p:spPr>
          <a:xfrm>
            <a:off x="640080" y="4160520"/>
            <a:ext cx="7863840" cy="731520"/>
          </a:xfrm>
          <a:prstGeom prst="rect">
            <a:avLst/>
          </a:prstGeom>
          <a:noFill/>
          <a:ln/>
        </p:spPr>
        <p:txBody>
          <a:bodyPr wrap="square" lIns="0" tIns="0" rIns="0" bIns="0" rtlCol="0" anchor="ctr"/>
          <a:lstStyle/>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What actually changed under the hood - and why one model can now handle</a:t>
            </a:r>
            <a:endParaRPr lang="en-US" sz="1600" dirty="0"/>
          </a:p>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an image, a sentence, and a sound clip at the same time.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DEFINITION</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A modality is just a kind of signal</a:t>
            </a:r>
            <a:endParaRPr lang="en-US" sz="3400" dirty="0"/>
          </a:p>
        </p:txBody>
      </p:sp>
      <p:sp>
        <p:nvSpPr>
          <p:cNvPr id="4" name="Text 2"/>
          <p:cNvSpPr/>
          <p:nvPr/>
        </p:nvSpPr>
        <p:spPr>
          <a:xfrm>
            <a:off x="640080" y="1481328"/>
            <a:ext cx="960120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Humans switch between them without noticing. Machines historically could not.</a:t>
            </a:r>
            <a:endParaRPr lang="en-US" sz="1400" dirty="0"/>
          </a:p>
        </p:txBody>
      </p:sp>
      <p:sp>
        <p:nvSpPr>
          <p:cNvPr id="5" name="Shape 3"/>
          <p:cNvSpPr/>
          <p:nvPr/>
        </p:nvSpPr>
        <p:spPr>
          <a:xfrm>
            <a:off x="640080"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6" name="Shape 4"/>
          <p:cNvSpPr/>
          <p:nvPr/>
        </p:nvSpPr>
        <p:spPr>
          <a:xfrm>
            <a:off x="932688" y="2331720"/>
            <a:ext cx="457200" cy="457200"/>
          </a:xfrm>
          <a:prstGeom prst="ellipse">
            <a:avLst/>
          </a:prstGeom>
          <a:solidFill>
            <a:srgbClr val="00C2A8"/>
          </a:solidFill>
          <a:ln/>
        </p:spPr>
        <p:txBody>
          <a:bodyPr/>
          <a:lstStyle/>
          <a:p>
            <a:endParaRPr lang="en-IN"/>
          </a:p>
        </p:txBody>
      </p:sp>
      <p:sp>
        <p:nvSpPr>
          <p:cNvPr id="7" name="Text 5"/>
          <p:cNvSpPr/>
          <p:nvPr/>
        </p:nvSpPr>
        <p:spPr>
          <a:xfrm>
            <a:off x="932688"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Text</a:t>
            </a:r>
            <a:endParaRPr lang="en-US" sz="1900" dirty="0"/>
          </a:p>
        </p:txBody>
      </p:sp>
      <p:sp>
        <p:nvSpPr>
          <p:cNvPr id="8" name="Text 6"/>
          <p:cNvSpPr/>
          <p:nvPr/>
        </p:nvSpPr>
        <p:spPr>
          <a:xfrm>
            <a:off x="932688"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Documents, code, chat, logs</a:t>
            </a:r>
            <a:endParaRPr lang="en-US" sz="1250" dirty="0"/>
          </a:p>
        </p:txBody>
      </p:sp>
      <p:sp>
        <p:nvSpPr>
          <p:cNvPr id="9" name="Shape 7"/>
          <p:cNvSpPr/>
          <p:nvPr/>
        </p:nvSpPr>
        <p:spPr>
          <a:xfrm>
            <a:off x="3410712"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0" name="Shape 8"/>
          <p:cNvSpPr/>
          <p:nvPr/>
        </p:nvSpPr>
        <p:spPr>
          <a:xfrm>
            <a:off x="3703320" y="2331720"/>
            <a:ext cx="457200" cy="457200"/>
          </a:xfrm>
          <a:prstGeom prst="ellipse">
            <a:avLst/>
          </a:prstGeom>
          <a:solidFill>
            <a:srgbClr val="FF6B4A"/>
          </a:solidFill>
          <a:ln/>
        </p:spPr>
        <p:txBody>
          <a:bodyPr/>
          <a:lstStyle/>
          <a:p>
            <a:endParaRPr lang="en-IN"/>
          </a:p>
        </p:txBody>
      </p:sp>
      <p:sp>
        <p:nvSpPr>
          <p:cNvPr id="11" name="Text 9"/>
          <p:cNvSpPr/>
          <p:nvPr/>
        </p:nvSpPr>
        <p:spPr>
          <a:xfrm>
            <a:off x="3703320"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Vision</a:t>
            </a:r>
            <a:endParaRPr lang="en-US" sz="1900" dirty="0"/>
          </a:p>
        </p:txBody>
      </p:sp>
      <p:sp>
        <p:nvSpPr>
          <p:cNvPr id="12" name="Text 10"/>
          <p:cNvSpPr/>
          <p:nvPr/>
        </p:nvSpPr>
        <p:spPr>
          <a:xfrm>
            <a:off x="3703320"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Photos, scans, video, charts</a:t>
            </a:r>
            <a:endParaRPr lang="en-US" sz="1250" dirty="0"/>
          </a:p>
        </p:txBody>
      </p:sp>
      <p:sp>
        <p:nvSpPr>
          <p:cNvPr id="13" name="Shape 11"/>
          <p:cNvSpPr/>
          <p:nvPr/>
        </p:nvSpPr>
        <p:spPr>
          <a:xfrm>
            <a:off x="6181344"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4" name="Shape 12"/>
          <p:cNvSpPr/>
          <p:nvPr/>
        </p:nvSpPr>
        <p:spPr>
          <a:xfrm>
            <a:off x="6473952" y="2331720"/>
            <a:ext cx="457200" cy="457200"/>
          </a:xfrm>
          <a:prstGeom prst="ellipse">
            <a:avLst/>
          </a:prstGeom>
          <a:solidFill>
            <a:srgbClr val="FFC24A"/>
          </a:solidFill>
          <a:ln/>
        </p:spPr>
        <p:txBody>
          <a:bodyPr/>
          <a:lstStyle/>
          <a:p>
            <a:endParaRPr lang="en-IN"/>
          </a:p>
        </p:txBody>
      </p:sp>
      <p:sp>
        <p:nvSpPr>
          <p:cNvPr id="15" name="Text 13"/>
          <p:cNvSpPr/>
          <p:nvPr/>
        </p:nvSpPr>
        <p:spPr>
          <a:xfrm>
            <a:off x="6473952"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Audio</a:t>
            </a:r>
            <a:endParaRPr lang="en-US" sz="1900" dirty="0"/>
          </a:p>
        </p:txBody>
      </p:sp>
      <p:sp>
        <p:nvSpPr>
          <p:cNvPr id="16" name="Text 14"/>
          <p:cNvSpPr/>
          <p:nvPr/>
        </p:nvSpPr>
        <p:spPr>
          <a:xfrm>
            <a:off x="6473952"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Speech, machine sound, music</a:t>
            </a:r>
            <a:endParaRPr lang="en-US" sz="1250" dirty="0"/>
          </a:p>
        </p:txBody>
      </p:sp>
      <p:sp>
        <p:nvSpPr>
          <p:cNvPr id="17" name="Shape 15"/>
          <p:cNvSpPr/>
          <p:nvPr/>
        </p:nvSpPr>
        <p:spPr>
          <a:xfrm>
            <a:off x="8951976"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8" name="Shape 16"/>
          <p:cNvSpPr/>
          <p:nvPr/>
        </p:nvSpPr>
        <p:spPr>
          <a:xfrm>
            <a:off x="9244584" y="2331720"/>
            <a:ext cx="457200" cy="457200"/>
          </a:xfrm>
          <a:prstGeom prst="ellipse">
            <a:avLst/>
          </a:prstGeom>
          <a:solidFill>
            <a:srgbClr val="6B7689"/>
          </a:solidFill>
          <a:ln/>
        </p:spPr>
        <p:txBody>
          <a:bodyPr/>
          <a:lstStyle/>
          <a:p>
            <a:endParaRPr lang="en-IN"/>
          </a:p>
        </p:txBody>
      </p:sp>
      <p:sp>
        <p:nvSpPr>
          <p:cNvPr id="19" name="Text 17"/>
          <p:cNvSpPr/>
          <p:nvPr/>
        </p:nvSpPr>
        <p:spPr>
          <a:xfrm>
            <a:off x="9244584"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Structured</a:t>
            </a:r>
            <a:endParaRPr lang="en-US" sz="1900" dirty="0"/>
          </a:p>
        </p:txBody>
      </p:sp>
      <p:sp>
        <p:nvSpPr>
          <p:cNvPr id="20" name="Text 18"/>
          <p:cNvSpPr/>
          <p:nvPr/>
        </p:nvSpPr>
        <p:spPr>
          <a:xfrm>
            <a:off x="9244584"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Tables, sensors, time series</a:t>
            </a:r>
            <a:endParaRPr lang="en-US" sz="1250" dirty="0"/>
          </a:p>
        </p:txBody>
      </p:sp>
      <p:sp>
        <p:nvSpPr>
          <p:cNvPr id="21" name="Text 19"/>
          <p:cNvSpPr/>
          <p:nvPr/>
        </p:nvSpPr>
        <p:spPr>
          <a:xfrm>
            <a:off x="640080" y="4709160"/>
            <a:ext cx="10908792" cy="548640"/>
          </a:xfrm>
          <a:prstGeom prst="rect">
            <a:avLst/>
          </a:prstGeom>
          <a:noFill/>
          <a:ln/>
        </p:spPr>
        <p:txBody>
          <a:bodyPr wrap="square" lIns="0" tIns="0" rIns="0" bIns="0" rtlCol="0" anchor="ctr"/>
          <a:lstStyle/>
          <a:p>
            <a:pPr marL="0" indent="0">
              <a:buNone/>
            </a:pPr>
            <a:r>
              <a:rPr lang="en-US" sz="1500" i="1" dirty="0">
                <a:solidFill>
                  <a:srgbClr val="0E1524"/>
                </a:solidFill>
                <a:latin typeface="Calibri" pitchFamily="34" charset="0"/>
                <a:ea typeface="Calibri" pitchFamily="34" charset="-122"/>
                <a:cs typeface="Calibri" pitchFamily="34" charset="-120"/>
              </a:rPr>
              <a:t>Multimodal AI is not four models in a trench coat. It is one model that was trained so that all four of these land in the same representational space.</a:t>
            </a:r>
            <a:endParaRPr lang="en-US" sz="1500" dirty="0"/>
          </a:p>
        </p:txBody>
      </p:sp>
      <p:sp>
        <p:nvSpPr>
          <p:cNvPr id="22" name="Shape 3"/>
          <p:cNvSpPr/>
          <p:nvPr/>
        </p:nvSpPr>
        <p:spPr>
          <a:xfrm>
            <a:off x="640080" y="5330000"/>
            <a:ext cx="10908792" cy="100584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23" name="Text 2"/>
          <p:cNvSpPr/>
          <p:nvPr/>
        </p:nvSpPr>
        <p:spPr>
          <a:xfrm>
            <a:off x="1005840" y="5470000"/>
            <a:ext cx="10149840" cy="500000"/>
          </a:xfrm>
          <a:prstGeom prst="rect">
            <a:avLst/>
          </a:prstGeom>
          <a:noFill/>
          <a:ln/>
        </p:spPr>
        <p:txBody>
          <a:bodyPr wrap="square" lIns="0" tIns="0" rIns="0" bIns="0" rtlCol="0" anchor="ctr"/>
          <a:lstStyle/>
          <a:p>
            <a:pPr marL="0" indent="0">
              <a:buNone/>
            </a:pPr>
            <a:r>
              <a:rPr lang="en-US" sz="1400" dirty="0">
                <a:solidFill>
                  <a:srgbClr val="0E1524"/>
                </a:solidFill>
                <a:latin typeface="Calibri" pitchFamily="34" charset="0"/>
                <a:ea typeface="Calibri" pitchFamily="34" charset="-122"/>
                <a:cs typeface="Calibri" pitchFamily="34" charset="-120"/>
              </a:rPr>
              <a:t>Multimodal AI enables a single system to jointly process, align and reason across two or more modalities - text, images, audio, video, structured data - and to produce one grounded output.</a:t>
            </a:r>
            <a:endParaRPr lang="en-US" sz="1400" dirty="0"/>
          </a:p>
        </p:txBody>
      </p:sp>
      <p:sp>
        <p:nvSpPr>
          <p:cNvPr id="24" name="Text 2"/>
          <p:cNvSpPr/>
          <p:nvPr/>
        </p:nvSpPr>
        <p:spPr>
          <a:xfrm>
            <a:off x="1005840" y="6030000"/>
            <a:ext cx="10149840" cy="230000"/>
          </a:xfrm>
          <a:prstGeom prst="rect">
            <a:avLst/>
          </a:prstGeom>
          <a:noFill/>
          <a:ln/>
        </p:spPr>
        <p:txBody>
          <a:bodyPr wrap="square" lIns="0" tIns="0" rIns="0" bIns="0" rtlCol="0" anchor="ctr"/>
          <a:lstStyle/>
          <a:p>
            <a:pPr marL="0" indent="0">
              <a:buNone/>
            </a:pPr>
            <a:r>
              <a:rPr lang="en-US" sz="1100" dirty="0">
                <a:solidFill>
                  <a:srgbClr val="6B7689"/>
                </a:solidFill>
                <a:latin typeface="Calibri" pitchFamily="34" charset="0"/>
                <a:ea typeface="Calibri" pitchFamily="34" charset="-122"/>
                <a:cs typeface="Calibri" pitchFamily="34" charset="-120"/>
              </a:rPr>
              <a:t>This session is about understanding across modalities and the decisions that follow. Generation from prompts belongs to the NLP and generative AI session.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BEFORE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The old way: four silos, one human stitching</a:t>
            </a:r>
            <a:endParaRPr lang="en-US" sz="3400" dirty="0"/>
          </a:p>
        </p:txBody>
      </p:sp>
      <p:sp>
        <p:nvSpPr>
          <p:cNvPr id="4" name="Shape 2"/>
          <p:cNvSpPr/>
          <p:nvPr/>
        </p:nvSpPr>
        <p:spPr>
          <a:xfrm>
            <a:off x="640080" y="1737360"/>
            <a:ext cx="2514600" cy="1143000"/>
          </a:xfrm>
          <a:prstGeom prst="roundRect">
            <a:avLst>
              <a:gd name="adj" fmla="val 6400"/>
            </a:avLst>
          </a:prstGeom>
          <a:solidFill>
            <a:srgbClr val="FFFFFF"/>
          </a:solidFill>
          <a:ln w="15875">
            <a:solidFill>
              <a:srgbClr val="D3D9E4"/>
            </a:solidFill>
            <a:prstDash val="solid"/>
          </a:ln>
        </p:spPr>
        <p:txBody>
          <a:bodyPr/>
          <a:lstStyle/>
          <a:p>
            <a:endParaRPr lang="en-IN"/>
          </a:p>
        </p:txBody>
      </p:sp>
      <p:sp>
        <p:nvSpPr>
          <p:cNvPr id="5" name="Text 3"/>
          <p:cNvSpPr/>
          <p:nvPr/>
        </p:nvSpPr>
        <p:spPr>
          <a:xfrm>
            <a:off x="822960" y="1965960"/>
            <a:ext cx="219456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OCR engine</a:t>
            </a:r>
            <a:endParaRPr lang="en-US" sz="1450" dirty="0"/>
          </a:p>
        </p:txBody>
      </p:sp>
      <p:sp>
        <p:nvSpPr>
          <p:cNvPr id="6" name="Text 4"/>
          <p:cNvSpPr/>
          <p:nvPr/>
        </p:nvSpPr>
        <p:spPr>
          <a:xfrm>
            <a:off x="822960" y="2304288"/>
            <a:ext cx="2194560" cy="274320"/>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Reads the scan</a:t>
            </a:r>
            <a:endParaRPr lang="en-US" sz="1200" dirty="0"/>
          </a:p>
        </p:txBody>
      </p:sp>
      <p:sp>
        <p:nvSpPr>
          <p:cNvPr id="7" name="Shape 5"/>
          <p:cNvSpPr/>
          <p:nvPr/>
        </p:nvSpPr>
        <p:spPr>
          <a:xfrm>
            <a:off x="1892808" y="2880360"/>
            <a:ext cx="0" cy="502920"/>
          </a:xfrm>
          <a:prstGeom prst="line">
            <a:avLst/>
          </a:prstGeom>
          <a:noFill/>
          <a:ln w="19050">
            <a:solidFill>
              <a:srgbClr val="C4CCDA"/>
            </a:solidFill>
            <a:prstDash val="solid"/>
            <a:tailEnd type="triangle"/>
          </a:ln>
        </p:spPr>
        <p:txBody>
          <a:bodyPr/>
          <a:lstStyle/>
          <a:p>
            <a:endParaRPr lang="en-IN"/>
          </a:p>
        </p:txBody>
      </p:sp>
      <p:sp>
        <p:nvSpPr>
          <p:cNvPr id="8" name="Shape 6"/>
          <p:cNvSpPr/>
          <p:nvPr/>
        </p:nvSpPr>
        <p:spPr>
          <a:xfrm>
            <a:off x="3410712" y="1737360"/>
            <a:ext cx="2514600" cy="1143000"/>
          </a:xfrm>
          <a:prstGeom prst="roundRect">
            <a:avLst>
              <a:gd name="adj" fmla="val 6400"/>
            </a:avLst>
          </a:prstGeom>
          <a:solidFill>
            <a:srgbClr val="FFFFFF"/>
          </a:solidFill>
          <a:ln w="15875">
            <a:solidFill>
              <a:srgbClr val="D3D9E4"/>
            </a:solidFill>
            <a:prstDash val="solid"/>
          </a:ln>
        </p:spPr>
        <p:txBody>
          <a:bodyPr/>
          <a:lstStyle/>
          <a:p>
            <a:endParaRPr lang="en-IN"/>
          </a:p>
        </p:txBody>
      </p:sp>
      <p:sp>
        <p:nvSpPr>
          <p:cNvPr id="9" name="Text 7"/>
          <p:cNvSpPr/>
          <p:nvPr/>
        </p:nvSpPr>
        <p:spPr>
          <a:xfrm>
            <a:off x="3593592" y="1965960"/>
            <a:ext cx="219456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CNN classifier</a:t>
            </a:r>
            <a:endParaRPr lang="en-US" sz="1450" dirty="0"/>
          </a:p>
        </p:txBody>
      </p:sp>
      <p:sp>
        <p:nvSpPr>
          <p:cNvPr id="10" name="Text 8"/>
          <p:cNvSpPr/>
          <p:nvPr/>
        </p:nvSpPr>
        <p:spPr>
          <a:xfrm>
            <a:off x="3593592" y="2304288"/>
            <a:ext cx="2194560" cy="274320"/>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Labels the image</a:t>
            </a:r>
            <a:endParaRPr lang="en-US" sz="1200" dirty="0"/>
          </a:p>
        </p:txBody>
      </p:sp>
      <p:sp>
        <p:nvSpPr>
          <p:cNvPr id="11" name="Shape 9"/>
          <p:cNvSpPr/>
          <p:nvPr/>
        </p:nvSpPr>
        <p:spPr>
          <a:xfrm>
            <a:off x="4663440" y="2880360"/>
            <a:ext cx="0" cy="502920"/>
          </a:xfrm>
          <a:prstGeom prst="line">
            <a:avLst/>
          </a:prstGeom>
          <a:noFill/>
          <a:ln w="19050">
            <a:solidFill>
              <a:srgbClr val="C4CCDA"/>
            </a:solidFill>
            <a:prstDash val="solid"/>
            <a:tailEnd type="triangle"/>
          </a:ln>
        </p:spPr>
        <p:txBody>
          <a:bodyPr/>
          <a:lstStyle/>
          <a:p>
            <a:endParaRPr lang="en-IN"/>
          </a:p>
        </p:txBody>
      </p:sp>
      <p:sp>
        <p:nvSpPr>
          <p:cNvPr id="12" name="Shape 10"/>
          <p:cNvSpPr/>
          <p:nvPr/>
        </p:nvSpPr>
        <p:spPr>
          <a:xfrm>
            <a:off x="6181344" y="1737360"/>
            <a:ext cx="2514600" cy="1143000"/>
          </a:xfrm>
          <a:prstGeom prst="roundRect">
            <a:avLst>
              <a:gd name="adj" fmla="val 6400"/>
            </a:avLst>
          </a:prstGeom>
          <a:solidFill>
            <a:srgbClr val="FFFFFF"/>
          </a:solidFill>
          <a:ln w="15875">
            <a:solidFill>
              <a:srgbClr val="D3D9E4"/>
            </a:solidFill>
            <a:prstDash val="solid"/>
          </a:ln>
        </p:spPr>
        <p:txBody>
          <a:bodyPr/>
          <a:lstStyle/>
          <a:p>
            <a:endParaRPr lang="en-IN"/>
          </a:p>
        </p:txBody>
      </p:sp>
      <p:sp>
        <p:nvSpPr>
          <p:cNvPr id="13" name="Text 11"/>
          <p:cNvSpPr/>
          <p:nvPr/>
        </p:nvSpPr>
        <p:spPr>
          <a:xfrm>
            <a:off x="6364224" y="1965960"/>
            <a:ext cx="219456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ASR system</a:t>
            </a:r>
            <a:endParaRPr lang="en-US" sz="1450" dirty="0"/>
          </a:p>
        </p:txBody>
      </p:sp>
      <p:sp>
        <p:nvSpPr>
          <p:cNvPr id="14" name="Text 12"/>
          <p:cNvSpPr/>
          <p:nvPr/>
        </p:nvSpPr>
        <p:spPr>
          <a:xfrm>
            <a:off x="6364224" y="2304288"/>
            <a:ext cx="2194560" cy="274320"/>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Transcribes speech</a:t>
            </a:r>
            <a:endParaRPr lang="en-US" sz="1200" dirty="0"/>
          </a:p>
        </p:txBody>
      </p:sp>
      <p:sp>
        <p:nvSpPr>
          <p:cNvPr id="15" name="Shape 13"/>
          <p:cNvSpPr/>
          <p:nvPr/>
        </p:nvSpPr>
        <p:spPr>
          <a:xfrm>
            <a:off x="7434072" y="2880360"/>
            <a:ext cx="0" cy="502920"/>
          </a:xfrm>
          <a:prstGeom prst="line">
            <a:avLst/>
          </a:prstGeom>
          <a:noFill/>
          <a:ln w="19050">
            <a:solidFill>
              <a:srgbClr val="C4CCDA"/>
            </a:solidFill>
            <a:prstDash val="solid"/>
            <a:tailEnd type="triangle"/>
          </a:ln>
        </p:spPr>
        <p:txBody>
          <a:bodyPr/>
          <a:lstStyle/>
          <a:p>
            <a:endParaRPr lang="en-IN"/>
          </a:p>
        </p:txBody>
      </p:sp>
      <p:sp>
        <p:nvSpPr>
          <p:cNvPr id="16" name="Shape 14"/>
          <p:cNvSpPr/>
          <p:nvPr/>
        </p:nvSpPr>
        <p:spPr>
          <a:xfrm>
            <a:off x="8951976" y="1737360"/>
            <a:ext cx="2514600" cy="1143000"/>
          </a:xfrm>
          <a:prstGeom prst="roundRect">
            <a:avLst>
              <a:gd name="adj" fmla="val 6400"/>
            </a:avLst>
          </a:prstGeom>
          <a:solidFill>
            <a:srgbClr val="FFFFFF"/>
          </a:solidFill>
          <a:ln w="15875">
            <a:solidFill>
              <a:srgbClr val="D3D9E4"/>
            </a:solidFill>
            <a:prstDash val="solid"/>
          </a:ln>
        </p:spPr>
        <p:txBody>
          <a:bodyPr/>
          <a:lstStyle/>
          <a:p>
            <a:endParaRPr lang="en-IN"/>
          </a:p>
        </p:txBody>
      </p:sp>
      <p:sp>
        <p:nvSpPr>
          <p:cNvPr id="17" name="Text 15"/>
          <p:cNvSpPr/>
          <p:nvPr/>
        </p:nvSpPr>
        <p:spPr>
          <a:xfrm>
            <a:off x="9134856" y="1965960"/>
            <a:ext cx="219456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NLP pipeline</a:t>
            </a:r>
            <a:endParaRPr lang="en-US" sz="1450" dirty="0"/>
          </a:p>
        </p:txBody>
      </p:sp>
      <p:sp>
        <p:nvSpPr>
          <p:cNvPr id="18" name="Text 16"/>
          <p:cNvSpPr/>
          <p:nvPr/>
        </p:nvSpPr>
        <p:spPr>
          <a:xfrm>
            <a:off x="9134856" y="2304288"/>
            <a:ext cx="2194560" cy="274320"/>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Parses the text</a:t>
            </a:r>
            <a:endParaRPr lang="en-US" sz="1200" dirty="0"/>
          </a:p>
        </p:txBody>
      </p:sp>
      <p:sp>
        <p:nvSpPr>
          <p:cNvPr id="19" name="Shape 17"/>
          <p:cNvSpPr/>
          <p:nvPr/>
        </p:nvSpPr>
        <p:spPr>
          <a:xfrm>
            <a:off x="10204704" y="2880360"/>
            <a:ext cx="0" cy="502920"/>
          </a:xfrm>
          <a:prstGeom prst="line">
            <a:avLst/>
          </a:prstGeom>
          <a:noFill/>
          <a:ln w="19050">
            <a:solidFill>
              <a:srgbClr val="C4CCDA"/>
            </a:solidFill>
            <a:prstDash val="solid"/>
            <a:tailEnd type="triangle"/>
          </a:ln>
        </p:spPr>
        <p:txBody>
          <a:bodyPr/>
          <a:lstStyle/>
          <a:p>
            <a:endParaRPr lang="en-IN"/>
          </a:p>
        </p:txBody>
      </p:sp>
      <p:sp>
        <p:nvSpPr>
          <p:cNvPr id="20" name="Shape 18"/>
          <p:cNvSpPr/>
          <p:nvPr/>
        </p:nvSpPr>
        <p:spPr>
          <a:xfrm>
            <a:off x="640080" y="3401568"/>
            <a:ext cx="10908792" cy="868680"/>
          </a:xfrm>
          <a:prstGeom prst="roundRect">
            <a:avLst>
              <a:gd name="adj" fmla="val 8421"/>
            </a:avLst>
          </a:prstGeom>
          <a:solidFill>
            <a:srgbClr val="0E1524"/>
          </a:solidFill>
          <a:ln/>
        </p:spPr>
        <p:txBody>
          <a:bodyPr/>
          <a:lstStyle/>
          <a:p>
            <a:endParaRPr lang="en-IN"/>
          </a:p>
        </p:txBody>
      </p:sp>
      <p:sp>
        <p:nvSpPr>
          <p:cNvPr id="21" name="Text 19"/>
          <p:cNvSpPr/>
          <p:nvPr/>
        </p:nvSpPr>
        <p:spPr>
          <a:xfrm>
            <a:off x="640080" y="3401568"/>
            <a:ext cx="10908792" cy="868680"/>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A human reads all four outputs and decides what they mean together</a:t>
            </a:r>
            <a:endParaRPr lang="en-US" sz="1700" dirty="0"/>
          </a:p>
        </p:txBody>
      </p:sp>
      <p:sp>
        <p:nvSpPr>
          <p:cNvPr id="22" name="Text 20"/>
          <p:cNvSpPr/>
          <p:nvPr/>
        </p:nvSpPr>
        <p:spPr>
          <a:xfrm>
            <a:off x="640080" y="4617720"/>
            <a:ext cx="3383280" cy="274320"/>
          </a:xfrm>
          <a:prstGeom prst="rect">
            <a:avLst/>
          </a:prstGeom>
          <a:noFill/>
          <a:ln/>
        </p:spPr>
        <p:txBody>
          <a:bodyPr wrap="square" lIns="0" tIns="0" rIns="0" bIns="0" rtlCol="0" anchor="ctr"/>
          <a:lstStyle/>
          <a:p>
            <a:pPr marL="0" indent="0">
              <a:buNone/>
            </a:pPr>
            <a:r>
              <a:rPr lang="en-US" sz="1400" b="1" dirty="0">
                <a:solidFill>
                  <a:srgbClr val="FF6B4A"/>
                </a:solidFill>
                <a:latin typeface="Arial" pitchFamily="34" charset="0"/>
                <a:ea typeface="Arial" pitchFamily="34" charset="-122"/>
                <a:cs typeface="Arial" pitchFamily="34" charset="-120"/>
              </a:rPr>
              <a:t>4 codebases</a:t>
            </a:r>
            <a:endParaRPr lang="en-US" sz="1400" dirty="0"/>
          </a:p>
        </p:txBody>
      </p:sp>
      <p:sp>
        <p:nvSpPr>
          <p:cNvPr id="23" name="Text 21"/>
          <p:cNvSpPr/>
          <p:nvPr/>
        </p:nvSpPr>
        <p:spPr>
          <a:xfrm>
            <a:off x="640080" y="4937760"/>
            <a:ext cx="338328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Four teams, four deploy cycles, four sets of bugs</a:t>
            </a:r>
            <a:endParaRPr lang="en-US" sz="1250" dirty="0"/>
          </a:p>
        </p:txBody>
      </p:sp>
      <p:sp>
        <p:nvSpPr>
          <p:cNvPr id="24" name="Text 22"/>
          <p:cNvSpPr/>
          <p:nvPr/>
        </p:nvSpPr>
        <p:spPr>
          <a:xfrm>
            <a:off x="4343400" y="4617720"/>
            <a:ext cx="3383280" cy="274320"/>
          </a:xfrm>
          <a:prstGeom prst="rect">
            <a:avLst/>
          </a:prstGeom>
          <a:noFill/>
          <a:ln/>
        </p:spPr>
        <p:txBody>
          <a:bodyPr wrap="square" lIns="0" tIns="0" rIns="0" bIns="0" rtlCol="0" anchor="ctr"/>
          <a:lstStyle/>
          <a:p>
            <a:pPr marL="0" indent="0">
              <a:buNone/>
            </a:pPr>
            <a:r>
              <a:rPr lang="en-US" sz="1400" b="1" dirty="0">
                <a:solidFill>
                  <a:srgbClr val="FF6B4A"/>
                </a:solidFill>
                <a:latin typeface="Arial" pitchFamily="34" charset="0"/>
                <a:ea typeface="Arial" pitchFamily="34" charset="-122"/>
                <a:cs typeface="Arial" pitchFamily="34" charset="-120"/>
              </a:rPr>
              <a:t>No shared meaning</a:t>
            </a:r>
            <a:endParaRPr lang="en-US" sz="1400" dirty="0"/>
          </a:p>
        </p:txBody>
      </p:sp>
      <p:sp>
        <p:nvSpPr>
          <p:cNvPr id="25" name="Text 23"/>
          <p:cNvSpPr/>
          <p:nvPr/>
        </p:nvSpPr>
        <p:spPr>
          <a:xfrm>
            <a:off x="4343400" y="4937760"/>
            <a:ext cx="338328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The CNN never knew what the transcript said</a:t>
            </a:r>
            <a:endParaRPr lang="en-US" sz="1250" dirty="0"/>
          </a:p>
        </p:txBody>
      </p:sp>
      <p:sp>
        <p:nvSpPr>
          <p:cNvPr id="26" name="Text 24"/>
          <p:cNvSpPr/>
          <p:nvPr/>
        </p:nvSpPr>
        <p:spPr>
          <a:xfrm>
            <a:off x="8046720" y="4617720"/>
            <a:ext cx="3383280" cy="274320"/>
          </a:xfrm>
          <a:prstGeom prst="rect">
            <a:avLst/>
          </a:prstGeom>
          <a:noFill/>
          <a:ln/>
        </p:spPr>
        <p:txBody>
          <a:bodyPr wrap="square" lIns="0" tIns="0" rIns="0" bIns="0" rtlCol="0" anchor="ctr"/>
          <a:lstStyle/>
          <a:p>
            <a:pPr marL="0" indent="0">
              <a:buNone/>
            </a:pPr>
            <a:r>
              <a:rPr lang="en-US" sz="1400" b="1" dirty="0">
                <a:solidFill>
                  <a:srgbClr val="FF6B4A"/>
                </a:solidFill>
                <a:latin typeface="Arial" pitchFamily="34" charset="0"/>
                <a:ea typeface="Arial" pitchFamily="34" charset="-122"/>
                <a:cs typeface="Arial" pitchFamily="34" charset="-120"/>
              </a:rPr>
              <a:t>Brittle glue</a:t>
            </a:r>
            <a:endParaRPr lang="en-US" sz="1400" dirty="0"/>
          </a:p>
        </p:txBody>
      </p:sp>
      <p:sp>
        <p:nvSpPr>
          <p:cNvPr id="27" name="Text 25"/>
          <p:cNvSpPr/>
          <p:nvPr/>
        </p:nvSpPr>
        <p:spPr>
          <a:xfrm>
            <a:off x="8046720" y="4937760"/>
            <a:ext cx="338328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Most failures happened between the boxes, not inside them</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IDEA 1 OF 3</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Everything becomes a list of numbers</a:t>
            </a:r>
            <a:endParaRPr lang="en-US" sz="3400" dirty="0"/>
          </a:p>
        </p:txBody>
      </p:sp>
      <p:sp>
        <p:nvSpPr>
          <p:cNvPr id="4" name="Text 2"/>
          <p:cNvSpPr/>
          <p:nvPr/>
        </p:nvSpPr>
        <p:spPr>
          <a:xfrm>
            <a:off x="640080" y="1481328"/>
            <a:ext cx="1005840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An embedding is a coordinate. Similar things land near each other - regardless of what kind of thing they are.</a:t>
            </a:r>
            <a:endParaRPr lang="en-US" sz="1400" dirty="0"/>
          </a:p>
        </p:txBody>
      </p:sp>
      <p:sp>
        <p:nvSpPr>
          <p:cNvPr id="5" name="Shape 3"/>
          <p:cNvSpPr/>
          <p:nvPr/>
        </p:nvSpPr>
        <p:spPr>
          <a:xfrm>
            <a:off x="640080" y="2148840"/>
            <a:ext cx="2880360" cy="566928"/>
          </a:xfrm>
          <a:prstGeom prst="roundRect">
            <a:avLst>
              <a:gd name="adj" fmla="val 12903"/>
            </a:avLst>
          </a:prstGeom>
          <a:solidFill>
            <a:srgbClr val="F4F6FA"/>
          </a:solidFill>
          <a:ln/>
        </p:spPr>
        <p:txBody>
          <a:bodyPr/>
          <a:lstStyle/>
          <a:p>
            <a:endParaRPr lang="en-IN"/>
          </a:p>
        </p:txBody>
      </p:sp>
      <p:sp>
        <p:nvSpPr>
          <p:cNvPr id="6" name="Shape 4"/>
          <p:cNvSpPr/>
          <p:nvPr/>
        </p:nvSpPr>
        <p:spPr>
          <a:xfrm>
            <a:off x="868680" y="2322576"/>
            <a:ext cx="219456" cy="219456"/>
          </a:xfrm>
          <a:prstGeom prst="ellipse">
            <a:avLst/>
          </a:prstGeom>
          <a:solidFill>
            <a:srgbClr val="00C2A8"/>
          </a:solidFill>
          <a:ln/>
        </p:spPr>
        <p:txBody>
          <a:bodyPr/>
          <a:lstStyle/>
          <a:p>
            <a:endParaRPr lang="en-IN"/>
          </a:p>
        </p:txBody>
      </p:sp>
      <p:sp>
        <p:nvSpPr>
          <p:cNvPr id="7" name="Text 5"/>
          <p:cNvSpPr/>
          <p:nvPr/>
        </p:nvSpPr>
        <p:spPr>
          <a:xfrm>
            <a:off x="1207008" y="2148840"/>
            <a:ext cx="2194560" cy="566928"/>
          </a:xfrm>
          <a:prstGeom prst="rect">
            <a:avLst/>
          </a:prstGeom>
          <a:noFill/>
          <a:ln/>
        </p:spPr>
        <p:txBody>
          <a:bodyPr wrap="square" lIns="0" tIns="0" rIns="0" bIns="0" rtlCol="0" anchor="ctr"/>
          <a:lstStyle/>
          <a:p>
            <a:pPr marL="0" indent="0">
              <a:buNone/>
            </a:pPr>
            <a:r>
              <a:rPr lang="en-US" sz="1350" dirty="0">
                <a:solidFill>
                  <a:srgbClr val="0E1524"/>
                </a:solidFill>
                <a:latin typeface="Calibri" pitchFamily="34" charset="0"/>
                <a:ea typeface="Calibri" pitchFamily="34" charset="-122"/>
                <a:cs typeface="Calibri" pitchFamily="34" charset="-120"/>
              </a:rPr>
              <a:t>the word "dog"</a:t>
            </a:r>
            <a:endParaRPr lang="en-US" sz="1350" dirty="0"/>
          </a:p>
        </p:txBody>
      </p:sp>
      <p:sp>
        <p:nvSpPr>
          <p:cNvPr id="8" name="Shape 6"/>
          <p:cNvSpPr/>
          <p:nvPr/>
        </p:nvSpPr>
        <p:spPr>
          <a:xfrm>
            <a:off x="3611880" y="2432304"/>
            <a:ext cx="685800" cy="0"/>
          </a:xfrm>
          <a:prstGeom prst="line">
            <a:avLst/>
          </a:prstGeom>
          <a:noFill/>
          <a:ln w="19050">
            <a:solidFill>
              <a:srgbClr val="C4CCDA"/>
            </a:solidFill>
            <a:prstDash val="solid"/>
            <a:tailEnd type="triangle"/>
          </a:ln>
        </p:spPr>
        <p:txBody>
          <a:bodyPr/>
          <a:lstStyle/>
          <a:p>
            <a:endParaRPr lang="en-IN"/>
          </a:p>
        </p:txBody>
      </p:sp>
      <p:sp>
        <p:nvSpPr>
          <p:cNvPr id="9" name="Shape 7"/>
          <p:cNvSpPr/>
          <p:nvPr/>
        </p:nvSpPr>
        <p:spPr>
          <a:xfrm>
            <a:off x="640080" y="2926080"/>
            <a:ext cx="2880360" cy="566928"/>
          </a:xfrm>
          <a:prstGeom prst="roundRect">
            <a:avLst>
              <a:gd name="adj" fmla="val 12903"/>
            </a:avLst>
          </a:prstGeom>
          <a:solidFill>
            <a:srgbClr val="F4F6FA"/>
          </a:solidFill>
          <a:ln/>
        </p:spPr>
        <p:txBody>
          <a:bodyPr/>
          <a:lstStyle/>
          <a:p>
            <a:endParaRPr lang="en-IN"/>
          </a:p>
        </p:txBody>
      </p:sp>
      <p:sp>
        <p:nvSpPr>
          <p:cNvPr id="10" name="Shape 8"/>
          <p:cNvSpPr/>
          <p:nvPr/>
        </p:nvSpPr>
        <p:spPr>
          <a:xfrm>
            <a:off x="868680" y="3099816"/>
            <a:ext cx="219456" cy="219456"/>
          </a:xfrm>
          <a:prstGeom prst="ellipse">
            <a:avLst/>
          </a:prstGeom>
          <a:solidFill>
            <a:srgbClr val="FF6B4A"/>
          </a:solidFill>
          <a:ln/>
        </p:spPr>
        <p:txBody>
          <a:bodyPr/>
          <a:lstStyle/>
          <a:p>
            <a:endParaRPr lang="en-IN"/>
          </a:p>
        </p:txBody>
      </p:sp>
      <p:sp>
        <p:nvSpPr>
          <p:cNvPr id="11" name="Text 9"/>
          <p:cNvSpPr/>
          <p:nvPr/>
        </p:nvSpPr>
        <p:spPr>
          <a:xfrm>
            <a:off x="1207008" y="2926080"/>
            <a:ext cx="2194560" cy="566928"/>
          </a:xfrm>
          <a:prstGeom prst="rect">
            <a:avLst/>
          </a:prstGeom>
          <a:noFill/>
          <a:ln/>
        </p:spPr>
        <p:txBody>
          <a:bodyPr wrap="square" lIns="0" tIns="0" rIns="0" bIns="0" rtlCol="0" anchor="ctr"/>
          <a:lstStyle/>
          <a:p>
            <a:pPr marL="0" indent="0">
              <a:buNone/>
            </a:pPr>
            <a:r>
              <a:rPr lang="en-US" sz="1350" dirty="0">
                <a:solidFill>
                  <a:srgbClr val="0E1524"/>
                </a:solidFill>
                <a:latin typeface="Calibri" pitchFamily="34" charset="0"/>
                <a:ea typeface="Calibri" pitchFamily="34" charset="-122"/>
                <a:cs typeface="Calibri" pitchFamily="34" charset="-120"/>
              </a:rPr>
              <a:t>a photo of a dog</a:t>
            </a:r>
            <a:endParaRPr lang="en-US" sz="1350" dirty="0"/>
          </a:p>
        </p:txBody>
      </p:sp>
      <p:sp>
        <p:nvSpPr>
          <p:cNvPr id="12" name="Shape 10"/>
          <p:cNvSpPr/>
          <p:nvPr/>
        </p:nvSpPr>
        <p:spPr>
          <a:xfrm>
            <a:off x="3611880" y="3209544"/>
            <a:ext cx="685800" cy="0"/>
          </a:xfrm>
          <a:prstGeom prst="line">
            <a:avLst/>
          </a:prstGeom>
          <a:noFill/>
          <a:ln w="19050">
            <a:solidFill>
              <a:srgbClr val="C4CCDA"/>
            </a:solidFill>
            <a:prstDash val="solid"/>
            <a:tailEnd type="triangle"/>
          </a:ln>
        </p:spPr>
        <p:txBody>
          <a:bodyPr/>
          <a:lstStyle/>
          <a:p>
            <a:endParaRPr lang="en-IN"/>
          </a:p>
        </p:txBody>
      </p:sp>
      <p:sp>
        <p:nvSpPr>
          <p:cNvPr id="13" name="Shape 11"/>
          <p:cNvSpPr/>
          <p:nvPr/>
        </p:nvSpPr>
        <p:spPr>
          <a:xfrm>
            <a:off x="640080" y="3703320"/>
            <a:ext cx="2880360" cy="566928"/>
          </a:xfrm>
          <a:prstGeom prst="roundRect">
            <a:avLst>
              <a:gd name="adj" fmla="val 12903"/>
            </a:avLst>
          </a:prstGeom>
          <a:solidFill>
            <a:srgbClr val="F4F6FA"/>
          </a:solidFill>
          <a:ln/>
        </p:spPr>
        <p:txBody>
          <a:bodyPr/>
          <a:lstStyle/>
          <a:p>
            <a:endParaRPr lang="en-IN"/>
          </a:p>
        </p:txBody>
      </p:sp>
      <p:sp>
        <p:nvSpPr>
          <p:cNvPr id="14" name="Shape 12"/>
          <p:cNvSpPr/>
          <p:nvPr/>
        </p:nvSpPr>
        <p:spPr>
          <a:xfrm>
            <a:off x="868680" y="3877056"/>
            <a:ext cx="219456" cy="219456"/>
          </a:xfrm>
          <a:prstGeom prst="ellipse">
            <a:avLst/>
          </a:prstGeom>
          <a:solidFill>
            <a:srgbClr val="FFC24A"/>
          </a:solidFill>
          <a:ln/>
        </p:spPr>
        <p:txBody>
          <a:bodyPr/>
          <a:lstStyle/>
          <a:p>
            <a:endParaRPr lang="en-IN"/>
          </a:p>
        </p:txBody>
      </p:sp>
      <p:sp>
        <p:nvSpPr>
          <p:cNvPr id="15" name="Text 13"/>
          <p:cNvSpPr/>
          <p:nvPr/>
        </p:nvSpPr>
        <p:spPr>
          <a:xfrm>
            <a:off x="1207008" y="3703320"/>
            <a:ext cx="2194560" cy="566928"/>
          </a:xfrm>
          <a:prstGeom prst="rect">
            <a:avLst/>
          </a:prstGeom>
          <a:noFill/>
          <a:ln/>
        </p:spPr>
        <p:txBody>
          <a:bodyPr wrap="square" lIns="0" tIns="0" rIns="0" bIns="0" rtlCol="0" anchor="ctr"/>
          <a:lstStyle/>
          <a:p>
            <a:pPr marL="0" indent="0">
              <a:buNone/>
            </a:pPr>
            <a:r>
              <a:rPr lang="en-US" sz="1350" dirty="0">
                <a:solidFill>
                  <a:srgbClr val="0E1524"/>
                </a:solidFill>
                <a:latin typeface="Calibri" pitchFamily="34" charset="0"/>
                <a:ea typeface="Calibri" pitchFamily="34" charset="-122"/>
                <a:cs typeface="Calibri" pitchFamily="34" charset="-120"/>
              </a:rPr>
              <a:t>a recording of a bark</a:t>
            </a:r>
            <a:endParaRPr lang="en-US" sz="1350" dirty="0"/>
          </a:p>
        </p:txBody>
      </p:sp>
      <p:sp>
        <p:nvSpPr>
          <p:cNvPr id="16" name="Shape 14"/>
          <p:cNvSpPr/>
          <p:nvPr/>
        </p:nvSpPr>
        <p:spPr>
          <a:xfrm>
            <a:off x="3611880" y="3986784"/>
            <a:ext cx="685800" cy="0"/>
          </a:xfrm>
          <a:prstGeom prst="line">
            <a:avLst/>
          </a:prstGeom>
          <a:noFill/>
          <a:ln w="19050">
            <a:solidFill>
              <a:srgbClr val="C4CCDA"/>
            </a:solidFill>
            <a:prstDash val="solid"/>
            <a:tailEnd type="triangle"/>
          </a:ln>
        </p:spPr>
        <p:txBody>
          <a:bodyPr/>
          <a:lstStyle/>
          <a:p>
            <a:endParaRPr lang="en-IN"/>
          </a:p>
        </p:txBody>
      </p:sp>
      <p:sp>
        <p:nvSpPr>
          <p:cNvPr id="17" name="Shape 15"/>
          <p:cNvSpPr/>
          <p:nvPr/>
        </p:nvSpPr>
        <p:spPr>
          <a:xfrm>
            <a:off x="4434840" y="2148840"/>
            <a:ext cx="2514600" cy="2121408"/>
          </a:xfrm>
          <a:prstGeom prst="roundRect">
            <a:avLst>
              <a:gd name="adj" fmla="val 3448"/>
            </a:avLst>
          </a:prstGeom>
          <a:solidFill>
            <a:srgbClr val="0E1524"/>
          </a:solidFill>
          <a:ln/>
        </p:spPr>
        <p:txBody>
          <a:bodyPr/>
          <a:lstStyle/>
          <a:p>
            <a:endParaRPr lang="en-IN"/>
          </a:p>
        </p:txBody>
      </p:sp>
      <p:sp>
        <p:nvSpPr>
          <p:cNvPr id="18" name="Text 16"/>
          <p:cNvSpPr/>
          <p:nvPr/>
        </p:nvSpPr>
        <p:spPr>
          <a:xfrm>
            <a:off x="4434840" y="2926080"/>
            <a:ext cx="251460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Encoder</a:t>
            </a:r>
            <a:endParaRPr lang="en-US" sz="1800" dirty="0"/>
          </a:p>
        </p:txBody>
      </p:sp>
      <p:sp>
        <p:nvSpPr>
          <p:cNvPr id="19" name="Text 17"/>
          <p:cNvSpPr/>
          <p:nvPr/>
        </p:nvSpPr>
        <p:spPr>
          <a:xfrm>
            <a:off x="4434840" y="3291840"/>
            <a:ext cx="2514600" cy="548640"/>
          </a:xfrm>
          <a:prstGeom prst="rect">
            <a:avLst/>
          </a:prstGeom>
          <a:noFill/>
          <a:ln/>
        </p:spPr>
        <p:txBody>
          <a:bodyPr wrap="square" lIns="0" tIns="0" rIns="0" bIns="0" rtlCol="0" anchor="ctr"/>
          <a:lstStyle/>
          <a:p>
            <a:pPr marL="0" indent="0" algn="ctr">
              <a:buNone/>
            </a:pPr>
            <a:r>
              <a:rPr lang="en-US" sz="1250" dirty="0">
                <a:solidFill>
                  <a:srgbClr val="A8B2C4"/>
                </a:solidFill>
                <a:latin typeface="Calibri" pitchFamily="34" charset="0"/>
                <a:ea typeface="Calibri" pitchFamily="34" charset="-122"/>
                <a:cs typeface="Calibri" pitchFamily="34" charset="-120"/>
              </a:rPr>
              <a:t>turns any input</a:t>
            </a:r>
            <a:endParaRPr lang="en-US" sz="1250" dirty="0"/>
          </a:p>
          <a:p>
            <a:pPr marL="0" indent="0" algn="ctr">
              <a:buNone/>
            </a:pPr>
            <a:r>
              <a:rPr lang="en-US" sz="1250" dirty="0">
                <a:solidFill>
                  <a:srgbClr val="A8B2C4"/>
                </a:solidFill>
                <a:latin typeface="Calibri" pitchFamily="34" charset="0"/>
                <a:ea typeface="Calibri" pitchFamily="34" charset="-122"/>
                <a:cs typeface="Calibri" pitchFamily="34" charset="-120"/>
              </a:rPr>
              <a:t>into a vector</a:t>
            </a:r>
            <a:endParaRPr lang="en-US" sz="1250" dirty="0"/>
          </a:p>
        </p:txBody>
      </p:sp>
      <p:sp>
        <p:nvSpPr>
          <p:cNvPr id="20" name="Shape 18"/>
          <p:cNvSpPr/>
          <p:nvPr/>
        </p:nvSpPr>
        <p:spPr>
          <a:xfrm>
            <a:off x="7086600" y="3200400"/>
            <a:ext cx="685800" cy="0"/>
          </a:xfrm>
          <a:prstGeom prst="line">
            <a:avLst/>
          </a:prstGeom>
          <a:noFill/>
          <a:ln w="19050">
            <a:solidFill>
              <a:srgbClr val="C4CCDA"/>
            </a:solidFill>
            <a:prstDash val="solid"/>
            <a:tailEnd type="triangle"/>
          </a:ln>
        </p:spPr>
        <p:txBody>
          <a:bodyPr/>
          <a:lstStyle/>
          <a:p>
            <a:endParaRPr lang="en-IN"/>
          </a:p>
        </p:txBody>
      </p:sp>
      <p:sp>
        <p:nvSpPr>
          <p:cNvPr id="21" name="Shape 19"/>
          <p:cNvSpPr/>
          <p:nvPr/>
        </p:nvSpPr>
        <p:spPr>
          <a:xfrm>
            <a:off x="7909560" y="2148840"/>
            <a:ext cx="3639312" cy="2121408"/>
          </a:xfrm>
          <a:prstGeom prst="roundRect">
            <a:avLst>
              <a:gd name="adj" fmla="val 3448"/>
            </a:avLst>
          </a:prstGeom>
          <a:solidFill>
            <a:srgbClr val="F4F6FA"/>
          </a:solidFill>
          <a:ln/>
        </p:spPr>
        <p:txBody>
          <a:bodyPr/>
          <a:lstStyle/>
          <a:p>
            <a:endParaRPr lang="en-IN"/>
          </a:p>
        </p:txBody>
      </p:sp>
      <p:sp>
        <p:nvSpPr>
          <p:cNvPr id="22" name="Text 20"/>
          <p:cNvSpPr/>
          <p:nvPr/>
        </p:nvSpPr>
        <p:spPr>
          <a:xfrm>
            <a:off x="8138160" y="2697480"/>
            <a:ext cx="3200400" cy="320040"/>
          </a:xfrm>
          <a:prstGeom prst="rect">
            <a:avLst/>
          </a:prstGeom>
          <a:noFill/>
          <a:ln/>
        </p:spPr>
        <p:txBody>
          <a:bodyPr wrap="square" lIns="0" tIns="0" rIns="0" bIns="0" rtlCol="0" anchor="ctr"/>
          <a:lstStyle/>
          <a:p>
            <a:pPr marL="0" indent="0">
              <a:buNone/>
            </a:pPr>
            <a:r>
              <a:rPr lang="en-US" sz="1400" b="1" dirty="0">
                <a:solidFill>
                  <a:srgbClr val="0E1524"/>
                </a:solidFill>
                <a:latin typeface="Courier New" pitchFamily="34" charset="0"/>
                <a:ea typeface="Courier New" pitchFamily="34" charset="-122"/>
                <a:cs typeface="Courier New" pitchFamily="34" charset="-120"/>
              </a:rPr>
              <a:t>[ 0.21, -0.88, 0.04, ... ]</a:t>
            </a:r>
            <a:endParaRPr lang="en-US" sz="1400" dirty="0"/>
          </a:p>
        </p:txBody>
      </p:sp>
      <p:sp>
        <p:nvSpPr>
          <p:cNvPr id="23" name="Text 21"/>
          <p:cNvSpPr/>
          <p:nvPr/>
        </p:nvSpPr>
        <p:spPr>
          <a:xfrm>
            <a:off x="8138160" y="3154680"/>
            <a:ext cx="3200400" cy="54864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All three land in nearly the</a:t>
            </a:r>
            <a:endParaRPr lang="en-US" sz="1300" dirty="0"/>
          </a:p>
          <a:p>
            <a:pPr marL="0" indent="0">
              <a:buNone/>
            </a:pPr>
            <a:r>
              <a:rPr lang="en-US" sz="1300" dirty="0">
                <a:solidFill>
                  <a:srgbClr val="6B7689"/>
                </a:solidFill>
                <a:latin typeface="Calibri" pitchFamily="34" charset="0"/>
                <a:ea typeface="Calibri" pitchFamily="34" charset="-122"/>
                <a:cs typeface="Calibri" pitchFamily="34" charset="-120"/>
              </a:rPr>
              <a:t>same region of the space.</a:t>
            </a:r>
            <a:endParaRPr lang="en-US" sz="1300" dirty="0"/>
          </a:p>
        </p:txBody>
      </p:sp>
      <p:sp>
        <p:nvSpPr>
          <p:cNvPr id="24" name="Text 22"/>
          <p:cNvSpPr/>
          <p:nvPr/>
        </p:nvSpPr>
        <p:spPr>
          <a:xfrm>
            <a:off x="8138160" y="3767328"/>
            <a:ext cx="3200400" cy="274320"/>
          </a:xfrm>
          <a:prstGeom prst="rect">
            <a:avLst/>
          </a:prstGeom>
          <a:noFill/>
          <a:ln/>
        </p:spPr>
        <p:txBody>
          <a:bodyPr wrap="square" lIns="0" tIns="0" rIns="0" bIns="0" rtlCol="0" anchor="ctr"/>
          <a:lstStyle/>
          <a:p>
            <a:pPr marL="0" indent="0">
              <a:buNone/>
            </a:pPr>
            <a:r>
              <a:rPr lang="en-US" sz="1100" i="1" dirty="0">
                <a:solidFill>
                  <a:srgbClr val="6B7689"/>
                </a:solidFill>
                <a:latin typeface="Calibri" pitchFamily="34" charset="0"/>
                <a:ea typeface="Calibri" pitchFamily="34" charset="-122"/>
                <a:cs typeface="Calibri" pitchFamily="34" charset="-120"/>
              </a:rPr>
              <a:t>768 to 4096 numbers, typically</a:t>
            </a:r>
            <a:endParaRPr lang="en-US" sz="1100" dirty="0"/>
          </a:p>
        </p:txBody>
      </p:sp>
      <p:sp>
        <p:nvSpPr>
          <p:cNvPr id="25" name="Text 23"/>
          <p:cNvSpPr/>
          <p:nvPr/>
        </p:nvSpPr>
        <p:spPr>
          <a:xfrm>
            <a:off x="640080" y="4709160"/>
            <a:ext cx="10908792" cy="36576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Once meaning is a coordinate, comparing a picture to a sentence is just arithmetic.</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IDEA 2 OF 3</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How the space gets shared</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Contrastive training: show the model hundreds of millions of matched pairs, pull matches together, push mismatches apart.</a:t>
            </a:r>
            <a:endParaRPr lang="en-US" sz="1400" dirty="0"/>
          </a:p>
        </p:txBody>
      </p:sp>
      <p:sp>
        <p:nvSpPr>
          <p:cNvPr id="5" name="Shape 3"/>
          <p:cNvSpPr/>
          <p:nvPr/>
        </p:nvSpPr>
        <p:spPr>
          <a:xfrm>
            <a:off x="640080" y="2057400"/>
            <a:ext cx="5303520" cy="2377440"/>
          </a:xfrm>
          <a:prstGeom prst="roundRect">
            <a:avLst>
              <a:gd name="adj" fmla="val 3462"/>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6" name="Text 4"/>
          <p:cNvSpPr/>
          <p:nvPr/>
        </p:nvSpPr>
        <p:spPr>
          <a:xfrm>
            <a:off x="960120" y="2331720"/>
            <a:ext cx="4572000" cy="256032"/>
          </a:xfrm>
          <a:prstGeom prst="rect">
            <a:avLst/>
          </a:prstGeom>
          <a:noFill/>
          <a:ln/>
        </p:spPr>
        <p:txBody>
          <a:bodyPr wrap="square" lIns="0" tIns="0" rIns="0" bIns="0" rtlCol="0" anchor="ctr"/>
          <a:lstStyle/>
          <a:p>
            <a:pPr marL="0" indent="0">
              <a:buNone/>
            </a:pPr>
            <a:r>
              <a:rPr lang="en-US" sz="1100" b="1" kern="0" spc="150" dirty="0">
                <a:solidFill>
                  <a:srgbClr val="00C2A8"/>
                </a:solidFill>
                <a:latin typeface="Arial" pitchFamily="34" charset="0"/>
                <a:ea typeface="Arial" pitchFamily="34" charset="-122"/>
                <a:cs typeface="Arial" pitchFamily="34" charset="-120"/>
              </a:rPr>
              <a:t>PULL TOGETHER</a:t>
            </a:r>
            <a:endParaRPr lang="en-US" sz="1100" dirty="0"/>
          </a:p>
        </p:txBody>
      </p:sp>
      <p:sp>
        <p:nvSpPr>
          <p:cNvPr id="7" name="Text 5"/>
          <p:cNvSpPr/>
          <p:nvPr/>
        </p:nvSpPr>
        <p:spPr>
          <a:xfrm>
            <a:off x="960120" y="2670048"/>
            <a:ext cx="4663440" cy="731520"/>
          </a:xfrm>
          <a:prstGeom prst="rect">
            <a:avLst/>
          </a:prstGeom>
          <a:noFill/>
          <a:ln/>
        </p:spPr>
        <p:txBody>
          <a:bodyPr wrap="square" lIns="0" tIns="0" rIns="0" bIns="0" rtlCol="0" anchor="ctr"/>
          <a:lstStyle/>
          <a:p>
            <a:pPr marL="0" indent="0">
              <a:buNone/>
            </a:pPr>
            <a:r>
              <a:rPr lang="en-US" sz="1400" dirty="0">
                <a:solidFill>
                  <a:srgbClr val="0E1524"/>
                </a:solidFill>
                <a:latin typeface="Calibri" pitchFamily="34" charset="0"/>
                <a:ea typeface="Calibri" pitchFamily="34" charset="-122"/>
                <a:cs typeface="Calibri" pitchFamily="34" charset="-120"/>
              </a:rPr>
              <a:t>A caption and the image it describes are a true pair. The model adjusts until their vectors nearly overlap.</a:t>
            </a:r>
            <a:endParaRPr lang="en-US" sz="1400" dirty="0"/>
          </a:p>
        </p:txBody>
      </p:sp>
      <p:sp>
        <p:nvSpPr>
          <p:cNvPr id="8" name="Text 6"/>
          <p:cNvSpPr/>
          <p:nvPr/>
        </p:nvSpPr>
        <p:spPr>
          <a:xfrm>
            <a:off x="960120" y="3520440"/>
            <a:ext cx="4663440" cy="457200"/>
          </a:xfrm>
          <a:prstGeom prst="rect">
            <a:avLst/>
          </a:prstGeom>
          <a:noFill/>
          <a:ln/>
        </p:spPr>
        <p:txBody>
          <a:bodyPr wrap="square" lIns="0" tIns="0" rIns="0" bIns="0" rtlCol="0" anchor="ctr"/>
          <a:lstStyle/>
          <a:p>
            <a:pPr marL="0" indent="0">
              <a:buNone/>
            </a:pPr>
            <a:r>
              <a:rPr lang="en-US" sz="1150" dirty="0">
                <a:solidFill>
                  <a:srgbClr val="6B7689"/>
                </a:solidFill>
                <a:latin typeface="Courier New" pitchFamily="34" charset="0"/>
                <a:ea typeface="Courier New" pitchFamily="34" charset="-122"/>
                <a:cs typeface="Courier New" pitchFamily="34" charset="-120"/>
              </a:rPr>
              <a:t>"a cracked weld on a steel pipe"  +  that exact photo</a:t>
            </a:r>
            <a:endParaRPr lang="en-US" sz="1150" dirty="0"/>
          </a:p>
        </p:txBody>
      </p:sp>
      <p:sp>
        <p:nvSpPr>
          <p:cNvPr id="9" name="Shape 7"/>
          <p:cNvSpPr/>
          <p:nvPr/>
        </p:nvSpPr>
        <p:spPr>
          <a:xfrm>
            <a:off x="6245352" y="2057400"/>
            <a:ext cx="5303520" cy="2377440"/>
          </a:xfrm>
          <a:prstGeom prst="roundRect">
            <a:avLst>
              <a:gd name="adj" fmla="val 3462"/>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0" name="Text 8"/>
          <p:cNvSpPr/>
          <p:nvPr/>
        </p:nvSpPr>
        <p:spPr>
          <a:xfrm>
            <a:off x="6565392" y="2331720"/>
            <a:ext cx="4572000" cy="256032"/>
          </a:xfrm>
          <a:prstGeom prst="rect">
            <a:avLst/>
          </a:prstGeom>
          <a:noFill/>
          <a:ln/>
        </p:spPr>
        <p:txBody>
          <a:bodyPr wrap="square" lIns="0" tIns="0" rIns="0" bIns="0" rtlCol="0" anchor="ctr"/>
          <a:lstStyle/>
          <a:p>
            <a:pPr marL="0" indent="0">
              <a:buNone/>
            </a:pPr>
            <a:r>
              <a:rPr lang="en-US" sz="1100" b="1" kern="0" spc="150" dirty="0">
                <a:solidFill>
                  <a:srgbClr val="FF6B4A"/>
                </a:solidFill>
                <a:latin typeface="Arial" pitchFamily="34" charset="0"/>
                <a:ea typeface="Arial" pitchFamily="34" charset="-122"/>
                <a:cs typeface="Arial" pitchFamily="34" charset="-120"/>
              </a:rPr>
              <a:t>PUSH APART</a:t>
            </a:r>
            <a:endParaRPr lang="en-US" sz="1100" dirty="0"/>
          </a:p>
        </p:txBody>
      </p:sp>
      <p:sp>
        <p:nvSpPr>
          <p:cNvPr id="11" name="Text 9"/>
          <p:cNvSpPr/>
          <p:nvPr/>
        </p:nvSpPr>
        <p:spPr>
          <a:xfrm>
            <a:off x="6565392" y="2670048"/>
            <a:ext cx="4663440" cy="731520"/>
          </a:xfrm>
          <a:prstGeom prst="rect">
            <a:avLst/>
          </a:prstGeom>
          <a:noFill/>
          <a:ln/>
        </p:spPr>
        <p:txBody>
          <a:bodyPr wrap="square" lIns="0" tIns="0" rIns="0" bIns="0" rtlCol="0" anchor="ctr"/>
          <a:lstStyle/>
          <a:p>
            <a:pPr marL="0" indent="0">
              <a:buNone/>
            </a:pPr>
            <a:r>
              <a:rPr lang="en-US" sz="1400" dirty="0">
                <a:solidFill>
                  <a:srgbClr val="0E1524"/>
                </a:solidFill>
                <a:latin typeface="Calibri" pitchFamily="34" charset="0"/>
                <a:ea typeface="Calibri" pitchFamily="34" charset="-122"/>
                <a:cs typeface="Calibri" pitchFamily="34" charset="-120"/>
              </a:rPr>
              <a:t>Every other caption in the batch is a wrong answer. Their vectors get driven away from that image.</a:t>
            </a:r>
            <a:endParaRPr lang="en-US" sz="1400" dirty="0"/>
          </a:p>
        </p:txBody>
      </p:sp>
      <p:sp>
        <p:nvSpPr>
          <p:cNvPr id="12" name="Text 10"/>
          <p:cNvSpPr/>
          <p:nvPr/>
        </p:nvSpPr>
        <p:spPr>
          <a:xfrm>
            <a:off x="6565392" y="3520440"/>
            <a:ext cx="4663440" cy="457200"/>
          </a:xfrm>
          <a:prstGeom prst="rect">
            <a:avLst/>
          </a:prstGeom>
          <a:noFill/>
          <a:ln/>
        </p:spPr>
        <p:txBody>
          <a:bodyPr wrap="square" lIns="0" tIns="0" rIns="0" bIns="0" rtlCol="0" anchor="ctr"/>
          <a:lstStyle/>
          <a:p>
            <a:pPr marL="0" indent="0">
              <a:buNone/>
            </a:pPr>
            <a:r>
              <a:rPr lang="en-US" sz="1150" dirty="0">
                <a:solidFill>
                  <a:srgbClr val="6B7689"/>
                </a:solidFill>
                <a:latin typeface="Courier New" pitchFamily="34" charset="0"/>
                <a:ea typeface="Courier New" pitchFamily="34" charset="-122"/>
                <a:cs typeface="Courier New" pitchFamily="34" charset="-120"/>
              </a:rPr>
              <a:t>"a golden retriever in a park"  +  that same photo</a:t>
            </a:r>
            <a:endParaRPr lang="en-US" sz="1150" dirty="0"/>
          </a:p>
        </p:txBody>
      </p:sp>
      <p:sp>
        <p:nvSpPr>
          <p:cNvPr id="13" name="Shape 11"/>
          <p:cNvSpPr/>
          <p:nvPr/>
        </p:nvSpPr>
        <p:spPr>
          <a:xfrm>
            <a:off x="640080" y="4709160"/>
            <a:ext cx="10908792" cy="914400"/>
          </a:xfrm>
          <a:prstGeom prst="roundRect">
            <a:avLst>
              <a:gd name="adj" fmla="val 8000"/>
            </a:avLst>
          </a:prstGeom>
          <a:solidFill>
            <a:srgbClr val="0E1524"/>
          </a:solidFill>
          <a:ln/>
        </p:spPr>
        <p:txBody>
          <a:bodyPr/>
          <a:lstStyle/>
          <a:p>
            <a:endParaRPr lang="en-IN"/>
          </a:p>
        </p:txBody>
      </p:sp>
      <p:sp>
        <p:nvSpPr>
          <p:cNvPr id="14" name="Text 12"/>
          <p:cNvSpPr/>
          <p:nvPr/>
        </p:nvSpPr>
        <p:spPr>
          <a:xfrm>
            <a:off x="1005840" y="4709160"/>
            <a:ext cx="10149840" cy="914400"/>
          </a:xfrm>
          <a:prstGeom prst="rect">
            <a:avLst/>
          </a:prstGeom>
          <a:noFill/>
          <a:ln/>
        </p:spPr>
        <p:txBody>
          <a:bodyPr wrap="square" lIns="0" tIns="0" rIns="0" bIns="0" rtlCol="0" anchor="ctr"/>
          <a:lstStyle/>
          <a:p>
            <a:pPr marL="0" indent="0">
              <a:buNone/>
            </a:pPr>
            <a:r>
              <a:rPr lang="en-US" sz="1450" dirty="0">
                <a:solidFill>
                  <a:srgbClr val="FFFFFF"/>
                </a:solidFill>
                <a:latin typeface="Calibri" pitchFamily="34" charset="0"/>
                <a:ea typeface="Calibri" pitchFamily="34" charset="-122"/>
                <a:cs typeface="Calibri" pitchFamily="34" charset="-120"/>
              </a:rPr>
              <a:t>Nobody labelled these pairs by hand. The internet already had billions of images sitting next to their captions - that accident of the web is what made the whole field possible.</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IDEA 3 OF 3</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The transformer does not care what it is reading</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Attention operates on a sequence of tokens. Every modality can be chopped into a sequence - so every modality fits.</a:t>
            </a:r>
            <a:endParaRPr lang="en-US" sz="1400" dirty="0"/>
          </a:p>
        </p:txBody>
      </p:sp>
      <p:sp>
        <p:nvSpPr>
          <p:cNvPr id="5" name="Shape 3"/>
          <p:cNvSpPr/>
          <p:nvPr/>
        </p:nvSpPr>
        <p:spPr>
          <a:xfrm>
            <a:off x="640080" y="2057400"/>
            <a:ext cx="10908792" cy="658368"/>
          </a:xfrm>
          <a:prstGeom prst="roundRect">
            <a:avLst>
              <a:gd name="adj" fmla="val 11111"/>
            </a:avLst>
          </a:prstGeom>
          <a:solidFill>
            <a:srgbClr val="F4F6FA"/>
          </a:solidFill>
          <a:ln/>
        </p:spPr>
        <p:txBody>
          <a:bodyPr/>
          <a:lstStyle/>
          <a:p>
            <a:endParaRPr lang="en-IN"/>
          </a:p>
        </p:txBody>
      </p:sp>
      <p:sp>
        <p:nvSpPr>
          <p:cNvPr id="6" name="Shape 4"/>
          <p:cNvSpPr/>
          <p:nvPr/>
        </p:nvSpPr>
        <p:spPr>
          <a:xfrm>
            <a:off x="914400" y="2272284"/>
            <a:ext cx="228600" cy="228600"/>
          </a:xfrm>
          <a:prstGeom prst="ellipse">
            <a:avLst/>
          </a:prstGeom>
          <a:solidFill>
            <a:srgbClr val="00C2A8"/>
          </a:solidFill>
          <a:ln/>
        </p:spPr>
        <p:txBody>
          <a:bodyPr/>
          <a:lstStyle/>
          <a:p>
            <a:endParaRPr lang="en-IN"/>
          </a:p>
        </p:txBody>
      </p:sp>
      <p:sp>
        <p:nvSpPr>
          <p:cNvPr id="7" name="Text 5"/>
          <p:cNvSpPr/>
          <p:nvPr/>
        </p:nvSpPr>
        <p:spPr>
          <a:xfrm>
            <a:off x="1298448" y="2057400"/>
            <a:ext cx="1371600" cy="65836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Text</a:t>
            </a:r>
            <a:endParaRPr lang="en-US" sz="1500" dirty="0"/>
          </a:p>
        </p:txBody>
      </p:sp>
      <p:sp>
        <p:nvSpPr>
          <p:cNvPr id="8" name="Text 6"/>
          <p:cNvSpPr/>
          <p:nvPr/>
        </p:nvSpPr>
        <p:spPr>
          <a:xfrm>
            <a:off x="2743200" y="2057400"/>
            <a:ext cx="2834640" cy="658368"/>
          </a:xfrm>
          <a:prstGeom prst="rect">
            <a:avLst/>
          </a:prstGeom>
          <a:noFill/>
          <a:ln/>
        </p:spPr>
        <p:txBody>
          <a:bodyPr wrap="square" lIns="0" tIns="0" rIns="0" bIns="0" rtlCol="0" anchor="ctr"/>
          <a:lstStyle/>
          <a:p>
            <a:pPr marL="0" indent="0">
              <a:buNone/>
            </a:pPr>
            <a:r>
              <a:rPr lang="en-US" sz="1350" b="1" dirty="0">
                <a:solidFill>
                  <a:srgbClr val="00C2A8"/>
                </a:solidFill>
                <a:latin typeface="Arial" pitchFamily="34" charset="0"/>
                <a:ea typeface="Arial" pitchFamily="34" charset="-122"/>
                <a:cs typeface="Arial" pitchFamily="34" charset="-120"/>
              </a:rPr>
              <a:t>Sub-word pieces</a:t>
            </a:r>
            <a:endParaRPr lang="en-US" sz="1350" dirty="0"/>
          </a:p>
        </p:txBody>
      </p:sp>
      <p:sp>
        <p:nvSpPr>
          <p:cNvPr id="9" name="Text 7"/>
          <p:cNvSpPr/>
          <p:nvPr/>
        </p:nvSpPr>
        <p:spPr>
          <a:xfrm>
            <a:off x="5669280" y="2057400"/>
            <a:ext cx="5577840" cy="658368"/>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"multimodal" becomes  multi | modal</a:t>
            </a:r>
            <a:endParaRPr lang="en-US" sz="1300" dirty="0"/>
          </a:p>
        </p:txBody>
      </p:sp>
      <p:sp>
        <p:nvSpPr>
          <p:cNvPr id="10" name="Shape 8"/>
          <p:cNvSpPr/>
          <p:nvPr/>
        </p:nvSpPr>
        <p:spPr>
          <a:xfrm>
            <a:off x="640080" y="2843784"/>
            <a:ext cx="10908792" cy="658368"/>
          </a:xfrm>
          <a:prstGeom prst="roundRect">
            <a:avLst>
              <a:gd name="adj" fmla="val 11111"/>
            </a:avLst>
          </a:prstGeom>
          <a:solidFill>
            <a:srgbClr val="F4F6FA"/>
          </a:solidFill>
          <a:ln/>
        </p:spPr>
        <p:txBody>
          <a:bodyPr/>
          <a:lstStyle/>
          <a:p>
            <a:endParaRPr lang="en-IN"/>
          </a:p>
        </p:txBody>
      </p:sp>
      <p:sp>
        <p:nvSpPr>
          <p:cNvPr id="11" name="Shape 9"/>
          <p:cNvSpPr/>
          <p:nvPr/>
        </p:nvSpPr>
        <p:spPr>
          <a:xfrm>
            <a:off x="914400" y="3058668"/>
            <a:ext cx="228600" cy="228600"/>
          </a:xfrm>
          <a:prstGeom prst="ellipse">
            <a:avLst/>
          </a:prstGeom>
          <a:solidFill>
            <a:srgbClr val="FF6B4A"/>
          </a:solidFill>
          <a:ln/>
        </p:spPr>
        <p:txBody>
          <a:bodyPr/>
          <a:lstStyle/>
          <a:p>
            <a:endParaRPr lang="en-IN"/>
          </a:p>
        </p:txBody>
      </p:sp>
      <p:sp>
        <p:nvSpPr>
          <p:cNvPr id="12" name="Text 10"/>
          <p:cNvSpPr/>
          <p:nvPr/>
        </p:nvSpPr>
        <p:spPr>
          <a:xfrm>
            <a:off x="1298448" y="2843784"/>
            <a:ext cx="1371600" cy="65836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Image</a:t>
            </a:r>
            <a:endParaRPr lang="en-US" sz="1500" dirty="0"/>
          </a:p>
        </p:txBody>
      </p:sp>
      <p:sp>
        <p:nvSpPr>
          <p:cNvPr id="13" name="Text 11"/>
          <p:cNvSpPr/>
          <p:nvPr/>
        </p:nvSpPr>
        <p:spPr>
          <a:xfrm>
            <a:off x="2743200" y="2843784"/>
            <a:ext cx="2834640" cy="658368"/>
          </a:xfrm>
          <a:prstGeom prst="rect">
            <a:avLst/>
          </a:prstGeom>
          <a:noFill/>
          <a:ln/>
        </p:spPr>
        <p:txBody>
          <a:bodyPr wrap="square" lIns="0" tIns="0" rIns="0" bIns="0" rtlCol="0" anchor="ctr"/>
          <a:lstStyle/>
          <a:p>
            <a:pPr marL="0" indent="0">
              <a:buNone/>
            </a:pPr>
            <a:r>
              <a:rPr lang="en-US" sz="1350" b="1" dirty="0">
                <a:solidFill>
                  <a:srgbClr val="FF6B4A"/>
                </a:solidFill>
                <a:latin typeface="Arial" pitchFamily="34" charset="0"/>
                <a:ea typeface="Arial" pitchFamily="34" charset="-122"/>
                <a:cs typeface="Arial" pitchFamily="34" charset="-120"/>
              </a:rPr>
              <a:t>Fixed patches</a:t>
            </a:r>
            <a:endParaRPr lang="en-US" sz="1350" dirty="0"/>
          </a:p>
        </p:txBody>
      </p:sp>
      <p:sp>
        <p:nvSpPr>
          <p:cNvPr id="14" name="Text 12"/>
          <p:cNvSpPr/>
          <p:nvPr/>
        </p:nvSpPr>
        <p:spPr>
          <a:xfrm>
            <a:off x="5669280" y="2843784"/>
            <a:ext cx="5577840" cy="658368"/>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A 224x224 image becomes 196 patches of 16x16</a:t>
            </a:r>
            <a:endParaRPr lang="en-US" sz="1300" dirty="0"/>
          </a:p>
        </p:txBody>
      </p:sp>
      <p:sp>
        <p:nvSpPr>
          <p:cNvPr id="15" name="Shape 13"/>
          <p:cNvSpPr/>
          <p:nvPr/>
        </p:nvSpPr>
        <p:spPr>
          <a:xfrm>
            <a:off x="640080" y="3630168"/>
            <a:ext cx="10908792" cy="658368"/>
          </a:xfrm>
          <a:prstGeom prst="roundRect">
            <a:avLst>
              <a:gd name="adj" fmla="val 11111"/>
            </a:avLst>
          </a:prstGeom>
          <a:solidFill>
            <a:srgbClr val="F4F6FA"/>
          </a:solidFill>
          <a:ln/>
        </p:spPr>
        <p:txBody>
          <a:bodyPr/>
          <a:lstStyle/>
          <a:p>
            <a:endParaRPr lang="en-IN"/>
          </a:p>
        </p:txBody>
      </p:sp>
      <p:sp>
        <p:nvSpPr>
          <p:cNvPr id="16" name="Shape 14"/>
          <p:cNvSpPr/>
          <p:nvPr/>
        </p:nvSpPr>
        <p:spPr>
          <a:xfrm>
            <a:off x="914400" y="3845052"/>
            <a:ext cx="228600" cy="228600"/>
          </a:xfrm>
          <a:prstGeom prst="ellipse">
            <a:avLst/>
          </a:prstGeom>
          <a:solidFill>
            <a:srgbClr val="FFC24A"/>
          </a:solidFill>
          <a:ln/>
        </p:spPr>
        <p:txBody>
          <a:bodyPr/>
          <a:lstStyle/>
          <a:p>
            <a:endParaRPr lang="en-IN"/>
          </a:p>
        </p:txBody>
      </p:sp>
      <p:sp>
        <p:nvSpPr>
          <p:cNvPr id="17" name="Text 15"/>
          <p:cNvSpPr/>
          <p:nvPr/>
        </p:nvSpPr>
        <p:spPr>
          <a:xfrm>
            <a:off x="1298448" y="3630168"/>
            <a:ext cx="1371600" cy="65836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Audio</a:t>
            </a:r>
            <a:endParaRPr lang="en-US" sz="1500" dirty="0"/>
          </a:p>
        </p:txBody>
      </p:sp>
      <p:sp>
        <p:nvSpPr>
          <p:cNvPr id="18" name="Text 16"/>
          <p:cNvSpPr/>
          <p:nvPr/>
        </p:nvSpPr>
        <p:spPr>
          <a:xfrm>
            <a:off x="2743200" y="3630168"/>
            <a:ext cx="2834640" cy="658368"/>
          </a:xfrm>
          <a:prstGeom prst="rect">
            <a:avLst/>
          </a:prstGeom>
          <a:noFill/>
          <a:ln/>
        </p:spPr>
        <p:txBody>
          <a:bodyPr wrap="square" lIns="0" tIns="0" rIns="0" bIns="0" rtlCol="0" anchor="ctr"/>
          <a:lstStyle/>
          <a:p>
            <a:pPr marL="0" indent="0">
              <a:buNone/>
            </a:pPr>
            <a:r>
              <a:rPr lang="en-US" sz="1350" b="1" dirty="0">
                <a:solidFill>
                  <a:srgbClr val="FFC24A"/>
                </a:solidFill>
                <a:latin typeface="Arial" pitchFamily="34" charset="0"/>
                <a:ea typeface="Arial" pitchFamily="34" charset="-122"/>
                <a:cs typeface="Arial" pitchFamily="34" charset="-120"/>
              </a:rPr>
              <a:t>Spectrogram frames</a:t>
            </a:r>
            <a:endParaRPr lang="en-US" sz="1350" dirty="0"/>
          </a:p>
        </p:txBody>
      </p:sp>
      <p:sp>
        <p:nvSpPr>
          <p:cNvPr id="19" name="Text 17"/>
          <p:cNvSpPr/>
          <p:nvPr/>
        </p:nvSpPr>
        <p:spPr>
          <a:xfrm>
            <a:off x="5669280" y="3630168"/>
            <a:ext cx="5577840" cy="658368"/>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Sound becomes a picture of frequency over time</a:t>
            </a:r>
            <a:endParaRPr lang="en-US" sz="1300" dirty="0"/>
          </a:p>
        </p:txBody>
      </p:sp>
      <p:sp>
        <p:nvSpPr>
          <p:cNvPr id="20" name="Shape 18"/>
          <p:cNvSpPr/>
          <p:nvPr/>
        </p:nvSpPr>
        <p:spPr>
          <a:xfrm>
            <a:off x="640080" y="4416552"/>
            <a:ext cx="10908792" cy="658368"/>
          </a:xfrm>
          <a:prstGeom prst="roundRect">
            <a:avLst>
              <a:gd name="adj" fmla="val 11111"/>
            </a:avLst>
          </a:prstGeom>
          <a:solidFill>
            <a:srgbClr val="F4F6FA"/>
          </a:solidFill>
          <a:ln/>
        </p:spPr>
        <p:txBody>
          <a:bodyPr/>
          <a:lstStyle/>
          <a:p>
            <a:endParaRPr lang="en-IN"/>
          </a:p>
        </p:txBody>
      </p:sp>
      <p:sp>
        <p:nvSpPr>
          <p:cNvPr id="21" name="Shape 19"/>
          <p:cNvSpPr/>
          <p:nvPr/>
        </p:nvSpPr>
        <p:spPr>
          <a:xfrm>
            <a:off x="914400" y="4631436"/>
            <a:ext cx="228600" cy="228600"/>
          </a:xfrm>
          <a:prstGeom prst="ellipse">
            <a:avLst/>
          </a:prstGeom>
          <a:solidFill>
            <a:srgbClr val="6B7689"/>
          </a:solidFill>
          <a:ln/>
        </p:spPr>
        <p:txBody>
          <a:bodyPr/>
          <a:lstStyle/>
          <a:p>
            <a:endParaRPr lang="en-IN"/>
          </a:p>
        </p:txBody>
      </p:sp>
      <p:sp>
        <p:nvSpPr>
          <p:cNvPr id="22" name="Text 20"/>
          <p:cNvSpPr/>
          <p:nvPr/>
        </p:nvSpPr>
        <p:spPr>
          <a:xfrm>
            <a:off x="1298448" y="4416552"/>
            <a:ext cx="1371600" cy="65836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Video</a:t>
            </a:r>
            <a:endParaRPr lang="en-US" sz="1500" dirty="0"/>
          </a:p>
        </p:txBody>
      </p:sp>
      <p:sp>
        <p:nvSpPr>
          <p:cNvPr id="23" name="Text 21"/>
          <p:cNvSpPr/>
          <p:nvPr/>
        </p:nvSpPr>
        <p:spPr>
          <a:xfrm>
            <a:off x="2743200" y="4416552"/>
            <a:ext cx="2834640" cy="658368"/>
          </a:xfrm>
          <a:prstGeom prst="rect">
            <a:avLst/>
          </a:prstGeom>
          <a:noFill/>
          <a:ln/>
        </p:spPr>
        <p:txBody>
          <a:bodyPr wrap="square" lIns="0" tIns="0" rIns="0" bIns="0" rtlCol="0" anchor="ctr"/>
          <a:lstStyle/>
          <a:p>
            <a:pPr marL="0" indent="0">
              <a:buNone/>
            </a:pPr>
            <a:r>
              <a:rPr lang="en-US" sz="1350" b="1" dirty="0">
                <a:solidFill>
                  <a:srgbClr val="6B7689"/>
                </a:solidFill>
                <a:latin typeface="Arial" pitchFamily="34" charset="0"/>
                <a:ea typeface="Arial" pitchFamily="34" charset="-122"/>
                <a:cs typeface="Arial" pitchFamily="34" charset="-120"/>
              </a:rPr>
              <a:t>Patches plus time</a:t>
            </a:r>
            <a:endParaRPr lang="en-US" sz="1350" dirty="0"/>
          </a:p>
        </p:txBody>
      </p:sp>
      <p:sp>
        <p:nvSpPr>
          <p:cNvPr id="24" name="Text 22"/>
          <p:cNvSpPr/>
          <p:nvPr/>
        </p:nvSpPr>
        <p:spPr>
          <a:xfrm>
            <a:off x="5669280" y="4416552"/>
            <a:ext cx="5577840" cy="658368"/>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Frames sampled, then patched like images</a:t>
            </a:r>
            <a:endParaRPr lang="en-US" sz="1300" dirty="0"/>
          </a:p>
        </p:txBody>
      </p:sp>
      <p:sp>
        <p:nvSpPr>
          <p:cNvPr id="25" name="Text 23"/>
          <p:cNvSpPr/>
          <p:nvPr/>
        </p:nvSpPr>
        <p:spPr>
          <a:xfrm>
            <a:off x="640080" y="5349240"/>
            <a:ext cx="10908792" cy="365760"/>
          </a:xfrm>
          <a:prstGeom prst="rect">
            <a:avLst/>
          </a:prstGeom>
          <a:noFill/>
          <a:ln/>
        </p:spPr>
        <p:txBody>
          <a:bodyPr wrap="square" lIns="0" tIns="0" rIns="0" bIns="0" rtlCol="0" anchor="ctr"/>
          <a:lstStyle/>
          <a:p>
            <a:pPr marL="0" indent="0">
              <a:buNone/>
            </a:pPr>
            <a:r>
              <a:rPr lang="en-US" sz="1650" b="1" dirty="0">
                <a:solidFill>
                  <a:srgbClr val="0E1524"/>
                </a:solidFill>
                <a:latin typeface="Arial" pitchFamily="34" charset="0"/>
                <a:ea typeface="Arial" pitchFamily="34" charset="-122"/>
                <a:cs typeface="Arial" pitchFamily="34" charset="-120"/>
              </a:rPr>
              <a:t>Once it is a token sequence, the same attention machinery that reads a paragraph can read a chest X-ray.</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DESIGN CHOICE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Three ways to combine the signals</a:t>
            </a:r>
            <a:endParaRPr lang="en-US" sz="3400" dirty="0"/>
          </a:p>
        </p:txBody>
      </p:sp>
      <p:sp>
        <p:nvSpPr>
          <p:cNvPr id="4" name="Shape 2"/>
          <p:cNvSpPr/>
          <p:nvPr/>
        </p:nvSpPr>
        <p:spPr>
          <a:xfrm>
            <a:off x="64008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5" name="Shape 3"/>
          <p:cNvSpPr/>
          <p:nvPr/>
        </p:nvSpPr>
        <p:spPr>
          <a:xfrm>
            <a:off x="932688" y="1965960"/>
            <a:ext cx="310896" cy="310896"/>
          </a:xfrm>
          <a:prstGeom prst="ellipse">
            <a:avLst/>
          </a:prstGeom>
          <a:solidFill>
            <a:srgbClr val="00C2A8"/>
          </a:solidFill>
          <a:ln/>
        </p:spPr>
        <p:txBody>
          <a:bodyPr/>
          <a:lstStyle/>
          <a:p>
            <a:endParaRPr lang="en-IN"/>
          </a:p>
        </p:txBody>
      </p:sp>
      <p:sp>
        <p:nvSpPr>
          <p:cNvPr id="6" name="Text 4"/>
          <p:cNvSpPr/>
          <p:nvPr/>
        </p:nvSpPr>
        <p:spPr>
          <a:xfrm>
            <a:off x="93268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Early fusion</a:t>
            </a:r>
            <a:endParaRPr lang="en-US" sz="1700" dirty="0"/>
          </a:p>
        </p:txBody>
      </p:sp>
      <p:sp>
        <p:nvSpPr>
          <p:cNvPr id="7" name="Text 5"/>
          <p:cNvSpPr/>
          <p:nvPr/>
        </p:nvSpPr>
        <p:spPr>
          <a:xfrm>
            <a:off x="93268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Concatenate raw tokens before the model sees them</a:t>
            </a:r>
            <a:endParaRPr lang="en-US" sz="1300" dirty="0"/>
          </a:p>
        </p:txBody>
      </p:sp>
      <p:sp>
        <p:nvSpPr>
          <p:cNvPr id="8" name="Text 6"/>
          <p:cNvSpPr/>
          <p:nvPr/>
        </p:nvSpPr>
        <p:spPr>
          <a:xfrm>
            <a:off x="93268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STRENGTH</a:t>
            </a:r>
            <a:endParaRPr lang="en-US" sz="950" dirty="0"/>
          </a:p>
        </p:txBody>
      </p:sp>
      <p:sp>
        <p:nvSpPr>
          <p:cNvPr id="9" name="Text 7"/>
          <p:cNvSpPr/>
          <p:nvPr/>
        </p:nvSpPr>
        <p:spPr>
          <a:xfrm>
            <a:off x="93268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Richest interaction between modalities</a:t>
            </a:r>
            <a:endParaRPr lang="en-US" sz="1250" dirty="0"/>
          </a:p>
        </p:txBody>
      </p:sp>
      <p:sp>
        <p:nvSpPr>
          <p:cNvPr id="10" name="Text 8"/>
          <p:cNvSpPr/>
          <p:nvPr/>
        </p:nvSpPr>
        <p:spPr>
          <a:xfrm>
            <a:off x="93268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COST</a:t>
            </a:r>
            <a:endParaRPr lang="en-US" sz="950" dirty="0"/>
          </a:p>
        </p:txBody>
      </p:sp>
      <p:sp>
        <p:nvSpPr>
          <p:cNvPr id="11" name="Text 9"/>
          <p:cNvSpPr/>
          <p:nvPr/>
        </p:nvSpPr>
        <p:spPr>
          <a:xfrm>
            <a:off x="93268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Expensive, needs paired training data</a:t>
            </a:r>
            <a:endParaRPr lang="en-US" sz="1250" dirty="0"/>
          </a:p>
        </p:txBody>
      </p:sp>
      <p:sp>
        <p:nvSpPr>
          <p:cNvPr id="12" name="Shape 10"/>
          <p:cNvSpPr/>
          <p:nvPr/>
        </p:nvSpPr>
        <p:spPr>
          <a:xfrm>
            <a:off x="434340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3" name="Shape 11"/>
          <p:cNvSpPr/>
          <p:nvPr/>
        </p:nvSpPr>
        <p:spPr>
          <a:xfrm>
            <a:off x="4636008" y="1965960"/>
            <a:ext cx="310896" cy="310896"/>
          </a:xfrm>
          <a:prstGeom prst="ellipse">
            <a:avLst/>
          </a:prstGeom>
          <a:solidFill>
            <a:srgbClr val="FFC24A"/>
          </a:solidFill>
          <a:ln/>
        </p:spPr>
        <p:txBody>
          <a:bodyPr/>
          <a:lstStyle/>
          <a:p>
            <a:endParaRPr lang="en-IN"/>
          </a:p>
        </p:txBody>
      </p:sp>
      <p:sp>
        <p:nvSpPr>
          <p:cNvPr id="14" name="Text 12"/>
          <p:cNvSpPr/>
          <p:nvPr/>
        </p:nvSpPr>
        <p:spPr>
          <a:xfrm>
            <a:off x="463600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Late fusion</a:t>
            </a:r>
            <a:endParaRPr lang="en-US" sz="1700" dirty="0"/>
          </a:p>
        </p:txBody>
      </p:sp>
      <p:sp>
        <p:nvSpPr>
          <p:cNvPr id="15" name="Text 13"/>
          <p:cNvSpPr/>
          <p:nvPr/>
        </p:nvSpPr>
        <p:spPr>
          <a:xfrm>
            <a:off x="463600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Run separate encoders, merge only the final outputs</a:t>
            </a:r>
            <a:endParaRPr lang="en-US" sz="1300" dirty="0"/>
          </a:p>
        </p:txBody>
      </p:sp>
      <p:sp>
        <p:nvSpPr>
          <p:cNvPr id="16" name="Text 14"/>
          <p:cNvSpPr/>
          <p:nvPr/>
        </p:nvSpPr>
        <p:spPr>
          <a:xfrm>
            <a:off x="463600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STRENGTH</a:t>
            </a:r>
            <a:endParaRPr lang="en-US" sz="950" dirty="0"/>
          </a:p>
        </p:txBody>
      </p:sp>
      <p:sp>
        <p:nvSpPr>
          <p:cNvPr id="17" name="Text 15"/>
          <p:cNvSpPr/>
          <p:nvPr/>
        </p:nvSpPr>
        <p:spPr>
          <a:xfrm>
            <a:off x="463600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Cheap, reuses existing models</a:t>
            </a:r>
            <a:endParaRPr lang="en-US" sz="1250" dirty="0"/>
          </a:p>
        </p:txBody>
      </p:sp>
      <p:sp>
        <p:nvSpPr>
          <p:cNvPr id="18" name="Text 16"/>
          <p:cNvSpPr/>
          <p:nvPr/>
        </p:nvSpPr>
        <p:spPr>
          <a:xfrm>
            <a:off x="463600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COST</a:t>
            </a:r>
            <a:endParaRPr lang="en-US" sz="950" dirty="0"/>
          </a:p>
        </p:txBody>
      </p:sp>
      <p:sp>
        <p:nvSpPr>
          <p:cNvPr id="19" name="Text 17"/>
          <p:cNvSpPr/>
          <p:nvPr/>
        </p:nvSpPr>
        <p:spPr>
          <a:xfrm>
            <a:off x="463600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Misses fine cross-modal detail</a:t>
            </a:r>
            <a:endParaRPr lang="en-US" sz="1250" dirty="0"/>
          </a:p>
        </p:txBody>
      </p:sp>
      <p:sp>
        <p:nvSpPr>
          <p:cNvPr id="20" name="Shape 18"/>
          <p:cNvSpPr/>
          <p:nvPr/>
        </p:nvSpPr>
        <p:spPr>
          <a:xfrm>
            <a:off x="804672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21" name="Shape 19"/>
          <p:cNvSpPr/>
          <p:nvPr/>
        </p:nvSpPr>
        <p:spPr>
          <a:xfrm>
            <a:off x="8339328" y="1965960"/>
            <a:ext cx="310896" cy="310896"/>
          </a:xfrm>
          <a:prstGeom prst="ellipse">
            <a:avLst/>
          </a:prstGeom>
          <a:solidFill>
            <a:srgbClr val="FF6B4A"/>
          </a:solidFill>
          <a:ln/>
        </p:spPr>
        <p:txBody>
          <a:bodyPr/>
          <a:lstStyle/>
          <a:p>
            <a:endParaRPr lang="en-IN"/>
          </a:p>
        </p:txBody>
      </p:sp>
      <p:sp>
        <p:nvSpPr>
          <p:cNvPr id="22" name="Text 20"/>
          <p:cNvSpPr/>
          <p:nvPr/>
        </p:nvSpPr>
        <p:spPr>
          <a:xfrm>
            <a:off x="833932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Cross-attention</a:t>
            </a:r>
            <a:endParaRPr lang="en-US" sz="1700" dirty="0"/>
          </a:p>
        </p:txBody>
      </p:sp>
      <p:sp>
        <p:nvSpPr>
          <p:cNvPr id="23" name="Text 21"/>
          <p:cNvSpPr/>
          <p:nvPr/>
        </p:nvSpPr>
        <p:spPr>
          <a:xfrm>
            <a:off x="833932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Let one modality query the other mid-network</a:t>
            </a:r>
            <a:endParaRPr lang="en-US" sz="1300" dirty="0"/>
          </a:p>
        </p:txBody>
      </p:sp>
      <p:sp>
        <p:nvSpPr>
          <p:cNvPr id="24" name="Text 22"/>
          <p:cNvSpPr/>
          <p:nvPr/>
        </p:nvSpPr>
        <p:spPr>
          <a:xfrm>
            <a:off x="833932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STRENGTH</a:t>
            </a:r>
            <a:endParaRPr lang="en-US" sz="950" dirty="0"/>
          </a:p>
        </p:txBody>
      </p:sp>
      <p:sp>
        <p:nvSpPr>
          <p:cNvPr id="25" name="Text 23"/>
          <p:cNvSpPr/>
          <p:nvPr/>
        </p:nvSpPr>
        <p:spPr>
          <a:xfrm>
            <a:off x="833932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Fine detail; language model stays frozen</a:t>
            </a:r>
            <a:endParaRPr lang="en-US" sz="1250" dirty="0"/>
          </a:p>
        </p:txBody>
      </p:sp>
      <p:sp>
        <p:nvSpPr>
          <p:cNvPr id="26" name="Text 24"/>
          <p:cNvSpPr/>
          <p:nvPr/>
        </p:nvSpPr>
        <p:spPr>
          <a:xfrm>
            <a:off x="833932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COST</a:t>
            </a:r>
            <a:endParaRPr lang="en-US" sz="950" dirty="0"/>
          </a:p>
        </p:txBody>
      </p:sp>
      <p:sp>
        <p:nvSpPr>
          <p:cNvPr id="27" name="Text 25"/>
          <p:cNvSpPr/>
          <p:nvPr/>
        </p:nvSpPr>
        <p:spPr>
          <a:xfrm>
            <a:off x="833932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Harder to train and to debug</a:t>
            </a:r>
            <a:endParaRPr lang="en-US" sz="1250" dirty="0"/>
          </a:p>
        </p:txBody>
      </p:sp>
      <p:sp>
        <p:nvSpPr>
          <p:cNvPr id="28" name="Text 26"/>
          <p:cNvSpPr/>
          <p:nvPr/>
        </p:nvSpPr>
        <p:spPr>
          <a:xfrm>
            <a:off x="640080" y="5257800"/>
            <a:ext cx="10908792" cy="365760"/>
          </a:xfrm>
          <a:prstGeom prst="rect">
            <a:avLst/>
          </a:prstGeom>
          <a:noFill/>
          <a:ln/>
        </p:spPr>
        <p:txBody>
          <a:bodyPr wrap="square" lIns="0" tIns="0" rIns="0" bIns="0" rtlCol="0" anchor="ctr"/>
          <a:lstStyle/>
          <a:p>
            <a:pPr marL="0" indent="0">
              <a:buNone/>
            </a:pPr>
            <a:r>
              <a:rPr lang="en-US" sz="1500" i="1" dirty="0">
                <a:solidFill>
                  <a:srgbClr val="0E1524"/>
                </a:solidFill>
                <a:latin typeface="Calibri" pitchFamily="34" charset="0"/>
                <a:ea typeface="Calibri" pitchFamily="34" charset="-122"/>
                <a:cs typeface="Calibri" pitchFamily="34" charset="-120"/>
              </a:rPr>
              <a:t>For a first project, do not build fusion at all: call a pre-trained vision-language model (fusion is already inside it), or late-fuse models you already have.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YOUR TURN  ·  CHAT POLL</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Which fusion would you pick?</a:t>
            </a:r>
            <a:endParaRPr lang="en-US" sz="3400" dirty="0"/>
          </a:p>
        </p:txBody>
      </p:sp>
      <p:sp>
        <p:nvSpPr>
          <p:cNvPr id="4" name="Shape 2"/>
          <p:cNvSpPr/>
          <p:nvPr/>
        </p:nvSpPr>
        <p:spPr>
          <a:xfrm>
            <a:off x="64008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5" name="Shape 3"/>
          <p:cNvSpPr/>
          <p:nvPr/>
        </p:nvSpPr>
        <p:spPr>
          <a:xfrm>
            <a:off x="932688" y="1965960"/>
            <a:ext cx="310896" cy="310896"/>
          </a:xfrm>
          <a:prstGeom prst="ellipse">
            <a:avLst/>
          </a:prstGeom>
          <a:solidFill>
            <a:srgbClr val="00C2A8"/>
          </a:solidFill>
          <a:ln/>
        </p:spPr>
        <p:txBody>
          <a:bodyPr/>
          <a:lstStyle/>
          <a:p>
            <a:endParaRPr lang="en-IN"/>
          </a:p>
        </p:txBody>
      </p:sp>
      <p:sp>
        <p:nvSpPr>
          <p:cNvPr id="6" name="Text 4"/>
          <p:cNvSpPr/>
          <p:nvPr/>
        </p:nvSpPr>
        <p:spPr>
          <a:xfrm>
            <a:off x="93268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1  ·  Hostel attendance</a:t>
            </a:r>
            <a:endParaRPr lang="en-US" sz="1700" dirty="0"/>
          </a:p>
        </p:txBody>
      </p:sp>
      <p:sp>
        <p:nvSpPr>
          <p:cNvPr id="7" name="Text 5"/>
          <p:cNvSpPr/>
          <p:nvPr/>
        </p:nvSpPr>
        <p:spPr>
          <a:xfrm>
            <a:off x="93268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A face photo and the RFID gate log must both agree the student is in</a:t>
            </a:r>
            <a:endParaRPr lang="en-US" sz="1300" dirty="0"/>
          </a:p>
        </p:txBody>
      </p:sp>
      <p:sp>
        <p:nvSpPr>
          <p:cNvPr id="8" name="Text 6"/>
          <p:cNvSpPr/>
          <p:nvPr/>
        </p:nvSpPr>
        <p:spPr>
          <a:xfrm>
            <a:off x="93268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CLUE</a:t>
            </a:r>
            <a:endParaRPr lang="en-US" sz="950" dirty="0"/>
          </a:p>
        </p:txBody>
      </p:sp>
      <p:sp>
        <p:nvSpPr>
          <p:cNvPr id="9" name="Text 7"/>
          <p:cNvSpPr/>
          <p:nvPr/>
        </p:nvSpPr>
        <p:spPr>
          <a:xfrm>
            <a:off x="93268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Two separate verdicts, each already solved</a:t>
            </a:r>
            <a:endParaRPr lang="en-US" sz="1250" dirty="0"/>
          </a:p>
        </p:txBody>
      </p:sp>
      <p:sp>
        <p:nvSpPr>
          <p:cNvPr id="10" name="Text 8"/>
          <p:cNvSpPr/>
          <p:nvPr/>
        </p:nvSpPr>
        <p:spPr>
          <a:xfrm>
            <a:off x="93268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YOUR PICK</a:t>
            </a:r>
            <a:endParaRPr lang="en-US" sz="950" dirty="0"/>
          </a:p>
        </p:txBody>
      </p:sp>
      <p:sp>
        <p:nvSpPr>
          <p:cNvPr id="11" name="Text 9"/>
          <p:cNvSpPr/>
          <p:nvPr/>
        </p:nvSpPr>
        <p:spPr>
          <a:xfrm>
            <a:off x="93268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Early, late or cross-attention?</a:t>
            </a:r>
            <a:endParaRPr lang="en-US" sz="1250" dirty="0"/>
          </a:p>
        </p:txBody>
      </p:sp>
      <p:sp>
        <p:nvSpPr>
          <p:cNvPr id="12" name="Shape 10"/>
          <p:cNvSpPr/>
          <p:nvPr/>
        </p:nvSpPr>
        <p:spPr>
          <a:xfrm>
            <a:off x="434340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3" name="Shape 11"/>
          <p:cNvSpPr/>
          <p:nvPr/>
        </p:nvSpPr>
        <p:spPr>
          <a:xfrm>
            <a:off x="4636008" y="1965960"/>
            <a:ext cx="310896" cy="310896"/>
          </a:xfrm>
          <a:prstGeom prst="ellipse">
            <a:avLst/>
          </a:prstGeom>
          <a:solidFill>
            <a:srgbClr val="FFC24A"/>
          </a:solidFill>
          <a:ln/>
        </p:spPr>
        <p:txBody>
          <a:bodyPr/>
          <a:lstStyle/>
          <a:p>
            <a:endParaRPr lang="en-IN"/>
          </a:p>
        </p:txBody>
      </p:sp>
      <p:sp>
        <p:nvSpPr>
          <p:cNvPr id="14" name="Text 12"/>
          <p:cNvSpPr/>
          <p:nvPr/>
        </p:nvSpPr>
        <p:spPr>
          <a:xfrm>
            <a:off x="463600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2  ·  Crop advisory</a:t>
            </a:r>
            <a:endParaRPr lang="en-US" sz="1700" dirty="0"/>
          </a:p>
        </p:txBody>
      </p:sp>
      <p:sp>
        <p:nvSpPr>
          <p:cNvPr id="15" name="Text 13"/>
          <p:cNvSpPr/>
          <p:nvPr/>
        </p:nvSpPr>
        <p:spPr>
          <a:xfrm>
            <a:off x="463600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A leaf photo plus the farmer’s Marathi voice note describing the symptoms</a:t>
            </a:r>
            <a:endParaRPr lang="en-US" sz="1300" dirty="0"/>
          </a:p>
        </p:txBody>
      </p:sp>
      <p:sp>
        <p:nvSpPr>
          <p:cNvPr id="16" name="Text 14"/>
          <p:cNvSpPr/>
          <p:nvPr/>
        </p:nvSpPr>
        <p:spPr>
          <a:xfrm>
            <a:off x="463600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CLUE</a:t>
            </a:r>
            <a:endParaRPr lang="en-US" sz="950" dirty="0"/>
          </a:p>
        </p:txBody>
      </p:sp>
      <p:sp>
        <p:nvSpPr>
          <p:cNvPr id="17" name="Text 15"/>
          <p:cNvSpPr/>
          <p:nvPr/>
        </p:nvSpPr>
        <p:spPr>
          <a:xfrm>
            <a:off x="463600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Her words change where to look in the photo</a:t>
            </a:r>
            <a:endParaRPr lang="en-US" sz="1250" dirty="0"/>
          </a:p>
        </p:txBody>
      </p:sp>
      <p:sp>
        <p:nvSpPr>
          <p:cNvPr id="18" name="Text 16"/>
          <p:cNvSpPr/>
          <p:nvPr/>
        </p:nvSpPr>
        <p:spPr>
          <a:xfrm>
            <a:off x="463600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YOUR PICK</a:t>
            </a:r>
            <a:endParaRPr lang="en-US" sz="950" dirty="0"/>
          </a:p>
        </p:txBody>
      </p:sp>
      <p:sp>
        <p:nvSpPr>
          <p:cNvPr id="19" name="Text 17"/>
          <p:cNvSpPr/>
          <p:nvPr/>
        </p:nvSpPr>
        <p:spPr>
          <a:xfrm>
            <a:off x="463600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Early, late or cross-attention?</a:t>
            </a:r>
            <a:endParaRPr lang="en-US" sz="1250" dirty="0"/>
          </a:p>
        </p:txBody>
      </p:sp>
      <p:sp>
        <p:nvSpPr>
          <p:cNvPr id="20" name="Shape 18"/>
          <p:cNvSpPr/>
          <p:nvPr/>
        </p:nvSpPr>
        <p:spPr>
          <a:xfrm>
            <a:off x="804672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21" name="Shape 19"/>
          <p:cNvSpPr/>
          <p:nvPr/>
        </p:nvSpPr>
        <p:spPr>
          <a:xfrm>
            <a:off x="8339328" y="1965960"/>
            <a:ext cx="310896" cy="310896"/>
          </a:xfrm>
          <a:prstGeom prst="ellipse">
            <a:avLst/>
          </a:prstGeom>
          <a:solidFill>
            <a:srgbClr val="FF6B4A"/>
          </a:solidFill>
          <a:ln/>
        </p:spPr>
        <p:txBody>
          <a:bodyPr/>
          <a:lstStyle/>
          <a:p>
            <a:endParaRPr lang="en-IN"/>
          </a:p>
        </p:txBody>
      </p:sp>
      <p:sp>
        <p:nvSpPr>
          <p:cNvPr id="22" name="Text 20"/>
          <p:cNvSpPr/>
          <p:nvPr/>
        </p:nvSpPr>
        <p:spPr>
          <a:xfrm>
            <a:off x="833932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3  ·  Pump health</a:t>
            </a:r>
            <a:endParaRPr lang="en-US" sz="1700" dirty="0"/>
          </a:p>
        </p:txBody>
      </p:sp>
      <p:sp>
        <p:nvSpPr>
          <p:cNvPr id="23" name="Text 21"/>
          <p:cNvSpPr/>
          <p:nvPr/>
        </p:nvSpPr>
        <p:spPr>
          <a:xfrm>
            <a:off x="833932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Vibration and motor current, both sampled at 1 kHz on one clock</a:t>
            </a:r>
            <a:endParaRPr lang="en-US" sz="1300" dirty="0"/>
          </a:p>
        </p:txBody>
      </p:sp>
      <p:sp>
        <p:nvSpPr>
          <p:cNvPr id="24" name="Text 22"/>
          <p:cNvSpPr/>
          <p:nvPr/>
        </p:nvSpPr>
        <p:spPr>
          <a:xfrm>
            <a:off x="833932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CLUE</a:t>
            </a:r>
            <a:endParaRPr lang="en-US" sz="950" dirty="0"/>
          </a:p>
        </p:txBody>
      </p:sp>
      <p:sp>
        <p:nvSpPr>
          <p:cNvPr id="25" name="Text 23"/>
          <p:cNvSpPr/>
          <p:nvPr/>
        </p:nvSpPr>
        <p:spPr>
          <a:xfrm>
            <a:off x="833932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Faults show only in the joint pattern</a:t>
            </a:r>
            <a:endParaRPr lang="en-US" sz="1250" dirty="0"/>
          </a:p>
        </p:txBody>
      </p:sp>
      <p:sp>
        <p:nvSpPr>
          <p:cNvPr id="26" name="Text 24"/>
          <p:cNvSpPr/>
          <p:nvPr/>
        </p:nvSpPr>
        <p:spPr>
          <a:xfrm>
            <a:off x="833932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YOUR PICK</a:t>
            </a:r>
            <a:endParaRPr lang="en-US" sz="950" dirty="0"/>
          </a:p>
        </p:txBody>
      </p:sp>
      <p:sp>
        <p:nvSpPr>
          <p:cNvPr id="27" name="Text 25"/>
          <p:cNvSpPr/>
          <p:nvPr/>
        </p:nvSpPr>
        <p:spPr>
          <a:xfrm>
            <a:off x="833932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Early, late or cross-attention?</a:t>
            </a:r>
            <a:endParaRPr lang="en-US" sz="1250" dirty="0"/>
          </a:p>
        </p:txBody>
      </p:sp>
      <p:sp>
        <p:nvSpPr>
          <p:cNvPr id="28" name="Text 26"/>
          <p:cNvSpPr/>
          <p:nvPr/>
        </p:nvSpPr>
        <p:spPr>
          <a:xfrm>
            <a:off x="640080" y="5257800"/>
            <a:ext cx="10908792" cy="365760"/>
          </a:xfrm>
          <a:prstGeom prst="rect">
            <a:avLst/>
          </a:prstGeom>
          <a:noFill/>
          <a:ln/>
        </p:spPr>
        <p:txBody>
          <a:bodyPr wrap="square" lIns="0" tIns="0" rIns="0" bIns="0" rtlCol="0" anchor="ctr"/>
          <a:lstStyle/>
          <a:p>
            <a:pPr marL="0" indent="0">
              <a:buNone/>
            </a:pPr>
            <a:r>
              <a:rPr lang="en-US" sz="1500" i="1" dirty="0">
                <a:solidFill>
                  <a:srgbClr val="0E1524"/>
                </a:solidFill>
                <a:latin typeface="Calibri" pitchFamily="34" charset="0"/>
                <a:ea typeface="Calibri" pitchFamily="34" charset="-122"/>
                <a:cs typeface="Calibri" pitchFamily="34" charset="-120"/>
              </a:rPr>
              <a:t>Type the number and your pick in the chat - for example “2 cross”. Answers on the next slide.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ANSWERS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One rule decides all three</a:t>
            </a:r>
            <a:endParaRPr lang="en-US" sz="3400" dirty="0"/>
          </a:p>
        </p:txBody>
      </p:sp>
      <p:sp>
        <p:nvSpPr>
          <p:cNvPr id="4" name="Shape 2"/>
          <p:cNvSpPr/>
          <p:nvPr/>
        </p:nvSpPr>
        <p:spPr>
          <a:xfrm>
            <a:off x="64008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5" name="Shape 3"/>
          <p:cNvSpPr/>
          <p:nvPr/>
        </p:nvSpPr>
        <p:spPr>
          <a:xfrm>
            <a:off x="932688" y="1965960"/>
            <a:ext cx="310896" cy="310896"/>
          </a:xfrm>
          <a:prstGeom prst="ellipse">
            <a:avLst/>
          </a:prstGeom>
          <a:solidFill>
            <a:srgbClr val="00C2A8"/>
          </a:solidFill>
          <a:ln/>
        </p:spPr>
        <p:txBody>
          <a:bodyPr/>
          <a:lstStyle/>
          <a:p>
            <a:endParaRPr lang="en-IN"/>
          </a:p>
        </p:txBody>
      </p:sp>
      <p:sp>
        <p:nvSpPr>
          <p:cNvPr id="6" name="Text 4"/>
          <p:cNvSpPr/>
          <p:nvPr/>
        </p:nvSpPr>
        <p:spPr>
          <a:xfrm>
            <a:off x="93268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1  ·  Late fusion</a:t>
            </a:r>
            <a:endParaRPr lang="en-US" sz="1700" dirty="0"/>
          </a:p>
        </p:txBody>
      </p:sp>
      <p:sp>
        <p:nvSpPr>
          <p:cNvPr id="7" name="Text 5"/>
          <p:cNvSpPr/>
          <p:nvPr/>
        </p:nvSpPr>
        <p:spPr>
          <a:xfrm>
            <a:off x="93268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Hostel attendance: two models you already own, joined by a simple rule</a:t>
            </a:r>
            <a:endParaRPr lang="en-US" sz="1300" dirty="0"/>
          </a:p>
        </p:txBody>
      </p:sp>
      <p:sp>
        <p:nvSpPr>
          <p:cNvPr id="8" name="Text 6"/>
          <p:cNvSpPr/>
          <p:nvPr/>
        </p:nvSpPr>
        <p:spPr>
          <a:xfrm>
            <a:off x="93268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WHY</a:t>
            </a:r>
            <a:endParaRPr lang="en-US" sz="950" dirty="0"/>
          </a:p>
        </p:txBody>
      </p:sp>
      <p:sp>
        <p:nvSpPr>
          <p:cNvPr id="9" name="Text 7"/>
          <p:cNvSpPr/>
          <p:nvPr/>
        </p:nvSpPr>
        <p:spPr>
          <a:xfrm>
            <a:off x="93268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Neither signal needs to see the other</a:t>
            </a:r>
            <a:endParaRPr lang="en-US" sz="1250" dirty="0"/>
          </a:p>
        </p:txBody>
      </p:sp>
      <p:sp>
        <p:nvSpPr>
          <p:cNvPr id="10" name="Text 8"/>
          <p:cNvSpPr/>
          <p:nvPr/>
        </p:nvSpPr>
        <p:spPr>
          <a:xfrm>
            <a:off x="93268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WATCH FOR</a:t>
            </a:r>
            <a:endParaRPr lang="en-US" sz="950" dirty="0"/>
          </a:p>
        </p:txBody>
      </p:sp>
      <p:sp>
        <p:nvSpPr>
          <p:cNvPr id="11" name="Text 9"/>
          <p:cNvSpPr/>
          <p:nvPr/>
        </p:nvSpPr>
        <p:spPr>
          <a:xfrm>
            <a:off x="93268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Both fail together - log disagreements</a:t>
            </a:r>
            <a:endParaRPr lang="en-US" sz="1250" dirty="0"/>
          </a:p>
        </p:txBody>
      </p:sp>
      <p:sp>
        <p:nvSpPr>
          <p:cNvPr id="12" name="Shape 10"/>
          <p:cNvSpPr/>
          <p:nvPr/>
        </p:nvSpPr>
        <p:spPr>
          <a:xfrm>
            <a:off x="434340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3" name="Shape 11"/>
          <p:cNvSpPr/>
          <p:nvPr/>
        </p:nvSpPr>
        <p:spPr>
          <a:xfrm>
            <a:off x="4636008" y="1965960"/>
            <a:ext cx="310896" cy="310896"/>
          </a:xfrm>
          <a:prstGeom prst="ellipse">
            <a:avLst/>
          </a:prstGeom>
          <a:solidFill>
            <a:srgbClr val="FFC24A"/>
          </a:solidFill>
          <a:ln/>
        </p:spPr>
        <p:txBody>
          <a:bodyPr/>
          <a:lstStyle/>
          <a:p>
            <a:endParaRPr lang="en-IN"/>
          </a:p>
        </p:txBody>
      </p:sp>
      <p:sp>
        <p:nvSpPr>
          <p:cNvPr id="14" name="Text 12"/>
          <p:cNvSpPr/>
          <p:nvPr/>
        </p:nvSpPr>
        <p:spPr>
          <a:xfrm>
            <a:off x="463600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2  ·  Cross-attention</a:t>
            </a:r>
            <a:endParaRPr lang="en-US" sz="1700" dirty="0"/>
          </a:p>
        </p:txBody>
      </p:sp>
      <p:sp>
        <p:nvSpPr>
          <p:cNvPr id="15" name="Text 13"/>
          <p:cNvSpPr/>
          <p:nvPr/>
        </p:nvSpPr>
        <p:spPr>
          <a:xfrm>
            <a:off x="463600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Crop advisory: or simply a pre-trained VLM, which has it built in</a:t>
            </a:r>
            <a:endParaRPr lang="en-US" sz="1300" dirty="0"/>
          </a:p>
        </p:txBody>
      </p:sp>
      <p:sp>
        <p:nvSpPr>
          <p:cNvPr id="16" name="Text 14"/>
          <p:cNvSpPr/>
          <p:nvPr/>
        </p:nvSpPr>
        <p:spPr>
          <a:xfrm>
            <a:off x="463600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WHY</a:t>
            </a:r>
            <a:endParaRPr lang="en-US" sz="950" dirty="0"/>
          </a:p>
        </p:txBody>
      </p:sp>
      <p:sp>
        <p:nvSpPr>
          <p:cNvPr id="17" name="Text 15"/>
          <p:cNvSpPr/>
          <p:nvPr/>
        </p:nvSpPr>
        <p:spPr>
          <a:xfrm>
            <a:off x="463600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Her words decide where on the leaf to look</a:t>
            </a:r>
            <a:endParaRPr lang="en-US" sz="1250" dirty="0"/>
          </a:p>
        </p:txBody>
      </p:sp>
      <p:sp>
        <p:nvSpPr>
          <p:cNvPr id="18" name="Text 16"/>
          <p:cNvSpPr/>
          <p:nvPr/>
        </p:nvSpPr>
        <p:spPr>
          <a:xfrm>
            <a:off x="463600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WATCH FOR</a:t>
            </a:r>
            <a:endParaRPr lang="en-US" sz="950" dirty="0"/>
          </a:p>
        </p:txBody>
      </p:sp>
      <p:sp>
        <p:nvSpPr>
          <p:cNvPr id="19" name="Text 17"/>
          <p:cNvSpPr/>
          <p:nvPr/>
        </p:nvSpPr>
        <p:spPr>
          <a:xfrm>
            <a:off x="463600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Marathi audio is low-resource (problem 02)</a:t>
            </a:r>
            <a:endParaRPr lang="en-US" sz="1250" dirty="0"/>
          </a:p>
        </p:txBody>
      </p:sp>
      <p:sp>
        <p:nvSpPr>
          <p:cNvPr id="20" name="Shape 18"/>
          <p:cNvSpPr/>
          <p:nvPr/>
        </p:nvSpPr>
        <p:spPr>
          <a:xfrm>
            <a:off x="804672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21" name="Shape 19"/>
          <p:cNvSpPr/>
          <p:nvPr/>
        </p:nvSpPr>
        <p:spPr>
          <a:xfrm>
            <a:off x="8339328" y="1965960"/>
            <a:ext cx="310896" cy="310896"/>
          </a:xfrm>
          <a:prstGeom prst="ellipse">
            <a:avLst/>
          </a:prstGeom>
          <a:solidFill>
            <a:srgbClr val="FF6B4A"/>
          </a:solidFill>
          <a:ln/>
        </p:spPr>
        <p:txBody>
          <a:bodyPr/>
          <a:lstStyle/>
          <a:p>
            <a:endParaRPr lang="en-IN"/>
          </a:p>
        </p:txBody>
      </p:sp>
      <p:sp>
        <p:nvSpPr>
          <p:cNvPr id="22" name="Text 20"/>
          <p:cNvSpPr/>
          <p:nvPr/>
        </p:nvSpPr>
        <p:spPr>
          <a:xfrm>
            <a:off x="833932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3  ·  Early fusion</a:t>
            </a:r>
            <a:endParaRPr lang="en-US" sz="1700" dirty="0"/>
          </a:p>
        </p:txBody>
      </p:sp>
      <p:sp>
        <p:nvSpPr>
          <p:cNvPr id="23" name="Text 21"/>
          <p:cNvSpPr/>
          <p:nvPr/>
        </p:nvSpPr>
        <p:spPr>
          <a:xfrm>
            <a:off x="833932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Pump health: raw streams stacked in front of a single model</a:t>
            </a:r>
            <a:endParaRPr lang="en-US" sz="1300" dirty="0"/>
          </a:p>
        </p:txBody>
      </p:sp>
      <p:sp>
        <p:nvSpPr>
          <p:cNvPr id="24" name="Text 22"/>
          <p:cNvSpPr/>
          <p:nvPr/>
        </p:nvSpPr>
        <p:spPr>
          <a:xfrm>
            <a:off x="833932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WHY</a:t>
            </a:r>
            <a:endParaRPr lang="en-US" sz="950" dirty="0"/>
          </a:p>
        </p:txBody>
      </p:sp>
      <p:sp>
        <p:nvSpPr>
          <p:cNvPr id="25" name="Text 23"/>
          <p:cNvSpPr/>
          <p:nvPr/>
        </p:nvSpPr>
        <p:spPr>
          <a:xfrm>
            <a:off x="833932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The fault lives in the joint pattern</a:t>
            </a:r>
            <a:endParaRPr lang="en-US" sz="1250" dirty="0"/>
          </a:p>
        </p:txBody>
      </p:sp>
      <p:sp>
        <p:nvSpPr>
          <p:cNvPr id="26" name="Text 24"/>
          <p:cNvSpPr/>
          <p:nvPr/>
        </p:nvSpPr>
        <p:spPr>
          <a:xfrm>
            <a:off x="833932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WATCH FOR</a:t>
            </a:r>
            <a:endParaRPr lang="en-US" sz="950" dirty="0"/>
          </a:p>
        </p:txBody>
      </p:sp>
      <p:sp>
        <p:nvSpPr>
          <p:cNvPr id="27" name="Text 25"/>
          <p:cNvSpPr/>
          <p:nvPr/>
        </p:nvSpPr>
        <p:spPr>
          <a:xfrm>
            <a:off x="833932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Clock drift between sensors breaks it</a:t>
            </a:r>
            <a:endParaRPr lang="en-US" sz="1250" dirty="0"/>
          </a:p>
        </p:txBody>
      </p:sp>
      <p:sp>
        <p:nvSpPr>
          <p:cNvPr id="28" name="Text 26"/>
          <p:cNvSpPr/>
          <p:nvPr/>
        </p:nvSpPr>
        <p:spPr>
          <a:xfrm>
            <a:off x="640080" y="5257800"/>
            <a:ext cx="10908792" cy="365760"/>
          </a:xfrm>
          <a:prstGeom prst="rect">
            <a:avLst/>
          </a:prstGeom>
          <a:noFill/>
          <a:ln/>
        </p:spPr>
        <p:txBody>
          <a:bodyPr wrap="square" lIns="0" tIns="0" rIns="0" bIns="0" rtlCol="0" anchor="ctr"/>
          <a:lstStyle/>
          <a:p>
            <a:pPr marL="0" indent="0">
              <a:buNone/>
            </a:pPr>
            <a:r>
              <a:rPr lang="en-US" sz="1500" i="1" dirty="0">
                <a:solidFill>
                  <a:srgbClr val="0E1524"/>
                </a:solidFill>
                <a:latin typeface="Calibri" pitchFamily="34" charset="0"/>
                <a:ea typeface="Calibri" pitchFamily="34" charset="-122"/>
                <a:cs typeface="Calibri" pitchFamily="34" charset="-120"/>
              </a:rPr>
              <a:t>The more one signal changes how you read the other, the earlier the two should meet.</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960120"/>
            <a:ext cx="10908792" cy="411480"/>
          </a:xfrm>
          <a:prstGeom prst="rect">
            <a:avLst/>
          </a:prstGeom>
          <a:noFill/>
          <a:ln/>
        </p:spPr>
        <p:txBody>
          <a:bodyPr wrap="square" lIns="0" tIns="0" rIns="0" bIns="0" rtlCol="0" anchor="ctr"/>
          <a:lstStyle/>
          <a:p>
            <a:pPr marL="0" indent="0">
              <a:buNone/>
            </a:pPr>
            <a:r>
              <a:rPr lang="en-US" sz="2200" b="1" dirty="0">
                <a:solidFill>
                  <a:srgbClr val="A8B2C4"/>
                </a:solidFill>
                <a:latin typeface="Arial" pitchFamily="34" charset="0"/>
                <a:ea typeface="Arial" pitchFamily="34" charset="-122"/>
                <a:cs typeface="Arial" pitchFamily="34" charset="-120"/>
              </a:rPr>
              <a:t>The whole of Part One in one line</a:t>
            </a:r>
            <a:endParaRPr lang="en-US" sz="2200" dirty="0"/>
          </a:p>
        </p:txBody>
      </p:sp>
      <p:sp>
        <p:nvSpPr>
          <p:cNvPr id="3" name="Text 1"/>
          <p:cNvSpPr/>
          <p:nvPr/>
        </p:nvSpPr>
        <p:spPr>
          <a:xfrm>
            <a:off x="640080" y="1828800"/>
            <a:ext cx="10515600" cy="1691640"/>
          </a:xfrm>
          <a:prstGeom prst="rect">
            <a:avLst/>
          </a:prstGeom>
          <a:noFill/>
          <a:ln/>
        </p:spPr>
        <p:txBody>
          <a:bodyPr wrap="square" lIns="0" tIns="0" rIns="0" bIns="0" rtlCol="0" anchor="ctr"/>
          <a:lstStyle/>
          <a:p>
            <a:pPr marL="0" indent="0">
              <a:lnSpc>
                <a:spcPts val="5200"/>
              </a:lnSpc>
              <a:buNone/>
            </a:pPr>
            <a:r>
              <a:rPr lang="en-US" sz="4400" b="1" dirty="0">
                <a:solidFill>
                  <a:srgbClr val="FFFFFF"/>
                </a:solidFill>
                <a:latin typeface="Arial" pitchFamily="34" charset="0"/>
                <a:ea typeface="Arial" pitchFamily="34" charset="-122"/>
                <a:cs typeface="Arial" pitchFamily="34" charset="-120"/>
              </a:rPr>
              <a:t>Shared representation</a:t>
            </a:r>
            <a:endParaRPr lang="en-US" sz="4400" dirty="0"/>
          </a:p>
          <a:p>
            <a:pPr marL="0" indent="0">
              <a:lnSpc>
                <a:spcPts val="5200"/>
              </a:lnSpc>
              <a:buNone/>
            </a:pPr>
            <a:r>
              <a:rPr lang="en-US" sz="4400" b="1" dirty="0">
                <a:solidFill>
                  <a:srgbClr val="FFFFFF"/>
                </a:solidFill>
                <a:latin typeface="Arial" pitchFamily="34" charset="0"/>
                <a:ea typeface="Arial" pitchFamily="34" charset="-122"/>
                <a:cs typeface="Arial" pitchFamily="34" charset="-120"/>
              </a:rPr>
              <a:t>beat specialised models.</a:t>
            </a:r>
            <a:endParaRPr lang="en-US" sz="4400" dirty="0"/>
          </a:p>
        </p:txBody>
      </p:sp>
      <p:sp>
        <p:nvSpPr>
          <p:cNvPr id="4" name="Shape 2"/>
          <p:cNvSpPr/>
          <p:nvPr/>
        </p:nvSpPr>
        <p:spPr>
          <a:xfrm>
            <a:off x="640080" y="3931920"/>
            <a:ext cx="10908792" cy="1417320"/>
          </a:xfrm>
          <a:prstGeom prst="roundRect">
            <a:avLst>
              <a:gd name="adj" fmla="val 6452"/>
            </a:avLst>
          </a:prstGeom>
          <a:solidFill>
            <a:srgbClr val="1B2437"/>
          </a:solidFill>
          <a:ln/>
        </p:spPr>
        <p:txBody>
          <a:bodyPr/>
          <a:lstStyle/>
          <a:p>
            <a:endParaRPr lang="en-IN"/>
          </a:p>
        </p:txBody>
      </p:sp>
      <p:sp>
        <p:nvSpPr>
          <p:cNvPr id="5" name="Text 3"/>
          <p:cNvSpPr/>
          <p:nvPr/>
        </p:nvSpPr>
        <p:spPr>
          <a:xfrm>
            <a:off x="1051560" y="3931920"/>
            <a:ext cx="10104120" cy="1417320"/>
          </a:xfrm>
          <a:prstGeom prst="rect">
            <a:avLst/>
          </a:prstGeom>
          <a:noFill/>
          <a:ln/>
        </p:spPr>
        <p:txBody>
          <a:bodyPr wrap="square" lIns="0" tIns="0" rIns="0" bIns="0" rtlCol="0" anchor="ctr"/>
          <a:lstStyle/>
          <a:p>
            <a:pPr marL="0" indent="0">
              <a:lnSpc>
                <a:spcPts val="2400"/>
              </a:lnSpc>
              <a:buNone/>
            </a:pPr>
            <a:r>
              <a:rPr lang="en-US" sz="1550" dirty="0">
                <a:solidFill>
                  <a:srgbClr val="A8B2C4"/>
                </a:solidFill>
                <a:latin typeface="Calibri" pitchFamily="34" charset="0"/>
                <a:ea typeface="Calibri" pitchFamily="34" charset="-122"/>
                <a:cs typeface="Calibri" pitchFamily="34" charset="-120"/>
              </a:rPr>
              <a:t>Not because any single-modality model got worse - a dedicated OCR engine is still cheaper, faster and more predictable on clean scans. It won because one shared space lets you ask questions that cross the boundaries, and almost every real question does.</a:t>
            </a:r>
            <a:endParaRPr lang="en-US" sz="1550" dirty="0"/>
          </a:p>
        </p:txBody>
      </p:sp>
      <p:sp>
        <p:nvSpPr>
          <p:cNvPr id="6" name="Shape 4"/>
          <p:cNvSpPr/>
          <p:nvPr/>
        </p:nvSpPr>
        <p:spPr>
          <a:xfrm>
            <a:off x="640080" y="5806440"/>
            <a:ext cx="137160" cy="137160"/>
          </a:xfrm>
          <a:prstGeom prst="ellipse">
            <a:avLst/>
          </a:prstGeom>
          <a:solidFill>
            <a:srgbClr val="00C2A8"/>
          </a:solidFill>
          <a:ln/>
        </p:spPr>
        <p:txBody>
          <a:bodyPr/>
          <a:lstStyle/>
          <a:p>
            <a:endParaRPr lang="en-IN"/>
          </a:p>
        </p:txBody>
      </p:sp>
      <p:sp>
        <p:nvSpPr>
          <p:cNvPr id="7" name="Shape 5"/>
          <p:cNvSpPr/>
          <p:nvPr/>
        </p:nvSpPr>
        <p:spPr>
          <a:xfrm>
            <a:off x="880110" y="5806440"/>
            <a:ext cx="137160" cy="137160"/>
          </a:xfrm>
          <a:prstGeom prst="ellipse">
            <a:avLst/>
          </a:prstGeom>
          <a:solidFill>
            <a:srgbClr val="FF6B4A"/>
          </a:solidFill>
          <a:ln/>
        </p:spPr>
        <p:txBody>
          <a:bodyPr/>
          <a:lstStyle/>
          <a:p>
            <a:endParaRPr lang="en-IN"/>
          </a:p>
        </p:txBody>
      </p:sp>
      <p:sp>
        <p:nvSpPr>
          <p:cNvPr id="8" name="Shape 6"/>
          <p:cNvSpPr/>
          <p:nvPr/>
        </p:nvSpPr>
        <p:spPr>
          <a:xfrm>
            <a:off x="1120140" y="5806440"/>
            <a:ext cx="137160" cy="137160"/>
          </a:xfrm>
          <a:prstGeom prst="ellipse">
            <a:avLst/>
          </a:prstGeom>
          <a:solidFill>
            <a:srgbClr val="FFC24A"/>
          </a:solidFill>
          <a:ln/>
        </p:spPr>
        <p:txBody>
          <a:bodyPr/>
          <a:lstStyle/>
          <a:p>
            <a:endParaRPr lang="en-IN"/>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2331720"/>
            <a:ext cx="164592" cy="164592"/>
          </a:xfrm>
          <a:prstGeom prst="ellipse">
            <a:avLst/>
          </a:prstGeom>
          <a:solidFill>
            <a:srgbClr val="00C2A8"/>
          </a:solidFill>
          <a:ln/>
        </p:spPr>
        <p:txBody>
          <a:bodyPr/>
          <a:lstStyle/>
          <a:p>
            <a:endParaRPr lang="en-IN"/>
          </a:p>
        </p:txBody>
      </p:sp>
      <p:sp>
        <p:nvSpPr>
          <p:cNvPr id="3" name="Shape 1"/>
          <p:cNvSpPr/>
          <p:nvPr/>
        </p:nvSpPr>
        <p:spPr>
          <a:xfrm>
            <a:off x="928116" y="2331720"/>
            <a:ext cx="164592" cy="164592"/>
          </a:xfrm>
          <a:prstGeom prst="ellipse">
            <a:avLst/>
          </a:prstGeom>
          <a:solidFill>
            <a:srgbClr val="FF6B4A"/>
          </a:solidFill>
          <a:ln/>
        </p:spPr>
        <p:txBody>
          <a:bodyPr/>
          <a:lstStyle/>
          <a:p>
            <a:endParaRPr lang="en-IN"/>
          </a:p>
        </p:txBody>
      </p:sp>
      <p:sp>
        <p:nvSpPr>
          <p:cNvPr id="4" name="Shape 2"/>
          <p:cNvSpPr/>
          <p:nvPr/>
        </p:nvSpPr>
        <p:spPr>
          <a:xfrm>
            <a:off x="1216152" y="2331720"/>
            <a:ext cx="164592" cy="164592"/>
          </a:xfrm>
          <a:prstGeom prst="ellipse">
            <a:avLst/>
          </a:prstGeom>
          <a:solidFill>
            <a:srgbClr val="FFC24A"/>
          </a:solidFill>
          <a:ln/>
        </p:spPr>
        <p:txBody>
          <a:bodyPr/>
          <a:lstStyle/>
          <a:p>
            <a:endParaRPr lang="en-IN"/>
          </a:p>
        </p:txBody>
      </p:sp>
      <p:sp>
        <p:nvSpPr>
          <p:cNvPr id="5" name="Text 3"/>
          <p:cNvSpPr/>
          <p:nvPr/>
        </p:nvSpPr>
        <p:spPr>
          <a:xfrm>
            <a:off x="640080" y="2788920"/>
            <a:ext cx="5486400" cy="274320"/>
          </a:xfrm>
          <a:prstGeom prst="rect">
            <a:avLst/>
          </a:prstGeom>
          <a:noFill/>
          <a:ln/>
        </p:spPr>
        <p:txBody>
          <a:bodyPr wrap="square" lIns="0" tIns="0" rIns="0" bIns="0" rtlCol="0" anchor="ctr"/>
          <a:lstStyle/>
          <a:p>
            <a:pPr marL="0" indent="0">
              <a:buNone/>
            </a:pPr>
            <a:r>
              <a:rPr lang="en-US" sz="1300" b="1" kern="0" spc="300" dirty="0">
                <a:solidFill>
                  <a:srgbClr val="FFC24A"/>
                </a:solidFill>
                <a:latin typeface="Arial" pitchFamily="34" charset="0"/>
                <a:ea typeface="Arial" pitchFamily="34" charset="-122"/>
                <a:cs typeface="Arial" pitchFamily="34" charset="-120"/>
              </a:rPr>
              <a:t>PART TWO</a:t>
            </a:r>
            <a:endParaRPr lang="en-US" sz="1300" dirty="0"/>
          </a:p>
        </p:txBody>
      </p:sp>
      <p:sp>
        <p:nvSpPr>
          <p:cNvPr id="6" name="Text 4"/>
          <p:cNvSpPr/>
          <p:nvPr/>
        </p:nvSpPr>
        <p:spPr>
          <a:xfrm>
            <a:off x="640080" y="3127248"/>
            <a:ext cx="8229600" cy="914400"/>
          </a:xfrm>
          <a:prstGeom prst="rect">
            <a:avLst/>
          </a:prstGeom>
          <a:noFill/>
          <a:ln/>
        </p:spPr>
        <p:txBody>
          <a:bodyPr wrap="square" lIns="0" tIns="0" rIns="0" bIns="0" rtlCol="0" anchor="ctr"/>
          <a:lstStyle/>
          <a:p>
            <a:pPr marL="0" indent="0">
              <a:buNone/>
            </a:pPr>
            <a:r>
              <a:rPr lang="en-US" sz="5200" b="1" dirty="0">
                <a:solidFill>
                  <a:srgbClr val="FFFFFF"/>
                </a:solidFill>
                <a:latin typeface="Arial" pitchFamily="34" charset="0"/>
                <a:ea typeface="Arial" pitchFamily="34" charset="-122"/>
                <a:cs typeface="Arial" pitchFamily="34" charset="-120"/>
              </a:rPr>
              <a:t>Innovation</a:t>
            </a:r>
            <a:endParaRPr lang="en-US" sz="5200" dirty="0"/>
          </a:p>
        </p:txBody>
      </p:sp>
      <p:sp>
        <p:nvSpPr>
          <p:cNvPr id="7" name="Text 5"/>
          <p:cNvSpPr/>
          <p:nvPr/>
        </p:nvSpPr>
        <p:spPr>
          <a:xfrm>
            <a:off x="640080" y="4160520"/>
            <a:ext cx="7863840" cy="731520"/>
          </a:xfrm>
          <a:prstGeom prst="rect">
            <a:avLst/>
          </a:prstGeom>
          <a:noFill/>
          <a:ln/>
        </p:spPr>
        <p:txBody>
          <a:bodyPr wrap="square" lIns="0" tIns="0" rIns="0" bIns="0" rtlCol="0" anchor="ctr"/>
          <a:lstStyle/>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What is newly possible this year - and, just as important,</a:t>
            </a:r>
            <a:endParaRPr lang="en-US" sz="1600" dirty="0"/>
          </a:p>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what still quietly breaks in production.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640080" y="384048"/>
            <a:ext cx="10908792" cy="237744"/>
          </a:xfrm>
          <a:prstGeom prst="rect">
            <a:avLst/>
          </a:prstGeom>
          <a:noFill/>
          <a:ln/>
        </p:spPr>
        <p:txBody>
          <a:bodyPr wrap="square" lIns="0" tIns="0" rIns="0" bIns="0" rtlCol="0" anchor="ctr"/>
          <a:lstStyle/>
          <a:p>
            <a:pPr marL="0" indent="0" algn="l">
              <a:buNone/>
            </a:pPr>
            <a:r>
              <a:rPr lang="en-US" sz="1100" b="1" kern="0" spc="200" dirty="0">
                <a:solidFill>
                  <a:srgbClr val="FF6B4A"/>
                </a:solidFill>
                <a:latin typeface="Arial" pitchFamily="34" charset="0"/>
                <a:ea typeface="Arial" pitchFamily="34" charset="-122"/>
                <a:cs typeface="Arial" pitchFamily="34" charset="-120"/>
              </a:rPr>
              <a:t>THE VOCABULARY</a:t>
            </a:r>
            <a:endParaRPr lang="en-US" sz="1100" dirty="0"/>
          </a:p>
        </p:txBody>
      </p:sp>
      <p:sp>
        <p:nvSpPr>
          <p:cNvPr id="3" name="Title"/>
          <p:cNvSpPr txBox="1"/>
          <p:nvPr/>
        </p:nvSpPr>
        <p:spPr>
          <a:xfrm>
            <a:off x="640080" y="658368"/>
            <a:ext cx="10908792" cy="658368"/>
          </a:xfrm>
          <a:prstGeom prst="rect">
            <a:avLst/>
          </a:prstGeom>
          <a:noFill/>
          <a:ln/>
        </p:spPr>
        <p:txBody>
          <a:bodyPr wrap="square" lIns="0" tIns="0" rIns="0" bIns="0" rtlCol="0" anchor="t"/>
          <a:lstStyle/>
          <a:p>
            <a:pPr marL="0" indent="0" algn="l">
              <a:buNone/>
            </a:pPr>
            <a:r>
              <a:rPr lang="en-US" sz="3400" b="1" dirty="0">
                <a:solidFill>
                  <a:srgbClr val="0E1524"/>
                </a:solidFill>
                <a:latin typeface="Arial" pitchFamily="34" charset="0"/>
                <a:ea typeface="Arial" pitchFamily="34" charset="-122"/>
                <a:cs typeface="Arial" pitchFamily="34" charset="-120"/>
              </a:rPr>
              <a:t>Eight acronyms. Four are this session.</a:t>
            </a:r>
            <a:endParaRPr lang="en-US" sz="3400" dirty="0"/>
          </a:p>
        </p:txBody>
      </p:sp>
      <p:sp>
        <p:nvSpPr>
          <p:cNvPr id="4" name="Subtitle"/>
          <p:cNvSpPr txBox="1"/>
          <p:nvPr/>
        </p:nvSpPr>
        <p:spPr>
          <a:xfrm>
            <a:off x="640080" y="1444752"/>
            <a:ext cx="10908792" cy="274320"/>
          </a:xfrm>
          <a:prstGeom prst="rect">
            <a:avLst/>
          </a:prstGeom>
          <a:noFill/>
          <a:ln/>
        </p:spPr>
        <p:txBody>
          <a:bodyPr wrap="square" lIns="0" tIns="0" rIns="0" bIns="0" rtlCol="0" anchor="ctr"/>
          <a:lstStyle/>
          <a:p>
            <a:pPr marL="0" indent="0" algn="l">
              <a:buNone/>
            </a:pPr>
            <a:r>
              <a:rPr lang="en-US" sz="1400" dirty="0">
                <a:solidFill>
                  <a:srgbClr val="6B7689"/>
                </a:solidFill>
                <a:latin typeface="Calibri" pitchFamily="34" charset="0"/>
                <a:ea typeface="Calibri" pitchFamily="34" charset="-122"/>
                <a:cs typeface="Calibri" pitchFamily="34" charset="-120"/>
              </a:rPr>
              <a:t>The poster going round draws eight peers. They are not: each acronym names a different property of a model.</a:t>
            </a:r>
            <a:endParaRPr lang="en-US" sz="1400" dirty="0"/>
          </a:p>
        </p:txBody>
      </p:sp>
      <p:sp>
        <p:nvSpPr>
          <p:cNvPr id="5" name="VLM card"/>
          <p:cNvSpPr/>
          <p:nvPr/>
        </p:nvSpPr>
        <p:spPr>
          <a:xfrm>
            <a:off x="640080" y="1828800"/>
            <a:ext cx="2555748" cy="3081528"/>
          </a:xfrm>
          <a:prstGeom prst="roundRect">
            <a:avLst>
              <a:gd name="adj" fmla="val 8000"/>
            </a:avLst>
          </a:prstGeom>
          <a:solidFill>
            <a:srgbClr val="F4F6FA"/>
          </a:solidFill>
          <a:ln/>
        </p:spPr>
        <p:txBody>
          <a:bodyPr/>
          <a:lstStyle/>
          <a:p>
            <a:endParaRPr lang="en-IN"/>
          </a:p>
        </p:txBody>
      </p:sp>
      <p:sp>
        <p:nvSpPr>
          <p:cNvPr id="6" name="VLM dot"/>
          <p:cNvSpPr/>
          <p:nvPr/>
        </p:nvSpPr>
        <p:spPr>
          <a:xfrm>
            <a:off x="868680" y="2048256"/>
            <a:ext cx="182880" cy="182880"/>
          </a:xfrm>
          <a:prstGeom prst="ellipse">
            <a:avLst/>
          </a:prstGeom>
          <a:solidFill>
            <a:srgbClr val="00C2A8"/>
          </a:solidFill>
          <a:ln/>
        </p:spPr>
        <p:txBody>
          <a:bodyPr/>
          <a:lstStyle/>
          <a:p>
            <a:endParaRPr lang="en-IN"/>
          </a:p>
        </p:txBody>
      </p:sp>
      <p:sp>
        <p:nvSpPr>
          <p:cNvPr id="7" name="VLM kind"/>
          <p:cNvSpPr txBox="1"/>
          <p:nvPr/>
        </p:nvSpPr>
        <p:spPr>
          <a:xfrm>
            <a:off x="1143000" y="2048256"/>
            <a:ext cx="1824228" cy="182880"/>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NAMED FOR ITS INPUTS</a:t>
            </a:r>
            <a:endParaRPr lang="en-US" sz="800" dirty="0"/>
          </a:p>
        </p:txBody>
      </p:sp>
      <p:sp>
        <p:nvSpPr>
          <p:cNvPr id="8" name="VLM acronym"/>
          <p:cNvSpPr txBox="1"/>
          <p:nvPr/>
        </p:nvSpPr>
        <p:spPr>
          <a:xfrm>
            <a:off x="868680" y="2340864"/>
            <a:ext cx="2098548" cy="329184"/>
          </a:xfrm>
          <a:prstGeom prst="rect">
            <a:avLst/>
          </a:prstGeom>
          <a:noFill/>
          <a:ln/>
        </p:spPr>
        <p:txBody>
          <a:bodyPr wrap="square" lIns="0" tIns="0" rIns="0" bIns="0" rtlCol="0" anchor="ctr"/>
          <a:lstStyle/>
          <a:p>
            <a:pPr marL="0" indent="0" algn="l">
              <a:buNone/>
            </a:pPr>
            <a:r>
              <a:rPr lang="en-US" sz="2000" b="1" dirty="0">
                <a:solidFill>
                  <a:srgbClr val="0E1524"/>
                </a:solidFill>
                <a:latin typeface="Arial" pitchFamily="34" charset="0"/>
                <a:ea typeface="Arial" pitchFamily="34" charset="-122"/>
                <a:cs typeface="Arial" pitchFamily="34" charset="-120"/>
              </a:rPr>
              <a:t>VLM</a:t>
            </a:r>
            <a:endParaRPr lang="en-US" sz="2000" dirty="0"/>
          </a:p>
        </p:txBody>
      </p:sp>
      <p:sp>
        <p:nvSpPr>
          <p:cNvPr id="9" name="VLM name"/>
          <p:cNvSpPr txBox="1"/>
          <p:nvPr/>
        </p:nvSpPr>
        <p:spPr>
          <a:xfrm>
            <a:off x="868680" y="2679192"/>
            <a:ext cx="2098548" cy="18288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Vision-language model</a:t>
            </a:r>
            <a:endParaRPr lang="en-US" sz="1000" dirty="0"/>
          </a:p>
        </p:txBody>
      </p:sp>
      <p:sp>
        <p:nvSpPr>
          <p:cNvPr id="10" name="VLM step 1 box"/>
          <p:cNvSpPr/>
          <p:nvPr/>
        </p:nvSpPr>
        <p:spPr>
          <a:xfrm>
            <a:off x="868680" y="2962656"/>
            <a:ext cx="2098548" cy="256032"/>
          </a:xfrm>
          <a:prstGeom prst="roundRect">
            <a:avLst>
              <a:gd name="adj" fmla="val 20000"/>
            </a:avLst>
          </a:prstGeom>
          <a:solidFill>
            <a:srgbClr val="FFFFFF"/>
          </a:solidFill>
          <a:ln w="9525">
            <a:solidFill>
              <a:srgbClr val="D3D9E4"/>
            </a:solidFill>
          </a:ln>
        </p:spPr>
        <p:txBody>
          <a:bodyPr/>
          <a:lstStyle/>
          <a:p>
            <a:endParaRPr lang="en-IN"/>
          </a:p>
        </p:txBody>
      </p:sp>
      <p:sp>
        <p:nvSpPr>
          <p:cNvPr id="11" name="VLM step 1"/>
          <p:cNvSpPr txBox="1"/>
          <p:nvPr/>
        </p:nvSpPr>
        <p:spPr>
          <a:xfrm>
            <a:off x="868680" y="2962656"/>
            <a:ext cx="2098548" cy="256032"/>
          </a:xfrm>
          <a:prstGeom prst="rect">
            <a:avLst/>
          </a:prstGeom>
          <a:noFill/>
          <a:ln/>
        </p:spPr>
        <p:txBody>
          <a:bodyPr wrap="square" lIns="0" tIns="0" rIns="0" bIns="0" rtlCol="0" anchor="ctr"/>
          <a:lstStyle/>
          <a:p>
            <a:pPr marL="0" indent="0" algn="ctr">
              <a:buNone/>
            </a:pPr>
            <a:r>
              <a:rPr lang="en-US" sz="1000" dirty="0">
                <a:solidFill>
                  <a:srgbClr val="0E1524"/>
                </a:solidFill>
                <a:latin typeface="Calibri" pitchFamily="34" charset="0"/>
                <a:ea typeface="Calibri" pitchFamily="34" charset="-122"/>
                <a:cs typeface="Calibri" pitchFamily="34" charset="-120"/>
              </a:rPr>
              <a:t>Image + your question</a:t>
            </a:r>
            <a:endParaRPr lang="en-US" sz="1000" dirty="0"/>
          </a:p>
        </p:txBody>
      </p:sp>
      <p:cxnSp>
        <p:nvCxnSpPr>
          <p:cNvPr id="12" name="Connector 12"/>
          <p:cNvCxnSpPr/>
          <p:nvPr/>
        </p:nvCxnSpPr>
        <p:spPr>
          <a:xfrm>
            <a:off x="1917954" y="3227832"/>
            <a:ext cx="0" cy="91440"/>
          </a:xfrm>
          <a:prstGeom prst="line">
            <a:avLst/>
          </a:prstGeom>
          <a:ln w="12700">
            <a:solidFill>
              <a:srgbClr val="C4CCDA"/>
            </a:solidFill>
            <a:tailEnd type="triangle" w="sm" len="sm"/>
          </a:ln>
        </p:spPr>
      </p:cxnSp>
      <p:sp>
        <p:nvSpPr>
          <p:cNvPr id="13" name="VLM step 2 box"/>
          <p:cNvSpPr/>
          <p:nvPr/>
        </p:nvSpPr>
        <p:spPr>
          <a:xfrm>
            <a:off x="868680" y="3328416"/>
            <a:ext cx="2098548" cy="256032"/>
          </a:xfrm>
          <a:prstGeom prst="roundRect">
            <a:avLst>
              <a:gd name="adj" fmla="val 20000"/>
            </a:avLst>
          </a:prstGeom>
          <a:solidFill>
            <a:srgbClr val="FFFFFF"/>
          </a:solidFill>
          <a:ln w="9525">
            <a:solidFill>
              <a:srgbClr val="D3D9E4"/>
            </a:solidFill>
          </a:ln>
        </p:spPr>
        <p:txBody>
          <a:bodyPr/>
          <a:lstStyle/>
          <a:p>
            <a:endParaRPr lang="en-IN"/>
          </a:p>
        </p:txBody>
      </p:sp>
      <p:sp>
        <p:nvSpPr>
          <p:cNvPr id="14" name="VLM step 2"/>
          <p:cNvSpPr txBox="1"/>
          <p:nvPr/>
        </p:nvSpPr>
        <p:spPr>
          <a:xfrm>
            <a:off x="868680" y="3328416"/>
            <a:ext cx="2098548" cy="256032"/>
          </a:xfrm>
          <a:prstGeom prst="rect">
            <a:avLst/>
          </a:prstGeom>
          <a:noFill/>
          <a:ln/>
        </p:spPr>
        <p:txBody>
          <a:bodyPr wrap="square" lIns="0" tIns="0" rIns="0" bIns="0" rtlCol="0" anchor="ctr"/>
          <a:lstStyle/>
          <a:p>
            <a:pPr marL="0" indent="0" algn="ctr">
              <a:buNone/>
            </a:pPr>
            <a:r>
              <a:rPr lang="en-US" sz="1000" dirty="0">
                <a:solidFill>
                  <a:srgbClr val="0E1524"/>
                </a:solidFill>
                <a:latin typeface="Calibri" pitchFamily="34" charset="0"/>
                <a:ea typeface="Calibri" pitchFamily="34" charset="-122"/>
                <a:cs typeface="Calibri" pitchFamily="34" charset="-120"/>
              </a:rPr>
              <a:t>Vision encoder</a:t>
            </a:r>
            <a:endParaRPr lang="en-US" sz="1000" dirty="0"/>
          </a:p>
        </p:txBody>
      </p:sp>
      <p:cxnSp>
        <p:nvCxnSpPr>
          <p:cNvPr id="15" name="Connector 15"/>
          <p:cNvCxnSpPr/>
          <p:nvPr/>
        </p:nvCxnSpPr>
        <p:spPr>
          <a:xfrm>
            <a:off x="1917954" y="3593592"/>
            <a:ext cx="0" cy="91440"/>
          </a:xfrm>
          <a:prstGeom prst="line">
            <a:avLst/>
          </a:prstGeom>
          <a:ln w="12700">
            <a:solidFill>
              <a:srgbClr val="C4CCDA"/>
            </a:solidFill>
            <a:tailEnd type="triangle" w="sm" len="sm"/>
          </a:ln>
        </p:spPr>
      </p:cxnSp>
      <p:sp>
        <p:nvSpPr>
          <p:cNvPr id="16" name="VLM step 3 box"/>
          <p:cNvSpPr/>
          <p:nvPr/>
        </p:nvSpPr>
        <p:spPr>
          <a:xfrm>
            <a:off x="868680" y="3694176"/>
            <a:ext cx="2098548" cy="256032"/>
          </a:xfrm>
          <a:prstGeom prst="roundRect">
            <a:avLst>
              <a:gd name="adj" fmla="val 20000"/>
            </a:avLst>
          </a:prstGeom>
          <a:solidFill>
            <a:srgbClr val="FFFFFF"/>
          </a:solidFill>
          <a:ln w="9525">
            <a:solidFill>
              <a:srgbClr val="D3D9E4"/>
            </a:solidFill>
          </a:ln>
        </p:spPr>
        <p:txBody>
          <a:bodyPr/>
          <a:lstStyle/>
          <a:p>
            <a:endParaRPr lang="en-IN"/>
          </a:p>
        </p:txBody>
      </p:sp>
      <p:sp>
        <p:nvSpPr>
          <p:cNvPr id="17" name="VLM step 3"/>
          <p:cNvSpPr txBox="1"/>
          <p:nvPr/>
        </p:nvSpPr>
        <p:spPr>
          <a:xfrm>
            <a:off x="868680" y="3694176"/>
            <a:ext cx="2098548" cy="256032"/>
          </a:xfrm>
          <a:prstGeom prst="rect">
            <a:avLst/>
          </a:prstGeom>
          <a:noFill/>
          <a:ln/>
        </p:spPr>
        <p:txBody>
          <a:bodyPr wrap="square" lIns="0" tIns="0" rIns="0" bIns="0" rtlCol="0" anchor="ctr"/>
          <a:lstStyle/>
          <a:p>
            <a:pPr marL="0" indent="0" algn="ctr">
              <a:buNone/>
            </a:pPr>
            <a:r>
              <a:rPr lang="en-US" sz="1000" dirty="0">
                <a:solidFill>
                  <a:srgbClr val="0E1524"/>
                </a:solidFill>
                <a:latin typeface="Calibri" pitchFamily="34" charset="0"/>
                <a:ea typeface="Calibri" pitchFamily="34" charset="-122"/>
                <a:cs typeface="Calibri" pitchFamily="34" charset="-120"/>
              </a:rPr>
              <a:t>Projector into token space</a:t>
            </a:r>
            <a:endParaRPr lang="en-US" sz="1000" dirty="0"/>
          </a:p>
        </p:txBody>
      </p:sp>
      <p:cxnSp>
        <p:nvCxnSpPr>
          <p:cNvPr id="18" name="Connector 18"/>
          <p:cNvCxnSpPr/>
          <p:nvPr/>
        </p:nvCxnSpPr>
        <p:spPr>
          <a:xfrm>
            <a:off x="1917954" y="3959352"/>
            <a:ext cx="0" cy="91440"/>
          </a:xfrm>
          <a:prstGeom prst="line">
            <a:avLst/>
          </a:prstGeom>
          <a:ln w="12700">
            <a:solidFill>
              <a:srgbClr val="C4CCDA"/>
            </a:solidFill>
            <a:tailEnd type="triangle" w="sm" len="sm"/>
          </a:ln>
        </p:spPr>
      </p:cxnSp>
      <p:sp>
        <p:nvSpPr>
          <p:cNvPr id="19" name="VLM step 4 box"/>
          <p:cNvSpPr/>
          <p:nvPr/>
        </p:nvSpPr>
        <p:spPr>
          <a:xfrm>
            <a:off x="868680" y="4059936"/>
            <a:ext cx="2098548" cy="256032"/>
          </a:xfrm>
          <a:prstGeom prst="roundRect">
            <a:avLst>
              <a:gd name="adj" fmla="val 20000"/>
            </a:avLst>
          </a:prstGeom>
          <a:solidFill>
            <a:srgbClr val="FFFFFF"/>
          </a:solidFill>
          <a:ln w="9525">
            <a:solidFill>
              <a:srgbClr val="D3D9E4"/>
            </a:solidFill>
          </a:ln>
        </p:spPr>
        <p:txBody>
          <a:bodyPr/>
          <a:lstStyle/>
          <a:p>
            <a:endParaRPr lang="en-IN"/>
          </a:p>
        </p:txBody>
      </p:sp>
      <p:sp>
        <p:nvSpPr>
          <p:cNvPr id="20" name="VLM step 4"/>
          <p:cNvSpPr txBox="1"/>
          <p:nvPr/>
        </p:nvSpPr>
        <p:spPr>
          <a:xfrm>
            <a:off x="868680" y="4059936"/>
            <a:ext cx="2098548" cy="256032"/>
          </a:xfrm>
          <a:prstGeom prst="rect">
            <a:avLst/>
          </a:prstGeom>
          <a:noFill/>
          <a:ln/>
        </p:spPr>
        <p:txBody>
          <a:bodyPr wrap="square" lIns="0" tIns="0" rIns="0" bIns="0" rtlCol="0" anchor="ctr"/>
          <a:lstStyle/>
          <a:p>
            <a:pPr marL="0" indent="0" algn="ctr">
              <a:buNone/>
            </a:pPr>
            <a:r>
              <a:rPr lang="en-US" sz="1000" dirty="0">
                <a:solidFill>
                  <a:srgbClr val="0E1524"/>
                </a:solidFill>
                <a:latin typeface="Calibri" pitchFamily="34" charset="0"/>
                <a:ea typeface="Calibri" pitchFamily="34" charset="-122"/>
                <a:cs typeface="Calibri" pitchFamily="34" charset="-120"/>
              </a:rPr>
              <a:t>Language model answers</a:t>
            </a:r>
            <a:endParaRPr lang="en-US" sz="1000" dirty="0"/>
          </a:p>
        </p:txBody>
      </p:sp>
      <p:sp>
        <p:nvSpPr>
          <p:cNvPr id="21" name="VLM where label"/>
          <p:cNvSpPr txBox="1"/>
          <p:nvPr/>
        </p:nvSpPr>
        <p:spPr>
          <a:xfrm>
            <a:off x="868680" y="4434840"/>
            <a:ext cx="2098548" cy="146304"/>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WHERE TONIGHT</a:t>
            </a:r>
            <a:endParaRPr lang="en-US" sz="800" dirty="0"/>
          </a:p>
        </p:txBody>
      </p:sp>
      <p:sp>
        <p:nvSpPr>
          <p:cNvPr id="22" name="VLM where"/>
          <p:cNvSpPr txBox="1"/>
          <p:nvPr/>
        </p:nvSpPr>
        <p:spPr>
          <a:xfrm>
            <a:off x="868680" y="4599432"/>
            <a:ext cx="2098548" cy="18288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Stage 3 of the build, slide 23</a:t>
            </a:r>
            <a:endParaRPr lang="en-US" sz="1000" dirty="0"/>
          </a:p>
        </p:txBody>
      </p:sp>
      <p:sp>
        <p:nvSpPr>
          <p:cNvPr id="23" name="SAM card"/>
          <p:cNvSpPr/>
          <p:nvPr/>
        </p:nvSpPr>
        <p:spPr>
          <a:xfrm>
            <a:off x="3424428" y="1828800"/>
            <a:ext cx="2555748" cy="3081528"/>
          </a:xfrm>
          <a:prstGeom prst="roundRect">
            <a:avLst>
              <a:gd name="adj" fmla="val 8000"/>
            </a:avLst>
          </a:prstGeom>
          <a:solidFill>
            <a:srgbClr val="F4F6FA"/>
          </a:solidFill>
          <a:ln/>
        </p:spPr>
        <p:txBody>
          <a:bodyPr/>
          <a:lstStyle/>
          <a:p>
            <a:endParaRPr lang="en-IN"/>
          </a:p>
        </p:txBody>
      </p:sp>
      <p:sp>
        <p:nvSpPr>
          <p:cNvPr id="24" name="SAM dot"/>
          <p:cNvSpPr/>
          <p:nvPr/>
        </p:nvSpPr>
        <p:spPr>
          <a:xfrm>
            <a:off x="3653028" y="2048256"/>
            <a:ext cx="182880" cy="182880"/>
          </a:xfrm>
          <a:prstGeom prst="ellipse">
            <a:avLst/>
          </a:prstGeom>
          <a:solidFill>
            <a:srgbClr val="FF6B4A"/>
          </a:solidFill>
          <a:ln/>
        </p:spPr>
        <p:txBody>
          <a:bodyPr/>
          <a:lstStyle/>
          <a:p>
            <a:endParaRPr lang="en-IN"/>
          </a:p>
        </p:txBody>
      </p:sp>
      <p:sp>
        <p:nvSpPr>
          <p:cNvPr id="25" name="SAM kind"/>
          <p:cNvSpPr txBox="1"/>
          <p:nvPr/>
        </p:nvSpPr>
        <p:spPr>
          <a:xfrm>
            <a:off x="3927348" y="2048256"/>
            <a:ext cx="1824228" cy="182880"/>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NAMED FOR ITS TASK</a:t>
            </a:r>
            <a:endParaRPr lang="en-US" sz="800" dirty="0"/>
          </a:p>
        </p:txBody>
      </p:sp>
      <p:sp>
        <p:nvSpPr>
          <p:cNvPr id="26" name="SAM acronym"/>
          <p:cNvSpPr txBox="1"/>
          <p:nvPr/>
        </p:nvSpPr>
        <p:spPr>
          <a:xfrm>
            <a:off x="3653028" y="2340864"/>
            <a:ext cx="2098548" cy="329184"/>
          </a:xfrm>
          <a:prstGeom prst="rect">
            <a:avLst/>
          </a:prstGeom>
          <a:noFill/>
          <a:ln/>
        </p:spPr>
        <p:txBody>
          <a:bodyPr wrap="square" lIns="0" tIns="0" rIns="0" bIns="0" rtlCol="0" anchor="ctr"/>
          <a:lstStyle/>
          <a:p>
            <a:pPr marL="0" indent="0" algn="l">
              <a:buNone/>
            </a:pPr>
            <a:r>
              <a:rPr lang="en-US" sz="2000" b="1" dirty="0">
                <a:solidFill>
                  <a:srgbClr val="0E1524"/>
                </a:solidFill>
                <a:latin typeface="Arial" pitchFamily="34" charset="0"/>
                <a:ea typeface="Arial" pitchFamily="34" charset="-122"/>
                <a:cs typeface="Arial" pitchFamily="34" charset="-120"/>
              </a:rPr>
              <a:t>SAM</a:t>
            </a:r>
            <a:endParaRPr lang="en-US" sz="2000" dirty="0"/>
          </a:p>
        </p:txBody>
      </p:sp>
      <p:sp>
        <p:nvSpPr>
          <p:cNvPr id="27" name="SAM name"/>
          <p:cNvSpPr txBox="1"/>
          <p:nvPr/>
        </p:nvSpPr>
        <p:spPr>
          <a:xfrm>
            <a:off x="3653028" y="2679192"/>
            <a:ext cx="2098548" cy="18288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Segment Anything Model</a:t>
            </a:r>
            <a:endParaRPr lang="en-US" sz="1000" dirty="0"/>
          </a:p>
        </p:txBody>
      </p:sp>
      <p:sp>
        <p:nvSpPr>
          <p:cNvPr id="28" name="SAM step 1 box"/>
          <p:cNvSpPr/>
          <p:nvPr/>
        </p:nvSpPr>
        <p:spPr>
          <a:xfrm>
            <a:off x="3653028" y="2962656"/>
            <a:ext cx="2098548" cy="256032"/>
          </a:xfrm>
          <a:prstGeom prst="roundRect">
            <a:avLst>
              <a:gd name="adj" fmla="val 20000"/>
            </a:avLst>
          </a:prstGeom>
          <a:solidFill>
            <a:srgbClr val="FFFFFF"/>
          </a:solidFill>
          <a:ln w="9525">
            <a:solidFill>
              <a:srgbClr val="D3D9E4"/>
            </a:solidFill>
          </a:ln>
        </p:spPr>
        <p:txBody>
          <a:bodyPr/>
          <a:lstStyle/>
          <a:p>
            <a:endParaRPr lang="en-IN"/>
          </a:p>
        </p:txBody>
      </p:sp>
      <p:sp>
        <p:nvSpPr>
          <p:cNvPr id="29" name="SAM step 1"/>
          <p:cNvSpPr txBox="1"/>
          <p:nvPr/>
        </p:nvSpPr>
        <p:spPr>
          <a:xfrm>
            <a:off x="3653028" y="2962656"/>
            <a:ext cx="2098548" cy="256032"/>
          </a:xfrm>
          <a:prstGeom prst="rect">
            <a:avLst/>
          </a:prstGeom>
          <a:noFill/>
          <a:ln/>
        </p:spPr>
        <p:txBody>
          <a:bodyPr wrap="square" lIns="0" tIns="0" rIns="0" bIns="0" rtlCol="0" anchor="ctr"/>
          <a:lstStyle/>
          <a:p>
            <a:pPr marL="0" indent="0" algn="ctr">
              <a:buNone/>
            </a:pPr>
            <a:r>
              <a:rPr lang="en-US" sz="1000" dirty="0">
                <a:solidFill>
                  <a:srgbClr val="0E1524"/>
                </a:solidFill>
                <a:latin typeface="Calibri" pitchFamily="34" charset="0"/>
                <a:ea typeface="Calibri" pitchFamily="34" charset="-122"/>
                <a:cs typeface="Calibri" pitchFamily="34" charset="-120"/>
              </a:rPr>
              <a:t>Image + point, box or phrase</a:t>
            </a:r>
            <a:endParaRPr lang="en-US" sz="1000" dirty="0"/>
          </a:p>
        </p:txBody>
      </p:sp>
      <p:cxnSp>
        <p:nvCxnSpPr>
          <p:cNvPr id="30" name="Connector 30"/>
          <p:cNvCxnSpPr/>
          <p:nvPr/>
        </p:nvCxnSpPr>
        <p:spPr>
          <a:xfrm>
            <a:off x="4702302" y="3227832"/>
            <a:ext cx="0" cy="91440"/>
          </a:xfrm>
          <a:prstGeom prst="line">
            <a:avLst/>
          </a:prstGeom>
          <a:ln w="12700">
            <a:solidFill>
              <a:srgbClr val="C4CCDA"/>
            </a:solidFill>
            <a:tailEnd type="triangle" w="sm" len="sm"/>
          </a:ln>
        </p:spPr>
      </p:cxnSp>
      <p:sp>
        <p:nvSpPr>
          <p:cNvPr id="31" name="SAM step 2 box"/>
          <p:cNvSpPr/>
          <p:nvPr/>
        </p:nvSpPr>
        <p:spPr>
          <a:xfrm>
            <a:off x="3653028" y="3328416"/>
            <a:ext cx="2098548" cy="256032"/>
          </a:xfrm>
          <a:prstGeom prst="roundRect">
            <a:avLst>
              <a:gd name="adj" fmla="val 20000"/>
            </a:avLst>
          </a:prstGeom>
          <a:solidFill>
            <a:srgbClr val="FFFFFF"/>
          </a:solidFill>
          <a:ln w="9525">
            <a:solidFill>
              <a:srgbClr val="D3D9E4"/>
            </a:solidFill>
          </a:ln>
        </p:spPr>
        <p:txBody>
          <a:bodyPr/>
          <a:lstStyle/>
          <a:p>
            <a:endParaRPr lang="en-IN"/>
          </a:p>
        </p:txBody>
      </p:sp>
      <p:sp>
        <p:nvSpPr>
          <p:cNvPr id="32" name="SAM step 2"/>
          <p:cNvSpPr txBox="1"/>
          <p:nvPr/>
        </p:nvSpPr>
        <p:spPr>
          <a:xfrm>
            <a:off x="3653028" y="3328416"/>
            <a:ext cx="2098548" cy="256032"/>
          </a:xfrm>
          <a:prstGeom prst="rect">
            <a:avLst/>
          </a:prstGeom>
          <a:noFill/>
          <a:ln/>
        </p:spPr>
        <p:txBody>
          <a:bodyPr wrap="square" lIns="0" tIns="0" rIns="0" bIns="0" rtlCol="0" anchor="ctr"/>
          <a:lstStyle/>
          <a:p>
            <a:pPr marL="0" indent="0" algn="ctr">
              <a:buNone/>
            </a:pPr>
            <a:r>
              <a:rPr lang="en-US" sz="1000" dirty="0">
                <a:solidFill>
                  <a:srgbClr val="0E1524"/>
                </a:solidFill>
                <a:latin typeface="Calibri" pitchFamily="34" charset="0"/>
                <a:ea typeface="Calibri" pitchFamily="34" charset="-122"/>
                <a:cs typeface="Calibri" pitchFamily="34" charset="-120"/>
              </a:rPr>
              <a:t>Image and prompt encoders</a:t>
            </a:r>
            <a:endParaRPr lang="en-US" sz="1000" dirty="0"/>
          </a:p>
        </p:txBody>
      </p:sp>
      <p:cxnSp>
        <p:nvCxnSpPr>
          <p:cNvPr id="33" name="Connector 33"/>
          <p:cNvCxnSpPr/>
          <p:nvPr/>
        </p:nvCxnSpPr>
        <p:spPr>
          <a:xfrm>
            <a:off x="4702302" y="3593592"/>
            <a:ext cx="0" cy="91440"/>
          </a:xfrm>
          <a:prstGeom prst="line">
            <a:avLst/>
          </a:prstGeom>
          <a:ln w="12700">
            <a:solidFill>
              <a:srgbClr val="C4CCDA"/>
            </a:solidFill>
            <a:tailEnd type="triangle" w="sm" len="sm"/>
          </a:ln>
        </p:spPr>
      </p:cxnSp>
      <p:sp>
        <p:nvSpPr>
          <p:cNvPr id="34" name="SAM step 3 box"/>
          <p:cNvSpPr/>
          <p:nvPr/>
        </p:nvSpPr>
        <p:spPr>
          <a:xfrm>
            <a:off x="3653028" y="3694176"/>
            <a:ext cx="2098548" cy="256032"/>
          </a:xfrm>
          <a:prstGeom prst="roundRect">
            <a:avLst>
              <a:gd name="adj" fmla="val 20000"/>
            </a:avLst>
          </a:prstGeom>
          <a:solidFill>
            <a:srgbClr val="FFFFFF"/>
          </a:solidFill>
          <a:ln w="9525">
            <a:solidFill>
              <a:srgbClr val="D3D9E4"/>
            </a:solidFill>
          </a:ln>
        </p:spPr>
        <p:txBody>
          <a:bodyPr/>
          <a:lstStyle/>
          <a:p>
            <a:endParaRPr lang="en-IN"/>
          </a:p>
        </p:txBody>
      </p:sp>
      <p:sp>
        <p:nvSpPr>
          <p:cNvPr id="35" name="SAM step 3"/>
          <p:cNvSpPr txBox="1"/>
          <p:nvPr/>
        </p:nvSpPr>
        <p:spPr>
          <a:xfrm>
            <a:off x="3653028" y="3694176"/>
            <a:ext cx="2098548" cy="256032"/>
          </a:xfrm>
          <a:prstGeom prst="rect">
            <a:avLst/>
          </a:prstGeom>
          <a:noFill/>
          <a:ln/>
        </p:spPr>
        <p:txBody>
          <a:bodyPr wrap="square" lIns="0" tIns="0" rIns="0" bIns="0" rtlCol="0" anchor="ctr"/>
          <a:lstStyle/>
          <a:p>
            <a:pPr marL="0" indent="0" algn="ctr">
              <a:buNone/>
            </a:pPr>
            <a:r>
              <a:rPr lang="en-US" sz="1000" dirty="0">
                <a:solidFill>
                  <a:srgbClr val="0E1524"/>
                </a:solidFill>
                <a:latin typeface="Calibri" pitchFamily="34" charset="0"/>
                <a:ea typeface="Calibri" pitchFamily="34" charset="-122"/>
                <a:cs typeface="Calibri" pitchFamily="34" charset="-120"/>
              </a:rPr>
              <a:t>Mask decoder</a:t>
            </a:r>
            <a:endParaRPr lang="en-US" sz="1000" dirty="0"/>
          </a:p>
        </p:txBody>
      </p:sp>
      <p:cxnSp>
        <p:nvCxnSpPr>
          <p:cNvPr id="36" name="Connector 36"/>
          <p:cNvCxnSpPr/>
          <p:nvPr/>
        </p:nvCxnSpPr>
        <p:spPr>
          <a:xfrm>
            <a:off x="4702302" y="3959352"/>
            <a:ext cx="0" cy="91440"/>
          </a:xfrm>
          <a:prstGeom prst="line">
            <a:avLst/>
          </a:prstGeom>
          <a:ln w="12700">
            <a:solidFill>
              <a:srgbClr val="C4CCDA"/>
            </a:solidFill>
            <a:tailEnd type="triangle" w="sm" len="sm"/>
          </a:ln>
        </p:spPr>
      </p:cxnSp>
      <p:sp>
        <p:nvSpPr>
          <p:cNvPr id="37" name="SAM step 4 box"/>
          <p:cNvSpPr/>
          <p:nvPr/>
        </p:nvSpPr>
        <p:spPr>
          <a:xfrm>
            <a:off x="3653028" y="4059936"/>
            <a:ext cx="2098548" cy="256032"/>
          </a:xfrm>
          <a:prstGeom prst="roundRect">
            <a:avLst>
              <a:gd name="adj" fmla="val 20000"/>
            </a:avLst>
          </a:prstGeom>
          <a:solidFill>
            <a:srgbClr val="FFFFFF"/>
          </a:solidFill>
          <a:ln w="9525">
            <a:solidFill>
              <a:srgbClr val="D3D9E4"/>
            </a:solidFill>
          </a:ln>
        </p:spPr>
        <p:txBody>
          <a:bodyPr/>
          <a:lstStyle/>
          <a:p>
            <a:endParaRPr lang="en-IN"/>
          </a:p>
        </p:txBody>
      </p:sp>
      <p:sp>
        <p:nvSpPr>
          <p:cNvPr id="38" name="SAM step 4"/>
          <p:cNvSpPr txBox="1"/>
          <p:nvPr/>
        </p:nvSpPr>
        <p:spPr>
          <a:xfrm>
            <a:off x="3653028" y="4059936"/>
            <a:ext cx="2098548" cy="256032"/>
          </a:xfrm>
          <a:prstGeom prst="rect">
            <a:avLst/>
          </a:prstGeom>
          <a:noFill/>
          <a:ln/>
        </p:spPr>
        <p:txBody>
          <a:bodyPr wrap="square" lIns="0" tIns="0" rIns="0" bIns="0" rtlCol="0" anchor="ctr"/>
          <a:lstStyle/>
          <a:p>
            <a:pPr marL="0" indent="0" algn="ctr">
              <a:buNone/>
            </a:pPr>
            <a:r>
              <a:rPr lang="en-US" sz="1000" dirty="0">
                <a:solidFill>
                  <a:srgbClr val="0E1524"/>
                </a:solidFill>
                <a:latin typeface="Calibri" pitchFamily="34" charset="0"/>
                <a:ea typeface="Calibri" pitchFamily="34" charset="-122"/>
                <a:cs typeface="Calibri" pitchFamily="34" charset="-120"/>
              </a:rPr>
              <a:t>Pixel-exact outline</a:t>
            </a:r>
            <a:endParaRPr lang="en-US" sz="1000" dirty="0"/>
          </a:p>
        </p:txBody>
      </p:sp>
      <p:sp>
        <p:nvSpPr>
          <p:cNvPr id="39" name="SAM where label"/>
          <p:cNvSpPr txBox="1"/>
          <p:nvPr/>
        </p:nvSpPr>
        <p:spPr>
          <a:xfrm>
            <a:off x="3653028" y="4434840"/>
            <a:ext cx="2098548" cy="146304"/>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WHERE TONIGHT</a:t>
            </a:r>
            <a:endParaRPr lang="en-US" sz="800" dirty="0"/>
          </a:p>
        </p:txBody>
      </p:sp>
      <p:sp>
        <p:nvSpPr>
          <p:cNvPr id="40" name="SAM where"/>
          <p:cNvSpPr txBox="1"/>
          <p:nvPr/>
        </p:nvSpPr>
        <p:spPr>
          <a:xfrm>
            <a:off x="3653028" y="4599432"/>
            <a:ext cx="2098548" cy="18288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Fine spatial detail, slide 20</a:t>
            </a:r>
            <a:endParaRPr lang="en-US" sz="1000" dirty="0"/>
          </a:p>
        </p:txBody>
      </p:sp>
      <p:sp>
        <p:nvSpPr>
          <p:cNvPr id="41" name="SLM card"/>
          <p:cNvSpPr/>
          <p:nvPr/>
        </p:nvSpPr>
        <p:spPr>
          <a:xfrm>
            <a:off x="6208776" y="1828800"/>
            <a:ext cx="2555748" cy="3081528"/>
          </a:xfrm>
          <a:prstGeom prst="roundRect">
            <a:avLst>
              <a:gd name="adj" fmla="val 8000"/>
            </a:avLst>
          </a:prstGeom>
          <a:solidFill>
            <a:srgbClr val="F4F6FA"/>
          </a:solidFill>
          <a:ln/>
        </p:spPr>
        <p:txBody>
          <a:bodyPr/>
          <a:lstStyle/>
          <a:p>
            <a:endParaRPr lang="en-IN"/>
          </a:p>
        </p:txBody>
      </p:sp>
      <p:sp>
        <p:nvSpPr>
          <p:cNvPr id="42" name="SLM dot"/>
          <p:cNvSpPr/>
          <p:nvPr/>
        </p:nvSpPr>
        <p:spPr>
          <a:xfrm>
            <a:off x="6437376" y="2048256"/>
            <a:ext cx="182880" cy="182880"/>
          </a:xfrm>
          <a:prstGeom prst="ellipse">
            <a:avLst/>
          </a:prstGeom>
          <a:solidFill>
            <a:srgbClr val="FFC24A"/>
          </a:solidFill>
          <a:ln/>
        </p:spPr>
        <p:txBody>
          <a:bodyPr/>
          <a:lstStyle/>
          <a:p>
            <a:endParaRPr lang="en-IN"/>
          </a:p>
        </p:txBody>
      </p:sp>
      <p:sp>
        <p:nvSpPr>
          <p:cNvPr id="43" name="SLM kind"/>
          <p:cNvSpPr txBox="1"/>
          <p:nvPr/>
        </p:nvSpPr>
        <p:spPr>
          <a:xfrm>
            <a:off x="6711696" y="2048256"/>
            <a:ext cx="1824228" cy="182880"/>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NAMED FOR ITS SIZE</a:t>
            </a:r>
            <a:endParaRPr lang="en-US" sz="800" dirty="0"/>
          </a:p>
        </p:txBody>
      </p:sp>
      <p:sp>
        <p:nvSpPr>
          <p:cNvPr id="44" name="SLM acronym"/>
          <p:cNvSpPr txBox="1"/>
          <p:nvPr/>
        </p:nvSpPr>
        <p:spPr>
          <a:xfrm>
            <a:off x="6437376" y="2340864"/>
            <a:ext cx="2098548" cy="329184"/>
          </a:xfrm>
          <a:prstGeom prst="rect">
            <a:avLst/>
          </a:prstGeom>
          <a:noFill/>
          <a:ln/>
        </p:spPr>
        <p:txBody>
          <a:bodyPr wrap="square" lIns="0" tIns="0" rIns="0" bIns="0" rtlCol="0" anchor="ctr"/>
          <a:lstStyle/>
          <a:p>
            <a:pPr marL="0" indent="0" algn="l">
              <a:buNone/>
            </a:pPr>
            <a:r>
              <a:rPr lang="en-US" sz="2000" b="1" dirty="0">
                <a:solidFill>
                  <a:srgbClr val="0E1524"/>
                </a:solidFill>
                <a:latin typeface="Arial" pitchFamily="34" charset="0"/>
                <a:ea typeface="Arial" pitchFamily="34" charset="-122"/>
                <a:cs typeface="Arial" pitchFamily="34" charset="-120"/>
              </a:rPr>
              <a:t>SLM</a:t>
            </a:r>
            <a:endParaRPr lang="en-US" sz="2000" dirty="0"/>
          </a:p>
        </p:txBody>
      </p:sp>
      <p:sp>
        <p:nvSpPr>
          <p:cNvPr id="45" name="SLM name"/>
          <p:cNvSpPr txBox="1"/>
          <p:nvPr/>
        </p:nvSpPr>
        <p:spPr>
          <a:xfrm>
            <a:off x="6437376" y="2679192"/>
            <a:ext cx="2098548" cy="18288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Small language model</a:t>
            </a:r>
            <a:endParaRPr lang="en-US" sz="1000" dirty="0"/>
          </a:p>
        </p:txBody>
      </p:sp>
      <p:sp>
        <p:nvSpPr>
          <p:cNvPr id="46" name="SLM step 1 box"/>
          <p:cNvSpPr/>
          <p:nvPr/>
        </p:nvSpPr>
        <p:spPr>
          <a:xfrm>
            <a:off x="6437376" y="2962656"/>
            <a:ext cx="2098548" cy="256032"/>
          </a:xfrm>
          <a:prstGeom prst="roundRect">
            <a:avLst>
              <a:gd name="adj" fmla="val 20000"/>
            </a:avLst>
          </a:prstGeom>
          <a:solidFill>
            <a:srgbClr val="FFFFFF"/>
          </a:solidFill>
          <a:ln w="9525">
            <a:solidFill>
              <a:srgbClr val="D3D9E4"/>
            </a:solidFill>
          </a:ln>
        </p:spPr>
        <p:txBody>
          <a:bodyPr/>
          <a:lstStyle/>
          <a:p>
            <a:endParaRPr lang="en-IN"/>
          </a:p>
        </p:txBody>
      </p:sp>
      <p:sp>
        <p:nvSpPr>
          <p:cNvPr id="47" name="SLM step 1"/>
          <p:cNvSpPr txBox="1"/>
          <p:nvPr/>
        </p:nvSpPr>
        <p:spPr>
          <a:xfrm>
            <a:off x="6437376" y="2962656"/>
            <a:ext cx="2098548" cy="256032"/>
          </a:xfrm>
          <a:prstGeom prst="rect">
            <a:avLst/>
          </a:prstGeom>
          <a:noFill/>
          <a:ln/>
        </p:spPr>
        <p:txBody>
          <a:bodyPr wrap="square" lIns="0" tIns="0" rIns="0" bIns="0" rtlCol="0" anchor="ctr"/>
          <a:lstStyle/>
          <a:p>
            <a:pPr marL="0" indent="0" algn="ctr">
              <a:buNone/>
            </a:pPr>
            <a:r>
              <a:rPr lang="en-US" sz="1000" dirty="0">
                <a:solidFill>
                  <a:srgbClr val="0E1524"/>
                </a:solidFill>
                <a:latin typeface="Calibri" pitchFamily="34" charset="0"/>
                <a:ea typeface="Calibri" pitchFamily="34" charset="-122"/>
                <a:cs typeface="Calibri" pitchFamily="34" charset="-120"/>
              </a:rPr>
              <a:t>Same design as the large one</a:t>
            </a:r>
            <a:endParaRPr lang="en-US" sz="1000" dirty="0"/>
          </a:p>
        </p:txBody>
      </p:sp>
      <p:cxnSp>
        <p:nvCxnSpPr>
          <p:cNvPr id="48" name="Connector 48"/>
          <p:cNvCxnSpPr/>
          <p:nvPr/>
        </p:nvCxnSpPr>
        <p:spPr>
          <a:xfrm>
            <a:off x="7486650" y="3227832"/>
            <a:ext cx="0" cy="91440"/>
          </a:xfrm>
          <a:prstGeom prst="line">
            <a:avLst/>
          </a:prstGeom>
          <a:ln w="12700">
            <a:solidFill>
              <a:srgbClr val="C4CCDA"/>
            </a:solidFill>
            <a:tailEnd type="triangle" w="sm" len="sm"/>
          </a:ln>
        </p:spPr>
      </p:cxnSp>
      <p:sp>
        <p:nvSpPr>
          <p:cNvPr id="49" name="SLM step 2 box"/>
          <p:cNvSpPr/>
          <p:nvPr/>
        </p:nvSpPr>
        <p:spPr>
          <a:xfrm>
            <a:off x="6437376" y="3328416"/>
            <a:ext cx="2098548" cy="256032"/>
          </a:xfrm>
          <a:prstGeom prst="roundRect">
            <a:avLst>
              <a:gd name="adj" fmla="val 20000"/>
            </a:avLst>
          </a:prstGeom>
          <a:solidFill>
            <a:srgbClr val="FFFFFF"/>
          </a:solidFill>
          <a:ln w="9525">
            <a:solidFill>
              <a:srgbClr val="D3D9E4"/>
            </a:solidFill>
          </a:ln>
        </p:spPr>
        <p:txBody>
          <a:bodyPr/>
          <a:lstStyle/>
          <a:p>
            <a:endParaRPr lang="en-IN"/>
          </a:p>
        </p:txBody>
      </p:sp>
      <p:sp>
        <p:nvSpPr>
          <p:cNvPr id="50" name="SLM step 2"/>
          <p:cNvSpPr txBox="1"/>
          <p:nvPr/>
        </p:nvSpPr>
        <p:spPr>
          <a:xfrm>
            <a:off x="6437376" y="3328416"/>
            <a:ext cx="2098548" cy="256032"/>
          </a:xfrm>
          <a:prstGeom prst="rect">
            <a:avLst/>
          </a:prstGeom>
          <a:noFill/>
          <a:ln/>
        </p:spPr>
        <p:txBody>
          <a:bodyPr wrap="square" lIns="0" tIns="0" rIns="0" bIns="0" rtlCol="0" anchor="ctr"/>
          <a:lstStyle/>
          <a:p>
            <a:pPr marL="0" indent="0" algn="ctr">
              <a:buNone/>
            </a:pPr>
            <a:r>
              <a:rPr lang="en-US" sz="1000" dirty="0">
                <a:solidFill>
                  <a:srgbClr val="0E1524"/>
                </a:solidFill>
                <a:latin typeface="Calibri" pitchFamily="34" charset="0"/>
                <a:ea typeface="Calibri" pitchFamily="34" charset="-122"/>
                <a:cs typeface="Calibri" pitchFamily="34" charset="-120"/>
              </a:rPr>
              <a:t>Under ~10 billion parameters</a:t>
            </a:r>
            <a:endParaRPr lang="en-US" sz="1000" dirty="0"/>
          </a:p>
        </p:txBody>
      </p:sp>
      <p:cxnSp>
        <p:nvCxnSpPr>
          <p:cNvPr id="51" name="Connector 51"/>
          <p:cNvCxnSpPr/>
          <p:nvPr/>
        </p:nvCxnSpPr>
        <p:spPr>
          <a:xfrm>
            <a:off x="7486650" y="3593592"/>
            <a:ext cx="0" cy="91440"/>
          </a:xfrm>
          <a:prstGeom prst="line">
            <a:avLst/>
          </a:prstGeom>
          <a:ln w="12700">
            <a:solidFill>
              <a:srgbClr val="C4CCDA"/>
            </a:solidFill>
            <a:tailEnd type="triangle" w="sm" len="sm"/>
          </a:ln>
        </p:spPr>
      </p:cxnSp>
      <p:sp>
        <p:nvSpPr>
          <p:cNvPr id="52" name="SLM step 3 box"/>
          <p:cNvSpPr/>
          <p:nvPr/>
        </p:nvSpPr>
        <p:spPr>
          <a:xfrm>
            <a:off x="6437376" y="3694176"/>
            <a:ext cx="2098548" cy="256032"/>
          </a:xfrm>
          <a:prstGeom prst="roundRect">
            <a:avLst>
              <a:gd name="adj" fmla="val 20000"/>
            </a:avLst>
          </a:prstGeom>
          <a:solidFill>
            <a:srgbClr val="FFFFFF"/>
          </a:solidFill>
          <a:ln w="9525">
            <a:solidFill>
              <a:srgbClr val="D3D9E4"/>
            </a:solidFill>
          </a:ln>
        </p:spPr>
        <p:txBody>
          <a:bodyPr/>
          <a:lstStyle/>
          <a:p>
            <a:endParaRPr lang="en-IN"/>
          </a:p>
        </p:txBody>
      </p:sp>
      <p:sp>
        <p:nvSpPr>
          <p:cNvPr id="53" name="SLM step 3"/>
          <p:cNvSpPr txBox="1"/>
          <p:nvPr/>
        </p:nvSpPr>
        <p:spPr>
          <a:xfrm>
            <a:off x="6437376" y="3694176"/>
            <a:ext cx="2098548" cy="256032"/>
          </a:xfrm>
          <a:prstGeom prst="rect">
            <a:avLst/>
          </a:prstGeom>
          <a:noFill/>
          <a:ln/>
        </p:spPr>
        <p:txBody>
          <a:bodyPr wrap="square" lIns="0" tIns="0" rIns="0" bIns="0" rtlCol="0" anchor="ctr"/>
          <a:lstStyle/>
          <a:p>
            <a:pPr marL="0" indent="0" algn="ctr">
              <a:buNone/>
            </a:pPr>
            <a:r>
              <a:rPr lang="en-US" sz="1000" dirty="0">
                <a:solidFill>
                  <a:srgbClr val="0E1524"/>
                </a:solidFill>
                <a:latin typeface="Calibri" pitchFamily="34" charset="0"/>
                <a:ea typeface="Calibri" pitchFamily="34" charset="-122"/>
                <a:cs typeface="Calibri" pitchFamily="34" charset="-120"/>
              </a:rPr>
              <a:t>Quantised to 4 bits</a:t>
            </a:r>
            <a:endParaRPr lang="en-US" sz="1000" dirty="0"/>
          </a:p>
        </p:txBody>
      </p:sp>
      <p:cxnSp>
        <p:nvCxnSpPr>
          <p:cNvPr id="54" name="Connector 54"/>
          <p:cNvCxnSpPr/>
          <p:nvPr/>
        </p:nvCxnSpPr>
        <p:spPr>
          <a:xfrm>
            <a:off x="7486650" y="3959352"/>
            <a:ext cx="0" cy="91440"/>
          </a:xfrm>
          <a:prstGeom prst="line">
            <a:avLst/>
          </a:prstGeom>
          <a:ln w="12700">
            <a:solidFill>
              <a:srgbClr val="C4CCDA"/>
            </a:solidFill>
            <a:tailEnd type="triangle" w="sm" len="sm"/>
          </a:ln>
        </p:spPr>
      </p:cxnSp>
      <p:sp>
        <p:nvSpPr>
          <p:cNvPr id="55" name="SLM step 4 box"/>
          <p:cNvSpPr/>
          <p:nvPr/>
        </p:nvSpPr>
        <p:spPr>
          <a:xfrm>
            <a:off x="6437376" y="4059936"/>
            <a:ext cx="2098548" cy="256032"/>
          </a:xfrm>
          <a:prstGeom prst="roundRect">
            <a:avLst>
              <a:gd name="adj" fmla="val 20000"/>
            </a:avLst>
          </a:prstGeom>
          <a:solidFill>
            <a:srgbClr val="FFFFFF"/>
          </a:solidFill>
          <a:ln w="9525">
            <a:solidFill>
              <a:srgbClr val="D3D9E4"/>
            </a:solidFill>
          </a:ln>
        </p:spPr>
        <p:txBody>
          <a:bodyPr/>
          <a:lstStyle/>
          <a:p>
            <a:endParaRPr lang="en-IN"/>
          </a:p>
        </p:txBody>
      </p:sp>
      <p:sp>
        <p:nvSpPr>
          <p:cNvPr id="56" name="SLM step 4"/>
          <p:cNvSpPr txBox="1"/>
          <p:nvPr/>
        </p:nvSpPr>
        <p:spPr>
          <a:xfrm>
            <a:off x="6437376" y="4059936"/>
            <a:ext cx="2098548" cy="256032"/>
          </a:xfrm>
          <a:prstGeom prst="rect">
            <a:avLst/>
          </a:prstGeom>
          <a:noFill/>
          <a:ln/>
        </p:spPr>
        <p:txBody>
          <a:bodyPr wrap="square" lIns="0" tIns="0" rIns="0" bIns="0" rtlCol="0" anchor="ctr"/>
          <a:lstStyle/>
          <a:p>
            <a:pPr marL="0" indent="0" algn="ctr">
              <a:buNone/>
            </a:pPr>
            <a:r>
              <a:rPr lang="en-US" sz="1000" dirty="0">
                <a:solidFill>
                  <a:srgbClr val="0E1524"/>
                </a:solidFill>
                <a:latin typeface="Calibri" pitchFamily="34" charset="0"/>
                <a:ea typeface="Calibri" pitchFamily="34" charset="-122"/>
                <a:cs typeface="Calibri" pitchFamily="34" charset="-120"/>
              </a:rPr>
              <a:t>Runs on a phone or gateway</a:t>
            </a:r>
            <a:endParaRPr lang="en-US" sz="1000" dirty="0"/>
          </a:p>
        </p:txBody>
      </p:sp>
      <p:sp>
        <p:nvSpPr>
          <p:cNvPr id="57" name="SLM where label"/>
          <p:cNvSpPr txBox="1"/>
          <p:nvPr/>
        </p:nvSpPr>
        <p:spPr>
          <a:xfrm>
            <a:off x="6437376" y="4434840"/>
            <a:ext cx="2098548" cy="146304"/>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WHERE TONIGHT</a:t>
            </a:r>
            <a:endParaRPr lang="en-US" sz="800" dirty="0"/>
          </a:p>
        </p:txBody>
      </p:sp>
      <p:sp>
        <p:nvSpPr>
          <p:cNvPr id="58" name="SLM where"/>
          <p:cNvSpPr txBox="1"/>
          <p:nvPr/>
        </p:nvSpPr>
        <p:spPr>
          <a:xfrm>
            <a:off x="6437376" y="4599432"/>
            <a:ext cx="2098548" cy="18288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On-device models, slides 17 and 25</a:t>
            </a:r>
            <a:endParaRPr lang="en-US" sz="1000" dirty="0"/>
          </a:p>
        </p:txBody>
      </p:sp>
      <p:sp>
        <p:nvSpPr>
          <p:cNvPr id="59" name="LAM card"/>
          <p:cNvSpPr/>
          <p:nvPr/>
        </p:nvSpPr>
        <p:spPr>
          <a:xfrm>
            <a:off x="8993124" y="1828800"/>
            <a:ext cx="2555748" cy="3081528"/>
          </a:xfrm>
          <a:prstGeom prst="roundRect">
            <a:avLst>
              <a:gd name="adj" fmla="val 8000"/>
            </a:avLst>
          </a:prstGeom>
          <a:solidFill>
            <a:srgbClr val="F4F6FA"/>
          </a:solidFill>
          <a:ln/>
        </p:spPr>
        <p:txBody>
          <a:bodyPr/>
          <a:lstStyle/>
          <a:p>
            <a:endParaRPr lang="en-IN"/>
          </a:p>
        </p:txBody>
      </p:sp>
      <p:sp>
        <p:nvSpPr>
          <p:cNvPr id="60" name="LAM dot"/>
          <p:cNvSpPr/>
          <p:nvPr/>
        </p:nvSpPr>
        <p:spPr>
          <a:xfrm>
            <a:off x="9221724" y="2048256"/>
            <a:ext cx="182880" cy="182880"/>
          </a:xfrm>
          <a:prstGeom prst="ellipse">
            <a:avLst/>
          </a:prstGeom>
          <a:solidFill>
            <a:srgbClr val="6B7689"/>
          </a:solidFill>
          <a:ln/>
        </p:spPr>
        <p:txBody>
          <a:bodyPr/>
          <a:lstStyle/>
          <a:p>
            <a:endParaRPr lang="en-IN"/>
          </a:p>
        </p:txBody>
      </p:sp>
      <p:sp>
        <p:nvSpPr>
          <p:cNvPr id="61" name="LAM kind"/>
          <p:cNvSpPr txBox="1"/>
          <p:nvPr/>
        </p:nvSpPr>
        <p:spPr>
          <a:xfrm>
            <a:off x="9496044" y="2048256"/>
            <a:ext cx="1824228" cy="182880"/>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NAMED FOR ITS OUTPUT</a:t>
            </a:r>
            <a:endParaRPr lang="en-US" sz="800" dirty="0"/>
          </a:p>
        </p:txBody>
      </p:sp>
      <p:sp>
        <p:nvSpPr>
          <p:cNvPr id="62" name="LAM acronym"/>
          <p:cNvSpPr txBox="1"/>
          <p:nvPr/>
        </p:nvSpPr>
        <p:spPr>
          <a:xfrm>
            <a:off x="9221724" y="2340864"/>
            <a:ext cx="2098548" cy="329184"/>
          </a:xfrm>
          <a:prstGeom prst="rect">
            <a:avLst/>
          </a:prstGeom>
          <a:noFill/>
          <a:ln/>
        </p:spPr>
        <p:txBody>
          <a:bodyPr wrap="square" lIns="0" tIns="0" rIns="0" bIns="0" rtlCol="0" anchor="ctr"/>
          <a:lstStyle/>
          <a:p>
            <a:pPr marL="0" indent="0" algn="l">
              <a:buNone/>
            </a:pPr>
            <a:r>
              <a:rPr lang="en-US" sz="2000" b="1" dirty="0">
                <a:solidFill>
                  <a:srgbClr val="0E1524"/>
                </a:solidFill>
                <a:latin typeface="Arial" pitchFamily="34" charset="0"/>
                <a:ea typeface="Arial" pitchFamily="34" charset="-122"/>
                <a:cs typeface="Arial" pitchFamily="34" charset="-120"/>
              </a:rPr>
              <a:t>LAM</a:t>
            </a:r>
            <a:endParaRPr lang="en-US" sz="2000" dirty="0"/>
          </a:p>
        </p:txBody>
      </p:sp>
      <p:sp>
        <p:nvSpPr>
          <p:cNvPr id="63" name="LAM name"/>
          <p:cNvSpPr txBox="1"/>
          <p:nvPr/>
        </p:nvSpPr>
        <p:spPr>
          <a:xfrm>
            <a:off x="9221724" y="2679192"/>
            <a:ext cx="2098548" cy="18288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Large action model</a:t>
            </a:r>
            <a:endParaRPr lang="en-US" sz="1000" dirty="0"/>
          </a:p>
        </p:txBody>
      </p:sp>
      <p:sp>
        <p:nvSpPr>
          <p:cNvPr id="64" name="LAM step 1 box"/>
          <p:cNvSpPr/>
          <p:nvPr/>
        </p:nvSpPr>
        <p:spPr>
          <a:xfrm>
            <a:off x="9221724" y="2962656"/>
            <a:ext cx="2098548" cy="256032"/>
          </a:xfrm>
          <a:prstGeom prst="roundRect">
            <a:avLst>
              <a:gd name="adj" fmla="val 20000"/>
            </a:avLst>
          </a:prstGeom>
          <a:solidFill>
            <a:srgbClr val="FFFFFF"/>
          </a:solidFill>
          <a:ln w="9525">
            <a:solidFill>
              <a:srgbClr val="D3D9E4"/>
            </a:solidFill>
          </a:ln>
        </p:spPr>
        <p:txBody>
          <a:bodyPr/>
          <a:lstStyle/>
          <a:p>
            <a:endParaRPr lang="en-IN"/>
          </a:p>
        </p:txBody>
      </p:sp>
      <p:sp>
        <p:nvSpPr>
          <p:cNvPr id="65" name="LAM step 1"/>
          <p:cNvSpPr txBox="1"/>
          <p:nvPr/>
        </p:nvSpPr>
        <p:spPr>
          <a:xfrm>
            <a:off x="9221724" y="2962656"/>
            <a:ext cx="2098548" cy="256032"/>
          </a:xfrm>
          <a:prstGeom prst="rect">
            <a:avLst/>
          </a:prstGeom>
          <a:noFill/>
          <a:ln/>
        </p:spPr>
        <p:txBody>
          <a:bodyPr wrap="square" lIns="0" tIns="0" rIns="0" bIns="0" rtlCol="0" anchor="ctr"/>
          <a:lstStyle/>
          <a:p>
            <a:pPr marL="0" indent="0" algn="ctr">
              <a:buNone/>
            </a:pPr>
            <a:r>
              <a:rPr lang="en-US" sz="1000" dirty="0">
                <a:solidFill>
                  <a:srgbClr val="0E1524"/>
                </a:solidFill>
                <a:latin typeface="Calibri" pitchFamily="34" charset="0"/>
                <a:ea typeface="Calibri" pitchFamily="34" charset="-122"/>
                <a:cs typeface="Calibri" pitchFamily="34" charset="-120"/>
              </a:rPr>
              <a:t>Screenshot or camera frame</a:t>
            </a:r>
            <a:endParaRPr lang="en-US" sz="1000" dirty="0"/>
          </a:p>
        </p:txBody>
      </p:sp>
      <p:cxnSp>
        <p:nvCxnSpPr>
          <p:cNvPr id="66" name="Connector 66"/>
          <p:cNvCxnSpPr/>
          <p:nvPr/>
        </p:nvCxnSpPr>
        <p:spPr>
          <a:xfrm>
            <a:off x="10270998" y="3227832"/>
            <a:ext cx="0" cy="91440"/>
          </a:xfrm>
          <a:prstGeom prst="line">
            <a:avLst/>
          </a:prstGeom>
          <a:ln w="12700">
            <a:solidFill>
              <a:srgbClr val="C4CCDA"/>
            </a:solidFill>
            <a:tailEnd type="triangle" w="sm" len="sm"/>
          </a:ln>
        </p:spPr>
      </p:cxnSp>
      <p:sp>
        <p:nvSpPr>
          <p:cNvPr id="67" name="LAM step 2 box"/>
          <p:cNvSpPr/>
          <p:nvPr/>
        </p:nvSpPr>
        <p:spPr>
          <a:xfrm>
            <a:off x="9221724" y="3328416"/>
            <a:ext cx="2098548" cy="256032"/>
          </a:xfrm>
          <a:prstGeom prst="roundRect">
            <a:avLst>
              <a:gd name="adj" fmla="val 20000"/>
            </a:avLst>
          </a:prstGeom>
          <a:solidFill>
            <a:srgbClr val="FFFFFF"/>
          </a:solidFill>
          <a:ln w="9525">
            <a:solidFill>
              <a:srgbClr val="D3D9E4"/>
            </a:solidFill>
          </a:ln>
        </p:spPr>
        <p:txBody>
          <a:bodyPr/>
          <a:lstStyle/>
          <a:p>
            <a:endParaRPr lang="en-IN"/>
          </a:p>
        </p:txBody>
      </p:sp>
      <p:sp>
        <p:nvSpPr>
          <p:cNvPr id="68" name="LAM step 2"/>
          <p:cNvSpPr txBox="1"/>
          <p:nvPr/>
        </p:nvSpPr>
        <p:spPr>
          <a:xfrm>
            <a:off x="9221724" y="3328416"/>
            <a:ext cx="2098548" cy="256032"/>
          </a:xfrm>
          <a:prstGeom prst="rect">
            <a:avLst/>
          </a:prstGeom>
          <a:noFill/>
          <a:ln/>
        </p:spPr>
        <p:txBody>
          <a:bodyPr wrap="square" lIns="0" tIns="0" rIns="0" bIns="0" rtlCol="0" anchor="ctr"/>
          <a:lstStyle/>
          <a:p>
            <a:pPr marL="0" indent="0" algn="ctr">
              <a:buNone/>
            </a:pPr>
            <a:r>
              <a:rPr lang="en-US" sz="1000" dirty="0">
                <a:solidFill>
                  <a:srgbClr val="0E1524"/>
                </a:solidFill>
                <a:latin typeface="Calibri" pitchFamily="34" charset="0"/>
                <a:ea typeface="Calibri" pitchFamily="34" charset="-122"/>
                <a:cs typeface="Calibri" pitchFamily="34" charset="-120"/>
              </a:rPr>
              <a:t>Decide the next step</a:t>
            </a:r>
            <a:endParaRPr lang="en-US" sz="1000" dirty="0"/>
          </a:p>
        </p:txBody>
      </p:sp>
      <p:cxnSp>
        <p:nvCxnSpPr>
          <p:cNvPr id="69" name="Connector 69"/>
          <p:cNvCxnSpPr/>
          <p:nvPr/>
        </p:nvCxnSpPr>
        <p:spPr>
          <a:xfrm>
            <a:off x="10270998" y="3593592"/>
            <a:ext cx="0" cy="91440"/>
          </a:xfrm>
          <a:prstGeom prst="line">
            <a:avLst/>
          </a:prstGeom>
          <a:ln w="12700">
            <a:solidFill>
              <a:srgbClr val="C4CCDA"/>
            </a:solidFill>
            <a:tailEnd type="triangle" w="sm" len="sm"/>
          </a:ln>
        </p:spPr>
      </p:cxnSp>
      <p:sp>
        <p:nvSpPr>
          <p:cNvPr id="70" name="LAM step 3 box"/>
          <p:cNvSpPr/>
          <p:nvPr/>
        </p:nvSpPr>
        <p:spPr>
          <a:xfrm>
            <a:off x="9221724" y="3694176"/>
            <a:ext cx="2098548" cy="256032"/>
          </a:xfrm>
          <a:prstGeom prst="roundRect">
            <a:avLst>
              <a:gd name="adj" fmla="val 20000"/>
            </a:avLst>
          </a:prstGeom>
          <a:solidFill>
            <a:srgbClr val="FFFFFF"/>
          </a:solidFill>
          <a:ln w="9525">
            <a:solidFill>
              <a:srgbClr val="D3D9E4"/>
            </a:solidFill>
          </a:ln>
        </p:spPr>
        <p:txBody>
          <a:bodyPr/>
          <a:lstStyle/>
          <a:p>
            <a:endParaRPr lang="en-IN"/>
          </a:p>
        </p:txBody>
      </p:sp>
      <p:sp>
        <p:nvSpPr>
          <p:cNvPr id="71" name="LAM step 3"/>
          <p:cNvSpPr txBox="1"/>
          <p:nvPr/>
        </p:nvSpPr>
        <p:spPr>
          <a:xfrm>
            <a:off x="9221724" y="3694176"/>
            <a:ext cx="2098548" cy="256032"/>
          </a:xfrm>
          <a:prstGeom prst="rect">
            <a:avLst/>
          </a:prstGeom>
          <a:noFill/>
          <a:ln/>
        </p:spPr>
        <p:txBody>
          <a:bodyPr wrap="square" lIns="0" tIns="0" rIns="0" bIns="0" rtlCol="0" anchor="ctr"/>
          <a:lstStyle/>
          <a:p>
            <a:pPr marL="0" indent="0" algn="ctr">
              <a:buNone/>
            </a:pPr>
            <a:r>
              <a:rPr lang="en-US" sz="1000" dirty="0">
                <a:solidFill>
                  <a:srgbClr val="0E1524"/>
                </a:solidFill>
                <a:latin typeface="Calibri" pitchFamily="34" charset="0"/>
                <a:ea typeface="Calibri" pitchFamily="34" charset="-122"/>
                <a:cs typeface="Calibri" pitchFamily="34" charset="-120"/>
              </a:rPr>
              <a:t>Click, or call an API</a:t>
            </a:r>
            <a:endParaRPr lang="en-US" sz="1000" dirty="0"/>
          </a:p>
        </p:txBody>
      </p:sp>
      <p:cxnSp>
        <p:nvCxnSpPr>
          <p:cNvPr id="72" name="Connector 72"/>
          <p:cNvCxnSpPr/>
          <p:nvPr/>
        </p:nvCxnSpPr>
        <p:spPr>
          <a:xfrm>
            <a:off x="10270998" y="3959352"/>
            <a:ext cx="0" cy="91440"/>
          </a:xfrm>
          <a:prstGeom prst="line">
            <a:avLst/>
          </a:prstGeom>
          <a:ln w="12700">
            <a:solidFill>
              <a:srgbClr val="C4CCDA"/>
            </a:solidFill>
            <a:tailEnd type="triangle" w="sm" len="sm"/>
          </a:ln>
        </p:spPr>
      </p:cxnSp>
      <p:sp>
        <p:nvSpPr>
          <p:cNvPr id="73" name="LAM step 4 box"/>
          <p:cNvSpPr/>
          <p:nvPr/>
        </p:nvSpPr>
        <p:spPr>
          <a:xfrm>
            <a:off x="9221724" y="4059936"/>
            <a:ext cx="2098548" cy="256032"/>
          </a:xfrm>
          <a:prstGeom prst="roundRect">
            <a:avLst>
              <a:gd name="adj" fmla="val 20000"/>
            </a:avLst>
          </a:prstGeom>
          <a:solidFill>
            <a:srgbClr val="FFFFFF"/>
          </a:solidFill>
          <a:ln w="9525">
            <a:solidFill>
              <a:srgbClr val="D3D9E4"/>
            </a:solidFill>
          </a:ln>
        </p:spPr>
        <p:txBody>
          <a:bodyPr/>
          <a:lstStyle/>
          <a:p>
            <a:endParaRPr lang="en-IN"/>
          </a:p>
        </p:txBody>
      </p:sp>
      <p:sp>
        <p:nvSpPr>
          <p:cNvPr id="74" name="LAM step 4"/>
          <p:cNvSpPr txBox="1"/>
          <p:nvPr/>
        </p:nvSpPr>
        <p:spPr>
          <a:xfrm>
            <a:off x="9221724" y="4059936"/>
            <a:ext cx="2098548" cy="256032"/>
          </a:xfrm>
          <a:prstGeom prst="rect">
            <a:avLst/>
          </a:prstGeom>
          <a:noFill/>
          <a:ln/>
        </p:spPr>
        <p:txBody>
          <a:bodyPr wrap="square" lIns="0" tIns="0" rIns="0" bIns="0" rtlCol="0" anchor="ctr"/>
          <a:lstStyle/>
          <a:p>
            <a:pPr marL="0" indent="0" algn="ctr">
              <a:buNone/>
            </a:pPr>
            <a:r>
              <a:rPr lang="en-US" sz="1000" dirty="0">
                <a:solidFill>
                  <a:srgbClr val="0E1524"/>
                </a:solidFill>
                <a:latin typeface="Calibri" pitchFamily="34" charset="0"/>
                <a:ea typeface="Calibri" pitchFamily="34" charset="-122"/>
                <a:cs typeface="Calibri" pitchFamily="34" charset="-120"/>
              </a:rPr>
              <a:t>Look again, then repeat</a:t>
            </a:r>
            <a:endParaRPr lang="en-US" sz="1000" dirty="0"/>
          </a:p>
        </p:txBody>
      </p:sp>
      <p:sp>
        <p:nvSpPr>
          <p:cNvPr id="75" name="LAM where label"/>
          <p:cNvSpPr txBox="1"/>
          <p:nvPr/>
        </p:nvSpPr>
        <p:spPr>
          <a:xfrm>
            <a:off x="9221724" y="4434840"/>
            <a:ext cx="2098548" cy="146304"/>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WHERE TONIGHT</a:t>
            </a:r>
            <a:endParaRPr lang="en-US" sz="800" dirty="0"/>
          </a:p>
        </p:txBody>
      </p:sp>
      <p:sp>
        <p:nvSpPr>
          <p:cNvPr id="76" name="LAM where"/>
          <p:cNvSpPr txBox="1"/>
          <p:nvPr/>
        </p:nvSpPr>
        <p:spPr>
          <a:xfrm>
            <a:off x="9221724" y="4599432"/>
            <a:ext cx="2098548" cy="18288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The look-and-act loop, slide 19</a:t>
            </a:r>
            <a:endParaRPr lang="en-US" sz="1000" dirty="0"/>
          </a:p>
        </p:txBody>
      </p:sp>
      <p:sp>
        <p:nvSpPr>
          <p:cNvPr id="77" name="Parked label"/>
          <p:cNvSpPr txBox="1"/>
          <p:nvPr/>
        </p:nvSpPr>
        <p:spPr>
          <a:xfrm>
            <a:off x="640080" y="5020056"/>
            <a:ext cx="10908792" cy="164592"/>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ALSO ON THE POSTER  ·  THESE BELONG WITH THE NLP AND DEEP LEARNING SESSIONS</a:t>
            </a:r>
            <a:endParaRPr lang="en-US" sz="800" dirty="0"/>
          </a:p>
        </p:txBody>
      </p:sp>
      <p:sp>
        <p:nvSpPr>
          <p:cNvPr id="78" name="LLM parked card"/>
          <p:cNvSpPr/>
          <p:nvPr/>
        </p:nvSpPr>
        <p:spPr>
          <a:xfrm>
            <a:off x="640080" y="5257800"/>
            <a:ext cx="2555748" cy="768096"/>
          </a:xfrm>
          <a:prstGeom prst="roundRect">
            <a:avLst>
              <a:gd name="adj" fmla="val 14000"/>
            </a:avLst>
          </a:prstGeom>
          <a:noFill/>
          <a:ln w="9525">
            <a:solidFill>
              <a:srgbClr val="D3D9E4"/>
            </a:solidFill>
          </a:ln>
        </p:spPr>
        <p:txBody>
          <a:bodyPr/>
          <a:lstStyle/>
          <a:p>
            <a:endParaRPr lang="en-IN"/>
          </a:p>
        </p:txBody>
      </p:sp>
      <p:sp>
        <p:nvSpPr>
          <p:cNvPr id="79" name="LLM parked acronym"/>
          <p:cNvSpPr txBox="1"/>
          <p:nvPr/>
        </p:nvSpPr>
        <p:spPr>
          <a:xfrm>
            <a:off x="822960" y="5367528"/>
            <a:ext cx="548640" cy="201168"/>
          </a:xfrm>
          <a:prstGeom prst="rect">
            <a:avLst/>
          </a:prstGeom>
          <a:noFill/>
          <a:ln/>
        </p:spPr>
        <p:txBody>
          <a:bodyPr wrap="square" lIns="0" tIns="0" rIns="0" bIns="0" rtlCol="0" anchor="ctr"/>
          <a:lstStyle/>
          <a:p>
            <a:pPr marL="0" indent="0" algn="l">
              <a:buNone/>
            </a:pPr>
            <a:r>
              <a:rPr lang="en-US" sz="1200" b="1" dirty="0">
                <a:solidFill>
                  <a:srgbClr val="6B7689"/>
                </a:solidFill>
                <a:latin typeface="Arial" pitchFamily="34" charset="0"/>
                <a:ea typeface="Arial" pitchFamily="34" charset="-122"/>
                <a:cs typeface="Arial" pitchFamily="34" charset="-120"/>
              </a:rPr>
              <a:t>LLM</a:t>
            </a:r>
            <a:endParaRPr lang="en-US" sz="1200" dirty="0"/>
          </a:p>
        </p:txBody>
      </p:sp>
      <p:sp>
        <p:nvSpPr>
          <p:cNvPr id="80" name="LLM parked kind"/>
          <p:cNvSpPr txBox="1"/>
          <p:nvPr/>
        </p:nvSpPr>
        <p:spPr>
          <a:xfrm>
            <a:off x="1371600" y="5367528"/>
            <a:ext cx="1641348" cy="201168"/>
          </a:xfrm>
          <a:prstGeom prst="rect">
            <a:avLst/>
          </a:prstGeom>
          <a:noFill/>
          <a:ln/>
        </p:spPr>
        <p:txBody>
          <a:bodyPr wrap="square" lIns="0" tIns="0" rIns="0" bIns="0" rtlCol="0" anchor="ctr"/>
          <a:lstStyle/>
          <a:p>
            <a:pPr marL="0" indent="0" algn="r">
              <a:buNone/>
            </a:pPr>
            <a:r>
              <a:rPr lang="en-US" sz="800" b="1" kern="0" spc="120" dirty="0">
                <a:solidFill>
                  <a:srgbClr val="9AA6B8"/>
                </a:solidFill>
                <a:latin typeface="Arial" pitchFamily="34" charset="0"/>
                <a:ea typeface="Arial" pitchFamily="34" charset="-122"/>
                <a:cs typeface="Arial" pitchFamily="34" charset="-120"/>
              </a:rPr>
              <a:t>SIZE AND INPUT</a:t>
            </a:r>
            <a:endParaRPr lang="en-US" sz="800" dirty="0"/>
          </a:p>
        </p:txBody>
      </p:sp>
      <p:sp>
        <p:nvSpPr>
          <p:cNvPr id="81" name="LLM parked description"/>
          <p:cNvSpPr txBox="1"/>
          <p:nvPr/>
        </p:nvSpPr>
        <p:spPr>
          <a:xfrm>
            <a:off x="822960" y="5623560"/>
            <a:ext cx="2189988" cy="36576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Text in, next token out. It is the language-model box inside every VLM.</a:t>
            </a:r>
            <a:endParaRPr lang="en-US" sz="1000" dirty="0"/>
          </a:p>
        </p:txBody>
      </p:sp>
      <p:sp>
        <p:nvSpPr>
          <p:cNvPr id="82" name="MLM parked card"/>
          <p:cNvSpPr/>
          <p:nvPr/>
        </p:nvSpPr>
        <p:spPr>
          <a:xfrm>
            <a:off x="3424428" y="5257800"/>
            <a:ext cx="2555748" cy="768096"/>
          </a:xfrm>
          <a:prstGeom prst="roundRect">
            <a:avLst>
              <a:gd name="adj" fmla="val 14000"/>
            </a:avLst>
          </a:prstGeom>
          <a:noFill/>
          <a:ln w="9525">
            <a:solidFill>
              <a:srgbClr val="D3D9E4"/>
            </a:solidFill>
          </a:ln>
        </p:spPr>
        <p:txBody>
          <a:bodyPr/>
          <a:lstStyle/>
          <a:p>
            <a:endParaRPr lang="en-IN"/>
          </a:p>
        </p:txBody>
      </p:sp>
      <p:sp>
        <p:nvSpPr>
          <p:cNvPr id="83" name="MLM parked acronym"/>
          <p:cNvSpPr txBox="1"/>
          <p:nvPr/>
        </p:nvSpPr>
        <p:spPr>
          <a:xfrm>
            <a:off x="3607308" y="5367528"/>
            <a:ext cx="548640" cy="201168"/>
          </a:xfrm>
          <a:prstGeom prst="rect">
            <a:avLst/>
          </a:prstGeom>
          <a:noFill/>
          <a:ln/>
        </p:spPr>
        <p:txBody>
          <a:bodyPr wrap="square" lIns="0" tIns="0" rIns="0" bIns="0" rtlCol="0" anchor="ctr"/>
          <a:lstStyle/>
          <a:p>
            <a:pPr marL="0" indent="0" algn="l">
              <a:buNone/>
            </a:pPr>
            <a:r>
              <a:rPr lang="en-US" sz="1200" b="1" dirty="0">
                <a:solidFill>
                  <a:srgbClr val="6B7689"/>
                </a:solidFill>
                <a:latin typeface="Arial" pitchFamily="34" charset="0"/>
                <a:ea typeface="Arial" pitchFamily="34" charset="-122"/>
                <a:cs typeface="Arial" pitchFamily="34" charset="-120"/>
              </a:rPr>
              <a:t>MLM</a:t>
            </a:r>
            <a:endParaRPr lang="en-US" sz="1200" dirty="0"/>
          </a:p>
        </p:txBody>
      </p:sp>
      <p:sp>
        <p:nvSpPr>
          <p:cNvPr id="84" name="MLM parked kind"/>
          <p:cNvSpPr txBox="1"/>
          <p:nvPr/>
        </p:nvSpPr>
        <p:spPr>
          <a:xfrm>
            <a:off x="4155948" y="5367528"/>
            <a:ext cx="1641348" cy="201168"/>
          </a:xfrm>
          <a:prstGeom prst="rect">
            <a:avLst/>
          </a:prstGeom>
          <a:noFill/>
          <a:ln/>
        </p:spPr>
        <p:txBody>
          <a:bodyPr wrap="square" lIns="0" tIns="0" rIns="0" bIns="0" rtlCol="0" anchor="ctr"/>
          <a:lstStyle/>
          <a:p>
            <a:pPr marL="0" indent="0" algn="r">
              <a:buNone/>
            </a:pPr>
            <a:r>
              <a:rPr lang="en-US" sz="800" b="1" kern="0" spc="120" dirty="0">
                <a:solidFill>
                  <a:srgbClr val="9AA6B8"/>
                </a:solidFill>
                <a:latin typeface="Arial" pitchFamily="34" charset="0"/>
                <a:ea typeface="Arial" pitchFamily="34" charset="-122"/>
                <a:cs typeface="Arial" pitchFamily="34" charset="-120"/>
              </a:rPr>
              <a:t>A TRAINING OBJECTIVE</a:t>
            </a:r>
            <a:endParaRPr lang="en-US" sz="800" dirty="0"/>
          </a:p>
        </p:txBody>
      </p:sp>
      <p:sp>
        <p:nvSpPr>
          <p:cNvPr id="85" name="MLM parked description"/>
          <p:cNvSpPr txBox="1"/>
          <p:nvPr/>
        </p:nvSpPr>
        <p:spPr>
          <a:xfrm>
            <a:off x="3607308" y="5623560"/>
            <a:ext cx="2189988" cy="36576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Hide a word, predict it from both sides (BERT). Not MLLM, the multimodal LLM.</a:t>
            </a:r>
            <a:endParaRPr lang="en-US" sz="1000" dirty="0"/>
          </a:p>
        </p:txBody>
      </p:sp>
      <p:sp>
        <p:nvSpPr>
          <p:cNvPr id="86" name="MoE parked card"/>
          <p:cNvSpPr/>
          <p:nvPr/>
        </p:nvSpPr>
        <p:spPr>
          <a:xfrm>
            <a:off x="6208776" y="5257800"/>
            <a:ext cx="2555748" cy="768096"/>
          </a:xfrm>
          <a:prstGeom prst="roundRect">
            <a:avLst>
              <a:gd name="adj" fmla="val 14000"/>
            </a:avLst>
          </a:prstGeom>
          <a:noFill/>
          <a:ln w="9525">
            <a:solidFill>
              <a:srgbClr val="D3D9E4"/>
            </a:solidFill>
          </a:ln>
        </p:spPr>
        <p:txBody>
          <a:bodyPr/>
          <a:lstStyle/>
          <a:p>
            <a:endParaRPr lang="en-IN"/>
          </a:p>
        </p:txBody>
      </p:sp>
      <p:sp>
        <p:nvSpPr>
          <p:cNvPr id="87" name="MoE parked acronym"/>
          <p:cNvSpPr txBox="1"/>
          <p:nvPr/>
        </p:nvSpPr>
        <p:spPr>
          <a:xfrm>
            <a:off x="6391656" y="5367528"/>
            <a:ext cx="548640" cy="201168"/>
          </a:xfrm>
          <a:prstGeom prst="rect">
            <a:avLst/>
          </a:prstGeom>
          <a:noFill/>
          <a:ln/>
        </p:spPr>
        <p:txBody>
          <a:bodyPr wrap="square" lIns="0" tIns="0" rIns="0" bIns="0" rtlCol="0" anchor="ctr"/>
          <a:lstStyle/>
          <a:p>
            <a:pPr marL="0" indent="0" algn="l">
              <a:buNone/>
            </a:pPr>
            <a:r>
              <a:rPr lang="en-US" sz="1200" b="1" dirty="0">
                <a:solidFill>
                  <a:srgbClr val="6B7689"/>
                </a:solidFill>
                <a:latin typeface="Arial" pitchFamily="34" charset="0"/>
                <a:ea typeface="Arial" pitchFamily="34" charset="-122"/>
                <a:cs typeface="Arial" pitchFamily="34" charset="-120"/>
              </a:rPr>
              <a:t>MoE</a:t>
            </a:r>
            <a:endParaRPr lang="en-US" sz="1200" dirty="0"/>
          </a:p>
        </p:txBody>
      </p:sp>
      <p:sp>
        <p:nvSpPr>
          <p:cNvPr id="88" name="MoE parked kind"/>
          <p:cNvSpPr txBox="1"/>
          <p:nvPr/>
        </p:nvSpPr>
        <p:spPr>
          <a:xfrm>
            <a:off x="6940296" y="5367528"/>
            <a:ext cx="1641348" cy="201168"/>
          </a:xfrm>
          <a:prstGeom prst="rect">
            <a:avLst/>
          </a:prstGeom>
          <a:noFill/>
          <a:ln/>
        </p:spPr>
        <p:txBody>
          <a:bodyPr wrap="square" lIns="0" tIns="0" rIns="0" bIns="0" rtlCol="0" anchor="ctr"/>
          <a:lstStyle/>
          <a:p>
            <a:pPr marL="0" indent="0" algn="r">
              <a:buNone/>
            </a:pPr>
            <a:r>
              <a:rPr lang="en-US" sz="800" b="1" kern="0" spc="120" dirty="0">
                <a:solidFill>
                  <a:srgbClr val="9AA6B8"/>
                </a:solidFill>
                <a:latin typeface="Arial" pitchFamily="34" charset="0"/>
                <a:ea typeface="Arial" pitchFamily="34" charset="-122"/>
                <a:cs typeface="Arial" pitchFamily="34" charset="-120"/>
              </a:rPr>
              <a:t>A LAYER DESIGN</a:t>
            </a:r>
            <a:endParaRPr lang="en-US" sz="800" dirty="0"/>
          </a:p>
        </p:txBody>
      </p:sp>
      <p:sp>
        <p:nvSpPr>
          <p:cNvPr id="89" name="MoE parked description"/>
          <p:cNvSpPr txBox="1"/>
          <p:nvPr/>
        </p:nvSpPr>
        <p:spPr>
          <a:xfrm>
            <a:off x="6391656" y="5623560"/>
            <a:ext cx="2189988" cy="36576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A router sends each token to a few expert sub-networks. Any model can use it.</a:t>
            </a:r>
            <a:endParaRPr lang="en-US" sz="1000" dirty="0"/>
          </a:p>
        </p:txBody>
      </p:sp>
      <p:sp>
        <p:nvSpPr>
          <p:cNvPr id="90" name="LCM parked card"/>
          <p:cNvSpPr/>
          <p:nvPr/>
        </p:nvSpPr>
        <p:spPr>
          <a:xfrm>
            <a:off x="8993124" y="5257800"/>
            <a:ext cx="2555748" cy="768096"/>
          </a:xfrm>
          <a:prstGeom prst="roundRect">
            <a:avLst>
              <a:gd name="adj" fmla="val 14000"/>
            </a:avLst>
          </a:prstGeom>
          <a:noFill/>
          <a:ln w="9525">
            <a:solidFill>
              <a:srgbClr val="D3D9E4"/>
            </a:solidFill>
          </a:ln>
        </p:spPr>
        <p:txBody>
          <a:bodyPr/>
          <a:lstStyle/>
          <a:p>
            <a:endParaRPr lang="en-IN"/>
          </a:p>
        </p:txBody>
      </p:sp>
      <p:sp>
        <p:nvSpPr>
          <p:cNvPr id="91" name="LCM parked acronym"/>
          <p:cNvSpPr txBox="1"/>
          <p:nvPr/>
        </p:nvSpPr>
        <p:spPr>
          <a:xfrm>
            <a:off x="9176004" y="5367528"/>
            <a:ext cx="548640" cy="201168"/>
          </a:xfrm>
          <a:prstGeom prst="rect">
            <a:avLst/>
          </a:prstGeom>
          <a:noFill/>
          <a:ln/>
        </p:spPr>
        <p:txBody>
          <a:bodyPr wrap="square" lIns="0" tIns="0" rIns="0" bIns="0" rtlCol="0" anchor="ctr"/>
          <a:lstStyle/>
          <a:p>
            <a:pPr marL="0" indent="0" algn="l">
              <a:buNone/>
            </a:pPr>
            <a:r>
              <a:rPr lang="en-US" sz="1200" b="1" dirty="0">
                <a:solidFill>
                  <a:srgbClr val="6B7689"/>
                </a:solidFill>
                <a:latin typeface="Arial" pitchFamily="34" charset="0"/>
                <a:ea typeface="Arial" pitchFamily="34" charset="-122"/>
                <a:cs typeface="Arial" pitchFamily="34" charset="-120"/>
              </a:rPr>
              <a:t>LCM</a:t>
            </a:r>
            <a:endParaRPr lang="en-US" sz="1200" dirty="0"/>
          </a:p>
        </p:txBody>
      </p:sp>
      <p:sp>
        <p:nvSpPr>
          <p:cNvPr id="92" name="LCM parked kind"/>
          <p:cNvSpPr txBox="1"/>
          <p:nvPr/>
        </p:nvSpPr>
        <p:spPr>
          <a:xfrm>
            <a:off x="9724644" y="5367528"/>
            <a:ext cx="1641348" cy="201168"/>
          </a:xfrm>
          <a:prstGeom prst="rect">
            <a:avLst/>
          </a:prstGeom>
          <a:noFill/>
          <a:ln/>
        </p:spPr>
        <p:txBody>
          <a:bodyPr wrap="square" lIns="0" tIns="0" rIns="0" bIns="0" rtlCol="0" anchor="ctr"/>
          <a:lstStyle/>
          <a:p>
            <a:pPr marL="0" indent="0" algn="r">
              <a:buNone/>
            </a:pPr>
            <a:r>
              <a:rPr lang="en-US" sz="800" b="1" kern="0" spc="120" dirty="0">
                <a:solidFill>
                  <a:srgbClr val="9AA6B8"/>
                </a:solidFill>
                <a:latin typeface="Arial" pitchFamily="34" charset="0"/>
                <a:ea typeface="Arial" pitchFamily="34" charset="-122"/>
                <a:cs typeface="Arial" pitchFamily="34" charset="-120"/>
              </a:rPr>
              <a:t>A UNIT OF PREDICTION</a:t>
            </a:r>
            <a:endParaRPr lang="en-US" sz="800" dirty="0"/>
          </a:p>
        </p:txBody>
      </p:sp>
      <p:sp>
        <p:nvSpPr>
          <p:cNvPr id="93" name="LCM parked description"/>
          <p:cNvSpPr txBox="1"/>
          <p:nvPr/>
        </p:nvSpPr>
        <p:spPr>
          <a:xfrm>
            <a:off x="9176004" y="5623560"/>
            <a:ext cx="2189988" cy="36576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Predicts the next sentence embedding, not the next word. A research prototype.</a:t>
            </a:r>
            <a:endParaRPr lang="en-US" sz="1000" dirty="0"/>
          </a:p>
        </p:txBody>
      </p:sp>
      <p:sp>
        <p:nvSpPr>
          <p:cNvPr id="94" name="Takeaway"/>
          <p:cNvSpPr txBox="1"/>
          <p:nvPr/>
        </p:nvSpPr>
        <p:spPr>
          <a:xfrm>
            <a:off x="640080" y="6117336"/>
            <a:ext cx="10908792" cy="329184"/>
          </a:xfrm>
          <a:prstGeom prst="rect">
            <a:avLst/>
          </a:prstGeom>
          <a:noFill/>
          <a:ln/>
        </p:spPr>
        <p:txBody>
          <a:bodyPr wrap="square" lIns="0" tIns="0" rIns="0" bIns="0" rtlCol="0" anchor="ctr"/>
          <a:lstStyle/>
          <a:p>
            <a:pPr marL="0" indent="0" algn="l">
              <a:buNone/>
            </a:pPr>
            <a:r>
              <a:rPr lang="en-US" sz="1600" b="1" dirty="0">
                <a:solidFill>
                  <a:srgbClr val="0E1524"/>
                </a:solidFill>
                <a:latin typeface="Arial" pitchFamily="34" charset="0"/>
                <a:ea typeface="Arial" pitchFamily="34" charset="-122"/>
                <a:cs typeface="Arial" pitchFamily="34" charset="-120"/>
              </a:rPr>
              <a:t>Before you compare two acronyms, ask what each one names: an input, a task, a size or a training trick.</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THE LANDSCAPE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Six shifts worth watching</a:t>
            </a:r>
            <a:endParaRPr lang="en-US" sz="3400" dirty="0"/>
          </a:p>
        </p:txBody>
      </p:sp>
      <p:sp>
        <p:nvSpPr>
          <p:cNvPr id="4" name="Shape 2"/>
          <p:cNvSpPr/>
          <p:nvPr/>
        </p:nvSpPr>
        <p:spPr>
          <a:xfrm>
            <a:off x="640080" y="16916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5" name="Shape 3"/>
          <p:cNvSpPr/>
          <p:nvPr/>
        </p:nvSpPr>
        <p:spPr>
          <a:xfrm>
            <a:off x="914400" y="1965960"/>
            <a:ext cx="256032" cy="256032"/>
          </a:xfrm>
          <a:prstGeom prst="ellipse">
            <a:avLst/>
          </a:prstGeom>
          <a:solidFill>
            <a:srgbClr val="FF6B4A"/>
          </a:solidFill>
          <a:ln/>
        </p:spPr>
        <p:txBody>
          <a:bodyPr/>
          <a:lstStyle/>
          <a:p>
            <a:endParaRPr lang="en-IN"/>
          </a:p>
        </p:txBody>
      </p:sp>
      <p:sp>
        <p:nvSpPr>
          <p:cNvPr id="6" name="Text 4"/>
          <p:cNvSpPr/>
          <p:nvPr/>
        </p:nvSpPr>
        <p:spPr>
          <a:xfrm>
            <a:off x="1280160" y="19110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Document intelligence</a:t>
            </a:r>
            <a:endParaRPr lang="en-US" sz="1450" dirty="0"/>
          </a:p>
        </p:txBody>
      </p:sp>
      <p:sp>
        <p:nvSpPr>
          <p:cNvPr id="7" name="Text 5"/>
          <p:cNvSpPr/>
          <p:nvPr/>
        </p:nvSpPr>
        <p:spPr>
          <a:xfrm>
            <a:off x="914400" y="24414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Invoices, forms and reports read as documents, not as pixels</a:t>
            </a:r>
            <a:endParaRPr lang="en-US" sz="1250" dirty="0"/>
          </a:p>
        </p:txBody>
      </p:sp>
      <p:sp>
        <p:nvSpPr>
          <p:cNvPr id="8" name="Shape 6"/>
          <p:cNvSpPr/>
          <p:nvPr/>
        </p:nvSpPr>
        <p:spPr>
          <a:xfrm>
            <a:off x="4343400" y="16916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9" name="Shape 7"/>
          <p:cNvSpPr/>
          <p:nvPr/>
        </p:nvSpPr>
        <p:spPr>
          <a:xfrm>
            <a:off x="4617720" y="1965960"/>
            <a:ext cx="256032" cy="256032"/>
          </a:xfrm>
          <a:prstGeom prst="ellipse">
            <a:avLst/>
          </a:prstGeom>
          <a:solidFill>
            <a:srgbClr val="00C2A8"/>
          </a:solidFill>
          <a:ln/>
        </p:spPr>
        <p:txBody>
          <a:bodyPr/>
          <a:lstStyle/>
          <a:p>
            <a:endParaRPr lang="en-IN"/>
          </a:p>
        </p:txBody>
      </p:sp>
      <p:sp>
        <p:nvSpPr>
          <p:cNvPr id="10" name="Text 8"/>
          <p:cNvSpPr/>
          <p:nvPr/>
        </p:nvSpPr>
        <p:spPr>
          <a:xfrm>
            <a:off x="4983480" y="19110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Chart and diagram reasoning</a:t>
            </a:r>
            <a:endParaRPr lang="en-US" sz="1450" dirty="0"/>
          </a:p>
        </p:txBody>
      </p:sp>
      <p:sp>
        <p:nvSpPr>
          <p:cNvPr id="11" name="Text 9"/>
          <p:cNvSpPr/>
          <p:nvPr/>
        </p:nvSpPr>
        <p:spPr>
          <a:xfrm>
            <a:off x="4617720" y="24414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The model reads the axes, not just the shape of the line</a:t>
            </a:r>
            <a:endParaRPr lang="en-US" sz="1250" dirty="0"/>
          </a:p>
        </p:txBody>
      </p:sp>
      <p:sp>
        <p:nvSpPr>
          <p:cNvPr id="12" name="Shape 10"/>
          <p:cNvSpPr/>
          <p:nvPr/>
        </p:nvSpPr>
        <p:spPr>
          <a:xfrm>
            <a:off x="8046720" y="16916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3" name="Shape 11"/>
          <p:cNvSpPr/>
          <p:nvPr/>
        </p:nvSpPr>
        <p:spPr>
          <a:xfrm>
            <a:off x="8321040" y="1965960"/>
            <a:ext cx="256032" cy="256032"/>
          </a:xfrm>
          <a:prstGeom prst="ellipse">
            <a:avLst/>
          </a:prstGeom>
          <a:solidFill>
            <a:srgbClr val="FFC24A"/>
          </a:solidFill>
          <a:ln/>
        </p:spPr>
        <p:txBody>
          <a:bodyPr/>
          <a:lstStyle/>
          <a:p>
            <a:endParaRPr lang="en-IN"/>
          </a:p>
        </p:txBody>
      </p:sp>
      <p:sp>
        <p:nvSpPr>
          <p:cNvPr id="14" name="Text 12"/>
          <p:cNvSpPr/>
          <p:nvPr/>
        </p:nvSpPr>
        <p:spPr>
          <a:xfrm>
            <a:off x="8686800" y="19110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Speech-native models</a:t>
            </a:r>
            <a:endParaRPr lang="en-US" sz="1450" dirty="0"/>
          </a:p>
        </p:txBody>
      </p:sp>
      <p:sp>
        <p:nvSpPr>
          <p:cNvPr id="15" name="Text 13"/>
          <p:cNvSpPr/>
          <p:nvPr/>
        </p:nvSpPr>
        <p:spPr>
          <a:xfrm>
            <a:off x="8321040" y="24414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Audio in, audio out, no transcript in the middle</a:t>
            </a:r>
            <a:endParaRPr lang="en-US" sz="1250" dirty="0"/>
          </a:p>
        </p:txBody>
      </p:sp>
      <p:sp>
        <p:nvSpPr>
          <p:cNvPr id="16" name="Shape 14"/>
          <p:cNvSpPr/>
          <p:nvPr/>
        </p:nvSpPr>
        <p:spPr>
          <a:xfrm>
            <a:off x="640080" y="35204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7" name="Shape 15"/>
          <p:cNvSpPr/>
          <p:nvPr/>
        </p:nvSpPr>
        <p:spPr>
          <a:xfrm>
            <a:off x="914400" y="3794760"/>
            <a:ext cx="256032" cy="256032"/>
          </a:xfrm>
          <a:prstGeom prst="ellipse">
            <a:avLst/>
          </a:prstGeom>
          <a:solidFill>
            <a:srgbClr val="FF6B4A"/>
          </a:solidFill>
          <a:ln/>
        </p:spPr>
        <p:txBody>
          <a:bodyPr/>
          <a:lstStyle/>
          <a:p>
            <a:endParaRPr lang="en-IN"/>
          </a:p>
        </p:txBody>
      </p:sp>
      <p:sp>
        <p:nvSpPr>
          <p:cNvPr id="18" name="Text 16"/>
          <p:cNvSpPr/>
          <p:nvPr/>
        </p:nvSpPr>
        <p:spPr>
          <a:xfrm>
            <a:off x="1280160" y="37398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Video understanding</a:t>
            </a:r>
            <a:endParaRPr lang="en-US" sz="1450" dirty="0"/>
          </a:p>
        </p:txBody>
      </p:sp>
      <p:sp>
        <p:nvSpPr>
          <p:cNvPr id="19" name="Text 17"/>
          <p:cNvSpPr/>
          <p:nvPr/>
        </p:nvSpPr>
        <p:spPr>
          <a:xfrm>
            <a:off x="914400" y="42702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Temporal questions: what changed, and when</a:t>
            </a:r>
            <a:endParaRPr lang="en-US" sz="1250" dirty="0"/>
          </a:p>
        </p:txBody>
      </p:sp>
      <p:sp>
        <p:nvSpPr>
          <p:cNvPr id="20" name="Shape 18"/>
          <p:cNvSpPr/>
          <p:nvPr/>
        </p:nvSpPr>
        <p:spPr>
          <a:xfrm>
            <a:off x="4343400" y="35204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21" name="Shape 19"/>
          <p:cNvSpPr/>
          <p:nvPr/>
        </p:nvSpPr>
        <p:spPr>
          <a:xfrm>
            <a:off x="4617720" y="3794760"/>
            <a:ext cx="256032" cy="256032"/>
          </a:xfrm>
          <a:prstGeom prst="ellipse">
            <a:avLst/>
          </a:prstGeom>
          <a:solidFill>
            <a:srgbClr val="00C2A8"/>
          </a:solidFill>
          <a:ln/>
        </p:spPr>
        <p:txBody>
          <a:bodyPr/>
          <a:lstStyle/>
          <a:p>
            <a:endParaRPr lang="en-IN"/>
          </a:p>
        </p:txBody>
      </p:sp>
      <p:sp>
        <p:nvSpPr>
          <p:cNvPr id="22" name="Text 20"/>
          <p:cNvSpPr/>
          <p:nvPr/>
        </p:nvSpPr>
        <p:spPr>
          <a:xfrm>
            <a:off x="4983480" y="37398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Agentic loops</a:t>
            </a:r>
            <a:endParaRPr lang="en-US" sz="1450" dirty="0"/>
          </a:p>
        </p:txBody>
      </p:sp>
      <p:sp>
        <p:nvSpPr>
          <p:cNvPr id="23" name="Text 21"/>
          <p:cNvSpPr/>
          <p:nvPr/>
        </p:nvSpPr>
        <p:spPr>
          <a:xfrm>
            <a:off x="4617720" y="42702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See the screen, decide, act, look again</a:t>
            </a:r>
            <a:endParaRPr lang="en-US" sz="1250" dirty="0"/>
          </a:p>
        </p:txBody>
      </p:sp>
      <p:sp>
        <p:nvSpPr>
          <p:cNvPr id="24" name="Shape 22"/>
          <p:cNvSpPr/>
          <p:nvPr/>
        </p:nvSpPr>
        <p:spPr>
          <a:xfrm>
            <a:off x="8046720" y="35204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25" name="Shape 23"/>
          <p:cNvSpPr/>
          <p:nvPr/>
        </p:nvSpPr>
        <p:spPr>
          <a:xfrm>
            <a:off x="8321040" y="3794760"/>
            <a:ext cx="256032" cy="256032"/>
          </a:xfrm>
          <a:prstGeom prst="ellipse">
            <a:avLst/>
          </a:prstGeom>
          <a:solidFill>
            <a:srgbClr val="FFC24A"/>
          </a:solidFill>
          <a:ln/>
        </p:spPr>
        <p:txBody>
          <a:bodyPr/>
          <a:lstStyle/>
          <a:p>
            <a:endParaRPr lang="en-IN"/>
          </a:p>
        </p:txBody>
      </p:sp>
      <p:sp>
        <p:nvSpPr>
          <p:cNvPr id="26" name="Text 24"/>
          <p:cNvSpPr/>
          <p:nvPr/>
        </p:nvSpPr>
        <p:spPr>
          <a:xfrm>
            <a:off x="8686800" y="37398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Small on-device models</a:t>
            </a:r>
            <a:endParaRPr lang="en-US" sz="1450" dirty="0"/>
          </a:p>
        </p:txBody>
      </p:sp>
      <p:sp>
        <p:nvSpPr>
          <p:cNvPr id="27" name="Text 25"/>
          <p:cNvSpPr/>
          <p:nvPr/>
        </p:nvSpPr>
        <p:spPr>
          <a:xfrm>
            <a:off x="8321040" y="42702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Multimodal inference on a phone or a factory gateway</a:t>
            </a:r>
            <a:endParaRPr lang="en-US" sz="1250" dirty="0"/>
          </a:p>
        </p:txBody>
      </p:sp>
      <p:sp>
        <p:nvSpPr>
          <p:cNvPr id="28" name="Text 26"/>
          <p:cNvSpPr/>
          <p:nvPr/>
        </p:nvSpPr>
        <p:spPr>
          <a:xfrm>
            <a:off x="640080" y="5486400"/>
            <a:ext cx="10908792" cy="365760"/>
          </a:xfrm>
          <a:prstGeom prst="rect">
            <a:avLst/>
          </a:prstGeom>
          <a:noFill/>
          <a:ln/>
        </p:spPr>
        <p:txBody>
          <a:bodyPr wrap="square" lIns="0" tIns="0" rIns="0" bIns="0" rtlCol="0" anchor="ctr"/>
          <a:lstStyle/>
          <a:p>
            <a:pPr marL="0" indent="0">
              <a:buNone/>
            </a:pPr>
            <a:r>
              <a:rPr lang="en-US" sz="1400" i="1" dirty="0">
                <a:solidFill>
                  <a:srgbClr val="0E1524"/>
                </a:solidFill>
                <a:latin typeface="Calibri" pitchFamily="34" charset="0"/>
                <a:ea typeface="Calibri" pitchFamily="34" charset="-122"/>
                <a:cs typeface="Calibri" pitchFamily="34" charset="-120"/>
              </a:rPr>
              <a:t>Three of these reappear in Part Three. Watch for document intelligence, agentic loops, and small on-device models.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DEEP DIVE 1</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From pixels to structure, in one hop</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This is the single highest-value application in most organisations, and the easiest to demo.</a:t>
            </a:r>
            <a:endParaRPr lang="en-US" sz="1400" dirty="0"/>
          </a:p>
        </p:txBody>
      </p:sp>
      <p:sp>
        <p:nvSpPr>
          <p:cNvPr id="5" name="Shape 3"/>
          <p:cNvSpPr/>
          <p:nvPr/>
        </p:nvSpPr>
        <p:spPr>
          <a:xfrm>
            <a:off x="640080" y="2011680"/>
            <a:ext cx="3200400" cy="2651760"/>
          </a:xfrm>
          <a:prstGeom prst="roundRect">
            <a:avLst>
              <a:gd name="adj" fmla="val 2759"/>
            </a:avLst>
          </a:prstGeom>
          <a:solidFill>
            <a:srgbClr val="F4F6FA"/>
          </a:solidFill>
          <a:ln/>
        </p:spPr>
        <p:txBody>
          <a:bodyPr/>
          <a:lstStyle/>
          <a:p>
            <a:endParaRPr lang="en-IN"/>
          </a:p>
        </p:txBody>
      </p:sp>
      <p:sp>
        <p:nvSpPr>
          <p:cNvPr id="6" name="Text 4"/>
          <p:cNvSpPr/>
          <p:nvPr/>
        </p:nvSpPr>
        <p:spPr>
          <a:xfrm>
            <a:off x="914400" y="2240280"/>
            <a:ext cx="2651760" cy="228600"/>
          </a:xfrm>
          <a:prstGeom prst="rect">
            <a:avLst/>
          </a:prstGeom>
          <a:noFill/>
          <a:ln/>
        </p:spPr>
        <p:txBody>
          <a:bodyPr wrap="square" lIns="0" tIns="0" rIns="0" bIns="0" rtlCol="0" anchor="ctr"/>
          <a:lstStyle/>
          <a:p>
            <a:pPr marL="0" indent="0">
              <a:buNone/>
            </a:pPr>
            <a:r>
              <a:rPr lang="en-US" sz="1000" b="1" kern="0" spc="150" dirty="0">
                <a:solidFill>
                  <a:srgbClr val="6B7689"/>
                </a:solidFill>
                <a:latin typeface="Arial" pitchFamily="34" charset="0"/>
                <a:ea typeface="Arial" pitchFamily="34" charset="-122"/>
                <a:cs typeface="Arial" pitchFamily="34" charset="-120"/>
              </a:rPr>
              <a:t>INPUT</a:t>
            </a:r>
            <a:endParaRPr lang="en-US" sz="1000" dirty="0"/>
          </a:p>
        </p:txBody>
      </p:sp>
      <p:sp>
        <p:nvSpPr>
          <p:cNvPr id="7" name="Text 5"/>
          <p:cNvSpPr/>
          <p:nvPr/>
        </p:nvSpPr>
        <p:spPr>
          <a:xfrm>
            <a:off x="914400" y="2542032"/>
            <a:ext cx="2651760" cy="64008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A photographed</a:t>
            </a:r>
            <a:endParaRPr lang="en-US" sz="1700" dirty="0"/>
          </a:p>
          <a:p>
            <a:pPr marL="0" indent="0">
              <a:buNone/>
            </a:pPr>
            <a:r>
              <a:rPr lang="en-US" sz="1700" b="1" dirty="0">
                <a:solidFill>
                  <a:srgbClr val="0E1524"/>
                </a:solidFill>
                <a:latin typeface="Arial" pitchFamily="34" charset="0"/>
                <a:ea typeface="Arial" pitchFamily="34" charset="-122"/>
                <a:cs typeface="Arial" pitchFamily="34" charset="-120"/>
              </a:rPr>
              <a:t>purchase order</a:t>
            </a:r>
            <a:endParaRPr lang="en-US" sz="1700" dirty="0"/>
          </a:p>
        </p:txBody>
      </p:sp>
      <p:sp>
        <p:nvSpPr>
          <p:cNvPr id="8" name="Text 6"/>
          <p:cNvSpPr/>
          <p:nvPr/>
        </p:nvSpPr>
        <p:spPr>
          <a:xfrm>
            <a:off x="914400" y="3291840"/>
            <a:ext cx="2651760" cy="10972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Skewed. Coffee stain. Handwritten note in the margin. Two languages on the same page.</a:t>
            </a:r>
            <a:endParaRPr lang="en-US" sz="1250" dirty="0"/>
          </a:p>
        </p:txBody>
      </p:sp>
      <p:sp>
        <p:nvSpPr>
          <p:cNvPr id="9" name="Shape 7"/>
          <p:cNvSpPr/>
          <p:nvPr/>
        </p:nvSpPr>
        <p:spPr>
          <a:xfrm>
            <a:off x="3977640" y="3291840"/>
            <a:ext cx="594360" cy="0"/>
          </a:xfrm>
          <a:prstGeom prst="line">
            <a:avLst/>
          </a:prstGeom>
          <a:noFill/>
          <a:ln w="25400">
            <a:solidFill>
              <a:srgbClr val="C4CCDA"/>
            </a:solidFill>
            <a:prstDash val="solid"/>
            <a:tailEnd type="triangle"/>
          </a:ln>
        </p:spPr>
        <p:txBody>
          <a:bodyPr/>
          <a:lstStyle/>
          <a:p>
            <a:endParaRPr lang="en-IN"/>
          </a:p>
        </p:txBody>
      </p:sp>
      <p:sp>
        <p:nvSpPr>
          <p:cNvPr id="10" name="Shape 8"/>
          <p:cNvSpPr/>
          <p:nvPr/>
        </p:nvSpPr>
        <p:spPr>
          <a:xfrm>
            <a:off x="4709160" y="2011680"/>
            <a:ext cx="6839712" cy="2651760"/>
          </a:xfrm>
          <a:prstGeom prst="roundRect">
            <a:avLst>
              <a:gd name="adj" fmla="val 2759"/>
            </a:avLst>
          </a:prstGeom>
          <a:solidFill>
            <a:srgbClr val="0E1524"/>
          </a:solidFill>
          <a:ln/>
        </p:spPr>
        <p:txBody>
          <a:bodyPr/>
          <a:lstStyle/>
          <a:p>
            <a:endParaRPr lang="en-IN"/>
          </a:p>
        </p:txBody>
      </p:sp>
      <p:sp>
        <p:nvSpPr>
          <p:cNvPr id="11" name="Text 9"/>
          <p:cNvSpPr/>
          <p:nvPr/>
        </p:nvSpPr>
        <p:spPr>
          <a:xfrm>
            <a:off x="5010912" y="2240280"/>
            <a:ext cx="2743200" cy="228600"/>
          </a:xfrm>
          <a:prstGeom prst="rect">
            <a:avLst/>
          </a:prstGeom>
          <a:noFill/>
          <a:ln/>
        </p:spPr>
        <p:txBody>
          <a:bodyPr wrap="square" lIns="0" tIns="0" rIns="0" bIns="0" rtlCol="0" anchor="ctr"/>
          <a:lstStyle/>
          <a:p>
            <a:pPr marL="0" indent="0">
              <a:buNone/>
            </a:pPr>
            <a:r>
              <a:rPr lang="en-US" sz="1000" b="1" kern="0" spc="150" dirty="0">
                <a:solidFill>
                  <a:srgbClr val="FFC24A"/>
                </a:solidFill>
                <a:latin typeface="Arial" pitchFamily="34" charset="0"/>
                <a:ea typeface="Arial" pitchFamily="34" charset="-122"/>
                <a:cs typeface="Arial" pitchFamily="34" charset="-120"/>
              </a:rPr>
              <a:t>OUTPUT</a:t>
            </a:r>
            <a:endParaRPr lang="en-US" sz="1000" dirty="0"/>
          </a:p>
        </p:txBody>
      </p:sp>
      <p:sp>
        <p:nvSpPr>
          <p:cNvPr id="12" name="Text 10"/>
          <p:cNvSpPr/>
          <p:nvPr/>
        </p:nvSpPr>
        <p:spPr>
          <a:xfrm>
            <a:off x="5010912" y="2542032"/>
            <a:ext cx="6309360" cy="192024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"po_number": "PN-4471",</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"vendor": "Deccan Steel Works",</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"total": 184500,</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"currency": "INR",</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"margin_note": "confirm delivery date",</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"confidence": 0.94</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a:t>
            </a:r>
            <a:endParaRPr lang="en-US" sz="1250" dirty="0"/>
          </a:p>
        </p:txBody>
      </p:sp>
      <p:sp>
        <p:nvSpPr>
          <p:cNvPr id="13" name="Text 11"/>
          <p:cNvSpPr/>
          <p:nvPr/>
        </p:nvSpPr>
        <p:spPr>
          <a:xfrm>
            <a:off x="640080" y="4937760"/>
            <a:ext cx="3383280" cy="256032"/>
          </a:xfrm>
          <a:prstGeom prst="rect">
            <a:avLst/>
          </a:prstGeom>
          <a:noFill/>
          <a:ln/>
        </p:spPr>
        <p:txBody>
          <a:bodyPr wrap="square" lIns="0" tIns="0" rIns="0" bIns="0" rtlCol="0" anchor="ctr"/>
          <a:lstStyle/>
          <a:p>
            <a:pPr marL="0" indent="0">
              <a:buNone/>
            </a:pPr>
            <a:r>
              <a:rPr lang="en-US" sz="1350" b="1" dirty="0">
                <a:solidFill>
                  <a:srgbClr val="FF6B4A"/>
                </a:solidFill>
                <a:latin typeface="Arial" pitchFamily="34" charset="0"/>
                <a:ea typeface="Arial" pitchFamily="34" charset="-122"/>
                <a:cs typeface="Arial" pitchFamily="34" charset="-120"/>
              </a:rPr>
              <a:t>No OCR step</a:t>
            </a:r>
            <a:endParaRPr lang="en-US" sz="1350" dirty="0"/>
          </a:p>
        </p:txBody>
      </p:sp>
      <p:sp>
        <p:nvSpPr>
          <p:cNvPr id="14" name="Text 12"/>
          <p:cNvSpPr/>
          <p:nvPr/>
        </p:nvSpPr>
        <p:spPr>
          <a:xfrm>
            <a:off x="640080" y="5230368"/>
            <a:ext cx="3383280" cy="5943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The model never produces a transcript you have to clean</a:t>
            </a:r>
            <a:endParaRPr lang="en-US" sz="1250" dirty="0"/>
          </a:p>
        </p:txBody>
      </p:sp>
      <p:sp>
        <p:nvSpPr>
          <p:cNvPr id="15" name="Text 13"/>
          <p:cNvSpPr/>
          <p:nvPr/>
        </p:nvSpPr>
        <p:spPr>
          <a:xfrm>
            <a:off x="4343400" y="4937760"/>
            <a:ext cx="3383280" cy="256032"/>
          </a:xfrm>
          <a:prstGeom prst="rect">
            <a:avLst/>
          </a:prstGeom>
          <a:noFill/>
          <a:ln/>
        </p:spPr>
        <p:txBody>
          <a:bodyPr wrap="square" lIns="0" tIns="0" rIns="0" bIns="0" rtlCol="0" anchor="ctr"/>
          <a:lstStyle/>
          <a:p>
            <a:pPr marL="0" indent="0">
              <a:buNone/>
            </a:pPr>
            <a:r>
              <a:rPr lang="en-US" sz="1350" b="1" dirty="0">
                <a:solidFill>
                  <a:srgbClr val="FF6B4A"/>
                </a:solidFill>
                <a:latin typeface="Arial" pitchFamily="34" charset="0"/>
                <a:ea typeface="Arial" pitchFamily="34" charset="-122"/>
                <a:cs typeface="Arial" pitchFamily="34" charset="-120"/>
              </a:rPr>
              <a:t>Schema on demand</a:t>
            </a:r>
            <a:endParaRPr lang="en-US" sz="1350" dirty="0"/>
          </a:p>
        </p:txBody>
      </p:sp>
      <p:sp>
        <p:nvSpPr>
          <p:cNvPr id="16" name="Text 14"/>
          <p:cNvSpPr/>
          <p:nvPr/>
        </p:nvSpPr>
        <p:spPr>
          <a:xfrm>
            <a:off x="4343400" y="5230368"/>
            <a:ext cx="3383280" cy="5943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You define the JSON shape at request time, not at training time</a:t>
            </a:r>
            <a:endParaRPr lang="en-US" sz="1250" dirty="0"/>
          </a:p>
        </p:txBody>
      </p:sp>
      <p:sp>
        <p:nvSpPr>
          <p:cNvPr id="17" name="Text 15"/>
          <p:cNvSpPr/>
          <p:nvPr/>
        </p:nvSpPr>
        <p:spPr>
          <a:xfrm>
            <a:off x="8046720" y="4937760"/>
            <a:ext cx="3383280" cy="256032"/>
          </a:xfrm>
          <a:prstGeom prst="rect">
            <a:avLst/>
          </a:prstGeom>
          <a:noFill/>
          <a:ln/>
        </p:spPr>
        <p:txBody>
          <a:bodyPr wrap="square" lIns="0" tIns="0" rIns="0" bIns="0" rtlCol="0" anchor="ctr"/>
          <a:lstStyle/>
          <a:p>
            <a:pPr marL="0" indent="0">
              <a:buNone/>
            </a:pPr>
            <a:r>
              <a:rPr lang="en-US" sz="1350" b="1" dirty="0">
                <a:solidFill>
                  <a:srgbClr val="FF6B4A"/>
                </a:solidFill>
                <a:latin typeface="Arial" pitchFamily="34" charset="0"/>
                <a:ea typeface="Arial" pitchFamily="34" charset="-122"/>
                <a:cs typeface="Arial" pitchFamily="34" charset="-120"/>
              </a:rPr>
              <a:t>Reads the margin note</a:t>
            </a:r>
            <a:endParaRPr lang="en-US" sz="1350" dirty="0"/>
          </a:p>
        </p:txBody>
      </p:sp>
      <p:sp>
        <p:nvSpPr>
          <p:cNvPr id="18" name="Text 16"/>
          <p:cNvSpPr/>
          <p:nvPr/>
        </p:nvSpPr>
        <p:spPr>
          <a:xfrm>
            <a:off x="8046720" y="5230368"/>
            <a:ext cx="3383280" cy="5943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Handwriting and print in one pass, in two languages</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DEEP DIVE 2</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When the model can look and then act</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Vision plus tool use turns a passive model into something that operates a system.</a:t>
            </a:r>
            <a:endParaRPr lang="en-US" sz="1400" dirty="0"/>
          </a:p>
        </p:txBody>
      </p:sp>
      <p:sp>
        <p:nvSpPr>
          <p:cNvPr id="5" name="Shape 3"/>
          <p:cNvSpPr/>
          <p:nvPr/>
        </p:nvSpPr>
        <p:spPr>
          <a:xfrm>
            <a:off x="640080" y="2011680"/>
            <a:ext cx="2514600" cy="2148840"/>
          </a:xfrm>
          <a:prstGeom prst="roundRect">
            <a:avLst>
              <a:gd name="adj" fmla="val 3404"/>
            </a:avLst>
          </a:prstGeom>
          <a:solidFill>
            <a:srgbClr val="F4F6FA"/>
          </a:solidFill>
          <a:ln/>
        </p:spPr>
        <p:txBody>
          <a:bodyPr/>
          <a:lstStyle/>
          <a:p>
            <a:endParaRPr lang="en-IN"/>
          </a:p>
        </p:txBody>
      </p:sp>
      <p:sp>
        <p:nvSpPr>
          <p:cNvPr id="6" name="Shape 4"/>
          <p:cNvSpPr/>
          <p:nvPr/>
        </p:nvSpPr>
        <p:spPr>
          <a:xfrm>
            <a:off x="914400" y="2286000"/>
            <a:ext cx="402336" cy="402336"/>
          </a:xfrm>
          <a:prstGeom prst="ellipse">
            <a:avLst/>
          </a:prstGeom>
          <a:solidFill>
            <a:srgbClr val="FF6B4A"/>
          </a:solidFill>
          <a:ln/>
        </p:spPr>
        <p:txBody>
          <a:bodyPr/>
          <a:lstStyle/>
          <a:p>
            <a:endParaRPr lang="en-IN"/>
          </a:p>
        </p:txBody>
      </p:sp>
      <p:sp>
        <p:nvSpPr>
          <p:cNvPr id="7" name="Text 5"/>
          <p:cNvSpPr/>
          <p:nvPr/>
        </p:nvSpPr>
        <p:spPr>
          <a:xfrm>
            <a:off x="914400" y="2286000"/>
            <a:ext cx="402336" cy="402336"/>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914400" y="2852928"/>
            <a:ext cx="2103120" cy="274320"/>
          </a:xfrm>
          <a:prstGeom prst="rect">
            <a:avLst/>
          </a:prstGeom>
          <a:noFill/>
          <a:ln/>
        </p:spPr>
        <p:txBody>
          <a:bodyPr wrap="square" lIns="0" tIns="0" rIns="0" bIns="0" rtlCol="0" anchor="ctr"/>
          <a:lstStyle/>
          <a:p>
            <a:pPr marL="0" indent="0">
              <a:buNone/>
            </a:pPr>
            <a:r>
              <a:rPr lang="en-US" sz="1450" b="1" kern="0" spc="100" dirty="0">
                <a:solidFill>
                  <a:srgbClr val="0E1524"/>
                </a:solidFill>
                <a:latin typeface="Arial" pitchFamily="34" charset="0"/>
                <a:ea typeface="Arial" pitchFamily="34" charset="-122"/>
                <a:cs typeface="Arial" pitchFamily="34" charset="-120"/>
              </a:rPr>
              <a:t>OBSERVE</a:t>
            </a:r>
            <a:endParaRPr lang="en-US" sz="1450" dirty="0"/>
          </a:p>
        </p:txBody>
      </p:sp>
      <p:sp>
        <p:nvSpPr>
          <p:cNvPr id="9" name="Text 7"/>
          <p:cNvSpPr/>
          <p:nvPr/>
        </p:nvSpPr>
        <p:spPr>
          <a:xfrm>
            <a:off x="914400" y="3200400"/>
            <a:ext cx="2057400" cy="8229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Screenshot, camera frame, or dashboard image</a:t>
            </a:r>
            <a:endParaRPr lang="en-US" sz="1250" dirty="0"/>
          </a:p>
        </p:txBody>
      </p:sp>
      <p:sp>
        <p:nvSpPr>
          <p:cNvPr id="10" name="Shape 8"/>
          <p:cNvSpPr/>
          <p:nvPr/>
        </p:nvSpPr>
        <p:spPr>
          <a:xfrm>
            <a:off x="3227832" y="3063240"/>
            <a:ext cx="118872" cy="0"/>
          </a:xfrm>
          <a:prstGeom prst="line">
            <a:avLst/>
          </a:prstGeom>
          <a:noFill/>
          <a:ln w="25400">
            <a:solidFill>
              <a:srgbClr val="A8B2C4"/>
            </a:solidFill>
            <a:prstDash val="solid"/>
            <a:tailEnd type="triangle"/>
          </a:ln>
        </p:spPr>
        <p:txBody>
          <a:bodyPr/>
          <a:lstStyle/>
          <a:p>
            <a:endParaRPr lang="en-IN"/>
          </a:p>
        </p:txBody>
      </p:sp>
      <p:sp>
        <p:nvSpPr>
          <p:cNvPr id="11" name="Shape 9"/>
          <p:cNvSpPr/>
          <p:nvPr/>
        </p:nvSpPr>
        <p:spPr>
          <a:xfrm>
            <a:off x="3410712" y="2011680"/>
            <a:ext cx="2514600" cy="2148840"/>
          </a:xfrm>
          <a:prstGeom prst="roundRect">
            <a:avLst>
              <a:gd name="adj" fmla="val 3404"/>
            </a:avLst>
          </a:prstGeom>
          <a:solidFill>
            <a:srgbClr val="F4F6FA"/>
          </a:solidFill>
          <a:ln/>
        </p:spPr>
        <p:txBody>
          <a:bodyPr/>
          <a:lstStyle/>
          <a:p>
            <a:endParaRPr lang="en-IN"/>
          </a:p>
        </p:txBody>
      </p:sp>
      <p:sp>
        <p:nvSpPr>
          <p:cNvPr id="12" name="Shape 10"/>
          <p:cNvSpPr/>
          <p:nvPr/>
        </p:nvSpPr>
        <p:spPr>
          <a:xfrm>
            <a:off x="3685032" y="2286000"/>
            <a:ext cx="402336" cy="402336"/>
          </a:xfrm>
          <a:prstGeom prst="ellipse">
            <a:avLst/>
          </a:prstGeom>
          <a:solidFill>
            <a:srgbClr val="FFC24A"/>
          </a:solidFill>
          <a:ln/>
        </p:spPr>
        <p:txBody>
          <a:bodyPr/>
          <a:lstStyle/>
          <a:p>
            <a:endParaRPr lang="en-IN"/>
          </a:p>
        </p:txBody>
      </p:sp>
      <p:sp>
        <p:nvSpPr>
          <p:cNvPr id="13" name="Text 11"/>
          <p:cNvSpPr/>
          <p:nvPr/>
        </p:nvSpPr>
        <p:spPr>
          <a:xfrm>
            <a:off x="3685032" y="2286000"/>
            <a:ext cx="402336" cy="402336"/>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2</a:t>
            </a:r>
            <a:endParaRPr lang="en-US" sz="1500" dirty="0"/>
          </a:p>
        </p:txBody>
      </p:sp>
      <p:sp>
        <p:nvSpPr>
          <p:cNvPr id="14" name="Text 12"/>
          <p:cNvSpPr/>
          <p:nvPr/>
        </p:nvSpPr>
        <p:spPr>
          <a:xfrm>
            <a:off x="3685032" y="2852928"/>
            <a:ext cx="2103120" cy="274320"/>
          </a:xfrm>
          <a:prstGeom prst="rect">
            <a:avLst/>
          </a:prstGeom>
          <a:noFill/>
          <a:ln/>
        </p:spPr>
        <p:txBody>
          <a:bodyPr wrap="square" lIns="0" tIns="0" rIns="0" bIns="0" rtlCol="0" anchor="ctr"/>
          <a:lstStyle/>
          <a:p>
            <a:pPr marL="0" indent="0">
              <a:buNone/>
            </a:pPr>
            <a:r>
              <a:rPr lang="en-US" sz="1450" b="1" kern="0" spc="100" dirty="0">
                <a:solidFill>
                  <a:srgbClr val="0E1524"/>
                </a:solidFill>
                <a:latin typeface="Arial" pitchFamily="34" charset="0"/>
                <a:ea typeface="Arial" pitchFamily="34" charset="-122"/>
                <a:cs typeface="Arial" pitchFamily="34" charset="-120"/>
              </a:rPr>
              <a:t>REASON</a:t>
            </a:r>
            <a:endParaRPr lang="en-US" sz="1450" dirty="0"/>
          </a:p>
        </p:txBody>
      </p:sp>
      <p:sp>
        <p:nvSpPr>
          <p:cNvPr id="15" name="Text 13"/>
          <p:cNvSpPr/>
          <p:nvPr/>
        </p:nvSpPr>
        <p:spPr>
          <a:xfrm>
            <a:off x="3685032" y="3200400"/>
            <a:ext cx="2057400" cy="8229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What state is this in, what should happen next</a:t>
            </a:r>
            <a:endParaRPr lang="en-US" sz="1250" dirty="0"/>
          </a:p>
        </p:txBody>
      </p:sp>
      <p:sp>
        <p:nvSpPr>
          <p:cNvPr id="16" name="Shape 14"/>
          <p:cNvSpPr/>
          <p:nvPr/>
        </p:nvSpPr>
        <p:spPr>
          <a:xfrm>
            <a:off x="5998464" y="3063240"/>
            <a:ext cx="118872" cy="0"/>
          </a:xfrm>
          <a:prstGeom prst="line">
            <a:avLst/>
          </a:prstGeom>
          <a:noFill/>
          <a:ln w="25400">
            <a:solidFill>
              <a:srgbClr val="A8B2C4"/>
            </a:solidFill>
            <a:prstDash val="solid"/>
            <a:tailEnd type="triangle"/>
          </a:ln>
        </p:spPr>
        <p:txBody>
          <a:bodyPr/>
          <a:lstStyle/>
          <a:p>
            <a:endParaRPr lang="en-IN"/>
          </a:p>
        </p:txBody>
      </p:sp>
      <p:sp>
        <p:nvSpPr>
          <p:cNvPr id="17" name="Shape 15"/>
          <p:cNvSpPr/>
          <p:nvPr/>
        </p:nvSpPr>
        <p:spPr>
          <a:xfrm>
            <a:off x="6181344" y="2011680"/>
            <a:ext cx="2514600" cy="2148840"/>
          </a:xfrm>
          <a:prstGeom prst="roundRect">
            <a:avLst>
              <a:gd name="adj" fmla="val 3404"/>
            </a:avLst>
          </a:prstGeom>
          <a:solidFill>
            <a:srgbClr val="F4F6FA"/>
          </a:solidFill>
          <a:ln/>
        </p:spPr>
        <p:txBody>
          <a:bodyPr/>
          <a:lstStyle/>
          <a:p>
            <a:endParaRPr lang="en-IN"/>
          </a:p>
        </p:txBody>
      </p:sp>
      <p:sp>
        <p:nvSpPr>
          <p:cNvPr id="18" name="Shape 16"/>
          <p:cNvSpPr/>
          <p:nvPr/>
        </p:nvSpPr>
        <p:spPr>
          <a:xfrm>
            <a:off x="6455664" y="2286000"/>
            <a:ext cx="402336" cy="402336"/>
          </a:xfrm>
          <a:prstGeom prst="ellipse">
            <a:avLst/>
          </a:prstGeom>
          <a:solidFill>
            <a:srgbClr val="00C2A8"/>
          </a:solidFill>
          <a:ln/>
        </p:spPr>
        <p:txBody>
          <a:bodyPr/>
          <a:lstStyle/>
          <a:p>
            <a:endParaRPr lang="en-IN"/>
          </a:p>
        </p:txBody>
      </p:sp>
      <p:sp>
        <p:nvSpPr>
          <p:cNvPr id="19" name="Text 17"/>
          <p:cNvSpPr/>
          <p:nvPr/>
        </p:nvSpPr>
        <p:spPr>
          <a:xfrm>
            <a:off x="6455664" y="2286000"/>
            <a:ext cx="402336" cy="402336"/>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3</a:t>
            </a:r>
            <a:endParaRPr lang="en-US" sz="1500" dirty="0"/>
          </a:p>
        </p:txBody>
      </p:sp>
      <p:sp>
        <p:nvSpPr>
          <p:cNvPr id="20" name="Text 18"/>
          <p:cNvSpPr/>
          <p:nvPr/>
        </p:nvSpPr>
        <p:spPr>
          <a:xfrm>
            <a:off x="6455664" y="2852928"/>
            <a:ext cx="2103120" cy="274320"/>
          </a:xfrm>
          <a:prstGeom prst="rect">
            <a:avLst/>
          </a:prstGeom>
          <a:noFill/>
          <a:ln/>
        </p:spPr>
        <p:txBody>
          <a:bodyPr wrap="square" lIns="0" tIns="0" rIns="0" bIns="0" rtlCol="0" anchor="ctr"/>
          <a:lstStyle/>
          <a:p>
            <a:pPr marL="0" indent="0">
              <a:buNone/>
            </a:pPr>
            <a:r>
              <a:rPr lang="en-US" sz="1450" b="1" kern="0" spc="100" dirty="0">
                <a:solidFill>
                  <a:srgbClr val="0E1524"/>
                </a:solidFill>
                <a:latin typeface="Arial" pitchFamily="34" charset="0"/>
                <a:ea typeface="Arial" pitchFamily="34" charset="-122"/>
                <a:cs typeface="Arial" pitchFamily="34" charset="-120"/>
              </a:rPr>
              <a:t>ACT</a:t>
            </a:r>
            <a:endParaRPr lang="en-US" sz="1450" dirty="0"/>
          </a:p>
        </p:txBody>
      </p:sp>
      <p:sp>
        <p:nvSpPr>
          <p:cNvPr id="21" name="Text 19"/>
          <p:cNvSpPr/>
          <p:nvPr/>
        </p:nvSpPr>
        <p:spPr>
          <a:xfrm>
            <a:off x="6455664" y="3200400"/>
            <a:ext cx="2057400" cy="8229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Call an API, click, file a ticket, stop a line</a:t>
            </a:r>
            <a:endParaRPr lang="en-US" sz="1250" dirty="0"/>
          </a:p>
        </p:txBody>
      </p:sp>
      <p:sp>
        <p:nvSpPr>
          <p:cNvPr id="22" name="Shape 20"/>
          <p:cNvSpPr/>
          <p:nvPr/>
        </p:nvSpPr>
        <p:spPr>
          <a:xfrm>
            <a:off x="8769096" y="3063240"/>
            <a:ext cx="118872" cy="0"/>
          </a:xfrm>
          <a:prstGeom prst="line">
            <a:avLst/>
          </a:prstGeom>
          <a:noFill/>
          <a:ln w="25400">
            <a:solidFill>
              <a:srgbClr val="A8B2C4"/>
            </a:solidFill>
            <a:prstDash val="solid"/>
            <a:tailEnd type="triangle"/>
          </a:ln>
        </p:spPr>
        <p:txBody>
          <a:bodyPr/>
          <a:lstStyle/>
          <a:p>
            <a:endParaRPr lang="en-IN"/>
          </a:p>
        </p:txBody>
      </p:sp>
      <p:sp>
        <p:nvSpPr>
          <p:cNvPr id="23" name="Shape 21"/>
          <p:cNvSpPr/>
          <p:nvPr/>
        </p:nvSpPr>
        <p:spPr>
          <a:xfrm>
            <a:off x="8951976" y="2011680"/>
            <a:ext cx="2514600" cy="2148840"/>
          </a:xfrm>
          <a:prstGeom prst="roundRect">
            <a:avLst>
              <a:gd name="adj" fmla="val 3404"/>
            </a:avLst>
          </a:prstGeom>
          <a:solidFill>
            <a:srgbClr val="F4F6FA"/>
          </a:solidFill>
          <a:ln/>
        </p:spPr>
        <p:txBody>
          <a:bodyPr/>
          <a:lstStyle/>
          <a:p>
            <a:endParaRPr lang="en-IN"/>
          </a:p>
        </p:txBody>
      </p:sp>
      <p:sp>
        <p:nvSpPr>
          <p:cNvPr id="24" name="Shape 22"/>
          <p:cNvSpPr/>
          <p:nvPr/>
        </p:nvSpPr>
        <p:spPr>
          <a:xfrm>
            <a:off x="9226296" y="2286000"/>
            <a:ext cx="402336" cy="402336"/>
          </a:xfrm>
          <a:prstGeom prst="ellipse">
            <a:avLst/>
          </a:prstGeom>
          <a:solidFill>
            <a:srgbClr val="6B7689"/>
          </a:solidFill>
          <a:ln/>
        </p:spPr>
        <p:txBody>
          <a:bodyPr/>
          <a:lstStyle/>
          <a:p>
            <a:endParaRPr lang="en-IN"/>
          </a:p>
        </p:txBody>
      </p:sp>
      <p:sp>
        <p:nvSpPr>
          <p:cNvPr id="25" name="Text 23"/>
          <p:cNvSpPr/>
          <p:nvPr/>
        </p:nvSpPr>
        <p:spPr>
          <a:xfrm>
            <a:off x="9226296" y="2286000"/>
            <a:ext cx="402336" cy="402336"/>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4</a:t>
            </a:r>
            <a:endParaRPr lang="en-US" sz="1500" dirty="0"/>
          </a:p>
        </p:txBody>
      </p:sp>
      <p:sp>
        <p:nvSpPr>
          <p:cNvPr id="26" name="Text 24"/>
          <p:cNvSpPr/>
          <p:nvPr/>
        </p:nvSpPr>
        <p:spPr>
          <a:xfrm>
            <a:off x="9226296" y="2852928"/>
            <a:ext cx="2103120" cy="274320"/>
          </a:xfrm>
          <a:prstGeom prst="rect">
            <a:avLst/>
          </a:prstGeom>
          <a:noFill/>
          <a:ln/>
        </p:spPr>
        <p:txBody>
          <a:bodyPr wrap="square" lIns="0" tIns="0" rIns="0" bIns="0" rtlCol="0" anchor="ctr"/>
          <a:lstStyle/>
          <a:p>
            <a:pPr marL="0" indent="0">
              <a:buNone/>
            </a:pPr>
            <a:r>
              <a:rPr lang="en-US" sz="1450" b="1" kern="0" spc="100" dirty="0">
                <a:solidFill>
                  <a:srgbClr val="0E1524"/>
                </a:solidFill>
                <a:latin typeface="Arial" pitchFamily="34" charset="0"/>
                <a:ea typeface="Arial" pitchFamily="34" charset="-122"/>
                <a:cs typeface="Arial" pitchFamily="34" charset="-120"/>
              </a:rPr>
              <a:t>VERIFY</a:t>
            </a:r>
            <a:endParaRPr lang="en-US" sz="1450" dirty="0"/>
          </a:p>
        </p:txBody>
      </p:sp>
      <p:sp>
        <p:nvSpPr>
          <p:cNvPr id="27" name="Text 25"/>
          <p:cNvSpPr/>
          <p:nvPr/>
        </p:nvSpPr>
        <p:spPr>
          <a:xfrm>
            <a:off x="9226296" y="3200400"/>
            <a:ext cx="2057400" cy="8229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Look again, confirm the action landed</a:t>
            </a:r>
            <a:endParaRPr lang="en-US" sz="1250" dirty="0"/>
          </a:p>
        </p:txBody>
      </p:sp>
      <p:sp>
        <p:nvSpPr>
          <p:cNvPr id="28" name="Shape 26"/>
          <p:cNvSpPr/>
          <p:nvPr/>
        </p:nvSpPr>
        <p:spPr>
          <a:xfrm>
            <a:off x="640080" y="4526280"/>
            <a:ext cx="10908792" cy="1051560"/>
          </a:xfrm>
          <a:prstGeom prst="roundRect">
            <a:avLst>
              <a:gd name="adj" fmla="val 6957"/>
            </a:avLst>
          </a:prstGeom>
          <a:solidFill>
            <a:srgbClr val="0E1524"/>
          </a:solidFill>
          <a:ln/>
        </p:spPr>
        <p:txBody>
          <a:bodyPr/>
          <a:lstStyle/>
          <a:p>
            <a:endParaRPr lang="en-IN"/>
          </a:p>
        </p:txBody>
      </p:sp>
      <p:sp>
        <p:nvSpPr>
          <p:cNvPr id="29" name="Text 27"/>
          <p:cNvSpPr/>
          <p:nvPr/>
        </p:nvSpPr>
        <p:spPr>
          <a:xfrm>
            <a:off x="1005840" y="4681728"/>
            <a:ext cx="10058400" cy="274320"/>
          </a:xfrm>
          <a:prstGeom prst="rect">
            <a:avLst/>
          </a:prstGeom>
          <a:noFill/>
          <a:ln/>
        </p:spPr>
        <p:txBody>
          <a:bodyPr wrap="square" lIns="0" tIns="0" rIns="0" bIns="0" rtlCol="0" anchor="ctr"/>
          <a:lstStyle/>
          <a:p>
            <a:pPr marL="0" indent="0">
              <a:buNone/>
            </a:pPr>
            <a:r>
              <a:rPr lang="en-US" sz="1500" b="1" dirty="0">
                <a:solidFill>
                  <a:srgbClr val="FFC24A"/>
                </a:solidFill>
                <a:latin typeface="Arial" pitchFamily="34" charset="0"/>
                <a:ea typeface="Arial" pitchFamily="34" charset="-122"/>
                <a:cs typeface="Arial" pitchFamily="34" charset="-120"/>
              </a:rPr>
              <a:t>The failure mode nobody warns you about</a:t>
            </a:r>
            <a:endParaRPr lang="en-US" sz="1500" dirty="0"/>
          </a:p>
        </p:txBody>
      </p:sp>
      <p:sp>
        <p:nvSpPr>
          <p:cNvPr id="30" name="Text 28"/>
          <p:cNvSpPr/>
          <p:nvPr/>
        </p:nvSpPr>
        <p:spPr>
          <a:xfrm>
            <a:off x="1005840" y="5010912"/>
            <a:ext cx="10058400" cy="457200"/>
          </a:xfrm>
          <a:prstGeom prst="rect">
            <a:avLst/>
          </a:prstGeom>
          <a:noFill/>
          <a:ln/>
        </p:spPr>
        <p:txBody>
          <a:bodyPr wrap="square" lIns="0" tIns="0" rIns="0" bIns="0" rtlCol="0" anchor="ctr"/>
          <a:lstStyle/>
          <a:p>
            <a:pPr marL="0" indent="0">
              <a:buNone/>
            </a:pPr>
            <a:r>
              <a:rPr lang="en-US" sz="1350" dirty="0">
                <a:solidFill>
                  <a:srgbClr val="A8B2C4"/>
                </a:solidFill>
                <a:latin typeface="Calibri" pitchFamily="34" charset="0"/>
                <a:ea typeface="Calibri" pitchFamily="34" charset="-122"/>
                <a:cs typeface="Calibri" pitchFamily="34" charset="-120"/>
              </a:rPr>
              <a:t>The loop is only as safe as step 4. A system that acts without verifying will confidently repeat the same wrong action forever. Build the verify step first.</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THE HONEST SLIDE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What still breaks</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Every one of these is also an open research problem. That is not a coincidence - and Part Three comes back to it.</a:t>
            </a:r>
            <a:endParaRPr lang="en-US" sz="1400" dirty="0"/>
          </a:p>
        </p:txBody>
      </p:sp>
      <p:sp>
        <p:nvSpPr>
          <p:cNvPr id="5" name="Shape 3"/>
          <p:cNvSpPr/>
          <p:nvPr/>
        </p:nvSpPr>
        <p:spPr>
          <a:xfrm>
            <a:off x="640080" y="2039112"/>
            <a:ext cx="201168" cy="201168"/>
          </a:xfrm>
          <a:prstGeom prst="ellipse">
            <a:avLst/>
          </a:prstGeom>
          <a:solidFill>
            <a:srgbClr val="FF6B4A"/>
          </a:solidFill>
          <a:ln/>
        </p:spPr>
        <p:txBody>
          <a:bodyPr/>
          <a:lstStyle/>
          <a:p>
            <a:endParaRPr lang="en-IN"/>
          </a:p>
        </p:txBody>
      </p:sp>
      <p:sp>
        <p:nvSpPr>
          <p:cNvPr id="6" name="Text 4"/>
          <p:cNvSpPr/>
          <p:nvPr/>
        </p:nvSpPr>
        <p:spPr>
          <a:xfrm>
            <a:off x="1005840" y="1965960"/>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Fine spatial detail</a:t>
            </a:r>
            <a:endParaRPr lang="en-US" sz="1500" dirty="0"/>
          </a:p>
        </p:txBody>
      </p:sp>
      <p:sp>
        <p:nvSpPr>
          <p:cNvPr id="7" name="Text 5"/>
          <p:cNvSpPr/>
          <p:nvPr/>
        </p:nvSpPr>
        <p:spPr>
          <a:xfrm>
            <a:off x="1005840" y="2295144"/>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Counting objects, reading a gauge needle, precise measurement from an image</a:t>
            </a:r>
            <a:endParaRPr lang="en-US" sz="1250" dirty="0"/>
          </a:p>
        </p:txBody>
      </p:sp>
      <p:sp>
        <p:nvSpPr>
          <p:cNvPr id="8" name="Shape 6"/>
          <p:cNvSpPr/>
          <p:nvPr/>
        </p:nvSpPr>
        <p:spPr>
          <a:xfrm>
            <a:off x="6217920" y="2039112"/>
            <a:ext cx="201168" cy="201168"/>
          </a:xfrm>
          <a:prstGeom prst="ellipse">
            <a:avLst/>
          </a:prstGeom>
          <a:solidFill>
            <a:srgbClr val="FF6B4A"/>
          </a:solidFill>
          <a:ln/>
        </p:spPr>
        <p:txBody>
          <a:bodyPr/>
          <a:lstStyle/>
          <a:p>
            <a:endParaRPr lang="en-IN"/>
          </a:p>
        </p:txBody>
      </p:sp>
      <p:sp>
        <p:nvSpPr>
          <p:cNvPr id="9" name="Text 7"/>
          <p:cNvSpPr/>
          <p:nvPr/>
        </p:nvSpPr>
        <p:spPr>
          <a:xfrm>
            <a:off x="6583680" y="1965960"/>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Dense handwriting</a:t>
            </a:r>
            <a:endParaRPr lang="en-US" sz="1500" dirty="0"/>
          </a:p>
        </p:txBody>
      </p:sp>
      <p:sp>
        <p:nvSpPr>
          <p:cNvPr id="10" name="Text 8"/>
          <p:cNvSpPr/>
          <p:nvPr/>
        </p:nvSpPr>
        <p:spPr>
          <a:xfrm>
            <a:off x="6583680" y="2295144"/>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Cursive, medical notes, and multi-language forms remain unreliable</a:t>
            </a:r>
            <a:endParaRPr lang="en-US" sz="1250" dirty="0"/>
          </a:p>
        </p:txBody>
      </p:sp>
      <p:sp>
        <p:nvSpPr>
          <p:cNvPr id="11" name="Shape 9"/>
          <p:cNvSpPr/>
          <p:nvPr/>
        </p:nvSpPr>
        <p:spPr>
          <a:xfrm>
            <a:off x="640080" y="3246120"/>
            <a:ext cx="201168" cy="201168"/>
          </a:xfrm>
          <a:prstGeom prst="ellipse">
            <a:avLst/>
          </a:prstGeom>
          <a:solidFill>
            <a:srgbClr val="FF6B4A"/>
          </a:solidFill>
          <a:ln/>
        </p:spPr>
        <p:txBody>
          <a:bodyPr/>
          <a:lstStyle/>
          <a:p>
            <a:endParaRPr lang="en-IN"/>
          </a:p>
        </p:txBody>
      </p:sp>
      <p:sp>
        <p:nvSpPr>
          <p:cNvPr id="12" name="Text 10"/>
          <p:cNvSpPr/>
          <p:nvPr/>
        </p:nvSpPr>
        <p:spPr>
          <a:xfrm>
            <a:off x="1005840" y="3172968"/>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Confident wrong answers</a:t>
            </a:r>
            <a:endParaRPr lang="en-US" sz="1500" dirty="0"/>
          </a:p>
        </p:txBody>
      </p:sp>
      <p:sp>
        <p:nvSpPr>
          <p:cNvPr id="13" name="Text 11"/>
          <p:cNvSpPr/>
          <p:nvPr/>
        </p:nvSpPr>
        <p:spPr>
          <a:xfrm>
            <a:off x="1005840" y="3502152"/>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The model rarely says it cannot read something - it guesses fluently</a:t>
            </a:r>
            <a:endParaRPr lang="en-US" sz="1250" dirty="0"/>
          </a:p>
        </p:txBody>
      </p:sp>
      <p:sp>
        <p:nvSpPr>
          <p:cNvPr id="14" name="Shape 12"/>
          <p:cNvSpPr/>
          <p:nvPr/>
        </p:nvSpPr>
        <p:spPr>
          <a:xfrm>
            <a:off x="6217920" y="3246120"/>
            <a:ext cx="201168" cy="201168"/>
          </a:xfrm>
          <a:prstGeom prst="ellipse">
            <a:avLst/>
          </a:prstGeom>
          <a:solidFill>
            <a:srgbClr val="FF6B4A"/>
          </a:solidFill>
          <a:ln/>
        </p:spPr>
        <p:txBody>
          <a:bodyPr/>
          <a:lstStyle/>
          <a:p>
            <a:endParaRPr lang="en-IN"/>
          </a:p>
        </p:txBody>
      </p:sp>
      <p:sp>
        <p:nvSpPr>
          <p:cNvPr id="15" name="Text 13"/>
          <p:cNvSpPr/>
          <p:nvPr/>
        </p:nvSpPr>
        <p:spPr>
          <a:xfrm>
            <a:off x="6583680" y="3172968"/>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Long video</a:t>
            </a:r>
            <a:endParaRPr lang="en-US" sz="1500" dirty="0"/>
          </a:p>
        </p:txBody>
      </p:sp>
      <p:sp>
        <p:nvSpPr>
          <p:cNvPr id="16" name="Text 14"/>
          <p:cNvSpPr/>
          <p:nvPr/>
        </p:nvSpPr>
        <p:spPr>
          <a:xfrm>
            <a:off x="6583680" y="3502152"/>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Context cost grows fast, and most systems sample frames and miss events</a:t>
            </a:r>
            <a:endParaRPr lang="en-US" sz="1250" dirty="0"/>
          </a:p>
        </p:txBody>
      </p:sp>
      <p:sp>
        <p:nvSpPr>
          <p:cNvPr id="17" name="Shape 15"/>
          <p:cNvSpPr/>
          <p:nvPr/>
        </p:nvSpPr>
        <p:spPr>
          <a:xfrm>
            <a:off x="640080" y="4453128"/>
            <a:ext cx="201168" cy="201168"/>
          </a:xfrm>
          <a:prstGeom prst="ellipse">
            <a:avLst/>
          </a:prstGeom>
          <a:solidFill>
            <a:srgbClr val="FF6B4A"/>
          </a:solidFill>
          <a:ln/>
        </p:spPr>
        <p:txBody>
          <a:bodyPr/>
          <a:lstStyle/>
          <a:p>
            <a:endParaRPr lang="en-IN"/>
          </a:p>
        </p:txBody>
      </p:sp>
      <p:sp>
        <p:nvSpPr>
          <p:cNvPr id="18" name="Text 16"/>
          <p:cNvSpPr/>
          <p:nvPr/>
        </p:nvSpPr>
        <p:spPr>
          <a:xfrm>
            <a:off x="1005840" y="4379976"/>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Cost and latency</a:t>
            </a:r>
            <a:endParaRPr lang="en-US" sz="1500" dirty="0"/>
          </a:p>
        </p:txBody>
      </p:sp>
      <p:sp>
        <p:nvSpPr>
          <p:cNvPr id="19" name="Text 17"/>
          <p:cNvSpPr/>
          <p:nvPr/>
        </p:nvSpPr>
        <p:spPr>
          <a:xfrm>
            <a:off x="1005840" y="4709160"/>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One image can cost as many tokens as a page of text - on every call</a:t>
            </a:r>
            <a:endParaRPr lang="en-US" sz="1250" dirty="0"/>
          </a:p>
        </p:txBody>
      </p:sp>
      <p:sp>
        <p:nvSpPr>
          <p:cNvPr id="20" name="Shape 18"/>
          <p:cNvSpPr/>
          <p:nvPr/>
        </p:nvSpPr>
        <p:spPr>
          <a:xfrm>
            <a:off x="6217920" y="4453128"/>
            <a:ext cx="201168" cy="201168"/>
          </a:xfrm>
          <a:prstGeom prst="ellipse">
            <a:avLst/>
          </a:prstGeom>
          <a:solidFill>
            <a:srgbClr val="FF6B4A"/>
          </a:solidFill>
          <a:ln/>
        </p:spPr>
        <p:txBody>
          <a:bodyPr/>
          <a:lstStyle/>
          <a:p>
            <a:endParaRPr lang="en-IN"/>
          </a:p>
        </p:txBody>
      </p:sp>
      <p:sp>
        <p:nvSpPr>
          <p:cNvPr id="21" name="Text 19"/>
          <p:cNvSpPr/>
          <p:nvPr/>
        </p:nvSpPr>
        <p:spPr>
          <a:xfrm>
            <a:off x="6583680" y="4379976"/>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Evaluation itself</a:t>
            </a:r>
            <a:endParaRPr lang="en-US" sz="1500" dirty="0"/>
          </a:p>
        </p:txBody>
      </p:sp>
      <p:sp>
        <p:nvSpPr>
          <p:cNvPr id="22" name="Text 20"/>
          <p:cNvSpPr/>
          <p:nvPr/>
        </p:nvSpPr>
        <p:spPr>
          <a:xfrm>
            <a:off x="6583680" y="4709160"/>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We do not have good benchmarks for cross-modal reasoning quality</a:t>
            </a:r>
            <a:endParaRPr lang="en-US" sz="1250" dirty="0"/>
          </a:p>
        </p:txBody>
      </p:sp>
      <p:sp>
        <p:nvSpPr>
          <p:cNvPr id="23" name="Text 21"/>
          <p:cNvSpPr/>
          <p:nvPr/>
        </p:nvSpPr>
        <p:spPr>
          <a:xfrm>
            <a:off x="640080" y="5623560"/>
            <a:ext cx="10908792" cy="365760"/>
          </a:xfrm>
          <a:prstGeom prst="rect">
            <a:avLst/>
          </a:prstGeom>
          <a:noFill/>
          <a:ln/>
        </p:spPr>
        <p:txBody>
          <a:bodyPr wrap="square" lIns="0" tIns="0" rIns="0" bIns="0" rtlCol="0" anchor="ctr"/>
          <a:lstStyle/>
          <a:p>
            <a:pPr marL="0" indent="0">
              <a:buNone/>
            </a:pPr>
            <a:r>
              <a:rPr lang="en-US" sz="1450" i="1" dirty="0">
                <a:solidFill>
                  <a:srgbClr val="0E1524"/>
                </a:solidFill>
                <a:latin typeface="Calibri" pitchFamily="34" charset="0"/>
                <a:ea typeface="Calibri" pitchFamily="34" charset="-122"/>
                <a:cs typeface="Calibri" pitchFamily="34" charset="-120"/>
              </a:rPr>
              <a:t>If you are picking a research problem, pick one of these six. They are unsolved, they are measurable, and reviewers already agree they matter. Which one is yours? Name it in the chat.</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960120"/>
            <a:ext cx="10908792" cy="411480"/>
          </a:xfrm>
          <a:prstGeom prst="rect">
            <a:avLst/>
          </a:prstGeom>
          <a:noFill/>
          <a:ln/>
        </p:spPr>
        <p:txBody>
          <a:bodyPr wrap="square" lIns="0" tIns="0" rIns="0" bIns="0" rtlCol="0" anchor="ctr"/>
          <a:lstStyle/>
          <a:p>
            <a:pPr marL="0" indent="0">
              <a:buNone/>
            </a:pPr>
            <a:r>
              <a:rPr lang="en-US" sz="2200" b="1" dirty="0">
                <a:solidFill>
                  <a:srgbClr val="A8B2C4"/>
                </a:solidFill>
                <a:latin typeface="Arial" pitchFamily="34" charset="0"/>
                <a:ea typeface="Arial" pitchFamily="34" charset="-122"/>
                <a:cs typeface="Arial" pitchFamily="34" charset="-120"/>
              </a:rPr>
              <a:t>The whole of Part Two in one line</a:t>
            </a:r>
            <a:endParaRPr lang="en-US" sz="2200" dirty="0"/>
          </a:p>
        </p:txBody>
      </p:sp>
      <p:sp>
        <p:nvSpPr>
          <p:cNvPr id="3" name="Text 1"/>
          <p:cNvSpPr/>
          <p:nvPr/>
        </p:nvSpPr>
        <p:spPr>
          <a:xfrm>
            <a:off x="640080" y="1828800"/>
            <a:ext cx="10515600" cy="1691640"/>
          </a:xfrm>
          <a:prstGeom prst="rect">
            <a:avLst/>
          </a:prstGeom>
          <a:noFill/>
          <a:ln/>
        </p:spPr>
        <p:txBody>
          <a:bodyPr wrap="square" lIns="0" tIns="0" rIns="0" bIns="0" rtlCol="0" anchor="ctr"/>
          <a:lstStyle/>
          <a:p>
            <a:pPr marL="0" indent="0">
              <a:lnSpc>
                <a:spcPts val="5200"/>
              </a:lnSpc>
              <a:buNone/>
            </a:pPr>
            <a:r>
              <a:rPr lang="en-US" sz="4400" b="1" dirty="0">
                <a:solidFill>
                  <a:srgbClr val="FFFFFF"/>
                </a:solidFill>
                <a:latin typeface="Arial" pitchFamily="34" charset="0"/>
                <a:ea typeface="Arial" pitchFamily="34" charset="-122"/>
                <a:cs typeface="Arial" pitchFamily="34" charset="-120"/>
              </a:rPr>
              <a:t>What breaks is more useful</a:t>
            </a:r>
            <a:endParaRPr lang="en-US" sz="4400" dirty="0"/>
          </a:p>
          <a:p>
            <a:pPr marL="0" indent="0">
              <a:lnSpc>
                <a:spcPts val="5200"/>
              </a:lnSpc>
              <a:buNone/>
            </a:pPr>
            <a:r>
              <a:rPr lang="en-US" sz="4400" b="1" dirty="0">
                <a:solidFill>
                  <a:srgbClr val="FFFFFF"/>
                </a:solidFill>
                <a:latin typeface="Arial" pitchFamily="34" charset="0"/>
                <a:ea typeface="Arial" pitchFamily="34" charset="-122"/>
                <a:cs typeface="Arial" pitchFamily="34" charset="-120"/>
              </a:rPr>
              <a:t>to you than what works.</a:t>
            </a:r>
            <a:endParaRPr lang="en-US" sz="4400" dirty="0"/>
          </a:p>
        </p:txBody>
      </p:sp>
      <p:sp>
        <p:nvSpPr>
          <p:cNvPr id="4" name="Shape 2"/>
          <p:cNvSpPr/>
          <p:nvPr/>
        </p:nvSpPr>
        <p:spPr>
          <a:xfrm>
            <a:off x="640080" y="3931920"/>
            <a:ext cx="10908792" cy="1417320"/>
          </a:xfrm>
          <a:prstGeom prst="roundRect">
            <a:avLst>
              <a:gd name="adj" fmla="val 6452"/>
            </a:avLst>
          </a:prstGeom>
          <a:solidFill>
            <a:srgbClr val="1B2437"/>
          </a:solidFill>
          <a:ln/>
        </p:spPr>
        <p:txBody>
          <a:bodyPr/>
          <a:lstStyle/>
          <a:p>
            <a:endParaRPr lang="en-IN"/>
          </a:p>
        </p:txBody>
      </p:sp>
      <p:sp>
        <p:nvSpPr>
          <p:cNvPr id="5" name="Text 3"/>
          <p:cNvSpPr/>
          <p:nvPr/>
        </p:nvSpPr>
        <p:spPr>
          <a:xfrm>
            <a:off x="1051560" y="3931920"/>
            <a:ext cx="10104120" cy="1417320"/>
          </a:xfrm>
          <a:prstGeom prst="rect">
            <a:avLst/>
          </a:prstGeom>
          <a:noFill/>
          <a:ln/>
        </p:spPr>
        <p:txBody>
          <a:bodyPr wrap="square" lIns="0" tIns="0" rIns="0" bIns="0" rtlCol="0" anchor="ctr"/>
          <a:lstStyle/>
          <a:p>
            <a:pPr marL="0" indent="0">
              <a:lnSpc>
                <a:spcPts val="2400"/>
              </a:lnSpc>
              <a:buNone/>
            </a:pPr>
            <a:r>
              <a:rPr lang="en-US" sz="1550" dirty="0">
                <a:solidFill>
                  <a:srgbClr val="A8B2C4"/>
                </a:solidFill>
                <a:latin typeface="Calibri" pitchFamily="34" charset="0"/>
                <a:ea typeface="Calibri" pitchFamily="34" charset="-122"/>
                <a:cs typeface="Calibri" pitchFamily="34" charset="-120"/>
              </a:rPr>
              <a:t>The working half is a product demo anyone can give. The broken half - fine spatial detail, dense handwriting, long video, confident wrong answers, cost, and evaluation itself - is a list of six problems that are unsolved, measurable, and already agreed to matter. That is the half with your name on it.</a:t>
            </a:r>
            <a:endParaRPr lang="en-US" sz="1550" dirty="0"/>
          </a:p>
        </p:txBody>
      </p:sp>
      <p:sp>
        <p:nvSpPr>
          <p:cNvPr id="6" name="Shape 4"/>
          <p:cNvSpPr/>
          <p:nvPr/>
        </p:nvSpPr>
        <p:spPr>
          <a:xfrm>
            <a:off x="640080" y="5806440"/>
            <a:ext cx="137160" cy="137160"/>
          </a:xfrm>
          <a:prstGeom prst="ellipse">
            <a:avLst/>
          </a:prstGeom>
          <a:solidFill>
            <a:srgbClr val="00C2A8"/>
          </a:solidFill>
          <a:ln/>
        </p:spPr>
        <p:txBody>
          <a:bodyPr/>
          <a:lstStyle/>
          <a:p>
            <a:endParaRPr lang="en-IN"/>
          </a:p>
        </p:txBody>
      </p:sp>
      <p:sp>
        <p:nvSpPr>
          <p:cNvPr id="7" name="Shape 5"/>
          <p:cNvSpPr/>
          <p:nvPr/>
        </p:nvSpPr>
        <p:spPr>
          <a:xfrm>
            <a:off x="880110" y="5806440"/>
            <a:ext cx="137160" cy="137160"/>
          </a:xfrm>
          <a:prstGeom prst="ellipse">
            <a:avLst/>
          </a:prstGeom>
          <a:solidFill>
            <a:srgbClr val="FF6B4A"/>
          </a:solidFill>
          <a:ln/>
        </p:spPr>
        <p:txBody>
          <a:bodyPr/>
          <a:lstStyle/>
          <a:p>
            <a:endParaRPr lang="en-IN"/>
          </a:p>
        </p:txBody>
      </p:sp>
      <p:sp>
        <p:nvSpPr>
          <p:cNvPr id="8" name="Shape 6"/>
          <p:cNvSpPr/>
          <p:nvPr/>
        </p:nvSpPr>
        <p:spPr>
          <a:xfrm>
            <a:off x="1120140" y="5806440"/>
            <a:ext cx="137160" cy="137160"/>
          </a:xfrm>
          <a:prstGeom prst="ellipse">
            <a:avLst/>
          </a:prstGeom>
          <a:solidFill>
            <a:srgbClr val="FFC24A"/>
          </a:solidFill>
          <a:ln/>
        </p:spPr>
        <p:txBody>
          <a:bodyPr/>
          <a:lstStyle/>
          <a:p>
            <a:endParaRPr lang="en-IN"/>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2331720"/>
            <a:ext cx="164592" cy="164592"/>
          </a:xfrm>
          <a:prstGeom prst="ellipse">
            <a:avLst/>
          </a:prstGeom>
          <a:solidFill>
            <a:srgbClr val="00C2A8"/>
          </a:solidFill>
          <a:ln/>
        </p:spPr>
        <p:txBody>
          <a:bodyPr/>
          <a:lstStyle/>
          <a:p>
            <a:endParaRPr lang="en-IN"/>
          </a:p>
        </p:txBody>
      </p:sp>
      <p:sp>
        <p:nvSpPr>
          <p:cNvPr id="3" name="Shape 1"/>
          <p:cNvSpPr/>
          <p:nvPr/>
        </p:nvSpPr>
        <p:spPr>
          <a:xfrm>
            <a:off x="928116" y="2331720"/>
            <a:ext cx="164592" cy="164592"/>
          </a:xfrm>
          <a:prstGeom prst="ellipse">
            <a:avLst/>
          </a:prstGeom>
          <a:solidFill>
            <a:srgbClr val="FF6B4A"/>
          </a:solidFill>
          <a:ln/>
        </p:spPr>
        <p:txBody>
          <a:bodyPr/>
          <a:lstStyle/>
          <a:p>
            <a:endParaRPr lang="en-IN"/>
          </a:p>
        </p:txBody>
      </p:sp>
      <p:sp>
        <p:nvSpPr>
          <p:cNvPr id="4" name="Shape 2"/>
          <p:cNvSpPr/>
          <p:nvPr/>
        </p:nvSpPr>
        <p:spPr>
          <a:xfrm>
            <a:off x="1216152" y="2331720"/>
            <a:ext cx="164592" cy="164592"/>
          </a:xfrm>
          <a:prstGeom prst="ellipse">
            <a:avLst/>
          </a:prstGeom>
          <a:solidFill>
            <a:srgbClr val="FFC24A"/>
          </a:solidFill>
          <a:ln/>
        </p:spPr>
        <p:txBody>
          <a:bodyPr/>
          <a:lstStyle/>
          <a:p>
            <a:endParaRPr lang="en-IN"/>
          </a:p>
        </p:txBody>
      </p:sp>
      <p:sp>
        <p:nvSpPr>
          <p:cNvPr id="5" name="Text 3"/>
          <p:cNvSpPr/>
          <p:nvPr/>
        </p:nvSpPr>
        <p:spPr>
          <a:xfrm>
            <a:off x="640080" y="2788920"/>
            <a:ext cx="5486400" cy="274320"/>
          </a:xfrm>
          <a:prstGeom prst="rect">
            <a:avLst/>
          </a:prstGeom>
          <a:noFill/>
          <a:ln/>
        </p:spPr>
        <p:txBody>
          <a:bodyPr wrap="square" lIns="0" tIns="0" rIns="0" bIns="0" rtlCol="0" anchor="ctr"/>
          <a:lstStyle/>
          <a:p>
            <a:pPr marL="0" indent="0">
              <a:buNone/>
            </a:pPr>
            <a:r>
              <a:rPr lang="en-US" sz="1300" b="1" kern="0" spc="300" dirty="0">
                <a:solidFill>
                  <a:srgbClr val="00C2A8"/>
                </a:solidFill>
                <a:latin typeface="Arial" pitchFamily="34" charset="0"/>
                <a:ea typeface="Arial" pitchFamily="34" charset="-122"/>
                <a:cs typeface="Arial" pitchFamily="34" charset="-120"/>
              </a:rPr>
              <a:t>PART THREE</a:t>
            </a:r>
            <a:endParaRPr lang="en-US" sz="1300" dirty="0"/>
          </a:p>
        </p:txBody>
      </p:sp>
      <p:sp>
        <p:nvSpPr>
          <p:cNvPr id="6" name="Text 4"/>
          <p:cNvSpPr/>
          <p:nvPr/>
        </p:nvSpPr>
        <p:spPr>
          <a:xfrm>
            <a:off x="640080" y="3127248"/>
            <a:ext cx="8229600" cy="914400"/>
          </a:xfrm>
          <a:prstGeom prst="rect">
            <a:avLst/>
          </a:prstGeom>
          <a:noFill/>
          <a:ln/>
        </p:spPr>
        <p:txBody>
          <a:bodyPr wrap="square" lIns="0" tIns="0" rIns="0" bIns="0" rtlCol="0" anchor="ctr"/>
          <a:lstStyle/>
          <a:p>
            <a:pPr marL="0" indent="0">
              <a:buNone/>
            </a:pPr>
            <a:r>
              <a:rPr lang="en-US" sz="5200" b="1" dirty="0">
                <a:solidFill>
                  <a:srgbClr val="FFFFFF"/>
                </a:solidFill>
                <a:latin typeface="Arial" pitchFamily="34" charset="0"/>
                <a:ea typeface="Arial" pitchFamily="34" charset="-122"/>
                <a:cs typeface="Arial" pitchFamily="34" charset="-120"/>
              </a:rPr>
              <a:t>Architecture</a:t>
            </a:r>
            <a:endParaRPr lang="en-US" sz="5200" dirty="0"/>
          </a:p>
        </p:txBody>
      </p:sp>
      <p:sp>
        <p:nvSpPr>
          <p:cNvPr id="7" name="Text 5"/>
          <p:cNvSpPr/>
          <p:nvPr/>
        </p:nvSpPr>
        <p:spPr>
          <a:xfrm>
            <a:off x="640080" y="4160520"/>
            <a:ext cx="8412480" cy="731520"/>
          </a:xfrm>
          <a:prstGeom prst="rect">
            <a:avLst/>
          </a:prstGeom>
          <a:noFill/>
          <a:ln/>
        </p:spPr>
        <p:txBody>
          <a:bodyPr wrap="square" lIns="0" tIns="0" rIns="0" bIns="0" rtlCol="0" anchor="ctr"/>
          <a:lstStyle/>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How one of these is actually assembled - drawn the way a solution architect</a:t>
            </a:r>
            <a:endParaRPr lang="en-US" sz="1600" dirty="0"/>
          </a:p>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would draw it, not the way a paper describes it.</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 101"/>
          <p:cNvSpPr/>
          <p:nvPr/>
        </p:nvSpPr>
        <p:spPr>
          <a:xfrm>
            <a:off x="640080" y="384048"/>
            <a:ext cx="10908792" cy="237744"/>
          </a:xfrm>
          <a:prstGeom prst="rect">
            <a:avLst/>
          </a:prstGeom>
          <a:noFill/>
          <a:ln/>
        </p:spPr>
        <p:txBody>
          <a:bodyPr wrap="square" lIns="0" tIns="0" rIns="0" bIns="0" rtlCol="0" anchor="ctr"/>
          <a:lstStyle/>
          <a:p>
            <a:pPr marL="0" indent="0" algn="l">
              <a:buNone/>
            </a:pPr>
            <a:r>
              <a:rPr lang="en-US" sz="1100" b="1" kern="0" spc="200" dirty="0">
                <a:solidFill>
                  <a:srgbClr val="FF6B4A"/>
                </a:solidFill>
                <a:latin typeface="Arial" pitchFamily="34" charset="0"/>
                <a:ea typeface="Arial" pitchFamily="34" charset="-122"/>
                <a:cs typeface="Arial" pitchFamily="34" charset="-120"/>
              </a:rPr>
              <a:t>REFERENCE ARCHITECTURE</a:t>
            </a:r>
            <a:endParaRPr lang="en-US" sz="1100" dirty="0"/>
          </a:p>
        </p:txBody>
      </p:sp>
      <p:sp>
        <p:nvSpPr>
          <p:cNvPr id="102" name="Text 102"/>
          <p:cNvSpPr/>
          <p:nvPr/>
        </p:nvSpPr>
        <p:spPr>
          <a:xfrm>
            <a:off x="640080" y="658368"/>
            <a:ext cx="10908792" cy="658368"/>
          </a:xfrm>
          <a:prstGeom prst="rect">
            <a:avLst/>
          </a:prstGeom>
          <a:noFill/>
          <a:ln/>
        </p:spPr>
        <p:txBody>
          <a:bodyPr wrap="square" lIns="0" tIns="0" rIns="0" bIns="0" rtlCol="0" anchor="t"/>
          <a:lstStyle/>
          <a:p>
            <a:pPr marL="0" indent="0" algn="l">
              <a:buNone/>
            </a:pPr>
            <a:r>
              <a:rPr lang="en-US" sz="3400" b="1" dirty="0">
                <a:solidFill>
                  <a:srgbClr val="0E1524"/>
                </a:solidFill>
                <a:latin typeface="Arial" pitchFamily="34" charset="0"/>
                <a:ea typeface="Arial" pitchFamily="34" charset="-122"/>
                <a:cs typeface="Arial" pitchFamily="34" charset="-120"/>
              </a:rPr>
              <a:t>How you would actually build one</a:t>
            </a:r>
            <a:endParaRPr lang="en-US" sz="3400" dirty="0"/>
          </a:p>
        </p:txBody>
      </p:sp>
      <p:sp>
        <p:nvSpPr>
          <p:cNvPr id="103" name="Text 103"/>
          <p:cNvSpPr/>
          <p:nvPr/>
        </p:nvSpPr>
        <p:spPr>
          <a:xfrm>
            <a:off x="640080" y="1481328"/>
            <a:ext cx="10241280" cy="274320"/>
          </a:xfrm>
          <a:prstGeom prst="rect">
            <a:avLst/>
          </a:prstGeom>
          <a:noFill/>
          <a:ln/>
        </p:spPr>
        <p:txBody>
          <a:bodyPr wrap="square" lIns="0" tIns="0" rIns="0" bIns="0" rtlCol="0" anchor="ctr"/>
          <a:lstStyle/>
          <a:p>
            <a:pPr marL="0" indent="0" algn="l">
              <a:buNone/>
            </a:pPr>
            <a:r>
              <a:rPr lang="en-US" sz="1400" dirty="0">
                <a:solidFill>
                  <a:srgbClr val="6B7689"/>
                </a:solidFill>
                <a:latin typeface="Calibri" pitchFamily="34" charset="0"/>
                <a:ea typeface="Calibri" pitchFamily="34" charset="-122"/>
                <a:cs typeface="Calibri" pitchFamily="34" charset="-120"/>
              </a:rPr>
              <a:t>Five stages and two cross-cutting concerns. Almost every production multimodal system reduces to this.</a:t>
            </a:r>
            <a:endParaRPr lang="en-US" sz="1400" dirty="0"/>
          </a:p>
        </p:txBody>
      </p:sp>
      <p:sp>
        <p:nvSpPr>
          <p:cNvPr id="104" name="Shape 104"/>
          <p:cNvSpPr/>
          <p:nvPr/>
        </p:nvSpPr>
        <p:spPr>
          <a:xfrm>
            <a:off x="640080" y="1880000"/>
            <a:ext cx="1874520" cy="1950000"/>
          </a:xfrm>
          <a:prstGeom prst="roundRect">
            <a:avLst>
              <a:gd name="adj" fmla="val 10526"/>
            </a:avLst>
          </a:prstGeom>
          <a:solidFill>
            <a:srgbClr val="F4F6FA"/>
          </a:solidFill>
          <a:ln/>
        </p:spPr>
        <p:txBody>
          <a:bodyPr/>
          <a:lstStyle/>
          <a:p>
            <a:endParaRPr/>
          </a:p>
        </p:txBody>
      </p:sp>
      <p:sp>
        <p:nvSpPr>
          <p:cNvPr id="105" name="Shape 105"/>
          <p:cNvSpPr/>
          <p:nvPr/>
        </p:nvSpPr>
        <p:spPr>
          <a:xfrm>
            <a:off x="868680" y="2085740"/>
            <a:ext cx="320040" cy="320040"/>
          </a:xfrm>
          <a:prstGeom prst="ellipse">
            <a:avLst/>
          </a:prstGeom>
          <a:solidFill>
            <a:srgbClr val="6B7689"/>
          </a:solidFill>
          <a:ln/>
        </p:spPr>
        <p:txBody>
          <a:bodyPr/>
          <a:lstStyle/>
          <a:p>
            <a:endParaRPr/>
          </a:p>
        </p:txBody>
      </p:sp>
      <p:sp>
        <p:nvSpPr>
          <p:cNvPr id="106" name="Text 106"/>
          <p:cNvSpPr/>
          <p:nvPr/>
        </p:nvSpPr>
        <p:spPr>
          <a:xfrm>
            <a:off x="868680" y="208574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7" name="Text 107"/>
          <p:cNvSpPr/>
          <p:nvPr/>
        </p:nvSpPr>
        <p:spPr>
          <a:xfrm>
            <a:off x="868680" y="2542940"/>
            <a:ext cx="1417320" cy="274320"/>
          </a:xfrm>
          <a:prstGeom prst="rect">
            <a:avLst/>
          </a:prstGeom>
          <a:noFill/>
          <a:ln/>
        </p:spPr>
        <p:txBody>
          <a:bodyPr wrap="square" lIns="0" tIns="0" rIns="0" bIns="0" rtlCol="0" anchor="ctr"/>
          <a:lstStyle/>
          <a:p>
            <a:pPr marL="0" indent="0" algn="l">
              <a:buNone/>
            </a:pPr>
            <a:r>
              <a:rPr lang="en-US" sz="1250" b="1" dirty="0">
                <a:solidFill>
                  <a:srgbClr val="0E1524"/>
                </a:solidFill>
                <a:latin typeface="Arial" pitchFamily="34" charset="0"/>
                <a:ea typeface="Arial" pitchFamily="34" charset="-122"/>
                <a:cs typeface="Arial" pitchFamily="34" charset="-120"/>
              </a:rPr>
              <a:t>INGEST</a:t>
            </a:r>
            <a:endParaRPr lang="en-US" sz="1250" dirty="0"/>
          </a:p>
        </p:txBody>
      </p:sp>
      <p:sp>
        <p:nvSpPr>
          <p:cNvPr id="108" name="Text 108"/>
          <p:cNvSpPr/>
          <p:nvPr/>
        </p:nvSpPr>
        <p:spPr>
          <a:xfrm>
            <a:off x="868680" y="2885840"/>
            <a:ext cx="1417320" cy="1005840"/>
          </a:xfrm>
          <a:prstGeom prst="rect">
            <a:avLst/>
          </a:prstGeom>
          <a:noFill/>
          <a:ln/>
        </p:spPr>
        <p:txBody>
          <a:bodyPr wrap="square" lIns="0" tIns="0" rIns="0" bIns="0" rtlCol="0" anchor="t"/>
          <a:lstStyle/>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Photo, video, audio, tables</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Normalise and chunk</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Keep the raw file</a:t>
            </a:r>
            <a:endParaRPr lang="en-US" sz="950" dirty="0"/>
          </a:p>
        </p:txBody>
      </p:sp>
      <p:sp>
        <p:nvSpPr>
          <p:cNvPr id="109" name="Shape 109"/>
          <p:cNvSpPr/>
          <p:nvPr/>
        </p:nvSpPr>
        <p:spPr>
          <a:xfrm>
            <a:off x="2615184" y="2911420"/>
            <a:ext cx="182880" cy="137160"/>
          </a:xfrm>
          <a:prstGeom prst="rightArrow">
            <a:avLst/>
          </a:prstGeom>
          <a:solidFill>
            <a:srgbClr val="C4CCDA"/>
          </a:solidFill>
          <a:ln/>
        </p:spPr>
        <p:txBody>
          <a:bodyPr/>
          <a:lstStyle/>
          <a:p>
            <a:endParaRPr/>
          </a:p>
        </p:txBody>
      </p:sp>
      <p:sp>
        <p:nvSpPr>
          <p:cNvPr id="110" name="Shape 110"/>
          <p:cNvSpPr/>
          <p:nvPr/>
        </p:nvSpPr>
        <p:spPr>
          <a:xfrm>
            <a:off x="2898648" y="1880000"/>
            <a:ext cx="1874520" cy="1950000"/>
          </a:xfrm>
          <a:prstGeom prst="roundRect">
            <a:avLst>
              <a:gd name="adj" fmla="val 10526"/>
            </a:avLst>
          </a:prstGeom>
          <a:solidFill>
            <a:srgbClr val="F4F6FA"/>
          </a:solidFill>
          <a:ln/>
        </p:spPr>
        <p:txBody>
          <a:bodyPr/>
          <a:lstStyle/>
          <a:p>
            <a:endParaRPr/>
          </a:p>
        </p:txBody>
      </p:sp>
      <p:sp>
        <p:nvSpPr>
          <p:cNvPr id="111" name="Shape 111"/>
          <p:cNvSpPr/>
          <p:nvPr/>
        </p:nvSpPr>
        <p:spPr>
          <a:xfrm>
            <a:off x="3127248" y="2085740"/>
            <a:ext cx="320040" cy="320040"/>
          </a:xfrm>
          <a:prstGeom prst="ellipse">
            <a:avLst/>
          </a:prstGeom>
          <a:solidFill>
            <a:srgbClr val="6B7689"/>
          </a:solidFill>
          <a:ln/>
        </p:spPr>
        <p:txBody>
          <a:bodyPr/>
          <a:lstStyle/>
          <a:p>
            <a:endParaRPr/>
          </a:p>
        </p:txBody>
      </p:sp>
      <p:sp>
        <p:nvSpPr>
          <p:cNvPr id="112" name="Text 112"/>
          <p:cNvSpPr/>
          <p:nvPr/>
        </p:nvSpPr>
        <p:spPr>
          <a:xfrm>
            <a:off x="3127248" y="208574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3" name="Text 113"/>
          <p:cNvSpPr/>
          <p:nvPr/>
        </p:nvSpPr>
        <p:spPr>
          <a:xfrm>
            <a:off x="3127248" y="2542940"/>
            <a:ext cx="1417320" cy="274320"/>
          </a:xfrm>
          <a:prstGeom prst="rect">
            <a:avLst/>
          </a:prstGeom>
          <a:noFill/>
          <a:ln/>
        </p:spPr>
        <p:txBody>
          <a:bodyPr wrap="square" lIns="0" tIns="0" rIns="0" bIns="0" rtlCol="0" anchor="ctr"/>
          <a:lstStyle/>
          <a:p>
            <a:pPr marL="0" indent="0" algn="l">
              <a:buNone/>
            </a:pPr>
            <a:r>
              <a:rPr lang="en-US" sz="1250" b="1" dirty="0">
                <a:solidFill>
                  <a:srgbClr val="0E1524"/>
                </a:solidFill>
                <a:latin typeface="Arial" pitchFamily="34" charset="0"/>
                <a:ea typeface="Arial" pitchFamily="34" charset="-122"/>
                <a:cs typeface="Arial" pitchFamily="34" charset="-120"/>
              </a:rPr>
              <a:t>ENCODE</a:t>
            </a:r>
            <a:endParaRPr lang="en-US" sz="1250" dirty="0"/>
          </a:p>
        </p:txBody>
      </p:sp>
      <p:sp>
        <p:nvSpPr>
          <p:cNvPr id="114" name="Text 114"/>
          <p:cNvSpPr/>
          <p:nvPr/>
        </p:nvSpPr>
        <p:spPr>
          <a:xfrm>
            <a:off x="3127248" y="2885840"/>
            <a:ext cx="1417320" cy="1005840"/>
          </a:xfrm>
          <a:prstGeom prst="rect">
            <a:avLst/>
          </a:prstGeom>
          <a:noFill/>
          <a:ln/>
        </p:spPr>
        <p:txBody>
          <a:bodyPr wrap="square" lIns="0" tIns="0" rIns="0" bIns="0" rtlCol="0" anchor="t"/>
          <a:lstStyle/>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Image to patches</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Audio to spectrogram</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Text to tokens</a:t>
            </a:r>
            <a:endParaRPr lang="en-US" sz="950" dirty="0"/>
          </a:p>
        </p:txBody>
      </p:sp>
      <p:sp>
        <p:nvSpPr>
          <p:cNvPr id="115" name="Shape 115"/>
          <p:cNvSpPr/>
          <p:nvPr/>
        </p:nvSpPr>
        <p:spPr>
          <a:xfrm>
            <a:off x="4873752" y="2911420"/>
            <a:ext cx="182880" cy="137160"/>
          </a:xfrm>
          <a:prstGeom prst="rightArrow">
            <a:avLst/>
          </a:prstGeom>
          <a:solidFill>
            <a:srgbClr val="C4CCDA"/>
          </a:solidFill>
          <a:ln/>
        </p:spPr>
        <p:txBody>
          <a:bodyPr/>
          <a:lstStyle/>
          <a:p>
            <a:endParaRPr/>
          </a:p>
        </p:txBody>
      </p:sp>
      <p:sp>
        <p:nvSpPr>
          <p:cNvPr id="116" name="Shape 116"/>
          <p:cNvSpPr/>
          <p:nvPr/>
        </p:nvSpPr>
        <p:spPr>
          <a:xfrm>
            <a:off x="5157216" y="1880000"/>
            <a:ext cx="1874520" cy="1950000"/>
          </a:xfrm>
          <a:prstGeom prst="roundRect">
            <a:avLst>
              <a:gd name="adj" fmla="val 10526"/>
            </a:avLst>
          </a:prstGeom>
          <a:solidFill>
            <a:srgbClr val="F4F6FA"/>
          </a:solidFill>
          <a:ln/>
        </p:spPr>
        <p:txBody>
          <a:bodyPr/>
          <a:lstStyle/>
          <a:p>
            <a:endParaRPr/>
          </a:p>
        </p:txBody>
      </p:sp>
      <p:sp>
        <p:nvSpPr>
          <p:cNvPr id="117" name="Shape 117"/>
          <p:cNvSpPr/>
          <p:nvPr/>
        </p:nvSpPr>
        <p:spPr>
          <a:xfrm>
            <a:off x="5385816" y="2085740"/>
            <a:ext cx="320040" cy="320040"/>
          </a:xfrm>
          <a:prstGeom prst="ellipse">
            <a:avLst/>
          </a:prstGeom>
          <a:solidFill>
            <a:srgbClr val="FF6B4A"/>
          </a:solidFill>
          <a:ln/>
        </p:spPr>
        <p:txBody>
          <a:bodyPr/>
          <a:lstStyle/>
          <a:p>
            <a:endParaRPr/>
          </a:p>
        </p:txBody>
      </p:sp>
      <p:sp>
        <p:nvSpPr>
          <p:cNvPr id="118" name="Text 118"/>
          <p:cNvSpPr/>
          <p:nvPr/>
        </p:nvSpPr>
        <p:spPr>
          <a:xfrm>
            <a:off x="5385816" y="208574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19" name="Text 119"/>
          <p:cNvSpPr/>
          <p:nvPr/>
        </p:nvSpPr>
        <p:spPr>
          <a:xfrm>
            <a:off x="5385816" y="2542940"/>
            <a:ext cx="1417320" cy="274320"/>
          </a:xfrm>
          <a:prstGeom prst="rect">
            <a:avLst/>
          </a:prstGeom>
          <a:noFill/>
          <a:ln/>
        </p:spPr>
        <p:txBody>
          <a:bodyPr wrap="square" lIns="0" tIns="0" rIns="0" bIns="0" rtlCol="0" anchor="ctr"/>
          <a:lstStyle/>
          <a:p>
            <a:pPr marL="0" indent="0" algn="l">
              <a:buNone/>
            </a:pPr>
            <a:r>
              <a:rPr lang="en-US" sz="1250" b="1" dirty="0">
                <a:solidFill>
                  <a:srgbClr val="FF6B4A"/>
                </a:solidFill>
                <a:latin typeface="Arial" pitchFamily="34" charset="0"/>
                <a:ea typeface="Arial" pitchFamily="34" charset="-122"/>
                <a:cs typeface="Arial" pitchFamily="34" charset="-120"/>
              </a:rPr>
              <a:t>REASON</a:t>
            </a:r>
            <a:endParaRPr lang="en-US" sz="1250" dirty="0"/>
          </a:p>
        </p:txBody>
      </p:sp>
      <p:sp>
        <p:nvSpPr>
          <p:cNvPr id="120" name="Text 120"/>
          <p:cNvSpPr/>
          <p:nvPr/>
        </p:nvSpPr>
        <p:spPr>
          <a:xfrm>
            <a:off x="5385816" y="2885840"/>
            <a:ext cx="1417320" cy="1005840"/>
          </a:xfrm>
          <a:prstGeom prst="rect">
            <a:avLst/>
          </a:prstGeom>
          <a:noFill/>
          <a:ln/>
        </p:spPr>
        <p:txBody>
          <a:bodyPr wrap="square" lIns="0" tIns="0" rIns="0" bIns="0" rtlCol="0" anchor="t"/>
          <a:lstStyle/>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One prompt, all modalities</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Vision-language model</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Fusion happens here</a:t>
            </a:r>
            <a:endParaRPr lang="en-US" sz="950" dirty="0"/>
          </a:p>
        </p:txBody>
      </p:sp>
      <p:sp>
        <p:nvSpPr>
          <p:cNvPr id="121" name="Shape 121"/>
          <p:cNvSpPr/>
          <p:nvPr/>
        </p:nvSpPr>
        <p:spPr>
          <a:xfrm>
            <a:off x="7132320" y="2911420"/>
            <a:ext cx="182880" cy="137160"/>
          </a:xfrm>
          <a:prstGeom prst="rightArrow">
            <a:avLst/>
          </a:prstGeom>
          <a:solidFill>
            <a:srgbClr val="C4CCDA"/>
          </a:solidFill>
          <a:ln/>
        </p:spPr>
        <p:txBody>
          <a:bodyPr/>
          <a:lstStyle/>
          <a:p>
            <a:endParaRPr/>
          </a:p>
        </p:txBody>
      </p:sp>
      <p:sp>
        <p:nvSpPr>
          <p:cNvPr id="122" name="Shape 122"/>
          <p:cNvSpPr/>
          <p:nvPr/>
        </p:nvSpPr>
        <p:spPr>
          <a:xfrm>
            <a:off x="7415784" y="1880000"/>
            <a:ext cx="1874520" cy="1950000"/>
          </a:xfrm>
          <a:prstGeom prst="roundRect">
            <a:avLst>
              <a:gd name="adj" fmla="val 10526"/>
            </a:avLst>
          </a:prstGeom>
          <a:solidFill>
            <a:srgbClr val="F4F6FA"/>
          </a:solidFill>
          <a:ln/>
        </p:spPr>
        <p:txBody>
          <a:bodyPr/>
          <a:lstStyle/>
          <a:p>
            <a:endParaRPr/>
          </a:p>
        </p:txBody>
      </p:sp>
      <p:sp>
        <p:nvSpPr>
          <p:cNvPr id="123" name="Shape 123"/>
          <p:cNvSpPr/>
          <p:nvPr/>
        </p:nvSpPr>
        <p:spPr>
          <a:xfrm>
            <a:off x="7644384" y="2085740"/>
            <a:ext cx="320040" cy="320040"/>
          </a:xfrm>
          <a:prstGeom prst="ellipse">
            <a:avLst/>
          </a:prstGeom>
          <a:solidFill>
            <a:srgbClr val="6B7689"/>
          </a:solidFill>
          <a:ln/>
        </p:spPr>
        <p:txBody>
          <a:bodyPr/>
          <a:lstStyle/>
          <a:p>
            <a:endParaRPr/>
          </a:p>
        </p:txBody>
      </p:sp>
      <p:sp>
        <p:nvSpPr>
          <p:cNvPr id="124" name="Text 124"/>
          <p:cNvSpPr/>
          <p:nvPr/>
        </p:nvSpPr>
        <p:spPr>
          <a:xfrm>
            <a:off x="7644384" y="208574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25" name="Text 125"/>
          <p:cNvSpPr/>
          <p:nvPr/>
        </p:nvSpPr>
        <p:spPr>
          <a:xfrm>
            <a:off x="7644384" y="2542940"/>
            <a:ext cx="1417320" cy="274320"/>
          </a:xfrm>
          <a:prstGeom prst="rect">
            <a:avLst/>
          </a:prstGeom>
          <a:noFill/>
          <a:ln/>
        </p:spPr>
        <p:txBody>
          <a:bodyPr wrap="square" lIns="0" tIns="0" rIns="0" bIns="0" rtlCol="0" anchor="ctr"/>
          <a:lstStyle/>
          <a:p>
            <a:pPr marL="0" indent="0" algn="l">
              <a:buNone/>
            </a:pPr>
            <a:r>
              <a:rPr lang="en-US" sz="1250" b="1" dirty="0">
                <a:solidFill>
                  <a:srgbClr val="0E1524"/>
                </a:solidFill>
                <a:latin typeface="Arial" pitchFamily="34" charset="0"/>
                <a:ea typeface="Arial" pitchFamily="34" charset="-122"/>
                <a:cs typeface="Arial" pitchFamily="34" charset="-120"/>
              </a:rPr>
              <a:t>STRUCTURE</a:t>
            </a:r>
            <a:endParaRPr lang="en-US" sz="1250" dirty="0"/>
          </a:p>
        </p:txBody>
      </p:sp>
      <p:sp>
        <p:nvSpPr>
          <p:cNvPr id="126" name="Text 126"/>
          <p:cNvSpPr/>
          <p:nvPr/>
        </p:nvSpPr>
        <p:spPr>
          <a:xfrm>
            <a:off x="7644384" y="2885840"/>
            <a:ext cx="1417320" cy="1005840"/>
          </a:xfrm>
          <a:prstGeom prst="rect">
            <a:avLst/>
          </a:prstGeom>
          <a:noFill/>
          <a:ln/>
        </p:spPr>
        <p:txBody>
          <a:bodyPr wrap="square" lIns="0" tIns="0" rIns="0" bIns="0" rtlCol="0" anchor="t"/>
          <a:lstStyle/>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JSON schema per request</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Parse and validate</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Confidence per field</a:t>
            </a:r>
            <a:endParaRPr lang="en-US" sz="950" dirty="0"/>
          </a:p>
        </p:txBody>
      </p:sp>
      <p:sp>
        <p:nvSpPr>
          <p:cNvPr id="127" name="Shape 127"/>
          <p:cNvSpPr/>
          <p:nvPr/>
        </p:nvSpPr>
        <p:spPr>
          <a:xfrm>
            <a:off x="9390888" y="2911420"/>
            <a:ext cx="182880" cy="137160"/>
          </a:xfrm>
          <a:prstGeom prst="rightArrow">
            <a:avLst/>
          </a:prstGeom>
          <a:solidFill>
            <a:srgbClr val="C4CCDA"/>
          </a:solidFill>
          <a:ln/>
        </p:spPr>
        <p:txBody>
          <a:bodyPr/>
          <a:lstStyle/>
          <a:p>
            <a:endParaRPr/>
          </a:p>
        </p:txBody>
      </p:sp>
      <p:sp>
        <p:nvSpPr>
          <p:cNvPr id="128" name="Shape 128"/>
          <p:cNvSpPr/>
          <p:nvPr/>
        </p:nvSpPr>
        <p:spPr>
          <a:xfrm>
            <a:off x="9674352" y="1880000"/>
            <a:ext cx="1874520" cy="1950000"/>
          </a:xfrm>
          <a:prstGeom prst="roundRect">
            <a:avLst>
              <a:gd name="adj" fmla="val 10526"/>
            </a:avLst>
          </a:prstGeom>
          <a:solidFill>
            <a:srgbClr val="F4F6FA"/>
          </a:solidFill>
          <a:ln/>
        </p:spPr>
        <p:txBody>
          <a:bodyPr/>
          <a:lstStyle/>
          <a:p>
            <a:endParaRPr/>
          </a:p>
        </p:txBody>
      </p:sp>
      <p:sp>
        <p:nvSpPr>
          <p:cNvPr id="129" name="Shape 129"/>
          <p:cNvSpPr/>
          <p:nvPr/>
        </p:nvSpPr>
        <p:spPr>
          <a:xfrm>
            <a:off x="9902952" y="2085740"/>
            <a:ext cx="320040" cy="320040"/>
          </a:xfrm>
          <a:prstGeom prst="ellipse">
            <a:avLst/>
          </a:prstGeom>
          <a:solidFill>
            <a:srgbClr val="6B7689"/>
          </a:solidFill>
          <a:ln/>
        </p:spPr>
        <p:txBody>
          <a:bodyPr/>
          <a:lstStyle/>
          <a:p>
            <a:endParaRPr/>
          </a:p>
        </p:txBody>
      </p:sp>
      <p:sp>
        <p:nvSpPr>
          <p:cNvPr id="130" name="Text 130"/>
          <p:cNvSpPr/>
          <p:nvPr/>
        </p:nvSpPr>
        <p:spPr>
          <a:xfrm>
            <a:off x="9902952" y="208574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31" name="Text 131"/>
          <p:cNvSpPr/>
          <p:nvPr/>
        </p:nvSpPr>
        <p:spPr>
          <a:xfrm>
            <a:off x="9902952" y="2542940"/>
            <a:ext cx="1417320" cy="274320"/>
          </a:xfrm>
          <a:prstGeom prst="rect">
            <a:avLst/>
          </a:prstGeom>
          <a:noFill/>
          <a:ln/>
        </p:spPr>
        <p:txBody>
          <a:bodyPr wrap="square" lIns="0" tIns="0" rIns="0" bIns="0" rtlCol="0" anchor="ctr"/>
          <a:lstStyle/>
          <a:p>
            <a:pPr marL="0" indent="0" algn="l">
              <a:buNone/>
            </a:pPr>
            <a:r>
              <a:rPr lang="en-US" sz="1250" b="1" dirty="0">
                <a:solidFill>
                  <a:srgbClr val="0E1524"/>
                </a:solidFill>
                <a:latin typeface="Arial" pitchFamily="34" charset="0"/>
                <a:ea typeface="Arial" pitchFamily="34" charset="-122"/>
                <a:cs typeface="Arial" pitchFamily="34" charset="-120"/>
              </a:rPr>
              <a:t>VERIFY</a:t>
            </a:r>
            <a:endParaRPr lang="en-US" sz="1250" dirty="0"/>
          </a:p>
        </p:txBody>
      </p:sp>
      <p:sp>
        <p:nvSpPr>
          <p:cNvPr id="132" name="Text 132"/>
          <p:cNvSpPr/>
          <p:nvPr/>
        </p:nvSpPr>
        <p:spPr>
          <a:xfrm>
            <a:off x="9902952" y="2885840"/>
            <a:ext cx="1417320" cy="1005840"/>
          </a:xfrm>
          <a:prstGeom prst="rect">
            <a:avLst/>
          </a:prstGeom>
          <a:noFill/>
          <a:ln/>
        </p:spPr>
        <p:txBody>
          <a:bodyPr wrap="square" lIns="0" tIns="0" rIns="0" bIns="0" rtlCol="0" anchor="t"/>
          <a:lstStyle/>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Thresholds and rules</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Human review queue</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Log every case</a:t>
            </a:r>
            <a:endParaRPr lang="en-US" sz="950" dirty="0"/>
          </a:p>
        </p:txBody>
      </p:sp>
      <p:sp>
        <p:nvSpPr>
          <p:cNvPr id="133" name="Shape 133"/>
          <p:cNvSpPr/>
          <p:nvPr/>
        </p:nvSpPr>
        <p:spPr>
          <a:xfrm>
            <a:off x="640080" y="4380000"/>
            <a:ext cx="10908792" cy="838200"/>
          </a:xfrm>
          <a:prstGeom prst="roundRect">
            <a:avLst>
              <a:gd name="adj" fmla="val 10526"/>
            </a:avLst>
          </a:prstGeom>
          <a:solidFill>
            <a:srgbClr val="0E1524"/>
          </a:solidFill>
          <a:ln/>
        </p:spPr>
        <p:txBody>
          <a:bodyPr/>
          <a:lstStyle/>
          <a:p>
            <a:endParaRPr/>
          </a:p>
        </p:txBody>
      </p:sp>
      <p:sp>
        <p:nvSpPr>
          <p:cNvPr id="134" name="Text 134"/>
          <p:cNvSpPr/>
          <p:nvPr/>
        </p:nvSpPr>
        <p:spPr>
          <a:xfrm>
            <a:off x="914400" y="4517160"/>
            <a:ext cx="3200400" cy="210000"/>
          </a:xfrm>
          <a:prstGeom prst="rect">
            <a:avLst/>
          </a:prstGeom>
          <a:noFill/>
          <a:ln/>
        </p:spPr>
        <p:txBody>
          <a:bodyPr wrap="square" lIns="0" tIns="0" rIns="0" bIns="0" rtlCol="0" anchor="ctr"/>
          <a:lstStyle/>
          <a:p>
            <a:pPr marL="0" indent="0" algn="l">
              <a:buNone/>
            </a:pPr>
            <a:r>
              <a:rPr lang="en-US" sz="950" b="1" kern="0" spc="200" dirty="0">
                <a:solidFill>
                  <a:srgbClr val="00C2A8"/>
                </a:solidFill>
                <a:latin typeface="Arial" pitchFamily="34" charset="0"/>
                <a:ea typeface="Arial" pitchFamily="34" charset="-122"/>
                <a:cs typeface="Arial" pitchFamily="34" charset="-120"/>
              </a:rPr>
              <a:t>ACROSS ALL FIVE STAGES</a:t>
            </a:r>
            <a:endParaRPr lang="en-US" sz="950" dirty="0"/>
          </a:p>
        </p:txBody>
      </p:sp>
      <p:sp>
        <p:nvSpPr>
          <p:cNvPr id="135" name="Text 135"/>
          <p:cNvSpPr/>
          <p:nvPr/>
        </p:nvSpPr>
        <p:spPr>
          <a:xfrm>
            <a:off x="914400" y="4791480"/>
            <a:ext cx="2407158" cy="210000"/>
          </a:xfrm>
          <a:prstGeom prst="rect">
            <a:avLst/>
          </a:prstGeom>
          <a:noFill/>
          <a:ln/>
        </p:spPr>
        <p:txBody>
          <a:bodyPr wrap="square" lIns="0" tIns="0" rIns="0" bIns="0" rtlCol="0" anchor="ctr"/>
          <a:lstStyle/>
          <a:p>
            <a:pPr marL="0" indent="0" algn="l">
              <a:buNone/>
            </a:pPr>
            <a:r>
              <a:rPr lang="en-US" sz="1050" b="1" dirty="0">
                <a:solidFill>
                  <a:srgbClr val="FFFFFF"/>
                </a:solidFill>
                <a:latin typeface="Arial" pitchFamily="34" charset="0"/>
                <a:ea typeface="Arial" pitchFamily="34" charset="-122"/>
                <a:cs typeface="Arial" pitchFamily="34" charset="-120"/>
              </a:rPr>
              <a:t>Evaluation set</a:t>
            </a:r>
            <a:endParaRPr lang="en-US" sz="1050" dirty="0"/>
          </a:p>
        </p:txBody>
      </p:sp>
      <p:sp>
        <p:nvSpPr>
          <p:cNvPr id="136" name="Text 136"/>
          <p:cNvSpPr/>
          <p:nvPr/>
        </p:nvSpPr>
        <p:spPr>
          <a:xfrm>
            <a:off x="914400" y="4997220"/>
            <a:ext cx="2407158" cy="182880"/>
          </a:xfrm>
          <a:prstGeom prst="rect">
            <a:avLst/>
          </a:prstGeom>
          <a:noFill/>
          <a:ln/>
        </p:spPr>
        <p:txBody>
          <a:bodyPr wrap="square" lIns="0" tIns="0" rIns="0" bIns="0" rtlCol="0" anchor="ctr"/>
          <a:lstStyle/>
          <a:p>
            <a:pPr marL="0" indent="0" algn="l">
              <a:buNone/>
            </a:pPr>
            <a:r>
              <a:rPr lang="en-US" sz="900" dirty="0">
                <a:solidFill>
                  <a:srgbClr val="A8B2C4"/>
                </a:solidFill>
                <a:latin typeface="Calibri" pitchFamily="34" charset="0"/>
                <a:ea typeface="Calibri" pitchFamily="34" charset="-122"/>
                <a:cs typeface="Calibri" pitchFamily="34" charset="-120"/>
              </a:rPr>
              <a:t>Built before the system, not after</a:t>
            </a:r>
            <a:endParaRPr lang="en-US" sz="900" dirty="0"/>
          </a:p>
        </p:txBody>
      </p:sp>
      <p:sp>
        <p:nvSpPr>
          <p:cNvPr id="137" name="Text 137"/>
          <p:cNvSpPr/>
          <p:nvPr/>
        </p:nvSpPr>
        <p:spPr>
          <a:xfrm>
            <a:off x="3504438" y="4791480"/>
            <a:ext cx="2407158" cy="210000"/>
          </a:xfrm>
          <a:prstGeom prst="rect">
            <a:avLst/>
          </a:prstGeom>
          <a:noFill/>
          <a:ln/>
        </p:spPr>
        <p:txBody>
          <a:bodyPr wrap="square" lIns="0" tIns="0" rIns="0" bIns="0" rtlCol="0" anchor="ctr"/>
          <a:lstStyle/>
          <a:p>
            <a:pPr marL="0" indent="0" algn="l">
              <a:buNone/>
            </a:pPr>
            <a:r>
              <a:rPr lang="en-US" sz="1050" b="1" dirty="0">
                <a:solidFill>
                  <a:srgbClr val="FFFFFF"/>
                </a:solidFill>
                <a:latin typeface="Arial" pitchFamily="34" charset="0"/>
                <a:ea typeface="Arial" pitchFamily="34" charset="-122"/>
                <a:cs typeface="Arial" pitchFamily="34" charset="-120"/>
              </a:rPr>
              <a:t>Cost and latency budget</a:t>
            </a:r>
            <a:endParaRPr lang="en-US" sz="1050" dirty="0"/>
          </a:p>
        </p:txBody>
      </p:sp>
      <p:sp>
        <p:nvSpPr>
          <p:cNvPr id="138" name="Text 138"/>
          <p:cNvSpPr/>
          <p:nvPr/>
        </p:nvSpPr>
        <p:spPr>
          <a:xfrm>
            <a:off x="3504438" y="4997220"/>
            <a:ext cx="2407158" cy="182880"/>
          </a:xfrm>
          <a:prstGeom prst="rect">
            <a:avLst/>
          </a:prstGeom>
          <a:noFill/>
          <a:ln/>
        </p:spPr>
        <p:txBody>
          <a:bodyPr wrap="square" lIns="0" tIns="0" rIns="0" bIns="0" rtlCol="0" anchor="ctr"/>
          <a:lstStyle/>
          <a:p>
            <a:pPr marL="0" indent="0" algn="l">
              <a:buNone/>
            </a:pPr>
            <a:r>
              <a:rPr lang="en-US" sz="900" dirty="0">
                <a:solidFill>
                  <a:srgbClr val="A8B2C4"/>
                </a:solidFill>
                <a:latin typeface="Calibri" pitchFamily="34" charset="0"/>
                <a:ea typeface="Calibri" pitchFamily="34" charset="-122"/>
                <a:cs typeface="Calibri" pitchFamily="34" charset="-120"/>
              </a:rPr>
              <a:t>One image ≈ a page of text in tokens</a:t>
            </a:r>
            <a:endParaRPr lang="en-US" sz="900" dirty="0"/>
          </a:p>
        </p:txBody>
      </p:sp>
      <p:sp>
        <p:nvSpPr>
          <p:cNvPr id="139" name="Text 139"/>
          <p:cNvSpPr/>
          <p:nvPr/>
        </p:nvSpPr>
        <p:spPr>
          <a:xfrm>
            <a:off x="6094476" y="4791480"/>
            <a:ext cx="2407158" cy="210000"/>
          </a:xfrm>
          <a:prstGeom prst="rect">
            <a:avLst/>
          </a:prstGeom>
          <a:noFill/>
          <a:ln/>
        </p:spPr>
        <p:txBody>
          <a:bodyPr wrap="square" lIns="0" tIns="0" rIns="0" bIns="0" rtlCol="0" anchor="ctr"/>
          <a:lstStyle/>
          <a:p>
            <a:pPr marL="0" indent="0" algn="l">
              <a:buNone/>
            </a:pPr>
            <a:r>
              <a:rPr lang="en-US" sz="1050" b="1" dirty="0">
                <a:solidFill>
                  <a:srgbClr val="FFFFFF"/>
                </a:solidFill>
                <a:latin typeface="Arial" pitchFamily="34" charset="0"/>
                <a:ea typeface="Arial" pitchFamily="34" charset="-122"/>
                <a:cs typeface="Arial" pitchFamily="34" charset="-120"/>
              </a:rPr>
              <a:t>Data governance</a:t>
            </a:r>
            <a:endParaRPr lang="en-US" sz="1050" dirty="0"/>
          </a:p>
        </p:txBody>
      </p:sp>
      <p:sp>
        <p:nvSpPr>
          <p:cNvPr id="140" name="Text 140"/>
          <p:cNvSpPr/>
          <p:nvPr/>
        </p:nvSpPr>
        <p:spPr>
          <a:xfrm>
            <a:off x="6094476" y="4997220"/>
            <a:ext cx="2407158" cy="182880"/>
          </a:xfrm>
          <a:prstGeom prst="rect">
            <a:avLst/>
          </a:prstGeom>
          <a:noFill/>
          <a:ln/>
        </p:spPr>
        <p:txBody>
          <a:bodyPr wrap="square" lIns="0" tIns="0" rIns="0" bIns="0" rtlCol="0" anchor="ctr"/>
          <a:lstStyle/>
          <a:p>
            <a:pPr marL="0" indent="0" algn="l">
              <a:buNone/>
            </a:pPr>
            <a:r>
              <a:rPr lang="en-US" sz="900" dirty="0">
                <a:solidFill>
                  <a:srgbClr val="A8B2C4"/>
                </a:solidFill>
                <a:latin typeface="Calibri" pitchFamily="34" charset="0"/>
                <a:ea typeface="Calibri" pitchFamily="34" charset="-122"/>
                <a:cs typeface="Calibri" pitchFamily="34" charset="-120"/>
              </a:rPr>
              <a:t>Consent, PII, DPDP duties, and where the file travels</a:t>
            </a:r>
            <a:endParaRPr lang="en-US" sz="900" dirty="0"/>
          </a:p>
        </p:txBody>
      </p:sp>
      <p:sp>
        <p:nvSpPr>
          <p:cNvPr id="141" name="Text 141"/>
          <p:cNvSpPr/>
          <p:nvPr/>
        </p:nvSpPr>
        <p:spPr>
          <a:xfrm>
            <a:off x="8684514" y="4791480"/>
            <a:ext cx="2407158" cy="210000"/>
          </a:xfrm>
          <a:prstGeom prst="rect">
            <a:avLst/>
          </a:prstGeom>
          <a:noFill/>
          <a:ln/>
        </p:spPr>
        <p:txBody>
          <a:bodyPr wrap="square" lIns="0" tIns="0" rIns="0" bIns="0" rtlCol="0" anchor="ctr"/>
          <a:lstStyle/>
          <a:p>
            <a:pPr marL="0" indent="0" algn="l">
              <a:buNone/>
            </a:pPr>
            <a:r>
              <a:rPr lang="en-US" sz="1050" b="1" dirty="0">
                <a:solidFill>
                  <a:srgbClr val="FFFFFF"/>
                </a:solidFill>
                <a:latin typeface="Arial" pitchFamily="34" charset="0"/>
                <a:ea typeface="Arial" pitchFamily="34" charset="-122"/>
                <a:cs typeface="Arial" pitchFamily="34" charset="-120"/>
              </a:rPr>
              <a:t>Fallback path</a:t>
            </a:r>
            <a:endParaRPr lang="en-US" sz="1050" dirty="0"/>
          </a:p>
        </p:txBody>
      </p:sp>
      <p:sp>
        <p:nvSpPr>
          <p:cNvPr id="142" name="Text 142"/>
          <p:cNvSpPr/>
          <p:nvPr/>
        </p:nvSpPr>
        <p:spPr>
          <a:xfrm>
            <a:off x="8684514" y="4997220"/>
            <a:ext cx="2407158" cy="182880"/>
          </a:xfrm>
          <a:prstGeom prst="rect">
            <a:avLst/>
          </a:prstGeom>
          <a:noFill/>
          <a:ln/>
        </p:spPr>
        <p:txBody>
          <a:bodyPr wrap="square" lIns="0" tIns="0" rIns="0" bIns="0" rtlCol="0" anchor="ctr"/>
          <a:lstStyle/>
          <a:p>
            <a:pPr marL="0" indent="0" algn="l">
              <a:buNone/>
            </a:pPr>
            <a:r>
              <a:rPr lang="en-US" sz="900" dirty="0">
                <a:solidFill>
                  <a:srgbClr val="A8B2C4"/>
                </a:solidFill>
                <a:latin typeface="Calibri" pitchFamily="34" charset="0"/>
                <a:ea typeface="Calibri" pitchFamily="34" charset="-122"/>
                <a:cs typeface="Calibri" pitchFamily="34" charset="-120"/>
              </a:rPr>
              <a:t>What happens when the model abstains</a:t>
            </a:r>
            <a:endParaRPr lang="en-US" sz="900" dirty="0"/>
          </a:p>
        </p:txBody>
      </p:sp>
      <p:sp>
        <p:nvSpPr>
          <p:cNvPr id="143" name="Text 143"/>
          <p:cNvSpPr/>
          <p:nvPr/>
        </p:nvSpPr>
        <p:spPr>
          <a:xfrm>
            <a:off x="640080" y="5532120"/>
            <a:ext cx="10908792" cy="365760"/>
          </a:xfrm>
          <a:prstGeom prst="rect">
            <a:avLst/>
          </a:prstGeom>
          <a:noFill/>
          <a:ln/>
        </p:spPr>
        <p:txBody>
          <a:bodyPr wrap="square" lIns="0" tIns="0" rIns="0" bIns="0" rtlCol="0" anchor="ctr"/>
          <a:lstStyle/>
          <a:p>
            <a:pPr marL="0" indent="0" algn="l">
              <a:buNone/>
            </a:pPr>
            <a:r>
              <a:rPr lang="en-US" sz="1600" b="1" dirty="0">
                <a:solidFill>
                  <a:srgbClr val="0E1524"/>
                </a:solidFill>
                <a:latin typeface="Arial" pitchFamily="34" charset="0"/>
                <a:ea typeface="Arial" pitchFamily="34" charset="-122"/>
                <a:cs typeface="Arial" pitchFamily="34" charset="-120"/>
              </a:rPr>
              <a:t>Stages 1, 2, 4 and 5 are ordinary engineering. Only stage 3 is new - and most projects fail on the other four.</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4" name="Text 144"/>
          <p:cNvSpPr/>
          <p:nvPr/>
        </p:nvSpPr>
        <p:spPr>
          <a:xfrm>
            <a:off x="640080" y="384048"/>
            <a:ext cx="10908792" cy="237744"/>
          </a:xfrm>
          <a:prstGeom prst="rect">
            <a:avLst/>
          </a:prstGeom>
          <a:noFill/>
          <a:ln/>
        </p:spPr>
        <p:txBody>
          <a:bodyPr wrap="square" lIns="0" tIns="0" rIns="0" bIns="0" rtlCol="0" anchor="ctr"/>
          <a:lstStyle/>
          <a:p>
            <a:pPr marL="0" indent="0" algn="l">
              <a:buNone/>
            </a:pPr>
            <a:r>
              <a:rPr lang="en-US" sz="1100" b="1" kern="0" spc="200" dirty="0">
                <a:solidFill>
                  <a:srgbClr val="FF6B4A"/>
                </a:solidFill>
                <a:latin typeface="Arial" pitchFamily="34" charset="0"/>
                <a:ea typeface="Arial" pitchFamily="34" charset="-122"/>
                <a:cs typeface="Arial" pitchFamily="34" charset="-120"/>
              </a:rPr>
              <a:t>WORKED EXAMPLE</a:t>
            </a:r>
            <a:endParaRPr lang="en-US" sz="1100" dirty="0"/>
          </a:p>
        </p:txBody>
      </p:sp>
      <p:sp>
        <p:nvSpPr>
          <p:cNvPr id="145" name="Text 145"/>
          <p:cNvSpPr/>
          <p:nvPr/>
        </p:nvSpPr>
        <p:spPr>
          <a:xfrm>
            <a:off x="640080" y="658368"/>
            <a:ext cx="10908792" cy="658368"/>
          </a:xfrm>
          <a:prstGeom prst="rect">
            <a:avLst/>
          </a:prstGeom>
          <a:noFill/>
          <a:ln/>
        </p:spPr>
        <p:txBody>
          <a:bodyPr wrap="square" lIns="0" tIns="0" rIns="0" bIns="0" rtlCol="0" anchor="t"/>
          <a:lstStyle/>
          <a:p>
            <a:pPr marL="0" indent="0" algn="l">
              <a:buNone/>
            </a:pPr>
            <a:r>
              <a:rPr lang="en-US" sz="3400" b="1" dirty="0">
                <a:solidFill>
                  <a:srgbClr val="0E1524"/>
                </a:solidFill>
                <a:latin typeface="Arial" pitchFamily="34" charset="0"/>
                <a:ea typeface="Arial" pitchFamily="34" charset="-122"/>
                <a:cs typeface="Arial" pitchFamily="34" charset="-120"/>
              </a:rPr>
              <a:t>The cracked weld, traced end to end</a:t>
            </a:r>
            <a:endParaRPr lang="en-US" sz="3400" dirty="0"/>
          </a:p>
        </p:txBody>
      </p:sp>
      <p:sp>
        <p:nvSpPr>
          <p:cNvPr id="146" name="Text 146"/>
          <p:cNvSpPr/>
          <p:nvPr/>
        </p:nvSpPr>
        <p:spPr>
          <a:xfrm>
            <a:off x="640080" y="1481328"/>
            <a:ext cx="10241280" cy="274320"/>
          </a:xfrm>
          <a:prstGeom prst="rect">
            <a:avLst/>
          </a:prstGeom>
          <a:noFill/>
          <a:ln/>
        </p:spPr>
        <p:txBody>
          <a:bodyPr wrap="square" lIns="0" tIns="0" rIns="0" bIns="0" rtlCol="0" anchor="ctr"/>
          <a:lstStyle/>
          <a:p>
            <a:pPr marL="0" indent="0" algn="l">
              <a:buNone/>
            </a:pPr>
            <a:r>
              <a:rPr lang="en-US" sz="1400" dirty="0">
                <a:solidFill>
                  <a:srgbClr val="6B7689"/>
                </a:solidFill>
                <a:latin typeface="Calibri" pitchFamily="34" charset="0"/>
                <a:ea typeface="Calibri" pitchFamily="34" charset="-122"/>
                <a:cs typeface="Calibri" pitchFamily="34" charset="-120"/>
              </a:rPr>
              <a:t>The question from slide 2, run through the five stages you just saw.</a:t>
            </a:r>
            <a:endParaRPr lang="en-US" sz="1400" dirty="0"/>
          </a:p>
        </p:txBody>
      </p:sp>
      <p:sp>
        <p:nvSpPr>
          <p:cNvPr id="147" name="Text 147"/>
          <p:cNvSpPr/>
          <p:nvPr/>
        </p:nvSpPr>
        <p:spPr>
          <a:xfrm>
            <a:off x="640080" y="1930000"/>
            <a:ext cx="2743200" cy="210000"/>
          </a:xfrm>
          <a:prstGeom prst="rect">
            <a:avLst/>
          </a:prstGeom>
          <a:noFill/>
          <a:ln/>
        </p:spPr>
        <p:txBody>
          <a:bodyPr wrap="square" lIns="0" tIns="0" rIns="0" bIns="0" rtlCol="0" anchor="ctr"/>
          <a:lstStyle/>
          <a:p>
            <a:pPr marL="0" indent="0" algn="l">
              <a:buNone/>
            </a:pPr>
            <a:r>
              <a:rPr lang="en-US" sz="950" b="1" kern="0" spc="200" dirty="0">
                <a:solidFill>
                  <a:srgbClr val="6B7689"/>
                </a:solidFill>
                <a:latin typeface="Arial" pitchFamily="34" charset="0"/>
                <a:ea typeface="Arial" pitchFamily="34" charset="-122"/>
                <a:cs typeface="Arial" pitchFamily="34" charset="-120"/>
              </a:rPr>
              <a:t>INPUTS</a:t>
            </a:r>
            <a:endParaRPr lang="en-US" sz="950" dirty="0"/>
          </a:p>
        </p:txBody>
      </p:sp>
      <p:sp>
        <p:nvSpPr>
          <p:cNvPr id="148" name="Text 148"/>
          <p:cNvSpPr/>
          <p:nvPr/>
        </p:nvSpPr>
        <p:spPr>
          <a:xfrm>
            <a:off x="3931920" y="1930000"/>
            <a:ext cx="3474720" cy="210000"/>
          </a:xfrm>
          <a:prstGeom prst="rect">
            <a:avLst/>
          </a:prstGeom>
          <a:noFill/>
          <a:ln/>
        </p:spPr>
        <p:txBody>
          <a:bodyPr wrap="square" lIns="0" tIns="0" rIns="0" bIns="0" rtlCol="0" anchor="ctr"/>
          <a:lstStyle/>
          <a:p>
            <a:pPr marL="0" indent="0" algn="l">
              <a:buNone/>
            </a:pPr>
            <a:r>
              <a:rPr lang="en-US" sz="950" b="1" kern="0" spc="200" dirty="0">
                <a:solidFill>
                  <a:srgbClr val="6B7689"/>
                </a:solidFill>
                <a:latin typeface="Arial" pitchFamily="34" charset="0"/>
                <a:ea typeface="Arial" pitchFamily="34" charset="-122"/>
                <a:cs typeface="Arial" pitchFamily="34" charset="-120"/>
              </a:rPr>
              <a:t>ASSEMBLY</a:t>
            </a:r>
            <a:endParaRPr lang="en-US" sz="950" dirty="0"/>
          </a:p>
        </p:txBody>
      </p:sp>
      <p:sp>
        <p:nvSpPr>
          <p:cNvPr id="149" name="Text 149"/>
          <p:cNvSpPr/>
          <p:nvPr/>
        </p:nvSpPr>
        <p:spPr>
          <a:xfrm>
            <a:off x="7955280" y="1930000"/>
            <a:ext cx="3593592" cy="210000"/>
          </a:xfrm>
          <a:prstGeom prst="rect">
            <a:avLst/>
          </a:prstGeom>
          <a:noFill/>
          <a:ln/>
        </p:spPr>
        <p:txBody>
          <a:bodyPr wrap="square" lIns="0" tIns="0" rIns="0" bIns="0" rtlCol="0" anchor="ctr"/>
          <a:lstStyle/>
          <a:p>
            <a:pPr marL="0" indent="0" algn="l">
              <a:buNone/>
            </a:pPr>
            <a:r>
              <a:rPr lang="en-US" sz="950" b="1" kern="0" spc="200" dirty="0">
                <a:solidFill>
                  <a:srgbClr val="6B7689"/>
                </a:solidFill>
                <a:latin typeface="Arial" pitchFamily="34" charset="0"/>
                <a:ea typeface="Arial" pitchFamily="34" charset="-122"/>
                <a:cs typeface="Arial" pitchFamily="34" charset="-120"/>
              </a:rPr>
              <a:t>OUTPUT</a:t>
            </a:r>
            <a:endParaRPr lang="en-US" sz="950" dirty="0"/>
          </a:p>
        </p:txBody>
      </p:sp>
      <p:sp>
        <p:nvSpPr>
          <p:cNvPr id="162" name="Shape 162"/>
          <p:cNvSpPr/>
          <p:nvPr/>
        </p:nvSpPr>
        <p:spPr>
          <a:xfrm>
            <a:off x="3931920" y="2250000"/>
            <a:ext cx="3474720" cy="2450000"/>
          </a:xfrm>
          <a:prstGeom prst="roundRect">
            <a:avLst>
              <a:gd name="adj" fmla="val 10526"/>
            </a:avLst>
          </a:prstGeom>
          <a:solidFill>
            <a:srgbClr val="F4F6FA"/>
          </a:solidFill>
          <a:ln/>
        </p:spPr>
        <p:txBody>
          <a:bodyPr/>
          <a:lstStyle/>
          <a:p>
            <a:endParaRPr/>
          </a:p>
        </p:txBody>
      </p:sp>
      <p:sp>
        <p:nvSpPr>
          <p:cNvPr id="163" name="Shape 163"/>
          <p:cNvSpPr/>
          <p:nvPr/>
        </p:nvSpPr>
        <p:spPr>
          <a:xfrm>
            <a:off x="4206240" y="2524320"/>
            <a:ext cx="274320" cy="274320"/>
          </a:xfrm>
          <a:prstGeom prst="ellipse">
            <a:avLst/>
          </a:prstGeom>
          <a:solidFill>
            <a:srgbClr val="0E1524"/>
          </a:solidFill>
          <a:ln/>
        </p:spPr>
        <p:txBody>
          <a:bodyPr/>
          <a:lstStyle/>
          <a:p>
            <a:endParaRPr/>
          </a:p>
        </p:txBody>
      </p:sp>
      <p:sp>
        <p:nvSpPr>
          <p:cNvPr id="164" name="Text 164"/>
          <p:cNvSpPr/>
          <p:nvPr/>
        </p:nvSpPr>
        <p:spPr>
          <a:xfrm>
            <a:off x="4206240" y="252432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5" name="Text 165"/>
          <p:cNvSpPr/>
          <p:nvPr/>
        </p:nvSpPr>
        <p:spPr>
          <a:xfrm>
            <a:off x="4572000" y="2506032"/>
            <a:ext cx="2560320" cy="210000"/>
          </a:xfrm>
          <a:prstGeom prst="rect">
            <a:avLst/>
          </a:prstGeom>
          <a:noFill/>
          <a:ln/>
        </p:spPr>
        <p:txBody>
          <a:bodyPr wrap="square" lIns="0" tIns="0" rIns="0" bIns="0" rtlCol="0" anchor="ctr"/>
          <a:lstStyle/>
          <a:p>
            <a:pPr marL="0" indent="0" algn="l">
              <a:buNone/>
            </a:pPr>
            <a:r>
              <a:rPr lang="en-US" sz="1150" b="1" dirty="0">
                <a:solidFill>
                  <a:srgbClr val="0E1524"/>
                </a:solidFill>
                <a:latin typeface="Arial" pitchFamily="34" charset="0"/>
                <a:ea typeface="Arial" pitchFamily="34" charset="-122"/>
                <a:cs typeface="Arial" pitchFamily="34" charset="-120"/>
              </a:rPr>
              <a:t>Encode</a:t>
            </a:r>
            <a:endParaRPr lang="en-US" sz="1150" dirty="0"/>
          </a:p>
        </p:txBody>
      </p:sp>
      <p:sp>
        <p:nvSpPr>
          <p:cNvPr id="166" name="Text 166"/>
          <p:cNvSpPr/>
          <p:nvPr/>
        </p:nvSpPr>
        <p:spPr>
          <a:xfrm>
            <a:off x="4572000" y="2730060"/>
            <a:ext cx="2560320" cy="320040"/>
          </a:xfrm>
          <a:prstGeom prst="rect">
            <a:avLst/>
          </a:prstGeom>
          <a:noFill/>
          <a:ln/>
        </p:spPr>
        <p:txBody>
          <a:bodyPr wrap="square" lIns="0" tIns="0" rIns="0" bIns="0" rtlCol="0" anchor="t"/>
          <a:lstStyle/>
          <a:p>
            <a:pPr marL="0" indent="0" algn="l">
              <a:buNone/>
            </a:pPr>
            <a:r>
              <a:rPr lang="en-US" sz="900" dirty="0">
                <a:solidFill>
                  <a:srgbClr val="6B7689"/>
                </a:solidFill>
                <a:latin typeface="Calibri" pitchFamily="34" charset="0"/>
                <a:ea typeface="Calibri" pitchFamily="34" charset="-122"/>
                <a:cs typeface="Calibri" pitchFamily="34" charset="-120"/>
              </a:rPr>
              <a:t>Photo and sampled frames as image input, audio as audio or transcript, CSV as a table</a:t>
            </a:r>
            <a:endParaRPr lang="en-US" sz="900" dirty="0"/>
          </a:p>
        </p:txBody>
      </p:sp>
      <p:sp>
        <p:nvSpPr>
          <p:cNvPr id="167" name="Shape 167"/>
          <p:cNvSpPr/>
          <p:nvPr/>
        </p:nvSpPr>
        <p:spPr>
          <a:xfrm>
            <a:off x="4206240" y="3224400"/>
            <a:ext cx="274320" cy="274320"/>
          </a:xfrm>
          <a:prstGeom prst="ellipse">
            <a:avLst/>
          </a:prstGeom>
          <a:solidFill>
            <a:srgbClr val="0E1524"/>
          </a:solidFill>
          <a:ln/>
        </p:spPr>
        <p:txBody>
          <a:bodyPr/>
          <a:lstStyle/>
          <a:p>
            <a:endParaRPr/>
          </a:p>
        </p:txBody>
      </p:sp>
      <p:sp>
        <p:nvSpPr>
          <p:cNvPr id="168" name="Text 168"/>
          <p:cNvSpPr/>
          <p:nvPr/>
        </p:nvSpPr>
        <p:spPr>
          <a:xfrm>
            <a:off x="4206240" y="322440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69" name="Text 169"/>
          <p:cNvSpPr/>
          <p:nvPr/>
        </p:nvSpPr>
        <p:spPr>
          <a:xfrm>
            <a:off x="4572000" y="3206112"/>
            <a:ext cx="2560320" cy="210000"/>
          </a:xfrm>
          <a:prstGeom prst="rect">
            <a:avLst/>
          </a:prstGeom>
          <a:noFill/>
          <a:ln/>
        </p:spPr>
        <p:txBody>
          <a:bodyPr wrap="square" lIns="0" tIns="0" rIns="0" bIns="0" rtlCol="0" anchor="ctr"/>
          <a:lstStyle/>
          <a:p>
            <a:pPr marL="0" indent="0" algn="l">
              <a:buNone/>
            </a:pPr>
            <a:r>
              <a:rPr lang="en-US" sz="1150" b="1" dirty="0">
                <a:solidFill>
                  <a:srgbClr val="0E1524"/>
                </a:solidFill>
                <a:latin typeface="Arial" pitchFamily="34" charset="0"/>
                <a:ea typeface="Arial" pitchFamily="34" charset="-122"/>
                <a:cs typeface="Arial" pitchFamily="34" charset="-120"/>
              </a:rPr>
              <a:t>Compose</a:t>
            </a:r>
            <a:endParaRPr lang="en-US" sz="1150" dirty="0"/>
          </a:p>
        </p:txBody>
      </p:sp>
      <p:sp>
        <p:nvSpPr>
          <p:cNvPr id="170" name="Text 170"/>
          <p:cNvSpPr/>
          <p:nvPr/>
        </p:nvSpPr>
        <p:spPr>
          <a:xfrm>
            <a:off x="4572000" y="3430140"/>
            <a:ext cx="2560320" cy="320040"/>
          </a:xfrm>
          <a:prstGeom prst="rect">
            <a:avLst/>
          </a:prstGeom>
          <a:noFill/>
          <a:ln/>
        </p:spPr>
        <p:txBody>
          <a:bodyPr wrap="square" lIns="0" tIns="0" rIns="0" bIns="0" rtlCol="0" anchor="t"/>
          <a:lstStyle/>
          <a:p>
            <a:pPr marL="0" indent="0" algn="l">
              <a:buNone/>
            </a:pPr>
            <a:r>
              <a:rPr lang="en-US" sz="900" dirty="0">
                <a:solidFill>
                  <a:srgbClr val="6B7689"/>
                </a:solidFill>
                <a:latin typeface="Calibri" pitchFamily="34" charset="0"/>
                <a:ea typeface="Calibri" pitchFamily="34" charset="-122"/>
                <a:cs typeface="Calibri" pitchFamily="34" charset="-120"/>
              </a:rPr>
              <a:t>One message carrying all four, plus the engineer's question</a:t>
            </a:r>
            <a:endParaRPr lang="en-US" sz="900" dirty="0"/>
          </a:p>
        </p:txBody>
      </p:sp>
      <p:sp>
        <p:nvSpPr>
          <p:cNvPr id="171" name="Shape 171"/>
          <p:cNvSpPr/>
          <p:nvPr/>
        </p:nvSpPr>
        <p:spPr>
          <a:xfrm>
            <a:off x="4206240" y="3924320"/>
            <a:ext cx="274320" cy="274320"/>
          </a:xfrm>
          <a:prstGeom prst="ellipse">
            <a:avLst/>
          </a:prstGeom>
          <a:solidFill>
            <a:srgbClr val="0E1524"/>
          </a:solidFill>
          <a:ln/>
        </p:spPr>
        <p:txBody>
          <a:bodyPr/>
          <a:lstStyle/>
          <a:p>
            <a:endParaRPr/>
          </a:p>
        </p:txBody>
      </p:sp>
      <p:sp>
        <p:nvSpPr>
          <p:cNvPr id="172" name="Text 172"/>
          <p:cNvSpPr/>
          <p:nvPr/>
        </p:nvSpPr>
        <p:spPr>
          <a:xfrm>
            <a:off x="4206240" y="392432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73" name="Text 173"/>
          <p:cNvSpPr/>
          <p:nvPr/>
        </p:nvSpPr>
        <p:spPr>
          <a:xfrm>
            <a:off x="4572000" y="3906032"/>
            <a:ext cx="2560320" cy="210000"/>
          </a:xfrm>
          <a:prstGeom prst="rect">
            <a:avLst/>
          </a:prstGeom>
          <a:noFill/>
          <a:ln/>
        </p:spPr>
        <p:txBody>
          <a:bodyPr wrap="square" lIns="0" tIns="0" rIns="0" bIns="0" rtlCol="0" anchor="ctr"/>
          <a:lstStyle/>
          <a:p>
            <a:pPr marL="0" indent="0" algn="l">
              <a:buNone/>
            </a:pPr>
            <a:r>
              <a:rPr lang="en-US" sz="1150" b="1" dirty="0">
                <a:solidFill>
                  <a:srgbClr val="0E1524"/>
                </a:solidFill>
                <a:latin typeface="Arial" pitchFamily="34" charset="0"/>
                <a:ea typeface="Arial" pitchFamily="34" charset="-122"/>
                <a:cs typeface="Arial" pitchFamily="34" charset="-120"/>
              </a:rPr>
              <a:t>Model call</a:t>
            </a:r>
            <a:endParaRPr lang="en-US" sz="1150" dirty="0"/>
          </a:p>
        </p:txBody>
      </p:sp>
      <p:sp>
        <p:nvSpPr>
          <p:cNvPr id="174" name="Text 174"/>
          <p:cNvSpPr/>
          <p:nvPr/>
        </p:nvSpPr>
        <p:spPr>
          <a:xfrm>
            <a:off x="4572000" y="4130060"/>
            <a:ext cx="2560320" cy="320040"/>
          </a:xfrm>
          <a:prstGeom prst="rect">
            <a:avLst/>
          </a:prstGeom>
          <a:noFill/>
          <a:ln/>
        </p:spPr>
        <p:txBody>
          <a:bodyPr wrap="square" lIns="0" tIns="0" rIns="0" bIns="0" rtlCol="0" anchor="t"/>
          <a:lstStyle/>
          <a:p>
            <a:pPr marL="0" indent="0" algn="l">
              <a:buNone/>
            </a:pPr>
            <a:r>
              <a:rPr lang="en-US" sz="900" dirty="0">
                <a:solidFill>
                  <a:srgbClr val="6B7689"/>
                </a:solidFill>
                <a:latin typeface="Calibri" pitchFamily="34" charset="0"/>
                <a:ea typeface="Calibri" pitchFamily="34" charset="-122"/>
                <a:cs typeface="Calibri" pitchFamily="34" charset="-120"/>
              </a:rPr>
              <a:t>A single vision-language request. No orchestration layer</a:t>
            </a:r>
            <a:endParaRPr lang="en-US" sz="900" dirty="0"/>
          </a:p>
        </p:txBody>
      </p:sp>
      <p:sp>
        <p:nvSpPr>
          <p:cNvPr id="175" name="Shape 175"/>
          <p:cNvSpPr/>
          <p:nvPr/>
        </p:nvSpPr>
        <p:spPr>
          <a:xfrm>
            <a:off x="7955280" y="2250000"/>
            <a:ext cx="3593592" cy="1400000"/>
          </a:xfrm>
          <a:prstGeom prst="roundRect">
            <a:avLst>
              <a:gd name="adj" fmla="val 10526"/>
            </a:avLst>
          </a:prstGeom>
          <a:solidFill>
            <a:srgbClr val="F4F6FA"/>
          </a:solidFill>
          <a:ln/>
        </p:spPr>
        <p:txBody>
          <a:bodyPr/>
          <a:lstStyle/>
          <a:p>
            <a:endParaRPr/>
          </a:p>
        </p:txBody>
      </p:sp>
      <p:sp>
        <p:nvSpPr>
          <p:cNvPr id="176" name="Text 176"/>
          <p:cNvSpPr/>
          <p:nvPr/>
        </p:nvSpPr>
        <p:spPr>
          <a:xfrm>
            <a:off x="8183880" y="2432880"/>
            <a:ext cx="3136392" cy="1150000"/>
          </a:xfrm>
          <a:prstGeom prst="rect">
            <a:avLst/>
          </a:prstGeom>
          <a:noFill/>
          <a:ln/>
        </p:spPr>
        <p:txBody>
          <a:bodyPr wrap="square" lIns="0" tIns="0" rIns="0" bIns="0" rtlCol="0" anchor="t"/>
          <a:lstStyle/>
          <a:p>
            <a:pPr marL="0" indent="0" algn="l">
              <a:buNone/>
            </a:pPr>
            <a:r>
              <a:rPr lang="en-US" sz="850" dirty="0">
                <a:solidFill>
                  <a:srgbClr val="0E1524"/>
                </a:solidFill>
                <a:latin typeface="Courier New" pitchFamily="34" charset="0"/>
                <a:ea typeface="Courier New" pitchFamily="34" charset="-122"/>
                <a:cs typeface="Courier New" pitchFamily="34" charset="-120"/>
              </a:rPr>
              <a:t>{</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"defect": "transverse crack",</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"severity": "high",</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"monsoon_safe": false,</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"evidence": ["image","video",</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"audio","sensors"],</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"confidence": 0.81</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a:t>
            </a:r>
            <a:endParaRPr lang="en-US" sz="850" dirty="0"/>
          </a:p>
        </p:txBody>
      </p:sp>
      <p:sp>
        <p:nvSpPr>
          <p:cNvPr id="177" name="Shape 177"/>
          <p:cNvSpPr/>
          <p:nvPr/>
        </p:nvSpPr>
        <p:spPr>
          <a:xfrm>
            <a:off x="7955280" y="3900000"/>
            <a:ext cx="3593592" cy="800000"/>
          </a:xfrm>
          <a:prstGeom prst="roundRect">
            <a:avLst>
              <a:gd name="adj" fmla="val 10526"/>
            </a:avLst>
          </a:prstGeom>
          <a:solidFill>
            <a:srgbClr val="0E1524"/>
          </a:solidFill>
          <a:ln/>
        </p:spPr>
        <p:txBody>
          <a:bodyPr/>
          <a:lstStyle/>
          <a:p>
            <a:endParaRPr/>
          </a:p>
        </p:txBody>
      </p:sp>
      <p:sp>
        <p:nvSpPr>
          <p:cNvPr id="178" name="Text 178"/>
          <p:cNvSpPr/>
          <p:nvPr/>
        </p:nvSpPr>
        <p:spPr>
          <a:xfrm>
            <a:off x="8183880" y="4090000"/>
            <a:ext cx="3136392" cy="182880"/>
          </a:xfrm>
          <a:prstGeom prst="rect">
            <a:avLst/>
          </a:prstGeom>
          <a:noFill/>
          <a:ln/>
        </p:spPr>
        <p:txBody>
          <a:bodyPr wrap="square" lIns="0" tIns="0" rIns="0" bIns="0" rtlCol="0" anchor="ctr"/>
          <a:lstStyle/>
          <a:p>
            <a:pPr marL="0" indent="0" algn="l">
              <a:buNone/>
            </a:pPr>
            <a:r>
              <a:rPr lang="en-US" sz="1050" b="1" dirty="0">
                <a:solidFill>
                  <a:srgbClr val="FFC24A"/>
                </a:solidFill>
                <a:latin typeface="Arial" pitchFamily="34" charset="0"/>
                <a:ea typeface="Arial" pitchFamily="34" charset="-122"/>
                <a:cs typeface="Arial" pitchFamily="34" charset="-120"/>
              </a:rPr>
              <a:t>Routed to human review</a:t>
            </a:r>
            <a:endParaRPr lang="en-US" sz="1050" dirty="0"/>
          </a:p>
        </p:txBody>
      </p:sp>
      <p:sp>
        <p:nvSpPr>
          <p:cNvPr id="179" name="Text 179"/>
          <p:cNvSpPr/>
          <p:nvPr/>
        </p:nvSpPr>
        <p:spPr>
          <a:xfrm>
            <a:off x="8183880" y="4310000"/>
            <a:ext cx="3136392" cy="182880"/>
          </a:xfrm>
          <a:prstGeom prst="rect">
            <a:avLst/>
          </a:prstGeom>
          <a:noFill/>
          <a:ln/>
        </p:spPr>
        <p:txBody>
          <a:bodyPr wrap="square" lIns="0" tIns="0" rIns="0" bIns="0" rtlCol="0" anchor="ctr"/>
          <a:lstStyle/>
          <a:p>
            <a:pPr marL="0" indent="0" algn="l">
              <a:buNone/>
            </a:pPr>
            <a:r>
              <a:rPr lang="en-US" sz="900" dirty="0">
                <a:solidFill>
                  <a:srgbClr val="A8B2C4"/>
                </a:solidFill>
                <a:latin typeface="Calibri" pitchFamily="34" charset="0"/>
                <a:ea typeface="Calibri" pitchFamily="34" charset="-122"/>
                <a:cs typeface="Calibri" pitchFamily="34" charset="-120"/>
              </a:rPr>
              <a:t>Confidence is below the 0.9 stage-5 threshold</a:t>
            </a:r>
            <a:endParaRPr lang="en-US" sz="900" dirty="0"/>
          </a:p>
        </p:txBody>
      </p:sp>
      <p:sp>
        <p:nvSpPr>
          <p:cNvPr id="180" name="Shape 180"/>
          <p:cNvSpPr/>
          <p:nvPr/>
        </p:nvSpPr>
        <p:spPr>
          <a:xfrm>
            <a:off x="3480000" y="3360700"/>
            <a:ext cx="320040" cy="228600"/>
          </a:xfrm>
          <a:prstGeom prst="rightArrow">
            <a:avLst/>
          </a:prstGeom>
          <a:solidFill>
            <a:srgbClr val="C4CCDA"/>
          </a:solidFill>
          <a:ln/>
        </p:spPr>
        <p:txBody>
          <a:bodyPr/>
          <a:lstStyle/>
          <a:p>
            <a:endParaRPr/>
          </a:p>
        </p:txBody>
      </p:sp>
      <p:sp>
        <p:nvSpPr>
          <p:cNvPr id="181" name="Shape 181"/>
          <p:cNvSpPr/>
          <p:nvPr/>
        </p:nvSpPr>
        <p:spPr>
          <a:xfrm>
            <a:off x="7500000" y="3360700"/>
            <a:ext cx="320040" cy="228600"/>
          </a:xfrm>
          <a:prstGeom prst="rightArrow">
            <a:avLst/>
          </a:prstGeom>
          <a:solidFill>
            <a:srgbClr val="C4CCDA"/>
          </a:solidFill>
          <a:ln/>
        </p:spPr>
        <p:txBody>
          <a:bodyPr/>
          <a:lstStyle/>
          <a:p>
            <a:endParaRPr/>
          </a:p>
        </p:txBody>
      </p:sp>
      <p:sp>
        <p:nvSpPr>
          <p:cNvPr id="182" name="Shape 182"/>
          <p:cNvSpPr/>
          <p:nvPr/>
        </p:nvSpPr>
        <p:spPr>
          <a:xfrm>
            <a:off x="640080" y="4980000"/>
            <a:ext cx="10908792" cy="620100"/>
          </a:xfrm>
          <a:prstGeom prst="roundRect">
            <a:avLst>
              <a:gd name="adj" fmla="val 10526"/>
            </a:avLst>
          </a:prstGeom>
          <a:solidFill>
            <a:srgbClr val="0E1524"/>
          </a:solidFill>
          <a:ln/>
        </p:spPr>
        <p:txBody>
          <a:bodyPr/>
          <a:lstStyle/>
          <a:p>
            <a:endParaRPr/>
          </a:p>
        </p:txBody>
      </p:sp>
      <p:sp>
        <p:nvSpPr>
          <p:cNvPr id="183" name="Text 183"/>
          <p:cNvSpPr/>
          <p:nvPr/>
        </p:nvSpPr>
        <p:spPr>
          <a:xfrm>
            <a:off x="1051560" y="4980000"/>
            <a:ext cx="10085832" cy="620100"/>
          </a:xfrm>
          <a:prstGeom prst="rect">
            <a:avLst/>
          </a:prstGeom>
          <a:noFill/>
          <a:ln/>
        </p:spPr>
        <p:txBody>
          <a:bodyPr wrap="square" lIns="0" tIns="0" rIns="0" bIns="0" rtlCol="0" anchor="ctr"/>
          <a:lstStyle/>
          <a:p>
            <a:pPr marL="0" indent="0" algn="l">
              <a:buNone/>
            </a:pPr>
            <a:r>
              <a:rPr lang="en-US" sz="1400" dirty="0">
                <a:solidFill>
                  <a:srgbClr val="FFFFFF"/>
                </a:solidFill>
                <a:latin typeface="Calibri" pitchFamily="34" charset="0"/>
                <a:ea typeface="Calibri" pitchFamily="34" charset="-122"/>
                <a:cs typeface="Calibri" pitchFamily="34" charset="-120"/>
              </a:rPr>
              <a:t>No OCR engine. No video classifier. No four pipelines to stitch together. One request where 2019 needed four pipelines and a human.</a:t>
            </a:r>
            <a:endParaRPr lang="en-US" sz="1400" dirty="0"/>
          </a:p>
        </p:txBody>
      </p:sp>
      <p:sp>
        <p:nvSpPr>
          <p:cNvPr id="101" name="Shape 101"/>
          <p:cNvSpPr/>
          <p:nvPr/>
        </p:nvSpPr>
        <p:spPr>
          <a:xfrm>
            <a:off x="640080" y="2250000"/>
            <a:ext cx="2743200" cy="507500"/>
          </a:xfrm>
          <a:prstGeom prst="roundRect">
            <a:avLst>
              <a:gd name="adj" fmla="val 10526"/>
            </a:avLst>
          </a:prstGeom>
          <a:solidFill>
            <a:srgbClr val="F4F6FA"/>
          </a:solidFill>
          <a:ln/>
        </p:spPr>
        <p:txBody>
          <a:bodyPr/>
          <a:lstStyle/>
          <a:p>
            <a:endParaRPr/>
          </a:p>
        </p:txBody>
      </p:sp>
      <p:sp>
        <p:nvSpPr>
          <p:cNvPr id="102" name="Shape 102"/>
          <p:cNvSpPr/>
          <p:nvPr/>
        </p:nvSpPr>
        <p:spPr>
          <a:xfrm>
            <a:off x="868680" y="2423736"/>
            <a:ext cx="146304" cy="146304"/>
          </a:xfrm>
          <a:prstGeom prst="ellipse">
            <a:avLst/>
          </a:prstGeom>
          <a:solidFill>
            <a:srgbClr val="FF6B4A"/>
          </a:solidFill>
          <a:ln/>
        </p:spPr>
        <p:txBody>
          <a:bodyPr/>
          <a:lstStyle/>
          <a:p>
            <a:endParaRPr/>
          </a:p>
        </p:txBody>
      </p:sp>
      <p:sp>
        <p:nvSpPr>
          <p:cNvPr id="103" name="Text 103"/>
          <p:cNvSpPr/>
          <p:nvPr/>
        </p:nvSpPr>
        <p:spPr>
          <a:xfrm>
            <a:off x="1097280" y="2350584"/>
            <a:ext cx="2057400" cy="182880"/>
          </a:xfrm>
          <a:prstGeom prst="rect">
            <a:avLst/>
          </a:prstGeom>
          <a:noFill/>
          <a:ln/>
        </p:spPr>
        <p:txBody>
          <a:bodyPr wrap="square" lIns="0" tIns="0" rIns="0" bIns="0" rtlCol="0" anchor="ctr"/>
          <a:lstStyle/>
          <a:p>
            <a:pPr marL="0" indent="0" algn="l">
              <a:buNone/>
            </a:pPr>
            <a:r>
              <a:rPr lang="en-US" sz="1100" b="1" dirty="0">
                <a:solidFill>
                  <a:srgbClr val="0E1524"/>
                </a:solidFill>
                <a:latin typeface="Arial" pitchFamily="34" charset="0"/>
                <a:ea typeface="Arial" pitchFamily="34" charset="-122"/>
                <a:cs typeface="Arial" pitchFamily="34" charset="-120"/>
              </a:rPr>
              <a:t>Photograph</a:t>
            </a:r>
            <a:endParaRPr lang="en-US" sz="1100" dirty="0"/>
          </a:p>
        </p:txBody>
      </p:sp>
      <p:sp>
        <p:nvSpPr>
          <p:cNvPr id="104" name="Text 104"/>
          <p:cNvSpPr/>
          <p:nvPr/>
        </p:nvSpPr>
        <p:spPr>
          <a:xfrm>
            <a:off x="1097280" y="2542608"/>
            <a:ext cx="2057400" cy="155448"/>
          </a:xfrm>
          <a:prstGeom prst="rect">
            <a:avLst/>
          </a:prstGeom>
          <a:noFill/>
          <a:ln/>
        </p:spPr>
        <p:txBody>
          <a:bodyPr wrap="square" lIns="0" tIns="0" rIns="0" bIns="0" rtlCol="0" anchor="ctr"/>
          <a:lstStyle/>
          <a:p>
            <a:pPr marL="0" indent="0" algn="l">
              <a:buNone/>
            </a:pPr>
            <a:r>
              <a:rPr lang="en-US" sz="880" dirty="0">
                <a:solidFill>
                  <a:srgbClr val="6B7689"/>
                </a:solidFill>
                <a:latin typeface="Calibri" pitchFamily="34" charset="0"/>
                <a:ea typeface="Calibri" pitchFamily="34" charset="-122"/>
                <a:cs typeface="Calibri" pitchFamily="34" charset="-120"/>
              </a:rPr>
              <a:t>Cracked weld joint, 4 MB JPEG</a:t>
            </a:r>
            <a:endParaRPr lang="en-US" sz="880" dirty="0"/>
          </a:p>
        </p:txBody>
      </p:sp>
      <p:sp>
        <p:nvSpPr>
          <p:cNvPr id="105" name="Shape 105"/>
          <p:cNvSpPr/>
          <p:nvPr/>
        </p:nvSpPr>
        <p:spPr>
          <a:xfrm>
            <a:off x="640080" y="2897500"/>
            <a:ext cx="2743200" cy="507500"/>
          </a:xfrm>
          <a:prstGeom prst="roundRect">
            <a:avLst>
              <a:gd name="adj" fmla="val 10526"/>
            </a:avLst>
          </a:prstGeom>
          <a:solidFill>
            <a:srgbClr val="F4F6FA"/>
          </a:solidFill>
          <a:ln/>
        </p:spPr>
        <p:txBody>
          <a:bodyPr/>
          <a:lstStyle/>
          <a:p>
            <a:endParaRPr/>
          </a:p>
        </p:txBody>
      </p:sp>
      <p:sp>
        <p:nvSpPr>
          <p:cNvPr id="106" name="Shape 106"/>
          <p:cNvSpPr/>
          <p:nvPr/>
        </p:nvSpPr>
        <p:spPr>
          <a:xfrm>
            <a:off x="868680" y="3071236"/>
            <a:ext cx="146304" cy="146304"/>
          </a:xfrm>
          <a:prstGeom prst="ellipse">
            <a:avLst/>
          </a:prstGeom>
          <a:solidFill>
            <a:srgbClr val="FFC24A"/>
          </a:solidFill>
          <a:ln/>
        </p:spPr>
        <p:txBody>
          <a:bodyPr/>
          <a:lstStyle/>
          <a:p>
            <a:endParaRPr/>
          </a:p>
        </p:txBody>
      </p:sp>
      <p:sp>
        <p:nvSpPr>
          <p:cNvPr id="107" name="Text 107"/>
          <p:cNvSpPr/>
          <p:nvPr/>
        </p:nvSpPr>
        <p:spPr>
          <a:xfrm>
            <a:off x="1097280" y="2998084"/>
            <a:ext cx="2057400" cy="182880"/>
          </a:xfrm>
          <a:prstGeom prst="rect">
            <a:avLst/>
          </a:prstGeom>
          <a:noFill/>
          <a:ln/>
        </p:spPr>
        <p:txBody>
          <a:bodyPr wrap="square" lIns="0" tIns="0" rIns="0" bIns="0" rtlCol="0" anchor="ctr"/>
          <a:lstStyle/>
          <a:p>
            <a:pPr marL="0" indent="0" algn="l">
              <a:buNone/>
            </a:pPr>
            <a:r>
              <a:rPr lang="en-US" sz="1100" b="1" dirty="0">
                <a:solidFill>
                  <a:srgbClr val="0E1524"/>
                </a:solidFill>
                <a:latin typeface="Arial" pitchFamily="34" charset="0"/>
                <a:ea typeface="Arial" pitchFamily="34" charset="-122"/>
                <a:cs typeface="Arial" pitchFamily="34" charset="-120"/>
              </a:rPr>
              <a:t>Drone clip</a:t>
            </a:r>
            <a:endParaRPr lang="en-US" sz="1100" dirty="0"/>
          </a:p>
        </p:txBody>
      </p:sp>
      <p:sp>
        <p:nvSpPr>
          <p:cNvPr id="108" name="Text 108"/>
          <p:cNvSpPr/>
          <p:nvPr/>
        </p:nvSpPr>
        <p:spPr>
          <a:xfrm>
            <a:off x="1097280" y="3190108"/>
            <a:ext cx="2057400" cy="155448"/>
          </a:xfrm>
          <a:prstGeom prst="rect">
            <a:avLst/>
          </a:prstGeom>
          <a:noFill/>
          <a:ln/>
        </p:spPr>
        <p:txBody>
          <a:bodyPr wrap="square" lIns="0" tIns="0" rIns="0" bIns="0" rtlCol="0" anchor="ctr"/>
          <a:lstStyle/>
          <a:p>
            <a:pPr marL="0" indent="0" algn="l">
              <a:buNone/>
            </a:pPr>
            <a:r>
              <a:rPr lang="en-US" sz="880" dirty="0">
                <a:solidFill>
                  <a:srgbClr val="6B7689"/>
                </a:solidFill>
                <a:latin typeface="Calibri" pitchFamily="34" charset="0"/>
                <a:ea typeface="Calibri" pitchFamily="34" charset="-122"/>
                <a:cs typeface="Calibri" pitchFamily="34" charset="-120"/>
              </a:rPr>
              <a:t>90 seconds, sampled to 12 frames</a:t>
            </a:r>
            <a:endParaRPr lang="en-US" sz="880" dirty="0"/>
          </a:p>
        </p:txBody>
      </p:sp>
      <p:sp>
        <p:nvSpPr>
          <p:cNvPr id="109" name="Shape 109"/>
          <p:cNvSpPr/>
          <p:nvPr/>
        </p:nvSpPr>
        <p:spPr>
          <a:xfrm>
            <a:off x="640080" y="3545000"/>
            <a:ext cx="2743200" cy="507500"/>
          </a:xfrm>
          <a:prstGeom prst="roundRect">
            <a:avLst>
              <a:gd name="adj" fmla="val 10526"/>
            </a:avLst>
          </a:prstGeom>
          <a:solidFill>
            <a:srgbClr val="F4F6FA"/>
          </a:solidFill>
          <a:ln/>
        </p:spPr>
        <p:txBody>
          <a:bodyPr/>
          <a:lstStyle/>
          <a:p>
            <a:endParaRPr/>
          </a:p>
        </p:txBody>
      </p:sp>
      <p:sp>
        <p:nvSpPr>
          <p:cNvPr id="110" name="Shape 110"/>
          <p:cNvSpPr/>
          <p:nvPr/>
        </p:nvSpPr>
        <p:spPr>
          <a:xfrm>
            <a:off x="868680" y="3718736"/>
            <a:ext cx="146304" cy="146304"/>
          </a:xfrm>
          <a:prstGeom prst="ellipse">
            <a:avLst/>
          </a:prstGeom>
          <a:solidFill>
            <a:srgbClr val="00C2A8"/>
          </a:solidFill>
          <a:ln/>
        </p:spPr>
        <p:txBody>
          <a:bodyPr/>
          <a:lstStyle/>
          <a:p>
            <a:endParaRPr/>
          </a:p>
        </p:txBody>
      </p:sp>
      <p:sp>
        <p:nvSpPr>
          <p:cNvPr id="111" name="Text 111"/>
          <p:cNvSpPr/>
          <p:nvPr/>
        </p:nvSpPr>
        <p:spPr>
          <a:xfrm>
            <a:off x="1097280" y="3645584"/>
            <a:ext cx="2057400" cy="182880"/>
          </a:xfrm>
          <a:prstGeom prst="rect">
            <a:avLst/>
          </a:prstGeom>
          <a:noFill/>
          <a:ln/>
        </p:spPr>
        <p:txBody>
          <a:bodyPr wrap="square" lIns="0" tIns="0" rIns="0" bIns="0" rtlCol="0" anchor="ctr"/>
          <a:lstStyle/>
          <a:p>
            <a:pPr marL="0" indent="0" algn="l">
              <a:buNone/>
            </a:pPr>
            <a:r>
              <a:rPr lang="en-US" sz="1100" b="1" dirty="0">
                <a:solidFill>
                  <a:srgbClr val="0E1524"/>
                </a:solidFill>
                <a:latin typeface="Arial" pitchFamily="34" charset="0"/>
                <a:ea typeface="Arial" pitchFamily="34" charset="-122"/>
                <a:cs typeface="Arial" pitchFamily="34" charset="-120"/>
              </a:rPr>
              <a:t>Voice note</a:t>
            </a:r>
            <a:endParaRPr lang="en-US" sz="1100" dirty="0"/>
          </a:p>
        </p:txBody>
      </p:sp>
      <p:sp>
        <p:nvSpPr>
          <p:cNvPr id="112" name="Text 112"/>
          <p:cNvSpPr/>
          <p:nvPr/>
        </p:nvSpPr>
        <p:spPr>
          <a:xfrm>
            <a:off x="1097280" y="3837608"/>
            <a:ext cx="2057400" cy="155448"/>
          </a:xfrm>
          <a:prstGeom prst="rect">
            <a:avLst/>
          </a:prstGeom>
          <a:noFill/>
          <a:ln/>
        </p:spPr>
        <p:txBody>
          <a:bodyPr wrap="square" lIns="0" tIns="0" rIns="0" bIns="0" rtlCol="0" anchor="ctr"/>
          <a:lstStyle/>
          <a:p>
            <a:pPr marL="0" indent="0" algn="l">
              <a:buNone/>
            </a:pPr>
            <a:r>
              <a:rPr lang="en-US" sz="880" dirty="0">
                <a:solidFill>
                  <a:srgbClr val="6B7689"/>
                </a:solidFill>
                <a:latin typeface="Calibri" pitchFamily="34" charset="0"/>
                <a:ea typeface="Calibri" pitchFamily="34" charset="-122"/>
                <a:cs typeface="Calibri" pitchFamily="34" charset="-120"/>
              </a:rPr>
              <a:t>Site engineer, 40 seconds</a:t>
            </a:r>
            <a:endParaRPr lang="en-US" sz="880" dirty="0"/>
          </a:p>
        </p:txBody>
      </p:sp>
      <p:sp>
        <p:nvSpPr>
          <p:cNvPr id="113" name="Shape 113"/>
          <p:cNvSpPr/>
          <p:nvPr/>
        </p:nvSpPr>
        <p:spPr>
          <a:xfrm>
            <a:off x="640080" y="4192500"/>
            <a:ext cx="2743200" cy="507500"/>
          </a:xfrm>
          <a:prstGeom prst="roundRect">
            <a:avLst>
              <a:gd name="adj" fmla="val 10526"/>
            </a:avLst>
          </a:prstGeom>
          <a:solidFill>
            <a:srgbClr val="F4F6FA"/>
          </a:solidFill>
          <a:ln/>
        </p:spPr>
        <p:txBody>
          <a:bodyPr/>
          <a:lstStyle/>
          <a:p>
            <a:endParaRPr/>
          </a:p>
        </p:txBody>
      </p:sp>
      <p:sp>
        <p:nvSpPr>
          <p:cNvPr id="114" name="Shape 114"/>
          <p:cNvSpPr/>
          <p:nvPr/>
        </p:nvSpPr>
        <p:spPr>
          <a:xfrm>
            <a:off x="868680" y="4366236"/>
            <a:ext cx="146304" cy="146304"/>
          </a:xfrm>
          <a:prstGeom prst="ellipse">
            <a:avLst/>
          </a:prstGeom>
          <a:solidFill>
            <a:srgbClr val="6B7689"/>
          </a:solidFill>
          <a:ln/>
        </p:spPr>
        <p:txBody>
          <a:bodyPr/>
          <a:lstStyle/>
          <a:p>
            <a:endParaRPr/>
          </a:p>
        </p:txBody>
      </p:sp>
      <p:sp>
        <p:nvSpPr>
          <p:cNvPr id="115" name="Text 115"/>
          <p:cNvSpPr/>
          <p:nvPr/>
        </p:nvSpPr>
        <p:spPr>
          <a:xfrm>
            <a:off x="1097280" y="4293084"/>
            <a:ext cx="2057400" cy="182880"/>
          </a:xfrm>
          <a:prstGeom prst="rect">
            <a:avLst/>
          </a:prstGeom>
          <a:noFill/>
          <a:ln/>
        </p:spPr>
        <p:txBody>
          <a:bodyPr wrap="square" lIns="0" tIns="0" rIns="0" bIns="0" rtlCol="0" anchor="ctr"/>
          <a:lstStyle/>
          <a:p>
            <a:pPr marL="0" indent="0" algn="l">
              <a:buNone/>
            </a:pPr>
            <a:r>
              <a:rPr lang="en-US" sz="1100" b="1" dirty="0">
                <a:solidFill>
                  <a:srgbClr val="0E1524"/>
                </a:solidFill>
                <a:latin typeface="Arial" pitchFamily="34" charset="0"/>
                <a:ea typeface="Arial" pitchFamily="34" charset="-122"/>
                <a:cs typeface="Arial" pitchFamily="34" charset="-120"/>
              </a:rPr>
              <a:t>Sensor table</a:t>
            </a:r>
            <a:endParaRPr lang="en-US" sz="1100" dirty="0"/>
          </a:p>
        </p:txBody>
      </p:sp>
      <p:sp>
        <p:nvSpPr>
          <p:cNvPr id="116" name="Text 116"/>
          <p:cNvSpPr/>
          <p:nvPr/>
        </p:nvSpPr>
        <p:spPr>
          <a:xfrm>
            <a:off x="1097280" y="4485108"/>
            <a:ext cx="2057400" cy="155448"/>
          </a:xfrm>
          <a:prstGeom prst="rect">
            <a:avLst/>
          </a:prstGeom>
          <a:noFill/>
          <a:ln/>
        </p:spPr>
        <p:txBody>
          <a:bodyPr wrap="square" lIns="0" tIns="0" rIns="0" bIns="0" rtlCol="0" anchor="ctr"/>
          <a:lstStyle/>
          <a:p>
            <a:pPr marL="0" indent="0" algn="l">
              <a:buNone/>
            </a:pPr>
            <a:r>
              <a:rPr lang="en-US" sz="880" dirty="0">
                <a:solidFill>
                  <a:srgbClr val="6B7689"/>
                </a:solidFill>
                <a:latin typeface="Calibri" pitchFamily="34" charset="0"/>
                <a:ea typeface="Calibri" pitchFamily="34" charset="-122"/>
                <a:cs typeface="Calibri" pitchFamily="34" charset="-120"/>
              </a:rPr>
              <a:t>Six months of pressure readings</a:t>
            </a:r>
            <a:endParaRPr lang="en-US" sz="880" dirty="0"/>
          </a:p>
        </p:txBody>
      </p:sp>
      <p:sp>
        <p:nvSpPr>
          <p:cNvPr id="2" name="Text 178"/>
          <p:cNvSpPr/>
          <p:nvPr/>
        </p:nvSpPr>
        <p:spPr>
          <a:xfrm>
            <a:off x="7955280" y="4740000"/>
            <a:ext cx="3593592" cy="200000"/>
          </a:xfrm>
          <a:prstGeom prst="rect">
            <a:avLst/>
          </a:prstGeom>
          <a:noFill/>
          <a:ln/>
        </p:spPr>
        <p:txBody>
          <a:bodyPr wrap="square" lIns="0" tIns="0" rIns="0" bIns="0" rtlCol="0" anchor="ctr"/>
          <a:lstStyle/>
          <a:p>
            <a:pPr marL="0" indent="0" algn="l">
              <a:buNone/>
            </a:pPr>
            <a:r>
              <a:rPr lang="en-US" sz="900" b="0" dirty="0">
                <a:solidFill>
                  <a:srgbClr val="6B7689"/>
                </a:solidFill>
                <a:latin typeface="Arial" pitchFamily="34" charset="0"/>
                <a:ea typeface="Arial" pitchFamily="34" charset="-122"/>
                <a:cs typeface="Arial" pitchFamily="34" charset="-120"/>
              </a:rPr>
              <a:t>Self-reported, not calibrated - see research problem 03</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4" name="Text 184"/>
          <p:cNvSpPr/>
          <p:nvPr/>
        </p:nvSpPr>
        <p:spPr>
          <a:xfrm>
            <a:off x="640080" y="384048"/>
            <a:ext cx="10908792" cy="237744"/>
          </a:xfrm>
          <a:prstGeom prst="rect">
            <a:avLst/>
          </a:prstGeom>
          <a:noFill/>
          <a:ln/>
        </p:spPr>
        <p:txBody>
          <a:bodyPr wrap="square" lIns="0" tIns="0" rIns="0" bIns="0" rtlCol="0" anchor="ctr"/>
          <a:lstStyle/>
          <a:p>
            <a:pPr marL="0" indent="0" algn="l">
              <a:buNone/>
            </a:pPr>
            <a:r>
              <a:rPr lang="en-US" sz="1100" b="1" kern="0" spc="200" dirty="0">
                <a:solidFill>
                  <a:srgbClr val="FF6B4A"/>
                </a:solidFill>
                <a:latin typeface="Arial" pitchFamily="34" charset="0"/>
                <a:ea typeface="Arial" pitchFamily="34" charset="-122"/>
                <a:cs typeface="Arial" pitchFamily="34" charset="-120"/>
              </a:rPr>
              <a:t>DEPLOYMENT CHOICE</a:t>
            </a:r>
            <a:endParaRPr lang="en-US" sz="1100" dirty="0"/>
          </a:p>
        </p:txBody>
      </p:sp>
      <p:sp>
        <p:nvSpPr>
          <p:cNvPr id="185" name="Text 185"/>
          <p:cNvSpPr/>
          <p:nvPr/>
        </p:nvSpPr>
        <p:spPr>
          <a:xfrm>
            <a:off x="640080" y="658368"/>
            <a:ext cx="10908792" cy="658368"/>
          </a:xfrm>
          <a:prstGeom prst="rect">
            <a:avLst/>
          </a:prstGeom>
          <a:noFill/>
          <a:ln/>
        </p:spPr>
        <p:txBody>
          <a:bodyPr wrap="square" lIns="0" tIns="0" rIns="0" bIns="0" rtlCol="0" anchor="t"/>
          <a:lstStyle/>
          <a:p>
            <a:pPr marL="0" indent="0" algn="l">
              <a:buNone/>
            </a:pPr>
            <a:r>
              <a:rPr lang="en-US" sz="3400" b="1" dirty="0">
                <a:solidFill>
                  <a:srgbClr val="0E1524"/>
                </a:solidFill>
                <a:latin typeface="Arial" pitchFamily="34" charset="0"/>
                <a:ea typeface="Arial" pitchFamily="34" charset="-122"/>
                <a:cs typeface="Arial" pitchFamily="34" charset="-120"/>
              </a:rPr>
              <a:t>Three places stage 3 can run</a:t>
            </a:r>
            <a:endParaRPr lang="en-US" sz="3400" dirty="0"/>
          </a:p>
        </p:txBody>
      </p:sp>
      <p:sp>
        <p:nvSpPr>
          <p:cNvPr id="186" name="Text 186"/>
          <p:cNvSpPr/>
          <p:nvPr/>
        </p:nvSpPr>
        <p:spPr>
          <a:xfrm>
            <a:off x="640080" y="1481328"/>
            <a:ext cx="10241280" cy="274320"/>
          </a:xfrm>
          <a:prstGeom prst="rect">
            <a:avLst/>
          </a:prstGeom>
          <a:noFill/>
          <a:ln/>
        </p:spPr>
        <p:txBody>
          <a:bodyPr wrap="square" lIns="0" tIns="0" rIns="0" bIns="0" rtlCol="0" anchor="ctr"/>
          <a:lstStyle/>
          <a:p>
            <a:pPr marL="0" indent="0" algn="l">
              <a:buNone/>
            </a:pPr>
            <a:r>
              <a:rPr lang="en-US" sz="1400" dirty="0">
                <a:solidFill>
                  <a:srgbClr val="6B7689"/>
                </a:solidFill>
                <a:latin typeface="Calibri" pitchFamily="34" charset="0"/>
                <a:ea typeface="Calibri" pitchFamily="34" charset="-122"/>
                <a:cs typeface="Calibri" pitchFamily="34" charset="-120"/>
              </a:rPr>
              <a:t>The architecture does not change. Where the model executes changes everything else.</a:t>
            </a:r>
            <a:endParaRPr lang="en-US" sz="1400" dirty="0"/>
          </a:p>
        </p:txBody>
      </p:sp>
      <p:sp>
        <p:nvSpPr>
          <p:cNvPr id="187" name="Shape 187"/>
          <p:cNvSpPr/>
          <p:nvPr/>
        </p:nvSpPr>
        <p:spPr>
          <a:xfrm>
            <a:off x="640080" y="1950000"/>
            <a:ext cx="3400000" cy="3108960"/>
          </a:xfrm>
          <a:prstGeom prst="roundRect">
            <a:avLst>
              <a:gd name="adj" fmla="val 10526"/>
            </a:avLst>
          </a:prstGeom>
          <a:solidFill>
            <a:srgbClr val="F4F6FA"/>
          </a:solidFill>
          <a:ln/>
        </p:spPr>
        <p:txBody>
          <a:bodyPr/>
          <a:lstStyle/>
          <a:p>
            <a:endParaRPr lang="en-IN"/>
          </a:p>
        </p:txBody>
      </p:sp>
      <p:sp>
        <p:nvSpPr>
          <p:cNvPr id="188" name="Shape 188"/>
          <p:cNvSpPr/>
          <p:nvPr/>
        </p:nvSpPr>
        <p:spPr>
          <a:xfrm>
            <a:off x="914400" y="2224320"/>
            <a:ext cx="182880" cy="182880"/>
          </a:xfrm>
          <a:prstGeom prst="ellipse">
            <a:avLst/>
          </a:prstGeom>
          <a:solidFill>
            <a:srgbClr val="FF6B4A"/>
          </a:solidFill>
          <a:ln/>
        </p:spPr>
        <p:txBody>
          <a:bodyPr/>
          <a:lstStyle/>
          <a:p>
            <a:endParaRPr lang="en-IN"/>
          </a:p>
        </p:txBody>
      </p:sp>
      <p:sp>
        <p:nvSpPr>
          <p:cNvPr id="189" name="Text 189"/>
          <p:cNvSpPr/>
          <p:nvPr/>
        </p:nvSpPr>
        <p:spPr>
          <a:xfrm>
            <a:off x="914400"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Hosted API</a:t>
            </a:r>
            <a:endParaRPr lang="en-US" sz="1500" dirty="0"/>
          </a:p>
        </p:txBody>
      </p:sp>
      <p:sp>
        <p:nvSpPr>
          <p:cNvPr id="190" name="Text 190"/>
          <p:cNvSpPr/>
          <p:nvPr/>
        </p:nvSpPr>
        <p:spPr>
          <a:xfrm>
            <a:off x="914400"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Somebody else's GPU, called over HTTPS</a:t>
            </a:r>
            <a:endParaRPr lang="en-US" sz="1000" dirty="0"/>
          </a:p>
        </p:txBody>
      </p:sp>
      <p:sp>
        <p:nvSpPr>
          <p:cNvPr id="191" name="Text 191"/>
          <p:cNvSpPr/>
          <p:nvPr/>
        </p:nvSpPr>
        <p:spPr>
          <a:xfrm>
            <a:off x="914400"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LATENCY</a:t>
            </a:r>
            <a:endParaRPr lang="en-US" sz="800" dirty="0"/>
          </a:p>
        </p:txBody>
      </p:sp>
      <p:sp>
        <p:nvSpPr>
          <p:cNvPr id="192" name="Text 192"/>
          <p:cNvSpPr/>
          <p:nvPr/>
        </p:nvSpPr>
        <p:spPr>
          <a:xfrm>
            <a:off x="914400"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1 to 4 seconds per image</a:t>
            </a:r>
            <a:endParaRPr lang="en-US" sz="1000" dirty="0"/>
          </a:p>
        </p:txBody>
      </p:sp>
      <p:sp>
        <p:nvSpPr>
          <p:cNvPr id="193" name="Text 193"/>
          <p:cNvSpPr/>
          <p:nvPr/>
        </p:nvSpPr>
        <p:spPr>
          <a:xfrm>
            <a:off x="914400"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COST SHAPE</a:t>
            </a:r>
            <a:endParaRPr lang="en-US" sz="800" dirty="0"/>
          </a:p>
        </p:txBody>
      </p:sp>
      <p:sp>
        <p:nvSpPr>
          <p:cNvPr id="194" name="Text 194"/>
          <p:cNvSpPr/>
          <p:nvPr/>
        </p:nvSpPr>
        <p:spPr>
          <a:xfrm>
            <a:off x="914400"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Per call, nothing upfront</a:t>
            </a:r>
            <a:endParaRPr lang="en-US" sz="1000" dirty="0"/>
          </a:p>
        </p:txBody>
      </p:sp>
      <p:sp>
        <p:nvSpPr>
          <p:cNvPr id="195" name="Text 195"/>
          <p:cNvSpPr/>
          <p:nvPr/>
        </p:nvSpPr>
        <p:spPr>
          <a:xfrm>
            <a:off x="914400"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DATA LEAVES CAMPUS</a:t>
            </a:r>
            <a:endParaRPr lang="en-US" sz="800" dirty="0"/>
          </a:p>
        </p:txBody>
      </p:sp>
      <p:sp>
        <p:nvSpPr>
          <p:cNvPr id="196" name="Text 196"/>
          <p:cNvSpPr/>
          <p:nvPr/>
        </p:nvSpPr>
        <p:spPr>
          <a:xfrm>
            <a:off x="914400"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Yes - clear it with your ethics committee</a:t>
            </a:r>
            <a:endParaRPr lang="en-US" sz="1000" dirty="0"/>
          </a:p>
        </p:txBody>
      </p:sp>
      <p:sp>
        <p:nvSpPr>
          <p:cNvPr id="197" name="Text 197"/>
          <p:cNvSpPr/>
          <p:nvPr/>
        </p:nvSpPr>
        <p:spPr>
          <a:xfrm>
            <a:off x="914400"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BEST FOR</a:t>
            </a:r>
            <a:endParaRPr lang="en-US" sz="800" dirty="0"/>
          </a:p>
        </p:txBody>
      </p:sp>
      <p:sp>
        <p:nvSpPr>
          <p:cNvPr id="198" name="Text 198"/>
          <p:cNvSpPr/>
          <p:nvPr/>
        </p:nvSpPr>
        <p:spPr>
          <a:xfrm>
            <a:off x="914400"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First projects, papers, pilots</a:t>
            </a:r>
            <a:endParaRPr lang="en-US" sz="1000" dirty="0"/>
          </a:p>
        </p:txBody>
      </p:sp>
      <p:sp>
        <p:nvSpPr>
          <p:cNvPr id="199" name="Shape 199"/>
          <p:cNvSpPr/>
          <p:nvPr/>
        </p:nvSpPr>
        <p:spPr>
          <a:xfrm>
            <a:off x="4394476" y="1950000"/>
            <a:ext cx="3400000" cy="3108960"/>
          </a:xfrm>
          <a:prstGeom prst="roundRect">
            <a:avLst>
              <a:gd name="adj" fmla="val 10526"/>
            </a:avLst>
          </a:prstGeom>
          <a:solidFill>
            <a:srgbClr val="F4F6FA"/>
          </a:solidFill>
          <a:ln/>
        </p:spPr>
        <p:txBody>
          <a:bodyPr/>
          <a:lstStyle/>
          <a:p>
            <a:endParaRPr lang="en-IN"/>
          </a:p>
        </p:txBody>
      </p:sp>
      <p:sp>
        <p:nvSpPr>
          <p:cNvPr id="200" name="Shape 200"/>
          <p:cNvSpPr/>
          <p:nvPr/>
        </p:nvSpPr>
        <p:spPr>
          <a:xfrm>
            <a:off x="4668796" y="2224320"/>
            <a:ext cx="182880" cy="182880"/>
          </a:xfrm>
          <a:prstGeom prst="ellipse">
            <a:avLst/>
          </a:prstGeom>
          <a:solidFill>
            <a:srgbClr val="00C2A8"/>
          </a:solidFill>
          <a:ln/>
        </p:spPr>
        <p:txBody>
          <a:bodyPr/>
          <a:lstStyle/>
          <a:p>
            <a:endParaRPr lang="en-IN"/>
          </a:p>
        </p:txBody>
      </p:sp>
      <p:sp>
        <p:nvSpPr>
          <p:cNvPr id="201" name="Text 201"/>
          <p:cNvSpPr/>
          <p:nvPr/>
        </p:nvSpPr>
        <p:spPr>
          <a:xfrm>
            <a:off x="4668796"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Self-hosted open model</a:t>
            </a:r>
            <a:endParaRPr lang="en-US" sz="1500" dirty="0"/>
          </a:p>
        </p:txBody>
      </p:sp>
      <p:sp>
        <p:nvSpPr>
          <p:cNvPr id="202" name="Text 202"/>
          <p:cNvSpPr/>
          <p:nvPr/>
        </p:nvSpPr>
        <p:spPr>
          <a:xfrm>
            <a:off x="4668796"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An open VLM on your own or a rented GPU</a:t>
            </a:r>
            <a:endParaRPr lang="en-US" sz="1000" dirty="0"/>
          </a:p>
        </p:txBody>
      </p:sp>
      <p:sp>
        <p:nvSpPr>
          <p:cNvPr id="203" name="Text 203"/>
          <p:cNvSpPr/>
          <p:nvPr/>
        </p:nvSpPr>
        <p:spPr>
          <a:xfrm>
            <a:off x="4668796"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LATENCY</a:t>
            </a:r>
            <a:endParaRPr lang="en-US" sz="800" dirty="0"/>
          </a:p>
        </p:txBody>
      </p:sp>
      <p:sp>
        <p:nvSpPr>
          <p:cNvPr id="204" name="Text 204"/>
          <p:cNvSpPr/>
          <p:nvPr/>
        </p:nvSpPr>
        <p:spPr>
          <a:xfrm>
            <a:off x="4668796"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0.5 to 3 seconds, depends on the card</a:t>
            </a:r>
            <a:endParaRPr lang="en-US" sz="1000" dirty="0"/>
          </a:p>
        </p:txBody>
      </p:sp>
      <p:sp>
        <p:nvSpPr>
          <p:cNvPr id="205" name="Text 205"/>
          <p:cNvSpPr/>
          <p:nvPr/>
        </p:nvSpPr>
        <p:spPr>
          <a:xfrm>
            <a:off x="4668796"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COST SHAPE</a:t>
            </a:r>
            <a:endParaRPr lang="en-US" sz="800" dirty="0"/>
          </a:p>
        </p:txBody>
      </p:sp>
      <p:sp>
        <p:nvSpPr>
          <p:cNvPr id="206" name="Text 206"/>
          <p:cNvSpPr/>
          <p:nvPr/>
        </p:nvSpPr>
        <p:spPr>
          <a:xfrm>
            <a:off x="4668796"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Fixed GPU cost, no per-call fee</a:t>
            </a:r>
            <a:endParaRPr lang="en-US" sz="1000" dirty="0"/>
          </a:p>
        </p:txBody>
      </p:sp>
      <p:sp>
        <p:nvSpPr>
          <p:cNvPr id="207" name="Text 207"/>
          <p:cNvSpPr/>
          <p:nvPr/>
        </p:nvSpPr>
        <p:spPr>
          <a:xfrm>
            <a:off x="4668796"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DATA LEAVES CAMPUS</a:t>
            </a:r>
            <a:endParaRPr lang="en-US" sz="800" dirty="0"/>
          </a:p>
        </p:txBody>
      </p:sp>
      <p:sp>
        <p:nvSpPr>
          <p:cNvPr id="208" name="Text 208"/>
          <p:cNvSpPr/>
          <p:nvPr/>
        </p:nvSpPr>
        <p:spPr>
          <a:xfrm>
            <a:off x="4668796"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No - stays on your network</a:t>
            </a:r>
            <a:endParaRPr lang="en-US" sz="1000" dirty="0"/>
          </a:p>
        </p:txBody>
      </p:sp>
      <p:sp>
        <p:nvSpPr>
          <p:cNvPr id="209" name="Text 209"/>
          <p:cNvSpPr/>
          <p:nvPr/>
        </p:nvSpPr>
        <p:spPr>
          <a:xfrm>
            <a:off x="4668796"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BEST FOR</a:t>
            </a:r>
            <a:endParaRPr lang="en-US" sz="800" dirty="0"/>
          </a:p>
        </p:txBody>
      </p:sp>
      <p:sp>
        <p:nvSpPr>
          <p:cNvPr id="210" name="Text 210"/>
          <p:cNvSpPr/>
          <p:nvPr/>
        </p:nvSpPr>
        <p:spPr>
          <a:xfrm>
            <a:off x="4668796"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Sensitive data, high volume, IndiaAI compute</a:t>
            </a:r>
            <a:endParaRPr lang="en-US" sz="1000" dirty="0"/>
          </a:p>
        </p:txBody>
      </p:sp>
      <p:sp>
        <p:nvSpPr>
          <p:cNvPr id="211" name="Shape 211"/>
          <p:cNvSpPr/>
          <p:nvPr/>
        </p:nvSpPr>
        <p:spPr>
          <a:xfrm>
            <a:off x="8148872" y="1950000"/>
            <a:ext cx="3400000" cy="3108960"/>
          </a:xfrm>
          <a:prstGeom prst="roundRect">
            <a:avLst>
              <a:gd name="adj" fmla="val 10526"/>
            </a:avLst>
          </a:prstGeom>
          <a:solidFill>
            <a:srgbClr val="F4F6FA"/>
          </a:solidFill>
          <a:ln/>
        </p:spPr>
        <p:txBody>
          <a:bodyPr/>
          <a:lstStyle/>
          <a:p>
            <a:endParaRPr lang="en-IN"/>
          </a:p>
        </p:txBody>
      </p:sp>
      <p:sp>
        <p:nvSpPr>
          <p:cNvPr id="212" name="Shape 212"/>
          <p:cNvSpPr/>
          <p:nvPr/>
        </p:nvSpPr>
        <p:spPr>
          <a:xfrm>
            <a:off x="8423192" y="2224320"/>
            <a:ext cx="182880" cy="182880"/>
          </a:xfrm>
          <a:prstGeom prst="ellipse">
            <a:avLst/>
          </a:prstGeom>
          <a:solidFill>
            <a:srgbClr val="FFC24A"/>
          </a:solidFill>
          <a:ln/>
        </p:spPr>
        <p:txBody>
          <a:bodyPr/>
          <a:lstStyle/>
          <a:p>
            <a:endParaRPr lang="en-IN"/>
          </a:p>
        </p:txBody>
      </p:sp>
      <p:sp>
        <p:nvSpPr>
          <p:cNvPr id="213" name="Text 213"/>
          <p:cNvSpPr/>
          <p:nvPr/>
        </p:nvSpPr>
        <p:spPr>
          <a:xfrm>
            <a:off x="8423192"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On-device edge</a:t>
            </a:r>
            <a:endParaRPr lang="en-US" sz="1500" dirty="0"/>
          </a:p>
        </p:txBody>
      </p:sp>
      <p:sp>
        <p:nvSpPr>
          <p:cNvPr id="214" name="Text 214"/>
          <p:cNvSpPr/>
          <p:nvPr/>
        </p:nvSpPr>
        <p:spPr>
          <a:xfrm>
            <a:off x="8423192"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A small model on a phone or a gateway</a:t>
            </a:r>
            <a:endParaRPr lang="en-US" sz="1000" dirty="0"/>
          </a:p>
        </p:txBody>
      </p:sp>
      <p:sp>
        <p:nvSpPr>
          <p:cNvPr id="215" name="Text 215"/>
          <p:cNvSpPr/>
          <p:nvPr/>
        </p:nvSpPr>
        <p:spPr>
          <a:xfrm>
            <a:off x="8423192"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LATENCY</a:t>
            </a:r>
            <a:endParaRPr lang="en-US" sz="800" dirty="0"/>
          </a:p>
        </p:txBody>
      </p:sp>
      <p:sp>
        <p:nvSpPr>
          <p:cNvPr id="216" name="Text 216"/>
          <p:cNvSpPr/>
          <p:nvPr/>
        </p:nvSpPr>
        <p:spPr>
          <a:xfrm>
            <a:off x="8423192"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Under a second, works offline</a:t>
            </a:r>
            <a:endParaRPr lang="en-US" sz="1000" dirty="0"/>
          </a:p>
        </p:txBody>
      </p:sp>
      <p:sp>
        <p:nvSpPr>
          <p:cNvPr id="217" name="Text 217"/>
          <p:cNvSpPr/>
          <p:nvPr/>
        </p:nvSpPr>
        <p:spPr>
          <a:xfrm>
            <a:off x="8423192"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COST SHAPE</a:t>
            </a:r>
            <a:endParaRPr lang="en-US" sz="800" dirty="0"/>
          </a:p>
        </p:txBody>
      </p:sp>
      <p:sp>
        <p:nvSpPr>
          <p:cNvPr id="218" name="Text 218"/>
          <p:cNvSpPr/>
          <p:nvPr/>
        </p:nvSpPr>
        <p:spPr>
          <a:xfrm>
            <a:off x="8423192"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Hardware only, no recurring bill</a:t>
            </a:r>
            <a:endParaRPr lang="en-US" sz="1000" dirty="0"/>
          </a:p>
        </p:txBody>
      </p:sp>
      <p:sp>
        <p:nvSpPr>
          <p:cNvPr id="219" name="Text 219"/>
          <p:cNvSpPr/>
          <p:nvPr/>
        </p:nvSpPr>
        <p:spPr>
          <a:xfrm>
            <a:off x="8423192"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DATA LEAVES CAMPUS</a:t>
            </a:r>
            <a:endParaRPr lang="en-US" sz="800" dirty="0"/>
          </a:p>
        </p:txBody>
      </p:sp>
      <p:sp>
        <p:nvSpPr>
          <p:cNvPr id="220" name="Text 220"/>
          <p:cNvSpPr/>
          <p:nvPr/>
        </p:nvSpPr>
        <p:spPr>
          <a:xfrm>
            <a:off x="8423192"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No - never leaves the device</a:t>
            </a:r>
            <a:endParaRPr lang="en-US" sz="1000" dirty="0"/>
          </a:p>
        </p:txBody>
      </p:sp>
      <p:sp>
        <p:nvSpPr>
          <p:cNvPr id="221" name="Text 221"/>
          <p:cNvSpPr/>
          <p:nvPr/>
        </p:nvSpPr>
        <p:spPr>
          <a:xfrm>
            <a:off x="8423192"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BEST FOR</a:t>
            </a:r>
            <a:endParaRPr lang="en-US" sz="800" dirty="0"/>
          </a:p>
        </p:txBody>
      </p:sp>
      <p:sp>
        <p:nvSpPr>
          <p:cNvPr id="222" name="Text 222"/>
          <p:cNvSpPr/>
          <p:nvPr/>
        </p:nvSpPr>
        <p:spPr>
          <a:xfrm>
            <a:off x="8423192"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Field work, plants, poor connectivity</a:t>
            </a:r>
            <a:endParaRPr lang="en-US" sz="1000" dirty="0"/>
          </a:p>
        </p:txBody>
      </p:sp>
      <p:sp>
        <p:nvSpPr>
          <p:cNvPr id="223" name="Text 223"/>
          <p:cNvSpPr/>
          <p:nvPr/>
        </p:nvSpPr>
        <p:spPr>
          <a:xfrm>
            <a:off x="640080" y="5532120"/>
            <a:ext cx="10908792" cy="365760"/>
          </a:xfrm>
          <a:prstGeom prst="rect">
            <a:avLst/>
          </a:prstGeom>
          <a:noFill/>
          <a:ln/>
        </p:spPr>
        <p:txBody>
          <a:bodyPr wrap="square" lIns="0" tIns="0" rIns="0" bIns="0" rtlCol="0" anchor="ctr"/>
          <a:lstStyle/>
          <a:p>
            <a:pPr marL="0" indent="0" algn="l">
              <a:buNone/>
            </a:pPr>
            <a:r>
              <a:rPr lang="en-US" sz="1600" b="1" dirty="0">
                <a:solidFill>
                  <a:srgbClr val="0E1524"/>
                </a:solidFill>
                <a:latin typeface="Arial" pitchFamily="34" charset="0"/>
                <a:ea typeface="Arial" pitchFamily="34" charset="-122"/>
                <a:cs typeface="Arial" pitchFamily="34" charset="-120"/>
              </a:rPr>
              <a:t>Start hosted. Move to self-hosted only when a 200-example test set says the open model is close enough.</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960120"/>
            <a:ext cx="10908792" cy="411480"/>
          </a:xfrm>
          <a:prstGeom prst="rect">
            <a:avLst/>
          </a:prstGeom>
          <a:noFill/>
          <a:ln/>
        </p:spPr>
        <p:txBody>
          <a:bodyPr wrap="square" lIns="0" tIns="0" rIns="0" bIns="0" rtlCol="0" anchor="ctr"/>
          <a:lstStyle/>
          <a:p>
            <a:pPr marL="0" indent="0">
              <a:buNone/>
            </a:pPr>
            <a:r>
              <a:rPr lang="en-US" sz="2200" b="1" dirty="0">
                <a:solidFill>
                  <a:srgbClr val="A8B2C4"/>
                </a:solidFill>
                <a:latin typeface="Arial" pitchFamily="34" charset="0"/>
                <a:ea typeface="Arial" pitchFamily="34" charset="-122"/>
                <a:cs typeface="Arial" pitchFamily="34" charset="-120"/>
              </a:rPr>
              <a:t>The whole of Part Three in one line</a:t>
            </a:r>
            <a:endParaRPr lang="en-US" sz="2200" dirty="0"/>
          </a:p>
        </p:txBody>
      </p:sp>
      <p:sp>
        <p:nvSpPr>
          <p:cNvPr id="3" name="Text 1"/>
          <p:cNvSpPr/>
          <p:nvPr/>
        </p:nvSpPr>
        <p:spPr>
          <a:xfrm>
            <a:off x="640080" y="1828800"/>
            <a:ext cx="10515600" cy="1691640"/>
          </a:xfrm>
          <a:prstGeom prst="rect">
            <a:avLst/>
          </a:prstGeom>
          <a:noFill/>
          <a:ln/>
        </p:spPr>
        <p:txBody>
          <a:bodyPr wrap="square" lIns="0" tIns="0" rIns="0" bIns="0" rtlCol="0" anchor="ctr"/>
          <a:lstStyle/>
          <a:p>
            <a:pPr marL="0" indent="0">
              <a:lnSpc>
                <a:spcPts val="5200"/>
              </a:lnSpc>
              <a:buNone/>
            </a:pPr>
            <a:r>
              <a:rPr lang="en-US" sz="4400" b="1" dirty="0">
                <a:solidFill>
                  <a:srgbClr val="FFFFFF"/>
                </a:solidFill>
                <a:latin typeface="Arial" pitchFamily="34" charset="0"/>
                <a:ea typeface="Arial" pitchFamily="34" charset="-122"/>
                <a:cs typeface="Arial" pitchFamily="34" charset="-120"/>
              </a:rPr>
              <a:t>One stage is new. The other</a:t>
            </a:r>
            <a:endParaRPr lang="en-US" sz="4400" dirty="0"/>
          </a:p>
          <a:p>
            <a:pPr marL="0" indent="0">
              <a:lnSpc>
                <a:spcPts val="5200"/>
              </a:lnSpc>
              <a:buNone/>
            </a:pPr>
            <a:r>
              <a:rPr lang="en-US" sz="4400" b="1" dirty="0">
                <a:solidFill>
                  <a:srgbClr val="FFFFFF"/>
                </a:solidFill>
                <a:latin typeface="Arial" pitchFamily="34" charset="0"/>
                <a:ea typeface="Arial" pitchFamily="34" charset="-122"/>
                <a:cs typeface="Arial" pitchFamily="34" charset="-120"/>
              </a:rPr>
              <a:t>four decide whether it ships.</a:t>
            </a:r>
            <a:endParaRPr lang="en-US" sz="4400" dirty="0"/>
          </a:p>
        </p:txBody>
      </p:sp>
      <p:sp>
        <p:nvSpPr>
          <p:cNvPr id="4" name="Shape 2"/>
          <p:cNvSpPr/>
          <p:nvPr/>
        </p:nvSpPr>
        <p:spPr>
          <a:xfrm>
            <a:off x="640080" y="3931920"/>
            <a:ext cx="10908792" cy="1417320"/>
          </a:xfrm>
          <a:prstGeom prst="roundRect">
            <a:avLst>
              <a:gd name="adj" fmla="val 6452"/>
            </a:avLst>
          </a:prstGeom>
          <a:solidFill>
            <a:srgbClr val="1B2437"/>
          </a:solidFill>
          <a:ln/>
        </p:spPr>
        <p:txBody>
          <a:bodyPr/>
          <a:lstStyle/>
          <a:p>
            <a:endParaRPr lang="en-IN"/>
          </a:p>
        </p:txBody>
      </p:sp>
      <p:sp>
        <p:nvSpPr>
          <p:cNvPr id="5" name="Text 3"/>
          <p:cNvSpPr/>
          <p:nvPr/>
        </p:nvSpPr>
        <p:spPr>
          <a:xfrm>
            <a:off x="1051560" y="3931920"/>
            <a:ext cx="10104120" cy="1417320"/>
          </a:xfrm>
          <a:prstGeom prst="rect">
            <a:avLst/>
          </a:prstGeom>
          <a:noFill/>
          <a:ln/>
        </p:spPr>
        <p:txBody>
          <a:bodyPr wrap="square" lIns="0" tIns="0" rIns="0" bIns="0" rtlCol="0" anchor="ctr"/>
          <a:lstStyle/>
          <a:p>
            <a:pPr marL="0" indent="0">
              <a:lnSpc>
                <a:spcPts val="2400"/>
              </a:lnSpc>
              <a:buNone/>
            </a:pPr>
            <a:r>
              <a:rPr lang="en-US" sz="1550" dirty="0">
                <a:solidFill>
                  <a:srgbClr val="A8B2C4"/>
                </a:solidFill>
                <a:latin typeface="Calibri" pitchFamily="34" charset="0"/>
                <a:ea typeface="Calibri" pitchFamily="34" charset="-122"/>
                <a:cs typeface="Calibri" pitchFamily="34" charset="-120"/>
              </a:rPr>
              <a:t>Ingest, encode, structure and verify are ordinary software engineering - and they are where multimodal projects actually die: on dirty inputs, on a missing evaluation set, on no fallback when the model abstains, and on cost nobody budgeted. Decide where the model runs before you write the proposal, not after.</a:t>
            </a:r>
            <a:endParaRPr lang="en-US" sz="1550" dirty="0"/>
          </a:p>
        </p:txBody>
      </p:sp>
      <p:sp>
        <p:nvSpPr>
          <p:cNvPr id="6" name="Shape 4"/>
          <p:cNvSpPr/>
          <p:nvPr/>
        </p:nvSpPr>
        <p:spPr>
          <a:xfrm>
            <a:off x="640080" y="5806440"/>
            <a:ext cx="137160" cy="137160"/>
          </a:xfrm>
          <a:prstGeom prst="ellipse">
            <a:avLst/>
          </a:prstGeom>
          <a:solidFill>
            <a:srgbClr val="00C2A8"/>
          </a:solidFill>
          <a:ln/>
        </p:spPr>
        <p:txBody>
          <a:bodyPr/>
          <a:lstStyle/>
          <a:p>
            <a:endParaRPr lang="en-IN"/>
          </a:p>
        </p:txBody>
      </p:sp>
      <p:sp>
        <p:nvSpPr>
          <p:cNvPr id="7" name="Shape 5"/>
          <p:cNvSpPr/>
          <p:nvPr/>
        </p:nvSpPr>
        <p:spPr>
          <a:xfrm>
            <a:off x="880110" y="5806440"/>
            <a:ext cx="137160" cy="137160"/>
          </a:xfrm>
          <a:prstGeom prst="ellipse">
            <a:avLst/>
          </a:prstGeom>
          <a:solidFill>
            <a:srgbClr val="FF6B4A"/>
          </a:solidFill>
          <a:ln/>
        </p:spPr>
        <p:txBody>
          <a:bodyPr/>
          <a:lstStyle/>
          <a:p>
            <a:endParaRPr lang="en-IN"/>
          </a:p>
        </p:txBody>
      </p:sp>
      <p:sp>
        <p:nvSpPr>
          <p:cNvPr id="8" name="Shape 6"/>
          <p:cNvSpPr/>
          <p:nvPr/>
        </p:nvSpPr>
        <p:spPr>
          <a:xfrm>
            <a:off x="1120140" y="5806440"/>
            <a:ext cx="137160" cy="137160"/>
          </a:xfrm>
          <a:prstGeom prst="ellipse">
            <a:avLst/>
          </a:prstGeom>
          <a:solidFill>
            <a:srgbClr val="FFC24A"/>
          </a:solidFill>
          <a:ln/>
        </p:spPr>
        <p:txBody>
          <a:bodyPr/>
          <a:lstStyle/>
          <a:p>
            <a:endParaRPr lang="en-IN"/>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2331720"/>
            <a:ext cx="164592" cy="164592"/>
          </a:xfrm>
          <a:prstGeom prst="ellipse">
            <a:avLst/>
          </a:prstGeom>
          <a:solidFill>
            <a:srgbClr val="00C2A8"/>
          </a:solidFill>
          <a:ln/>
        </p:spPr>
        <p:txBody>
          <a:bodyPr/>
          <a:lstStyle/>
          <a:p>
            <a:endParaRPr lang="en-IN"/>
          </a:p>
        </p:txBody>
      </p:sp>
      <p:sp>
        <p:nvSpPr>
          <p:cNvPr id="3" name="Shape 1"/>
          <p:cNvSpPr/>
          <p:nvPr/>
        </p:nvSpPr>
        <p:spPr>
          <a:xfrm>
            <a:off x="928116" y="2331720"/>
            <a:ext cx="164592" cy="164592"/>
          </a:xfrm>
          <a:prstGeom prst="ellipse">
            <a:avLst/>
          </a:prstGeom>
          <a:solidFill>
            <a:srgbClr val="FF6B4A"/>
          </a:solidFill>
          <a:ln/>
        </p:spPr>
        <p:txBody>
          <a:bodyPr/>
          <a:lstStyle/>
          <a:p>
            <a:endParaRPr lang="en-IN"/>
          </a:p>
        </p:txBody>
      </p:sp>
      <p:sp>
        <p:nvSpPr>
          <p:cNvPr id="4" name="Shape 2"/>
          <p:cNvSpPr/>
          <p:nvPr/>
        </p:nvSpPr>
        <p:spPr>
          <a:xfrm>
            <a:off x="1216152" y="2331720"/>
            <a:ext cx="164592" cy="164592"/>
          </a:xfrm>
          <a:prstGeom prst="ellipse">
            <a:avLst/>
          </a:prstGeom>
          <a:solidFill>
            <a:srgbClr val="FFC24A"/>
          </a:solidFill>
          <a:ln/>
        </p:spPr>
        <p:txBody>
          <a:bodyPr/>
          <a:lstStyle/>
          <a:p>
            <a:endParaRPr lang="en-IN"/>
          </a:p>
        </p:txBody>
      </p:sp>
      <p:sp>
        <p:nvSpPr>
          <p:cNvPr id="5" name="Text 3"/>
          <p:cNvSpPr/>
          <p:nvPr/>
        </p:nvSpPr>
        <p:spPr>
          <a:xfrm>
            <a:off x="640080" y="2788920"/>
            <a:ext cx="5486400" cy="274320"/>
          </a:xfrm>
          <a:prstGeom prst="rect">
            <a:avLst/>
          </a:prstGeom>
          <a:noFill/>
          <a:ln/>
        </p:spPr>
        <p:txBody>
          <a:bodyPr wrap="square" lIns="0" tIns="0" rIns="0" bIns="0" rtlCol="0" anchor="ctr"/>
          <a:lstStyle/>
          <a:p>
            <a:pPr marL="0" indent="0">
              <a:buNone/>
            </a:pPr>
            <a:r>
              <a:rPr lang="en-US" sz="1300" b="1" kern="0" spc="300" dirty="0">
                <a:solidFill>
                  <a:srgbClr val="00C2A8"/>
                </a:solidFill>
                <a:latin typeface="Arial" pitchFamily="34" charset="0"/>
                <a:ea typeface="Arial" pitchFamily="34" charset="-122"/>
                <a:cs typeface="Arial" pitchFamily="34" charset="-120"/>
              </a:rPr>
              <a:t>PART FOUR</a:t>
            </a:r>
            <a:endParaRPr lang="en-US" sz="1300" dirty="0"/>
          </a:p>
        </p:txBody>
      </p:sp>
      <p:sp>
        <p:nvSpPr>
          <p:cNvPr id="6" name="Text 4"/>
          <p:cNvSpPr/>
          <p:nvPr/>
        </p:nvSpPr>
        <p:spPr>
          <a:xfrm>
            <a:off x="640080" y="3127248"/>
            <a:ext cx="8229600" cy="914400"/>
          </a:xfrm>
          <a:prstGeom prst="rect">
            <a:avLst/>
          </a:prstGeom>
          <a:noFill/>
          <a:ln/>
        </p:spPr>
        <p:txBody>
          <a:bodyPr wrap="square" lIns="0" tIns="0" rIns="0" bIns="0" rtlCol="0" anchor="ctr"/>
          <a:lstStyle/>
          <a:p>
            <a:pPr marL="0" indent="0">
              <a:buNone/>
            </a:pPr>
            <a:r>
              <a:rPr lang="en-US" sz="5200" b="1" dirty="0">
                <a:solidFill>
                  <a:srgbClr val="FFFFFF"/>
                </a:solidFill>
                <a:latin typeface="Arial" pitchFamily="34" charset="0"/>
                <a:ea typeface="Arial" pitchFamily="34" charset="-122"/>
                <a:cs typeface="Arial" pitchFamily="34" charset="-120"/>
              </a:rPr>
              <a:t>Research and Teaching</a:t>
            </a:r>
            <a:endParaRPr lang="en-US" sz="5200" dirty="0"/>
          </a:p>
        </p:txBody>
      </p:sp>
      <p:sp>
        <p:nvSpPr>
          <p:cNvPr id="7" name="Text 5"/>
          <p:cNvSpPr/>
          <p:nvPr/>
        </p:nvSpPr>
        <p:spPr>
          <a:xfrm>
            <a:off x="640080" y="4160520"/>
            <a:ext cx="8412480" cy="731520"/>
          </a:xfrm>
          <a:prstGeom prst="rect">
            <a:avLst/>
          </a:prstGeom>
          <a:noFill/>
          <a:ln/>
        </p:spPr>
        <p:txBody>
          <a:bodyPr wrap="square" lIns="0" tIns="0" rIns="0" bIns="0" rtlCol="0" anchor="ctr"/>
          <a:lstStyle/>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Turning the architecture you just saw into a paper, a funded proposal,</a:t>
            </a:r>
            <a:endParaRPr lang="en-US" sz="1600" dirty="0"/>
          </a:p>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or next semester's lab exercise - which is what this FDP is actually for.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THE RESEARCHERS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Where the open problems are</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Ranked roughly by how easy it is to publish something real without a large compute budget.</a:t>
            </a:r>
            <a:endParaRPr lang="en-US" sz="1400" dirty="0"/>
          </a:p>
        </p:txBody>
      </p:sp>
      <p:sp>
        <p:nvSpPr>
          <p:cNvPr id="5" name="Shape 3"/>
          <p:cNvSpPr/>
          <p:nvPr/>
        </p:nvSpPr>
        <p:spPr>
          <a:xfrm>
            <a:off x="640080" y="1965960"/>
            <a:ext cx="10908792" cy="658368"/>
          </a:xfrm>
          <a:prstGeom prst="roundRect">
            <a:avLst>
              <a:gd name="adj" fmla="val 11111"/>
            </a:avLst>
          </a:prstGeom>
          <a:solidFill>
            <a:srgbClr val="F4F6FA"/>
          </a:solidFill>
          <a:ln/>
        </p:spPr>
        <p:txBody>
          <a:bodyPr/>
          <a:lstStyle/>
          <a:p>
            <a:endParaRPr lang="en-IN"/>
          </a:p>
        </p:txBody>
      </p:sp>
      <p:sp>
        <p:nvSpPr>
          <p:cNvPr id="6" name="Text 4"/>
          <p:cNvSpPr/>
          <p:nvPr/>
        </p:nvSpPr>
        <p:spPr>
          <a:xfrm>
            <a:off x="914400" y="1965960"/>
            <a:ext cx="548640" cy="658368"/>
          </a:xfrm>
          <a:prstGeom prst="rect">
            <a:avLst/>
          </a:prstGeom>
          <a:noFill/>
          <a:ln/>
        </p:spPr>
        <p:txBody>
          <a:bodyPr wrap="square" lIns="0" tIns="0" rIns="0" bIns="0" rtlCol="0" anchor="ctr"/>
          <a:lstStyle/>
          <a:p>
            <a:pPr marL="0" indent="0">
              <a:buNone/>
            </a:pPr>
            <a:r>
              <a:rPr lang="en-US" sz="1600" b="1" dirty="0">
                <a:solidFill>
                  <a:srgbClr val="00C2A8"/>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600200" y="196596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Evaluation and benchmarks</a:t>
            </a:r>
            <a:endParaRPr lang="en-US" sz="1400" dirty="0"/>
          </a:p>
        </p:txBody>
      </p:sp>
      <p:sp>
        <p:nvSpPr>
          <p:cNvPr id="8" name="Text 6"/>
          <p:cNvSpPr/>
          <p:nvPr/>
        </p:nvSpPr>
        <p:spPr>
          <a:xfrm>
            <a:off x="4937760" y="1965960"/>
            <a:ext cx="438912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Build a hard, well-documented test set for a domain nobody has covered. Check DocVQA, ChartQA and MMMU first.</a:t>
            </a:r>
            <a:endParaRPr lang="en-US" sz="1250" dirty="0"/>
          </a:p>
        </p:txBody>
      </p:sp>
      <p:sp>
        <p:nvSpPr>
          <p:cNvPr id="9" name="Shape 7"/>
          <p:cNvSpPr/>
          <p:nvPr/>
        </p:nvSpPr>
        <p:spPr>
          <a:xfrm>
            <a:off x="640080" y="2743200"/>
            <a:ext cx="10908792" cy="658368"/>
          </a:xfrm>
          <a:prstGeom prst="roundRect">
            <a:avLst>
              <a:gd name="adj" fmla="val 11111"/>
            </a:avLst>
          </a:prstGeom>
          <a:solidFill>
            <a:srgbClr val="F4F6FA"/>
          </a:solidFill>
          <a:ln/>
        </p:spPr>
        <p:txBody>
          <a:bodyPr/>
          <a:lstStyle/>
          <a:p>
            <a:endParaRPr lang="en-IN"/>
          </a:p>
        </p:txBody>
      </p:sp>
      <p:sp>
        <p:nvSpPr>
          <p:cNvPr id="10" name="Text 8"/>
          <p:cNvSpPr/>
          <p:nvPr/>
        </p:nvSpPr>
        <p:spPr>
          <a:xfrm>
            <a:off x="914400" y="2743200"/>
            <a:ext cx="548640" cy="658368"/>
          </a:xfrm>
          <a:prstGeom prst="rect">
            <a:avLst/>
          </a:prstGeom>
          <a:noFill/>
          <a:ln/>
        </p:spPr>
        <p:txBody>
          <a:bodyPr wrap="square" lIns="0" tIns="0" rIns="0" bIns="0" rtlCol="0" anchor="ctr"/>
          <a:lstStyle/>
          <a:p>
            <a:pPr marL="0" indent="0">
              <a:buNone/>
            </a:pPr>
            <a:r>
              <a:rPr lang="en-US" sz="1600" b="1" dirty="0">
                <a:solidFill>
                  <a:srgbClr val="00C2A8"/>
                </a:solidFill>
                <a:latin typeface="Arial" pitchFamily="34" charset="0"/>
                <a:ea typeface="Arial" pitchFamily="34" charset="-122"/>
                <a:cs typeface="Arial" pitchFamily="34" charset="-120"/>
              </a:rPr>
              <a:t>02</a:t>
            </a:r>
            <a:endParaRPr lang="en-US" sz="1600" dirty="0"/>
          </a:p>
        </p:txBody>
      </p:sp>
      <p:sp>
        <p:nvSpPr>
          <p:cNvPr id="11" name="Text 9"/>
          <p:cNvSpPr/>
          <p:nvPr/>
        </p:nvSpPr>
        <p:spPr>
          <a:xfrm>
            <a:off x="1600200" y="274320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Low-resource language and script</a:t>
            </a:r>
            <a:endParaRPr lang="en-US" sz="1400" dirty="0"/>
          </a:p>
        </p:txBody>
      </p:sp>
      <p:sp>
        <p:nvSpPr>
          <p:cNvPr id="12" name="Text 10"/>
          <p:cNvSpPr/>
          <p:nvPr/>
        </p:nvSpPr>
        <p:spPr>
          <a:xfrm>
            <a:off x="4937760" y="2743200"/>
            <a:ext cx="438912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Devanagari forms, regional handwriting, code-mixed text in images. Underserved and locally relevant.</a:t>
            </a:r>
            <a:endParaRPr lang="en-US" sz="1250" dirty="0"/>
          </a:p>
        </p:txBody>
      </p:sp>
      <p:sp>
        <p:nvSpPr>
          <p:cNvPr id="13" name="Shape 11"/>
          <p:cNvSpPr/>
          <p:nvPr/>
        </p:nvSpPr>
        <p:spPr>
          <a:xfrm>
            <a:off x="640080" y="3520440"/>
            <a:ext cx="10908792" cy="658368"/>
          </a:xfrm>
          <a:prstGeom prst="roundRect">
            <a:avLst>
              <a:gd name="adj" fmla="val 11111"/>
            </a:avLst>
          </a:prstGeom>
          <a:solidFill>
            <a:srgbClr val="F4F6FA"/>
          </a:solidFill>
          <a:ln/>
        </p:spPr>
        <p:txBody>
          <a:bodyPr/>
          <a:lstStyle/>
          <a:p>
            <a:endParaRPr lang="en-IN"/>
          </a:p>
        </p:txBody>
      </p:sp>
      <p:sp>
        <p:nvSpPr>
          <p:cNvPr id="14" name="Text 12"/>
          <p:cNvSpPr/>
          <p:nvPr/>
        </p:nvSpPr>
        <p:spPr>
          <a:xfrm>
            <a:off x="914400" y="3520440"/>
            <a:ext cx="548640" cy="658368"/>
          </a:xfrm>
          <a:prstGeom prst="rect">
            <a:avLst/>
          </a:prstGeom>
          <a:noFill/>
          <a:ln/>
        </p:spPr>
        <p:txBody>
          <a:bodyPr wrap="square" lIns="0" tIns="0" rIns="0" bIns="0" rtlCol="0" anchor="ctr"/>
          <a:lstStyle/>
          <a:p>
            <a:pPr marL="0" indent="0">
              <a:buNone/>
            </a:pPr>
            <a:r>
              <a:rPr lang="en-US" sz="1600" b="1" dirty="0">
                <a:solidFill>
                  <a:srgbClr val="FFC24A"/>
                </a:solidFill>
                <a:latin typeface="Arial" pitchFamily="34" charset="0"/>
                <a:ea typeface="Arial" pitchFamily="34" charset="-122"/>
                <a:cs typeface="Arial" pitchFamily="34" charset="-120"/>
              </a:rPr>
              <a:t>03</a:t>
            </a:r>
            <a:endParaRPr lang="en-US" sz="1600" dirty="0"/>
          </a:p>
        </p:txBody>
      </p:sp>
      <p:sp>
        <p:nvSpPr>
          <p:cNvPr id="15" name="Text 13"/>
          <p:cNvSpPr/>
          <p:nvPr/>
        </p:nvSpPr>
        <p:spPr>
          <a:xfrm>
            <a:off x="1600200" y="352044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Calibration and abstention</a:t>
            </a:r>
            <a:endParaRPr lang="en-US" sz="1400" dirty="0"/>
          </a:p>
        </p:txBody>
      </p:sp>
      <p:sp>
        <p:nvSpPr>
          <p:cNvPr id="16" name="Text 14"/>
          <p:cNvSpPr/>
          <p:nvPr/>
        </p:nvSpPr>
        <p:spPr>
          <a:xfrm>
            <a:off x="4937760" y="3520440"/>
            <a:ext cx="438912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Teaching a model to say it cannot read something. Measurable, and everyone needs it.</a:t>
            </a:r>
            <a:endParaRPr lang="en-US" sz="1250" dirty="0"/>
          </a:p>
        </p:txBody>
      </p:sp>
      <p:sp>
        <p:nvSpPr>
          <p:cNvPr id="17" name="Shape 15"/>
          <p:cNvSpPr/>
          <p:nvPr/>
        </p:nvSpPr>
        <p:spPr>
          <a:xfrm>
            <a:off x="640080" y="4297680"/>
            <a:ext cx="10908792" cy="658368"/>
          </a:xfrm>
          <a:prstGeom prst="roundRect">
            <a:avLst>
              <a:gd name="adj" fmla="val 11111"/>
            </a:avLst>
          </a:prstGeom>
          <a:solidFill>
            <a:srgbClr val="F4F6FA"/>
          </a:solidFill>
          <a:ln/>
        </p:spPr>
        <p:txBody>
          <a:bodyPr/>
          <a:lstStyle/>
          <a:p>
            <a:endParaRPr lang="en-IN"/>
          </a:p>
        </p:txBody>
      </p:sp>
      <p:sp>
        <p:nvSpPr>
          <p:cNvPr id="18" name="Text 16"/>
          <p:cNvSpPr/>
          <p:nvPr/>
        </p:nvSpPr>
        <p:spPr>
          <a:xfrm>
            <a:off x="914400" y="4297680"/>
            <a:ext cx="548640" cy="658368"/>
          </a:xfrm>
          <a:prstGeom prst="rect">
            <a:avLst/>
          </a:prstGeom>
          <a:noFill/>
          <a:ln/>
        </p:spPr>
        <p:txBody>
          <a:bodyPr wrap="square" lIns="0" tIns="0" rIns="0" bIns="0" rtlCol="0" anchor="ctr"/>
          <a:lstStyle/>
          <a:p>
            <a:pPr marL="0" indent="0">
              <a:buNone/>
            </a:pPr>
            <a:r>
              <a:rPr lang="en-US" sz="1600" b="1" dirty="0">
                <a:solidFill>
                  <a:srgbClr val="FFC24A"/>
                </a:solidFill>
                <a:latin typeface="Arial" pitchFamily="34" charset="0"/>
                <a:ea typeface="Arial" pitchFamily="34" charset="-122"/>
                <a:cs typeface="Arial" pitchFamily="34" charset="-120"/>
              </a:rPr>
              <a:t>04</a:t>
            </a:r>
            <a:endParaRPr lang="en-US" sz="1600" dirty="0"/>
          </a:p>
        </p:txBody>
      </p:sp>
      <p:sp>
        <p:nvSpPr>
          <p:cNvPr id="19" name="Text 17"/>
          <p:cNvSpPr/>
          <p:nvPr/>
        </p:nvSpPr>
        <p:spPr>
          <a:xfrm>
            <a:off x="1600200" y="429768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Efficient fusion</a:t>
            </a:r>
            <a:endParaRPr lang="en-US" sz="1400" dirty="0"/>
          </a:p>
        </p:txBody>
      </p:sp>
      <p:sp>
        <p:nvSpPr>
          <p:cNvPr id="20" name="Text 18"/>
          <p:cNvSpPr/>
          <p:nvPr/>
        </p:nvSpPr>
        <p:spPr>
          <a:xfrm>
            <a:off x="4937760" y="4297680"/>
            <a:ext cx="438912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Same accuracy at a fraction of the tokens, and the way into long video. Fits a compute-constrained lab.</a:t>
            </a:r>
            <a:endParaRPr lang="en-US" sz="1250" dirty="0"/>
          </a:p>
        </p:txBody>
      </p:sp>
      <p:sp>
        <p:nvSpPr>
          <p:cNvPr id="21" name="Shape 19"/>
          <p:cNvSpPr/>
          <p:nvPr/>
        </p:nvSpPr>
        <p:spPr>
          <a:xfrm>
            <a:off x="640080" y="5074920"/>
            <a:ext cx="10908792" cy="658368"/>
          </a:xfrm>
          <a:prstGeom prst="roundRect">
            <a:avLst>
              <a:gd name="adj" fmla="val 11111"/>
            </a:avLst>
          </a:prstGeom>
          <a:solidFill>
            <a:srgbClr val="F4F6FA"/>
          </a:solidFill>
          <a:ln/>
        </p:spPr>
        <p:txBody>
          <a:bodyPr/>
          <a:lstStyle/>
          <a:p>
            <a:endParaRPr lang="en-IN"/>
          </a:p>
        </p:txBody>
      </p:sp>
      <p:sp>
        <p:nvSpPr>
          <p:cNvPr id="22" name="Text 20"/>
          <p:cNvSpPr/>
          <p:nvPr/>
        </p:nvSpPr>
        <p:spPr>
          <a:xfrm>
            <a:off x="914400" y="5074920"/>
            <a:ext cx="548640" cy="658368"/>
          </a:xfrm>
          <a:prstGeom prst="rect">
            <a:avLst/>
          </a:prstGeom>
          <a:noFill/>
          <a:ln/>
        </p:spPr>
        <p:txBody>
          <a:bodyPr wrap="square" lIns="0" tIns="0" rIns="0" bIns="0" rtlCol="0" anchor="ctr"/>
          <a:lstStyle/>
          <a:p>
            <a:pPr marL="0" indent="0">
              <a:buNone/>
            </a:pPr>
            <a:r>
              <a:rPr lang="en-US" sz="1600" b="1" dirty="0">
                <a:solidFill>
                  <a:srgbClr val="FF6B4A"/>
                </a:solidFill>
                <a:latin typeface="Arial" pitchFamily="34" charset="0"/>
                <a:ea typeface="Arial" pitchFamily="34" charset="-122"/>
                <a:cs typeface="Arial" pitchFamily="34" charset="-120"/>
              </a:rPr>
              <a:t>05</a:t>
            </a:r>
            <a:endParaRPr lang="en-US" sz="1600" dirty="0"/>
          </a:p>
        </p:txBody>
      </p:sp>
      <p:sp>
        <p:nvSpPr>
          <p:cNvPr id="23" name="Text 21"/>
          <p:cNvSpPr/>
          <p:nvPr/>
        </p:nvSpPr>
        <p:spPr>
          <a:xfrm>
            <a:off x="1600200" y="507492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Domain grounding</a:t>
            </a:r>
            <a:endParaRPr lang="en-US" sz="1400" dirty="0"/>
          </a:p>
        </p:txBody>
      </p:sp>
      <p:sp>
        <p:nvSpPr>
          <p:cNvPr id="24" name="Text 22"/>
          <p:cNvSpPr/>
          <p:nvPr/>
        </p:nvSpPr>
        <p:spPr>
          <a:xfrm>
            <a:off x="4937760" y="5074920"/>
            <a:ext cx="438912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Medical, agricultural or industrial imagery with expert-verified labels, where fine spatial detail decides the answer.</a:t>
            </a:r>
            <a:endParaRPr lang="en-US" sz="1250" dirty="0"/>
          </a:p>
        </p:txBody>
      </p:sp>
      <p:sp>
        <p:nvSpPr>
          <p:cNvPr id="25" name="Text 23"/>
          <p:cNvSpPr/>
          <p:nvPr/>
        </p:nvSpPr>
        <p:spPr>
          <a:xfrm>
            <a:off x="640080" y="5943600"/>
            <a:ext cx="10908792" cy="320040"/>
          </a:xfrm>
          <a:prstGeom prst="rect">
            <a:avLst/>
          </a:prstGeom>
          <a:noFill/>
          <a:ln/>
        </p:spPr>
        <p:txBody>
          <a:bodyPr wrap="square" lIns="0" tIns="0" rIns="0" bIns="0" rtlCol="0" anchor="ctr"/>
          <a:lstStyle/>
          <a:p>
            <a:pPr marL="0" indent="0">
              <a:buNone/>
            </a:pPr>
            <a:r>
              <a:rPr lang="en-US" sz="1400" i="1" dirty="0">
                <a:solidFill>
                  <a:srgbClr val="0E1524"/>
                </a:solidFill>
                <a:latin typeface="Calibri" pitchFamily="34" charset="0"/>
                <a:ea typeface="Calibri" pitchFamily="34" charset="-122"/>
                <a:cs typeface="Calibri" pitchFamily="34" charset="-120"/>
              </a:rPr>
              <a:t>Notice that the top two need almost no GPU. A good dataset paper outlives most model papers.</a:t>
            </a:r>
            <a:endParaRPr lang="en-US" sz="1400" dirty="0"/>
          </a:p>
        </p:txBody>
      </p:sp>
      <p:sp>
        <p:nvSpPr>
          <p:cNvPr id="26" name="Text 6"/>
          <p:cNvSpPr/>
          <p:nvPr/>
        </p:nvSpPr>
        <p:spPr>
          <a:xfrm>
            <a:off x="9540240" y="1965960"/>
            <a:ext cx="1706880" cy="658368"/>
          </a:xfrm>
          <a:prstGeom prst="rect">
            <a:avLst/>
          </a:prstGeom>
          <a:noFill/>
          <a:ln/>
        </p:spPr>
        <p:txBody>
          <a:bodyPr wrap="square" lIns="0" tIns="0" rIns="0" bIns="0" rtlCol="0" anchor="ctr"/>
          <a:lstStyle/>
          <a:p>
            <a:pPr marL="0" indent="0">
              <a:buNone/>
            </a:pPr>
            <a:r>
              <a:rPr lang="en-US" sz="1000" dirty="0">
                <a:solidFill>
                  <a:srgbClr val="0E1524"/>
                </a:solidFill>
                <a:latin typeface="Calibri" pitchFamily="34" charset="0"/>
                <a:ea typeface="Calibri" pitchFamily="34" charset="-122"/>
                <a:cs typeface="Calibri" pitchFamily="34" charset="-120"/>
              </a:rPr>
              <a:t>Coverage, difficulty, agreement</a:t>
            </a:r>
            <a:endParaRPr lang="en-US" sz="1250" dirty="0"/>
          </a:p>
        </p:txBody>
      </p:sp>
      <p:sp>
        <p:nvSpPr>
          <p:cNvPr id="27" name="Text 10"/>
          <p:cNvSpPr/>
          <p:nvPr/>
        </p:nvSpPr>
        <p:spPr>
          <a:xfrm>
            <a:off x="9540240" y="2743200"/>
            <a:ext cx="1706880" cy="658368"/>
          </a:xfrm>
          <a:prstGeom prst="rect">
            <a:avLst/>
          </a:prstGeom>
          <a:noFill/>
          <a:ln/>
        </p:spPr>
        <p:txBody>
          <a:bodyPr wrap="square" lIns="0" tIns="0" rIns="0" bIns="0" rtlCol="0" anchor="ctr"/>
          <a:lstStyle/>
          <a:p>
            <a:pPr marL="0" indent="0">
              <a:buNone/>
            </a:pPr>
            <a:r>
              <a:rPr lang="en-US" sz="1000" dirty="0">
                <a:solidFill>
                  <a:srgbClr val="0E1524"/>
                </a:solidFill>
                <a:latin typeface="Calibri" pitchFamily="34" charset="0"/>
                <a:ea typeface="Calibri" pitchFamily="34" charset="-122"/>
                <a:cs typeface="Calibri" pitchFamily="34" charset="-120"/>
              </a:rPr>
              <a:t>Field-level F1 by script</a:t>
            </a:r>
            <a:endParaRPr lang="en-US" sz="1250" dirty="0"/>
          </a:p>
        </p:txBody>
      </p:sp>
      <p:sp>
        <p:nvSpPr>
          <p:cNvPr id="28" name="Text 14"/>
          <p:cNvSpPr/>
          <p:nvPr/>
        </p:nvSpPr>
        <p:spPr>
          <a:xfrm>
            <a:off x="9540240" y="3520440"/>
            <a:ext cx="1706880" cy="658368"/>
          </a:xfrm>
          <a:prstGeom prst="rect">
            <a:avLst/>
          </a:prstGeom>
          <a:noFill/>
          <a:ln/>
        </p:spPr>
        <p:txBody>
          <a:bodyPr wrap="square" lIns="0" tIns="0" rIns="0" bIns="0" rtlCol="0" anchor="ctr"/>
          <a:lstStyle/>
          <a:p>
            <a:pPr marL="0" indent="0">
              <a:buNone/>
            </a:pPr>
            <a:r>
              <a:rPr lang="en-US" sz="1000" dirty="0">
                <a:solidFill>
                  <a:srgbClr val="0E1524"/>
                </a:solidFill>
                <a:latin typeface="Calibri" pitchFamily="34" charset="0"/>
                <a:ea typeface="Calibri" pitchFamily="34" charset="-122"/>
                <a:cs typeface="Calibri" pitchFamily="34" charset="-120"/>
              </a:rPr>
              <a:t>ECE and selective risk</a:t>
            </a:r>
            <a:endParaRPr lang="en-US" sz="1250" dirty="0"/>
          </a:p>
        </p:txBody>
      </p:sp>
      <p:sp>
        <p:nvSpPr>
          <p:cNvPr id="29" name="Text 18"/>
          <p:cNvSpPr/>
          <p:nvPr/>
        </p:nvSpPr>
        <p:spPr>
          <a:xfrm>
            <a:off x="9540240" y="4297680"/>
            <a:ext cx="1706880" cy="658368"/>
          </a:xfrm>
          <a:prstGeom prst="rect">
            <a:avLst/>
          </a:prstGeom>
          <a:noFill/>
          <a:ln/>
        </p:spPr>
        <p:txBody>
          <a:bodyPr wrap="square" lIns="0" tIns="0" rIns="0" bIns="0" rtlCol="0" anchor="ctr"/>
          <a:lstStyle/>
          <a:p>
            <a:pPr marL="0" indent="0">
              <a:buNone/>
            </a:pPr>
            <a:r>
              <a:rPr lang="en-US" sz="1000" dirty="0">
                <a:solidFill>
                  <a:srgbClr val="0E1524"/>
                </a:solidFill>
                <a:latin typeface="Calibri" pitchFamily="34" charset="0"/>
                <a:ea typeface="Calibri" pitchFamily="34" charset="-122"/>
                <a:cs typeface="Calibri" pitchFamily="34" charset="-120"/>
              </a:rPr>
              <a:t>Accuracy per token and rupee</a:t>
            </a:r>
            <a:endParaRPr lang="en-US" sz="1250" dirty="0"/>
          </a:p>
        </p:txBody>
      </p:sp>
      <p:sp>
        <p:nvSpPr>
          <p:cNvPr id="30" name="Text 22"/>
          <p:cNvSpPr/>
          <p:nvPr/>
        </p:nvSpPr>
        <p:spPr>
          <a:xfrm>
            <a:off x="9540240" y="5074920"/>
            <a:ext cx="1706880" cy="658368"/>
          </a:xfrm>
          <a:prstGeom prst="rect">
            <a:avLst/>
          </a:prstGeom>
          <a:noFill/>
          <a:ln/>
        </p:spPr>
        <p:txBody>
          <a:bodyPr wrap="square" lIns="0" tIns="0" rIns="0" bIns="0" rtlCol="0" anchor="ctr"/>
          <a:lstStyle/>
          <a:p>
            <a:pPr marL="0" indent="0">
              <a:buNone/>
            </a:pPr>
            <a:r>
              <a:rPr lang="en-US" sz="1000" dirty="0">
                <a:solidFill>
                  <a:srgbClr val="0E1524"/>
                </a:solidFill>
                <a:latin typeface="Calibri" pitchFamily="34" charset="0"/>
                <a:ea typeface="Calibri" pitchFamily="34" charset="-122"/>
                <a:cs typeface="Calibri" pitchFamily="34" charset="-120"/>
              </a:rPr>
              <a:t>Expert agreement, localisation error</a:t>
            </a:r>
            <a:endParaRPr lang="en-US" sz="1250" dirty="0"/>
          </a:p>
        </p:txBody>
      </p:sp>
      <p:sp>
        <p:nvSpPr>
          <p:cNvPr id="31" name="Text 0"/>
          <p:cNvSpPr/>
          <p:nvPr/>
        </p:nvSpPr>
        <p:spPr>
          <a:xfrm>
            <a:off x="9540240" y="1755648"/>
            <a:ext cx="1706880" cy="190000"/>
          </a:xfrm>
          <a:prstGeom prst="rect">
            <a:avLst/>
          </a:prstGeom>
          <a:noFill/>
          <a:ln/>
        </p:spPr>
        <p:txBody>
          <a:bodyPr wrap="square" lIns="0" tIns="0" rIns="0" bIns="0" rtlCol="0" anchor="ctr"/>
          <a:lstStyle/>
          <a:p>
            <a:pPr marL="0" indent="0">
              <a:buNone/>
            </a:pPr>
            <a:r>
              <a:rPr lang="en-US" sz="900" b="1" kern="0" spc="200" dirty="0">
                <a:solidFill>
                  <a:srgbClr val="FF6B4A"/>
                </a:solidFill>
                <a:latin typeface="Arial" pitchFamily="34" charset="0"/>
                <a:ea typeface="Arial" pitchFamily="34" charset="-122"/>
                <a:cs typeface="Arial" pitchFamily="34" charset="-120"/>
              </a:rPr>
              <a:t>HOW TO MEASURE</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THE RESEARCHERS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What to cite, and what will date</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Two that will still be right in five years. Three that need re-checking before you submit.</a:t>
            </a:r>
            <a:endParaRPr lang="en-US" sz="1400" dirty="0"/>
          </a:p>
        </p:txBody>
      </p:sp>
      <p:sp>
        <p:nvSpPr>
          <p:cNvPr id="5" name="Shape 3"/>
          <p:cNvSpPr/>
          <p:nvPr/>
        </p:nvSpPr>
        <p:spPr>
          <a:xfrm>
            <a:off x="640080" y="1965960"/>
            <a:ext cx="10908792" cy="658368"/>
          </a:xfrm>
          <a:prstGeom prst="roundRect">
            <a:avLst>
              <a:gd name="adj" fmla="val 11111"/>
            </a:avLst>
          </a:prstGeom>
          <a:solidFill>
            <a:srgbClr val="F4F6FA"/>
          </a:solidFill>
          <a:ln/>
        </p:spPr>
        <p:txBody>
          <a:bodyPr/>
          <a:lstStyle/>
          <a:p>
            <a:endParaRPr lang="en-IN"/>
          </a:p>
        </p:txBody>
      </p:sp>
      <p:sp>
        <p:nvSpPr>
          <p:cNvPr id="6" name="Text 4"/>
          <p:cNvSpPr/>
          <p:nvPr/>
        </p:nvSpPr>
        <p:spPr>
          <a:xfrm>
            <a:off x="914400" y="1965960"/>
            <a:ext cx="548640" cy="658368"/>
          </a:xfrm>
          <a:prstGeom prst="rect">
            <a:avLst/>
          </a:prstGeom>
          <a:noFill/>
          <a:ln/>
        </p:spPr>
        <p:txBody>
          <a:bodyPr wrap="square" lIns="0" tIns="0" rIns="0" bIns="0" rtlCol="0" anchor="ctr"/>
          <a:lstStyle/>
          <a:p>
            <a:pPr marL="0" indent="0">
              <a:buNone/>
            </a:pPr>
            <a:r>
              <a:rPr lang="en-US" sz="1600" b="1" dirty="0">
                <a:solidFill>
                  <a:srgbClr val="00C2A8"/>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600200" y="196596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CLIP - Radford et al., 2021</a:t>
            </a:r>
            <a:endParaRPr lang="en-US" sz="1400" dirty="0"/>
          </a:p>
        </p:txBody>
      </p:sp>
      <p:sp>
        <p:nvSpPr>
          <p:cNvPr id="8" name="Text 6"/>
          <p:cNvSpPr/>
          <p:nvPr/>
        </p:nvSpPr>
        <p:spPr>
          <a:xfrm>
            <a:off x="4937760" y="196596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Contrastive image-text pretraining. The shared space on slide 9 begins here.</a:t>
            </a:r>
            <a:endParaRPr lang="en-US" sz="1250" dirty="0"/>
          </a:p>
        </p:txBody>
      </p:sp>
      <p:sp>
        <p:nvSpPr>
          <p:cNvPr id="9" name="Shape 7"/>
          <p:cNvSpPr/>
          <p:nvPr/>
        </p:nvSpPr>
        <p:spPr>
          <a:xfrm>
            <a:off x="640080" y="2743200"/>
            <a:ext cx="10908792" cy="658368"/>
          </a:xfrm>
          <a:prstGeom prst="roundRect">
            <a:avLst>
              <a:gd name="adj" fmla="val 11111"/>
            </a:avLst>
          </a:prstGeom>
          <a:solidFill>
            <a:srgbClr val="F4F6FA"/>
          </a:solidFill>
          <a:ln/>
        </p:spPr>
        <p:txBody>
          <a:bodyPr/>
          <a:lstStyle/>
          <a:p>
            <a:endParaRPr lang="en-IN"/>
          </a:p>
        </p:txBody>
      </p:sp>
      <p:sp>
        <p:nvSpPr>
          <p:cNvPr id="10" name="Text 8"/>
          <p:cNvSpPr/>
          <p:nvPr/>
        </p:nvSpPr>
        <p:spPr>
          <a:xfrm>
            <a:off x="914400" y="2743200"/>
            <a:ext cx="548640" cy="658368"/>
          </a:xfrm>
          <a:prstGeom prst="rect">
            <a:avLst/>
          </a:prstGeom>
          <a:noFill/>
          <a:ln/>
        </p:spPr>
        <p:txBody>
          <a:bodyPr wrap="square" lIns="0" tIns="0" rIns="0" bIns="0" rtlCol="0" anchor="ctr"/>
          <a:lstStyle/>
          <a:p>
            <a:pPr marL="0" indent="0">
              <a:buNone/>
            </a:pPr>
            <a:r>
              <a:rPr lang="en-US" sz="1600" b="1" dirty="0">
                <a:solidFill>
                  <a:srgbClr val="00C2A8"/>
                </a:solidFill>
                <a:latin typeface="Arial" pitchFamily="34" charset="0"/>
                <a:ea typeface="Arial" pitchFamily="34" charset="-122"/>
                <a:cs typeface="Arial" pitchFamily="34" charset="-120"/>
              </a:rPr>
              <a:t>02</a:t>
            </a:r>
            <a:endParaRPr lang="en-US" sz="1600" dirty="0"/>
          </a:p>
        </p:txBody>
      </p:sp>
      <p:sp>
        <p:nvSpPr>
          <p:cNvPr id="11" name="Text 9"/>
          <p:cNvSpPr/>
          <p:nvPr/>
        </p:nvSpPr>
        <p:spPr>
          <a:xfrm>
            <a:off x="1600200" y="274320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Liang et al., 2022 (CMU survey)</a:t>
            </a:r>
            <a:endParaRPr lang="en-US" sz="1400" dirty="0"/>
          </a:p>
        </p:txBody>
      </p:sp>
      <p:sp>
        <p:nvSpPr>
          <p:cNvPr id="12" name="Text 10"/>
          <p:cNvSpPr/>
          <p:nvPr/>
        </p:nvSpPr>
        <p:spPr>
          <a:xfrm>
            <a:off x="4937760" y="274320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arXiv 2209.03430. Representation, alignment, reasoning, generation, transference, quantification.</a:t>
            </a:r>
            <a:endParaRPr lang="en-US" sz="1250" dirty="0"/>
          </a:p>
        </p:txBody>
      </p:sp>
      <p:sp>
        <p:nvSpPr>
          <p:cNvPr id="13" name="Shape 11"/>
          <p:cNvSpPr/>
          <p:nvPr/>
        </p:nvSpPr>
        <p:spPr>
          <a:xfrm>
            <a:off x="640080" y="3520440"/>
            <a:ext cx="10908792" cy="658368"/>
          </a:xfrm>
          <a:prstGeom prst="roundRect">
            <a:avLst>
              <a:gd name="adj" fmla="val 11111"/>
            </a:avLst>
          </a:prstGeom>
          <a:solidFill>
            <a:srgbClr val="F4F6FA"/>
          </a:solidFill>
          <a:ln/>
        </p:spPr>
        <p:txBody>
          <a:bodyPr/>
          <a:lstStyle/>
          <a:p>
            <a:endParaRPr lang="en-IN"/>
          </a:p>
        </p:txBody>
      </p:sp>
      <p:sp>
        <p:nvSpPr>
          <p:cNvPr id="14" name="Text 12"/>
          <p:cNvSpPr/>
          <p:nvPr/>
        </p:nvSpPr>
        <p:spPr>
          <a:xfrm>
            <a:off x="914400" y="3520440"/>
            <a:ext cx="548640" cy="658368"/>
          </a:xfrm>
          <a:prstGeom prst="rect">
            <a:avLst/>
          </a:prstGeom>
          <a:noFill/>
          <a:ln/>
        </p:spPr>
        <p:txBody>
          <a:bodyPr wrap="square" lIns="0" tIns="0" rIns="0" bIns="0" rtlCol="0" anchor="ctr"/>
          <a:lstStyle/>
          <a:p>
            <a:pPr marL="0" indent="0">
              <a:buNone/>
            </a:pPr>
            <a:r>
              <a:rPr lang="en-US" sz="1600" b="1" dirty="0">
                <a:solidFill>
                  <a:srgbClr val="FFC24A"/>
                </a:solidFill>
                <a:latin typeface="Arial" pitchFamily="34" charset="0"/>
                <a:ea typeface="Arial" pitchFamily="34" charset="-122"/>
                <a:cs typeface="Arial" pitchFamily="34" charset="-120"/>
              </a:rPr>
              <a:t>03</a:t>
            </a:r>
            <a:endParaRPr lang="en-US" sz="1600" dirty="0"/>
          </a:p>
        </p:txBody>
      </p:sp>
      <p:sp>
        <p:nvSpPr>
          <p:cNvPr id="15" name="Text 13"/>
          <p:cNvSpPr/>
          <p:nvPr/>
        </p:nvSpPr>
        <p:spPr>
          <a:xfrm>
            <a:off x="1600200" y="352044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Yin et al., 2023 (MLLM survey)</a:t>
            </a:r>
            <a:endParaRPr lang="en-US" sz="1400" dirty="0"/>
          </a:p>
        </p:txBody>
      </p:sp>
      <p:sp>
        <p:nvSpPr>
          <p:cNvPr id="16" name="Text 14"/>
          <p:cNvSpPr/>
          <p:nvPr/>
        </p:nvSpPr>
        <p:spPr>
          <a:xfrm>
            <a:off x="4937760" y="352044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arXiv 2306.13549. The standard MLLM survey; also in National Science Review, 2024.</a:t>
            </a:r>
            <a:endParaRPr lang="en-US" sz="1250" dirty="0"/>
          </a:p>
        </p:txBody>
      </p:sp>
      <p:sp>
        <p:nvSpPr>
          <p:cNvPr id="17" name="Shape 15"/>
          <p:cNvSpPr/>
          <p:nvPr/>
        </p:nvSpPr>
        <p:spPr>
          <a:xfrm>
            <a:off x="640080" y="4297680"/>
            <a:ext cx="10908792" cy="658368"/>
          </a:xfrm>
          <a:prstGeom prst="roundRect">
            <a:avLst>
              <a:gd name="adj" fmla="val 11111"/>
            </a:avLst>
          </a:prstGeom>
          <a:solidFill>
            <a:srgbClr val="F4F6FA"/>
          </a:solidFill>
          <a:ln/>
        </p:spPr>
        <p:txBody>
          <a:bodyPr/>
          <a:lstStyle/>
          <a:p>
            <a:endParaRPr lang="en-IN"/>
          </a:p>
        </p:txBody>
      </p:sp>
      <p:sp>
        <p:nvSpPr>
          <p:cNvPr id="18" name="Text 16"/>
          <p:cNvSpPr/>
          <p:nvPr/>
        </p:nvSpPr>
        <p:spPr>
          <a:xfrm>
            <a:off x="914400" y="4297680"/>
            <a:ext cx="548640" cy="658368"/>
          </a:xfrm>
          <a:prstGeom prst="rect">
            <a:avLst/>
          </a:prstGeom>
          <a:noFill/>
          <a:ln/>
        </p:spPr>
        <p:txBody>
          <a:bodyPr wrap="square" lIns="0" tIns="0" rIns="0" bIns="0" rtlCol="0" anchor="ctr"/>
          <a:lstStyle/>
          <a:p>
            <a:pPr marL="0" indent="0">
              <a:buNone/>
            </a:pPr>
            <a:r>
              <a:rPr lang="en-US" sz="1600" b="1" dirty="0">
                <a:solidFill>
                  <a:srgbClr val="FFC24A"/>
                </a:solidFill>
                <a:latin typeface="Arial" pitchFamily="34" charset="0"/>
                <a:ea typeface="Arial" pitchFamily="34" charset="-122"/>
                <a:cs typeface="Arial" pitchFamily="34" charset="-120"/>
              </a:rPr>
              <a:t>04</a:t>
            </a:r>
            <a:endParaRPr lang="en-US" sz="1600" dirty="0"/>
          </a:p>
        </p:txBody>
      </p:sp>
      <p:sp>
        <p:nvSpPr>
          <p:cNvPr id="19" name="Text 17"/>
          <p:cNvSpPr/>
          <p:nvPr/>
        </p:nvSpPr>
        <p:spPr>
          <a:xfrm>
            <a:off x="1600200" y="429768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Li and Lu, 2024 (benchmarks)</a:t>
            </a:r>
            <a:endParaRPr lang="en-US" sz="1400" dirty="0"/>
          </a:p>
        </p:txBody>
      </p:sp>
      <p:sp>
        <p:nvSpPr>
          <p:cNvPr id="20" name="Text 18"/>
          <p:cNvSpPr/>
          <p:nvPr/>
        </p:nvSpPr>
        <p:spPr>
          <a:xfrm>
            <a:off x="4937760" y="429768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arXiv 2408.08632. The paper reviews 200 benchmarks and the index keeps growing. Check before claiming novelty.</a:t>
            </a:r>
            <a:endParaRPr lang="en-US" sz="1250" dirty="0"/>
          </a:p>
        </p:txBody>
      </p:sp>
      <p:sp>
        <p:nvSpPr>
          <p:cNvPr id="21" name="Shape 19"/>
          <p:cNvSpPr/>
          <p:nvPr/>
        </p:nvSpPr>
        <p:spPr>
          <a:xfrm>
            <a:off x="640080" y="5074920"/>
            <a:ext cx="10908792" cy="658368"/>
          </a:xfrm>
          <a:prstGeom prst="roundRect">
            <a:avLst>
              <a:gd name="adj" fmla="val 11111"/>
            </a:avLst>
          </a:prstGeom>
          <a:solidFill>
            <a:srgbClr val="F4F6FA"/>
          </a:solidFill>
          <a:ln/>
        </p:spPr>
        <p:txBody>
          <a:bodyPr/>
          <a:lstStyle/>
          <a:p>
            <a:endParaRPr lang="en-IN"/>
          </a:p>
        </p:txBody>
      </p:sp>
      <p:sp>
        <p:nvSpPr>
          <p:cNvPr id="22" name="Text 20"/>
          <p:cNvSpPr/>
          <p:nvPr/>
        </p:nvSpPr>
        <p:spPr>
          <a:xfrm>
            <a:off x="914400" y="5074920"/>
            <a:ext cx="548640" cy="658368"/>
          </a:xfrm>
          <a:prstGeom prst="rect">
            <a:avLst/>
          </a:prstGeom>
          <a:noFill/>
          <a:ln/>
        </p:spPr>
        <p:txBody>
          <a:bodyPr wrap="square" lIns="0" tIns="0" rIns="0" bIns="0" rtlCol="0" anchor="ctr"/>
          <a:lstStyle/>
          <a:p>
            <a:pPr marL="0" indent="0">
              <a:buNone/>
            </a:pPr>
            <a:r>
              <a:rPr lang="en-US" sz="1600" b="1" dirty="0">
                <a:solidFill>
                  <a:srgbClr val="FF6B4A"/>
                </a:solidFill>
                <a:latin typeface="Arial" pitchFamily="34" charset="0"/>
                <a:ea typeface="Arial" pitchFamily="34" charset="-122"/>
                <a:cs typeface="Arial" pitchFamily="34" charset="-120"/>
              </a:rPr>
              <a:t>05</a:t>
            </a:r>
            <a:endParaRPr lang="en-US" sz="1600" dirty="0"/>
          </a:p>
        </p:txBody>
      </p:sp>
      <p:sp>
        <p:nvSpPr>
          <p:cNvPr id="23" name="Text 21"/>
          <p:cNvSpPr/>
          <p:nvPr/>
        </p:nvSpPr>
        <p:spPr>
          <a:xfrm>
            <a:off x="1600200" y="507492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Qwen3-VL - Bai et al., 2025</a:t>
            </a:r>
            <a:endParaRPr lang="en-US" sz="1400" dirty="0"/>
          </a:p>
        </p:txBody>
      </p:sp>
      <p:sp>
        <p:nvSpPr>
          <p:cNvPr id="24" name="Text 22"/>
          <p:cNvSpPr/>
          <p:nvPr/>
        </p:nvSpPr>
        <p:spPr>
          <a:xfrm>
            <a:off x="4937760" y="507492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arXiv 2511.21631. Still the fullest open VLM report - yet Qwen 3.5 and Gemma 4 already replaced it. Proof of the point.</a:t>
            </a:r>
            <a:endParaRPr lang="en-US" sz="1250" dirty="0"/>
          </a:p>
        </p:txBody>
      </p:sp>
      <p:sp>
        <p:nvSpPr>
          <p:cNvPr id="25" name="Text 23"/>
          <p:cNvSpPr/>
          <p:nvPr/>
        </p:nvSpPr>
        <p:spPr>
          <a:xfrm>
            <a:off x="640080" y="5943600"/>
            <a:ext cx="10908792" cy="320040"/>
          </a:xfrm>
          <a:prstGeom prst="rect">
            <a:avLst/>
          </a:prstGeom>
          <a:noFill/>
          <a:ln/>
        </p:spPr>
        <p:txBody>
          <a:bodyPr wrap="square" lIns="0" tIns="0" rIns="0" bIns="0" rtlCol="0" anchor="ctr"/>
          <a:lstStyle/>
          <a:p>
            <a:pPr marL="0" indent="0">
              <a:buNone/>
            </a:pPr>
            <a:r>
              <a:rPr lang="en-US" sz="1400" i="1" dirty="0">
                <a:solidFill>
                  <a:srgbClr val="0E1524"/>
                </a:solidFill>
                <a:latin typeface="Calibri" pitchFamily="34" charset="0"/>
                <a:ea typeface="Calibri" pitchFamily="34" charset="-122"/>
                <a:cs typeface="Calibri" pitchFamily="34" charset="-120"/>
              </a:rPr>
              <a:t>Rows 1 and 2 anchor your framing. Rows 3 to 5 date fast - re-check them the month you submit.</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THE RESEARCHERS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From a working prototype to a submitted paper</a:t>
            </a:r>
            <a:endParaRPr lang="en-US" sz="3400" dirty="0"/>
          </a:p>
        </p:txBody>
      </p:sp>
      <p:sp>
        <p:nvSpPr>
          <p:cNvPr id="4" name="Shape 2"/>
          <p:cNvSpPr/>
          <p:nvPr/>
        </p:nvSpPr>
        <p:spPr>
          <a:xfrm>
            <a:off x="640080" y="1719072"/>
            <a:ext cx="384048" cy="384048"/>
          </a:xfrm>
          <a:prstGeom prst="ellipse">
            <a:avLst/>
          </a:prstGeom>
          <a:solidFill>
            <a:srgbClr val="00C2A8"/>
          </a:solidFill>
          <a:ln/>
        </p:spPr>
        <p:txBody>
          <a:bodyPr/>
          <a:lstStyle/>
          <a:p>
            <a:endParaRPr/>
          </a:p>
        </p:txBody>
      </p:sp>
      <p:sp>
        <p:nvSpPr>
          <p:cNvPr id="5" name="Text 3"/>
          <p:cNvSpPr/>
          <p:nvPr/>
        </p:nvSpPr>
        <p:spPr>
          <a:xfrm>
            <a:off x="640080" y="1719072"/>
            <a:ext cx="384048" cy="384048"/>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234440" y="1645920"/>
            <a:ext cx="3108960" cy="320040"/>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Narrow the claim</a:t>
            </a:r>
            <a:endParaRPr lang="en-US" sz="1550" dirty="0"/>
          </a:p>
        </p:txBody>
      </p:sp>
      <p:sp>
        <p:nvSpPr>
          <p:cNvPr id="7" name="Text 5"/>
          <p:cNvSpPr/>
          <p:nvPr/>
        </p:nvSpPr>
        <p:spPr>
          <a:xfrm>
            <a:off x="1234440" y="1975104"/>
            <a:ext cx="10241280" cy="45720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Not "multimodal AI for healthcare". Instead: "reading handwritten dosage fields on three hospital forms".</a:t>
            </a:r>
            <a:endParaRPr lang="en-US" sz="1300" dirty="0"/>
          </a:p>
        </p:txBody>
      </p:sp>
      <p:sp>
        <p:nvSpPr>
          <p:cNvPr id="8" name="Shape 6"/>
          <p:cNvSpPr/>
          <p:nvPr/>
        </p:nvSpPr>
        <p:spPr>
          <a:xfrm>
            <a:off x="640080" y="2615184"/>
            <a:ext cx="384048" cy="384048"/>
          </a:xfrm>
          <a:prstGeom prst="ellipse">
            <a:avLst/>
          </a:prstGeom>
          <a:solidFill>
            <a:srgbClr val="00C2A8"/>
          </a:solidFill>
          <a:ln/>
        </p:spPr>
        <p:txBody>
          <a:bodyPr/>
          <a:lstStyle/>
          <a:p>
            <a:endParaRPr/>
          </a:p>
        </p:txBody>
      </p:sp>
      <p:sp>
        <p:nvSpPr>
          <p:cNvPr id="9" name="Text 7"/>
          <p:cNvSpPr/>
          <p:nvPr/>
        </p:nvSpPr>
        <p:spPr>
          <a:xfrm>
            <a:off x="640080" y="2615184"/>
            <a:ext cx="384048" cy="384048"/>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2</a:t>
            </a:r>
            <a:endParaRPr lang="en-US" sz="1500" dirty="0"/>
          </a:p>
        </p:txBody>
      </p:sp>
      <p:sp>
        <p:nvSpPr>
          <p:cNvPr id="10" name="Text 8"/>
          <p:cNvSpPr/>
          <p:nvPr/>
        </p:nvSpPr>
        <p:spPr>
          <a:xfrm>
            <a:off x="1234440" y="2542032"/>
            <a:ext cx="3108960" cy="320040"/>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Build the test set</a:t>
            </a:r>
            <a:endParaRPr lang="en-US" sz="1550" dirty="0"/>
          </a:p>
        </p:txBody>
      </p:sp>
      <p:sp>
        <p:nvSpPr>
          <p:cNvPr id="11" name="Text 9"/>
          <p:cNvSpPr/>
          <p:nvPr/>
        </p:nvSpPr>
        <p:spPr>
          <a:xfrm>
            <a:off x="1234440" y="2871216"/>
            <a:ext cx="10241280" cy="45720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300 to 500 hard examples, expert-labelled, with the disagreements documented.</a:t>
            </a:r>
            <a:endParaRPr lang="en-US" sz="1300" dirty="0"/>
          </a:p>
        </p:txBody>
      </p:sp>
      <p:sp>
        <p:nvSpPr>
          <p:cNvPr id="12" name="Shape 10"/>
          <p:cNvSpPr/>
          <p:nvPr/>
        </p:nvSpPr>
        <p:spPr>
          <a:xfrm>
            <a:off x="640080" y="3511296"/>
            <a:ext cx="384048" cy="384048"/>
          </a:xfrm>
          <a:prstGeom prst="ellipse">
            <a:avLst/>
          </a:prstGeom>
          <a:solidFill>
            <a:srgbClr val="FFC24A"/>
          </a:solidFill>
          <a:ln/>
        </p:spPr>
        <p:txBody>
          <a:bodyPr/>
          <a:lstStyle/>
          <a:p>
            <a:endParaRPr/>
          </a:p>
        </p:txBody>
      </p:sp>
      <p:sp>
        <p:nvSpPr>
          <p:cNvPr id="13" name="Text 11"/>
          <p:cNvSpPr/>
          <p:nvPr/>
        </p:nvSpPr>
        <p:spPr>
          <a:xfrm>
            <a:off x="640080" y="3511296"/>
            <a:ext cx="384048" cy="384048"/>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3</a:t>
            </a:r>
            <a:endParaRPr lang="en-US" sz="1500" dirty="0"/>
          </a:p>
        </p:txBody>
      </p:sp>
      <p:sp>
        <p:nvSpPr>
          <p:cNvPr id="14" name="Text 12"/>
          <p:cNvSpPr/>
          <p:nvPr/>
        </p:nvSpPr>
        <p:spPr>
          <a:xfrm>
            <a:off x="1234440" y="3438144"/>
            <a:ext cx="3108960" cy="320040"/>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Beat a real baseline</a:t>
            </a:r>
            <a:endParaRPr lang="en-US" sz="1550" dirty="0"/>
          </a:p>
        </p:txBody>
      </p:sp>
      <p:sp>
        <p:nvSpPr>
          <p:cNvPr id="15" name="Text 13"/>
          <p:cNvSpPr/>
          <p:nvPr/>
        </p:nvSpPr>
        <p:spPr>
          <a:xfrm>
            <a:off x="1234440" y="3767328"/>
            <a:ext cx="10241280" cy="45720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Compare against the obvious pipeline. If you do not beat it, report that - negative results on a good benchmark still publish.</a:t>
            </a:r>
            <a:endParaRPr lang="en-US" sz="1300" dirty="0"/>
          </a:p>
        </p:txBody>
      </p:sp>
      <p:sp>
        <p:nvSpPr>
          <p:cNvPr id="16" name="Shape 14"/>
          <p:cNvSpPr/>
          <p:nvPr/>
        </p:nvSpPr>
        <p:spPr>
          <a:xfrm>
            <a:off x="640080" y="4407408"/>
            <a:ext cx="384048" cy="384048"/>
          </a:xfrm>
          <a:prstGeom prst="ellipse">
            <a:avLst/>
          </a:prstGeom>
          <a:solidFill>
            <a:srgbClr val="FFC24A"/>
          </a:solidFill>
          <a:ln/>
        </p:spPr>
        <p:txBody>
          <a:bodyPr/>
          <a:lstStyle/>
          <a:p>
            <a:endParaRPr/>
          </a:p>
        </p:txBody>
      </p:sp>
      <p:sp>
        <p:nvSpPr>
          <p:cNvPr id="17" name="Text 15"/>
          <p:cNvSpPr/>
          <p:nvPr/>
        </p:nvSpPr>
        <p:spPr>
          <a:xfrm>
            <a:off x="640080" y="4407408"/>
            <a:ext cx="384048" cy="384048"/>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4</a:t>
            </a:r>
            <a:endParaRPr lang="en-US" sz="1500" dirty="0"/>
          </a:p>
        </p:txBody>
      </p:sp>
      <p:sp>
        <p:nvSpPr>
          <p:cNvPr id="18" name="Text 16"/>
          <p:cNvSpPr/>
          <p:nvPr/>
        </p:nvSpPr>
        <p:spPr>
          <a:xfrm>
            <a:off x="1234440" y="4334256"/>
            <a:ext cx="3108960" cy="320040"/>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Report the failures</a:t>
            </a:r>
            <a:endParaRPr lang="en-US" sz="1550" dirty="0"/>
          </a:p>
        </p:txBody>
      </p:sp>
      <p:sp>
        <p:nvSpPr>
          <p:cNvPr id="19" name="Text 17"/>
          <p:cNvSpPr/>
          <p:nvPr/>
        </p:nvSpPr>
        <p:spPr>
          <a:xfrm>
            <a:off x="1234440" y="4663440"/>
            <a:ext cx="10241280" cy="45720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A confusion analysis of where it breaks is what reviewers actually read.</a:t>
            </a:r>
            <a:endParaRPr lang="en-US" sz="1300" dirty="0"/>
          </a:p>
        </p:txBody>
      </p:sp>
      <p:sp>
        <p:nvSpPr>
          <p:cNvPr id="20" name="Shape 18"/>
          <p:cNvSpPr/>
          <p:nvPr/>
        </p:nvSpPr>
        <p:spPr>
          <a:xfrm>
            <a:off x="640080" y="5303520"/>
            <a:ext cx="384048" cy="384048"/>
          </a:xfrm>
          <a:prstGeom prst="ellipse">
            <a:avLst/>
          </a:prstGeom>
          <a:solidFill>
            <a:srgbClr val="FF6B4A"/>
          </a:solidFill>
          <a:ln/>
        </p:spPr>
        <p:txBody>
          <a:bodyPr/>
          <a:lstStyle/>
          <a:p>
            <a:endParaRPr/>
          </a:p>
        </p:txBody>
      </p:sp>
      <p:sp>
        <p:nvSpPr>
          <p:cNvPr id="21" name="Text 19"/>
          <p:cNvSpPr/>
          <p:nvPr/>
        </p:nvSpPr>
        <p:spPr>
          <a:xfrm>
            <a:off x="640080" y="5303520"/>
            <a:ext cx="384048" cy="384048"/>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5</a:t>
            </a:r>
            <a:endParaRPr lang="en-US" sz="1500" dirty="0"/>
          </a:p>
        </p:txBody>
      </p:sp>
      <p:sp>
        <p:nvSpPr>
          <p:cNvPr id="22" name="Text 20"/>
          <p:cNvSpPr/>
          <p:nvPr/>
        </p:nvSpPr>
        <p:spPr>
          <a:xfrm>
            <a:off x="1234440" y="5230368"/>
            <a:ext cx="3108960" cy="320040"/>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Release the data</a:t>
            </a:r>
            <a:endParaRPr lang="en-US" sz="1550" dirty="0"/>
          </a:p>
        </p:txBody>
      </p:sp>
      <p:sp>
        <p:nvSpPr>
          <p:cNvPr id="23" name="Text 21"/>
          <p:cNvSpPr/>
          <p:nvPr/>
        </p:nvSpPr>
        <p:spPr>
          <a:xfrm>
            <a:off x="1234440" y="5559552"/>
            <a:ext cx="10241280" cy="45720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The dataset is what gets cited five years later, not the model.</a:t>
            </a:r>
            <a:endParaRPr lang="en-US" sz="1300" dirty="0"/>
          </a:p>
        </p:txBody>
      </p:sp>
      <p:sp>
        <p:nvSpPr>
          <p:cNvPr id="24" name="Text 22"/>
          <p:cNvSpPr/>
          <p:nvPr/>
        </p:nvSpPr>
        <p:spPr>
          <a:xfrm>
            <a:off x="640080" y="6172200"/>
            <a:ext cx="10908792" cy="365760"/>
          </a:xfrm>
          <a:prstGeom prst="rect">
            <a:avLst/>
          </a:prstGeom>
          <a:noFill/>
          <a:ln/>
        </p:spPr>
        <p:txBody>
          <a:bodyPr wrap="square" lIns="0" tIns="0" rIns="0" bIns="0" rtlCol="0" anchor="ctr"/>
          <a:lstStyle/>
          <a:p>
            <a:pPr marL="0" indent="0">
              <a:buNone/>
            </a:pPr>
            <a:r>
              <a:rPr lang="en-US" sz="1250" i="1" dirty="0">
                <a:solidFill>
                  <a:srgbClr val="6B7689"/>
                </a:solidFill>
                <a:latin typeface="Calibri" pitchFamily="34" charset="0"/>
                <a:ea typeface="Calibri" pitchFamily="34" charset="-122"/>
                <a:cs typeface="Calibri" pitchFamily="34" charset="-120"/>
              </a:rPr>
              <a:t>Venues that take this work: ACL, EMNLP, CVPR, ICCV, NeurIPS Datasets and Benchmarks, plus domain journals where a well-evaluated applied system is welcome.</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EVERYONE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The money is allocated. Most of it is not yet spent.</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IndiaAI Mission: revised estimate against funds actually released, in crore rupees (as of 9 Feb 2026).</a:t>
            </a:r>
            <a:endParaRPr lang="en-US" sz="1400" dirty="0"/>
          </a:p>
        </p:txBody>
      </p:sp>
      <p:graphicFrame>
        <p:nvGraphicFramePr>
          <p:cNvPr id="5" name="Chart 0"/>
          <p:cNvGraphicFramePr/>
          <p:nvPr/>
        </p:nvGraphicFramePr>
        <p:xfrm>
          <a:off x="640080" y="1965960"/>
          <a:ext cx="6858000" cy="324612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818120" y="1965960"/>
            <a:ext cx="3730752" cy="3246120"/>
          </a:xfrm>
          <a:prstGeom prst="roundRect">
            <a:avLst>
              <a:gd name="adj" fmla="val 2535"/>
            </a:avLst>
          </a:prstGeom>
          <a:solidFill>
            <a:srgbClr val="0E1524"/>
          </a:solidFill>
          <a:ln/>
          <a:effectLst>
            <a:outerShdw blurRad="101600" dist="12700" dir="5400000" algn="bl" rotWithShape="0">
              <a:srgbClr val="9AA6B8">
                <a:alpha val="18000"/>
              </a:srgbClr>
            </a:outerShdw>
          </a:effectLst>
        </p:spPr>
        <p:txBody>
          <a:bodyPr/>
          <a:lstStyle/>
          <a:p>
            <a:endParaRPr lang="en-IN"/>
          </a:p>
        </p:txBody>
      </p:sp>
      <p:sp>
        <p:nvSpPr>
          <p:cNvPr id="7" name="Text 4"/>
          <p:cNvSpPr/>
          <p:nvPr/>
        </p:nvSpPr>
        <p:spPr>
          <a:xfrm>
            <a:off x="8092440" y="2240280"/>
            <a:ext cx="3200400" cy="320040"/>
          </a:xfrm>
          <a:prstGeom prst="rect">
            <a:avLst/>
          </a:prstGeom>
          <a:noFill/>
          <a:ln/>
        </p:spPr>
        <p:txBody>
          <a:bodyPr wrap="square" lIns="0" tIns="0" rIns="0" bIns="0" rtlCol="0" anchor="ctr"/>
          <a:lstStyle/>
          <a:p>
            <a:pPr marL="0" indent="0">
              <a:buNone/>
            </a:pPr>
            <a:r>
              <a:rPr lang="en-US" sz="1600" b="1" dirty="0">
                <a:solidFill>
                  <a:srgbClr val="FFC24A"/>
                </a:solidFill>
                <a:latin typeface="Arial" pitchFamily="34" charset="0"/>
                <a:ea typeface="Arial" pitchFamily="34" charset="-122"/>
                <a:cs typeface="Arial" pitchFamily="34" charset="-120"/>
              </a:rPr>
              <a:t>What the record shows</a:t>
            </a:r>
            <a:endParaRPr lang="en-US" sz="1600" dirty="0"/>
          </a:p>
        </p:txBody>
      </p:sp>
      <p:sp>
        <p:nvSpPr>
          <p:cNvPr id="8" name="Text 5"/>
          <p:cNvSpPr/>
          <p:nvPr/>
        </p:nvSpPr>
        <p:spPr>
          <a:xfrm>
            <a:off x="8092440" y="2697480"/>
            <a:ext cx="3200400" cy="155448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A8B2C4"/>
                </a:solidFill>
                <a:latin typeface="Calibri" pitchFamily="34" charset="0"/>
                <a:ea typeface="Calibri" pitchFamily="34" charset="-122"/>
                <a:cs typeface="Calibri" pitchFamily="34" charset="-120"/>
              </a:rPr>
              <a:t>Only 27 of 190 approved compute projects are from academia or researchers</a:t>
            </a:r>
            <a:endParaRPr lang="en-US" sz="1250" dirty="0"/>
          </a:p>
          <a:p>
            <a:pPr marL="342900" indent="-342900">
              <a:spcAft>
                <a:spcPts val="1000"/>
              </a:spcAft>
              <a:buSzPct val="100000"/>
              <a:buChar char="•"/>
            </a:pPr>
            <a:r>
              <a:rPr lang="en-US" sz="1250" dirty="0">
                <a:solidFill>
                  <a:srgbClr val="A8B2C4"/>
                </a:solidFill>
                <a:latin typeface="Calibri" pitchFamily="34" charset="0"/>
                <a:ea typeface="Calibri" pitchFamily="34" charset="-122"/>
                <a:cs typeface="Calibri" pitchFamily="34" charset="-120"/>
              </a:rPr>
              <a:t>150 UG fellows selected against a target of 5,000 - MeitY cited low awareness</a:t>
            </a:r>
            <a:endParaRPr lang="en-US" sz="1250" dirty="0"/>
          </a:p>
          <a:p>
            <a:pPr marL="342900" indent="-342900">
              <a:spcAft>
                <a:spcPts val="1000"/>
              </a:spcAft>
              <a:buSzPct val="100000"/>
              <a:buChar char="•"/>
            </a:pPr>
            <a:r>
              <a:rPr lang="en-US" sz="1250" dirty="0">
                <a:solidFill>
                  <a:srgbClr val="A8B2C4"/>
                </a:solidFill>
                <a:latin typeface="Calibri" pitchFamily="34" charset="0"/>
                <a:ea typeface="Calibri" pitchFamily="34" charset="-122"/>
                <a:cs typeface="Calibri" pitchFamily="34" charset="-120"/>
              </a:rPr>
              <a:t>Just 32% of the 2025-26 revised estimate spent by 31 December 2025</a:t>
            </a:r>
            <a:endParaRPr lang="en-US" sz="1250" dirty="0"/>
          </a:p>
        </p:txBody>
      </p:sp>
      <p:sp>
        <p:nvSpPr>
          <p:cNvPr id="9" name="Text 6"/>
          <p:cNvSpPr/>
          <p:nvPr/>
        </p:nvSpPr>
        <p:spPr>
          <a:xfrm>
            <a:off x="8092440" y="4343400"/>
            <a:ext cx="3200400" cy="777240"/>
          </a:xfrm>
          <a:prstGeom prst="rect">
            <a:avLst/>
          </a:prstGeom>
          <a:noFill/>
          <a:ln/>
        </p:spPr>
        <p:txBody>
          <a:bodyPr wrap="square" lIns="0" tIns="0" rIns="0" bIns="0" rtlCol="0" anchor="ctr"/>
          <a:lstStyle/>
          <a:p>
            <a:pPr marL="0" indent="0">
              <a:buNone/>
            </a:pPr>
            <a:r>
              <a:rPr lang="en-US" sz="1250" i="1" dirty="0">
                <a:solidFill>
                  <a:srgbClr val="FFFFFF"/>
                </a:solidFill>
                <a:latin typeface="Calibri" pitchFamily="34" charset="0"/>
                <a:ea typeface="Calibri" pitchFamily="34" charset="-122"/>
                <a:cs typeface="Calibri" pitchFamily="34" charset="-120"/>
              </a:rPr>
              <a:t>A modest, specific, well-scoped multimodal proposal faces less competition right now than it will in three years.</a:t>
            </a:r>
            <a:endParaRPr lang="en-US" sz="1250" dirty="0"/>
          </a:p>
        </p:txBody>
      </p:sp>
      <p:sp>
        <p:nvSpPr>
          <p:cNvPr id="10" name="Text 7"/>
          <p:cNvSpPr/>
          <p:nvPr/>
        </p:nvSpPr>
        <p:spPr>
          <a:xfrm>
            <a:off x="640080" y="6248400"/>
            <a:ext cx="10908792" cy="400000"/>
          </a:xfrm>
          <a:prstGeom prst="rect">
            <a:avLst/>
          </a:prstGeom>
          <a:noFill/>
          <a:ln/>
        </p:spPr>
        <p:txBody>
          <a:bodyPr wrap="square" lIns="0" tIns="0" rIns="0" bIns="0" rtlCol="0" anchor="ctr"/>
          <a:lstStyle/>
          <a:p>
            <a:pPr marL="0" indent="0">
              <a:buNone/>
            </a:pPr>
            <a:r>
              <a:rPr lang="en-US" sz="950" dirty="0">
                <a:solidFill>
                  <a:srgbClr val="6B7689"/>
                </a:solidFill>
                <a:latin typeface="Calibri" pitchFamily="34" charset="0"/>
                <a:ea typeface="Calibri" pitchFamily="34" charset="-122"/>
                <a:cs typeface="Calibri" pitchFamily="34" charset="-120"/>
              </a:rPr>
              <a:t>Figures current as of September 2026 - verify before presenting. Sources: MeitY Rajya Sabha reply, 9 Feb 2026 (releases vs revised estimates); Lok Sabha reply, 25 Mar 2026 (projects); Standing Committee on IT, 31st report, Aug 2026 (fellowships, spend). Budget estimates were higher (Rs 551.75 cr and Rs 2,000 cr); FY 2026-27 BE is Rs 1,000 cr. Total outlay Rs 10,371.92 cr over five years.</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EVERYONE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Where to actually apply</a:t>
            </a:r>
            <a:endParaRPr lang="en-US" sz="3400" dirty="0"/>
          </a:p>
        </p:txBody>
      </p:sp>
      <p:sp>
        <p:nvSpPr>
          <p:cNvPr id="4" name="Shape 2"/>
          <p:cNvSpPr/>
          <p:nvPr/>
        </p:nvSpPr>
        <p:spPr>
          <a:xfrm>
            <a:off x="640080" y="1645920"/>
            <a:ext cx="10908792" cy="749808"/>
          </a:xfrm>
          <a:prstGeom prst="roundRect">
            <a:avLst>
              <a:gd name="adj" fmla="val 9756"/>
            </a:avLst>
          </a:prstGeom>
          <a:solidFill>
            <a:srgbClr val="F4F6FA"/>
          </a:solidFill>
          <a:ln/>
        </p:spPr>
        <p:txBody>
          <a:bodyPr/>
          <a:lstStyle/>
          <a:p>
            <a:endParaRPr lang="en-IN"/>
          </a:p>
        </p:txBody>
      </p:sp>
      <p:sp>
        <p:nvSpPr>
          <p:cNvPr id="5" name="Shape 3"/>
          <p:cNvSpPr/>
          <p:nvPr/>
        </p:nvSpPr>
        <p:spPr>
          <a:xfrm>
            <a:off x="896112" y="1911096"/>
            <a:ext cx="219456" cy="219456"/>
          </a:xfrm>
          <a:prstGeom prst="ellipse">
            <a:avLst/>
          </a:prstGeom>
          <a:solidFill>
            <a:srgbClr val="00C2A8"/>
          </a:solidFill>
          <a:ln/>
        </p:spPr>
        <p:txBody>
          <a:bodyPr/>
          <a:lstStyle/>
          <a:p>
            <a:endParaRPr lang="en-IN"/>
          </a:p>
        </p:txBody>
      </p:sp>
      <p:sp>
        <p:nvSpPr>
          <p:cNvPr id="6" name="Text 4"/>
          <p:cNvSpPr/>
          <p:nvPr/>
        </p:nvSpPr>
        <p:spPr>
          <a:xfrm>
            <a:off x="1261872" y="1719072"/>
            <a:ext cx="192024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ANRF</a:t>
            </a:r>
            <a:endParaRPr lang="en-US" sz="1450" dirty="0"/>
          </a:p>
        </p:txBody>
      </p:sp>
      <p:sp>
        <p:nvSpPr>
          <p:cNvPr id="7" name="Text 5"/>
          <p:cNvSpPr/>
          <p:nvPr/>
        </p:nvSpPr>
        <p:spPr>
          <a:xfrm>
            <a:off x="1261872" y="2029968"/>
            <a:ext cx="2377440" cy="274320"/>
          </a:xfrm>
          <a:prstGeom prst="rect">
            <a:avLst/>
          </a:prstGeom>
          <a:noFill/>
          <a:ln/>
        </p:spPr>
        <p:txBody>
          <a:bodyPr wrap="square" lIns="0" tIns="0" rIns="0" bIns="0" rtlCol="0" anchor="ctr"/>
          <a:lstStyle/>
          <a:p>
            <a:pPr marL="0" indent="0">
              <a:buNone/>
            </a:pPr>
            <a:r>
              <a:rPr lang="en-US" sz="1150" dirty="0">
                <a:solidFill>
                  <a:srgbClr val="00C2A8"/>
                </a:solidFill>
                <a:latin typeface="Calibri" pitchFamily="34" charset="0"/>
                <a:ea typeface="Calibri" pitchFamily="34" charset="-122"/>
                <a:cs typeface="Calibri" pitchFamily="34" charset="-120"/>
              </a:rPr>
              <a:t>Advanced Research Grant</a:t>
            </a:r>
            <a:endParaRPr lang="en-US" sz="1150" dirty="0"/>
          </a:p>
        </p:txBody>
      </p:sp>
      <p:sp>
        <p:nvSpPr>
          <p:cNvPr id="8" name="Text 6"/>
          <p:cNvSpPr/>
          <p:nvPr/>
        </p:nvSpPr>
        <p:spPr>
          <a:xfrm>
            <a:off x="3840480" y="1645920"/>
            <a:ext cx="7406640" cy="74980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Replaced SERB under the ANRF Act 2023. ARG subsumes the old Core Research Grant, covers TRL 1 to 6 and funds up to Rs 5 crore over up to 5 years. The 2026 window ran 15 May to 10 June; expect the next around May 2027.</a:t>
            </a:r>
            <a:endParaRPr lang="en-US" sz="1250" dirty="0"/>
          </a:p>
        </p:txBody>
      </p:sp>
      <p:sp>
        <p:nvSpPr>
          <p:cNvPr id="9" name="Shape 7"/>
          <p:cNvSpPr/>
          <p:nvPr/>
        </p:nvSpPr>
        <p:spPr>
          <a:xfrm>
            <a:off x="640080" y="2514600"/>
            <a:ext cx="10908792" cy="749808"/>
          </a:xfrm>
          <a:prstGeom prst="roundRect">
            <a:avLst>
              <a:gd name="adj" fmla="val 9756"/>
            </a:avLst>
          </a:prstGeom>
          <a:solidFill>
            <a:srgbClr val="F4F6FA"/>
          </a:solidFill>
          <a:ln/>
        </p:spPr>
        <p:txBody>
          <a:bodyPr/>
          <a:lstStyle/>
          <a:p>
            <a:endParaRPr lang="en-IN"/>
          </a:p>
        </p:txBody>
      </p:sp>
      <p:sp>
        <p:nvSpPr>
          <p:cNvPr id="10" name="Shape 8"/>
          <p:cNvSpPr/>
          <p:nvPr/>
        </p:nvSpPr>
        <p:spPr>
          <a:xfrm>
            <a:off x="896112" y="2779776"/>
            <a:ext cx="219456" cy="219456"/>
          </a:xfrm>
          <a:prstGeom prst="ellipse">
            <a:avLst/>
          </a:prstGeom>
          <a:solidFill>
            <a:srgbClr val="00C2A8"/>
          </a:solidFill>
          <a:ln/>
        </p:spPr>
        <p:txBody>
          <a:bodyPr/>
          <a:lstStyle/>
          <a:p>
            <a:endParaRPr lang="en-IN"/>
          </a:p>
        </p:txBody>
      </p:sp>
      <p:sp>
        <p:nvSpPr>
          <p:cNvPr id="11" name="Text 9"/>
          <p:cNvSpPr/>
          <p:nvPr/>
        </p:nvSpPr>
        <p:spPr>
          <a:xfrm>
            <a:off x="1261872" y="2587752"/>
            <a:ext cx="192024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ANRF</a:t>
            </a:r>
            <a:endParaRPr lang="en-US" sz="1450" dirty="0"/>
          </a:p>
        </p:txBody>
      </p:sp>
      <p:sp>
        <p:nvSpPr>
          <p:cNvPr id="12" name="Text 10"/>
          <p:cNvSpPr/>
          <p:nvPr/>
        </p:nvSpPr>
        <p:spPr>
          <a:xfrm>
            <a:off x="1261872" y="2898648"/>
            <a:ext cx="2377440" cy="274320"/>
          </a:xfrm>
          <a:prstGeom prst="rect">
            <a:avLst/>
          </a:prstGeom>
          <a:noFill/>
          <a:ln/>
        </p:spPr>
        <p:txBody>
          <a:bodyPr wrap="square" lIns="0" tIns="0" rIns="0" bIns="0" rtlCol="0" anchor="ctr"/>
          <a:lstStyle/>
          <a:p>
            <a:pPr marL="0" indent="0">
              <a:buNone/>
            </a:pPr>
            <a:r>
              <a:rPr lang="en-US" sz="1150" dirty="0">
                <a:solidFill>
                  <a:srgbClr val="00C2A8"/>
                </a:solidFill>
                <a:latin typeface="Calibri" pitchFamily="34" charset="0"/>
                <a:ea typeface="Calibri" pitchFamily="34" charset="-122"/>
                <a:cs typeface="Calibri" pitchFamily="34" charset="-120"/>
              </a:rPr>
              <a:t>Catalytic and partnership programs</a:t>
            </a:r>
            <a:endParaRPr lang="en-US" sz="1150" dirty="0"/>
          </a:p>
        </p:txBody>
      </p:sp>
      <p:sp>
        <p:nvSpPr>
          <p:cNvPr id="13" name="Text 11"/>
          <p:cNvSpPr/>
          <p:nvPr/>
        </p:nvSpPr>
        <p:spPr>
          <a:xfrm>
            <a:off x="3840480" y="2514600"/>
            <a:ext cx="7406640" cy="74980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Built for industry-academia pairs. ANRF’s corpus is designed to be majority non-government funded, so a company partner fits the model and strengthens your case.</a:t>
            </a:r>
            <a:endParaRPr lang="en-US" sz="1250" dirty="0"/>
          </a:p>
        </p:txBody>
      </p:sp>
      <p:sp>
        <p:nvSpPr>
          <p:cNvPr id="14" name="Shape 12"/>
          <p:cNvSpPr/>
          <p:nvPr/>
        </p:nvSpPr>
        <p:spPr>
          <a:xfrm>
            <a:off x="640080" y="3383280"/>
            <a:ext cx="10908792" cy="749808"/>
          </a:xfrm>
          <a:prstGeom prst="roundRect">
            <a:avLst>
              <a:gd name="adj" fmla="val 9756"/>
            </a:avLst>
          </a:prstGeom>
          <a:solidFill>
            <a:srgbClr val="F4F6FA"/>
          </a:solidFill>
          <a:ln/>
        </p:spPr>
        <p:txBody>
          <a:bodyPr/>
          <a:lstStyle/>
          <a:p>
            <a:endParaRPr lang="en-IN"/>
          </a:p>
        </p:txBody>
      </p:sp>
      <p:sp>
        <p:nvSpPr>
          <p:cNvPr id="15" name="Shape 13"/>
          <p:cNvSpPr/>
          <p:nvPr/>
        </p:nvSpPr>
        <p:spPr>
          <a:xfrm>
            <a:off x="896112" y="3648456"/>
            <a:ext cx="219456" cy="219456"/>
          </a:xfrm>
          <a:prstGeom prst="ellipse">
            <a:avLst/>
          </a:prstGeom>
          <a:solidFill>
            <a:srgbClr val="FFC24A"/>
          </a:solidFill>
          <a:ln/>
        </p:spPr>
        <p:txBody>
          <a:bodyPr/>
          <a:lstStyle/>
          <a:p>
            <a:endParaRPr lang="en-IN"/>
          </a:p>
        </p:txBody>
      </p:sp>
      <p:sp>
        <p:nvSpPr>
          <p:cNvPr id="16" name="Text 14"/>
          <p:cNvSpPr/>
          <p:nvPr/>
        </p:nvSpPr>
        <p:spPr>
          <a:xfrm>
            <a:off x="1261872" y="3456432"/>
            <a:ext cx="192024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IndiaAI Mission</a:t>
            </a:r>
            <a:endParaRPr lang="en-US" sz="1450" dirty="0"/>
          </a:p>
        </p:txBody>
      </p:sp>
      <p:sp>
        <p:nvSpPr>
          <p:cNvPr id="17" name="Text 15"/>
          <p:cNvSpPr/>
          <p:nvPr/>
        </p:nvSpPr>
        <p:spPr>
          <a:xfrm>
            <a:off x="1261872" y="3767328"/>
            <a:ext cx="2377440" cy="274320"/>
          </a:xfrm>
          <a:prstGeom prst="rect">
            <a:avLst/>
          </a:prstGeom>
          <a:noFill/>
          <a:ln/>
        </p:spPr>
        <p:txBody>
          <a:bodyPr wrap="square" lIns="0" tIns="0" rIns="0" bIns="0" rtlCol="0" anchor="ctr"/>
          <a:lstStyle/>
          <a:p>
            <a:pPr marL="0" indent="0">
              <a:buNone/>
            </a:pPr>
            <a:r>
              <a:rPr lang="en-US" sz="1150" dirty="0">
                <a:solidFill>
                  <a:srgbClr val="FFC24A"/>
                </a:solidFill>
                <a:latin typeface="Calibri" pitchFamily="34" charset="0"/>
                <a:ea typeface="Calibri" pitchFamily="34" charset="-122"/>
                <a:cs typeface="Calibri" pitchFamily="34" charset="-120"/>
              </a:rPr>
              <a:t>Compute and application pillars</a:t>
            </a:r>
            <a:endParaRPr lang="en-US" sz="1150" dirty="0"/>
          </a:p>
        </p:txBody>
      </p:sp>
      <p:sp>
        <p:nvSpPr>
          <p:cNvPr id="18" name="Text 16"/>
          <p:cNvSpPr/>
          <p:nvPr/>
        </p:nvSpPr>
        <p:spPr>
          <a:xfrm>
            <a:off x="3840480" y="3383280"/>
            <a:ext cx="7406640" cy="74980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38,231 GPUs onboarded at around Rs 65 per GPU-hour (Lok Sabha, March 2026), with 20,000 more announced at the AI Impact Summit in February. Academia is explicitly eligible - register before you need it.</a:t>
            </a:r>
            <a:endParaRPr lang="en-US" sz="1250" dirty="0"/>
          </a:p>
        </p:txBody>
      </p:sp>
      <p:sp>
        <p:nvSpPr>
          <p:cNvPr id="19" name="Shape 17"/>
          <p:cNvSpPr/>
          <p:nvPr/>
        </p:nvSpPr>
        <p:spPr>
          <a:xfrm>
            <a:off x="640080" y="4251960"/>
            <a:ext cx="10908792" cy="749808"/>
          </a:xfrm>
          <a:prstGeom prst="roundRect">
            <a:avLst>
              <a:gd name="adj" fmla="val 9756"/>
            </a:avLst>
          </a:prstGeom>
          <a:solidFill>
            <a:srgbClr val="F4F6FA"/>
          </a:solidFill>
          <a:ln/>
        </p:spPr>
        <p:txBody>
          <a:bodyPr/>
          <a:lstStyle/>
          <a:p>
            <a:endParaRPr lang="en-IN"/>
          </a:p>
        </p:txBody>
      </p:sp>
      <p:sp>
        <p:nvSpPr>
          <p:cNvPr id="20" name="Shape 18"/>
          <p:cNvSpPr/>
          <p:nvPr/>
        </p:nvSpPr>
        <p:spPr>
          <a:xfrm>
            <a:off x="896112" y="4517136"/>
            <a:ext cx="219456" cy="219456"/>
          </a:xfrm>
          <a:prstGeom prst="ellipse">
            <a:avLst/>
          </a:prstGeom>
          <a:solidFill>
            <a:srgbClr val="FF6B4A"/>
          </a:solidFill>
          <a:ln/>
        </p:spPr>
        <p:txBody>
          <a:bodyPr/>
          <a:lstStyle/>
          <a:p>
            <a:endParaRPr lang="en-IN"/>
          </a:p>
        </p:txBody>
      </p:sp>
      <p:sp>
        <p:nvSpPr>
          <p:cNvPr id="21" name="Text 19"/>
          <p:cNvSpPr/>
          <p:nvPr/>
        </p:nvSpPr>
        <p:spPr>
          <a:xfrm>
            <a:off x="1261872" y="4325112"/>
            <a:ext cx="192024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RDI Fund</a:t>
            </a:r>
            <a:endParaRPr lang="en-US" sz="1450" dirty="0"/>
          </a:p>
        </p:txBody>
      </p:sp>
      <p:sp>
        <p:nvSpPr>
          <p:cNvPr id="22" name="Text 20"/>
          <p:cNvSpPr/>
          <p:nvPr/>
        </p:nvSpPr>
        <p:spPr>
          <a:xfrm>
            <a:off x="1261872" y="4636008"/>
            <a:ext cx="2377440" cy="274320"/>
          </a:xfrm>
          <a:prstGeom prst="rect">
            <a:avLst/>
          </a:prstGeom>
          <a:noFill/>
          <a:ln/>
        </p:spPr>
        <p:txBody>
          <a:bodyPr wrap="square" lIns="0" tIns="0" rIns="0" bIns="0" rtlCol="0" anchor="ctr"/>
          <a:lstStyle/>
          <a:p>
            <a:pPr marL="0" indent="0">
              <a:buNone/>
            </a:pPr>
            <a:r>
              <a:rPr lang="en-US" sz="1150" dirty="0">
                <a:solidFill>
                  <a:srgbClr val="FF6B4A"/>
                </a:solidFill>
                <a:latin typeface="Calibri" pitchFamily="34" charset="0"/>
                <a:ea typeface="Calibri" pitchFamily="34" charset="-122"/>
                <a:cs typeface="Calibri" pitchFamily="34" charset="-120"/>
              </a:rPr>
              <a:t>Private-sector R&amp;D financing</a:t>
            </a:r>
            <a:endParaRPr lang="en-US" sz="1150" dirty="0"/>
          </a:p>
        </p:txBody>
      </p:sp>
      <p:sp>
        <p:nvSpPr>
          <p:cNvPr id="23" name="Text 21"/>
          <p:cNvSpPr/>
          <p:nvPr/>
        </p:nvSpPr>
        <p:spPr>
          <a:xfrm>
            <a:off x="3840480" y="4251960"/>
            <a:ext cx="7406640" cy="74980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Rs 1 lakh crore scheme lending to and investing in company R&amp;D. Faculty reach it through an industry or startup partner, not directly.</a:t>
            </a:r>
            <a:endParaRPr lang="en-US" sz="1250" dirty="0"/>
          </a:p>
        </p:txBody>
      </p:sp>
      <p:sp>
        <p:nvSpPr>
          <p:cNvPr id="24" name="Shape 22"/>
          <p:cNvSpPr/>
          <p:nvPr/>
        </p:nvSpPr>
        <p:spPr>
          <a:xfrm>
            <a:off x="640080" y="5120640"/>
            <a:ext cx="10908792" cy="749808"/>
          </a:xfrm>
          <a:prstGeom prst="roundRect">
            <a:avLst>
              <a:gd name="adj" fmla="val 9756"/>
            </a:avLst>
          </a:prstGeom>
          <a:solidFill>
            <a:srgbClr val="F4F6FA"/>
          </a:solidFill>
          <a:ln/>
        </p:spPr>
        <p:txBody>
          <a:bodyPr/>
          <a:lstStyle/>
          <a:p>
            <a:endParaRPr lang="en-IN"/>
          </a:p>
        </p:txBody>
      </p:sp>
      <p:sp>
        <p:nvSpPr>
          <p:cNvPr id="25" name="Shape 23"/>
          <p:cNvSpPr/>
          <p:nvPr/>
        </p:nvSpPr>
        <p:spPr>
          <a:xfrm>
            <a:off x="896112" y="5385816"/>
            <a:ext cx="219456" cy="219456"/>
          </a:xfrm>
          <a:prstGeom prst="ellipse">
            <a:avLst/>
          </a:prstGeom>
          <a:solidFill>
            <a:srgbClr val="6B7689"/>
          </a:solidFill>
          <a:ln/>
        </p:spPr>
        <p:txBody>
          <a:bodyPr/>
          <a:lstStyle/>
          <a:p>
            <a:endParaRPr lang="en-IN"/>
          </a:p>
        </p:txBody>
      </p:sp>
      <p:sp>
        <p:nvSpPr>
          <p:cNvPr id="26" name="Text 24"/>
          <p:cNvSpPr/>
          <p:nvPr/>
        </p:nvSpPr>
        <p:spPr>
          <a:xfrm>
            <a:off x="1261872" y="5193792"/>
            <a:ext cx="192024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Industry</a:t>
            </a:r>
            <a:endParaRPr lang="en-US" sz="1450" dirty="0"/>
          </a:p>
        </p:txBody>
      </p:sp>
      <p:sp>
        <p:nvSpPr>
          <p:cNvPr id="27" name="Text 25"/>
          <p:cNvSpPr/>
          <p:nvPr/>
        </p:nvSpPr>
        <p:spPr>
          <a:xfrm>
            <a:off x="1261872" y="5504688"/>
            <a:ext cx="2377440" cy="274320"/>
          </a:xfrm>
          <a:prstGeom prst="rect">
            <a:avLst/>
          </a:prstGeom>
          <a:noFill/>
          <a:ln/>
        </p:spPr>
        <p:txBody>
          <a:bodyPr wrap="square" lIns="0" tIns="0" rIns="0" bIns="0" rtlCol="0" anchor="ctr"/>
          <a:lstStyle/>
          <a:p>
            <a:pPr marL="0" indent="0">
              <a:buNone/>
            </a:pPr>
            <a:r>
              <a:rPr lang="en-US" sz="1150" dirty="0">
                <a:solidFill>
                  <a:srgbClr val="6B7689"/>
                </a:solidFill>
                <a:latin typeface="Calibri" pitchFamily="34" charset="0"/>
                <a:ea typeface="Calibri" pitchFamily="34" charset="-122"/>
                <a:cs typeface="Calibri" pitchFamily="34" charset="-120"/>
              </a:rPr>
              <a:t>Sponsored problem statements</a:t>
            </a:r>
            <a:endParaRPr lang="en-US" sz="1150" dirty="0"/>
          </a:p>
        </p:txBody>
      </p:sp>
      <p:sp>
        <p:nvSpPr>
          <p:cNvPr id="28" name="Text 26"/>
          <p:cNvSpPr/>
          <p:nvPr/>
        </p:nvSpPr>
        <p:spPr>
          <a:xfrm>
            <a:off x="3840480" y="5120640"/>
            <a:ext cx="7406640" cy="74980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Often faster than a grant cycle, and comes with the domain data you cannot otherwise get.</a:t>
            </a:r>
            <a:endParaRPr lang="en-US" sz="1250" dirty="0"/>
          </a:p>
        </p:txBody>
      </p:sp>
      <p:sp>
        <p:nvSpPr>
          <p:cNvPr id="29" name="Text 27"/>
          <p:cNvSpPr/>
          <p:nvPr/>
        </p:nvSpPr>
        <p:spPr>
          <a:xfrm>
            <a:off x="640080" y="6080760"/>
            <a:ext cx="10908792" cy="320040"/>
          </a:xfrm>
          <a:prstGeom prst="rect">
            <a:avLst/>
          </a:prstGeom>
          <a:noFill/>
          <a:ln/>
        </p:spPr>
        <p:txBody>
          <a:bodyPr wrap="square" lIns="0" tIns="0" rIns="0" bIns="0" rtlCol="0" anchor="ctr"/>
          <a:lstStyle/>
          <a:p>
            <a:pPr marL="0" indent="0">
              <a:buNone/>
            </a:pPr>
            <a:r>
              <a:rPr lang="en-US" sz="1300" i="1" dirty="0">
                <a:solidFill>
                  <a:srgbClr val="0E1524"/>
                </a:solidFill>
                <a:latin typeface="Calibri" pitchFamily="34" charset="0"/>
                <a:ea typeface="Calibri" pitchFamily="34" charset="-122"/>
                <a:cs typeface="Calibri" pitchFamily="34" charset="-120"/>
              </a:rPr>
              <a:t>Check anrfonline.in and indiaai.gov.in for live call windows - they open and close on short notice. Scheme details and compute figures current as of September 2026.</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YOUR DEPARTMENT</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From one lecture to a funded project</a:t>
            </a:r>
            <a:endParaRPr lang="en-US" sz="3400" dirty="0"/>
          </a:p>
        </p:txBody>
      </p:sp>
      <p:sp>
        <p:nvSpPr>
          <p:cNvPr id="4" name="Shape 2"/>
          <p:cNvSpPr/>
          <p:nvPr/>
        </p:nvSpPr>
        <p:spPr>
          <a:xfrm>
            <a:off x="640080" y="5394960"/>
            <a:ext cx="10908792" cy="713232"/>
          </a:xfrm>
          <a:prstGeom prst="roundRect">
            <a:avLst>
              <a:gd name="adj" fmla="val 10256"/>
            </a:avLst>
          </a:prstGeom>
          <a:solidFill>
            <a:srgbClr val="F4F6FA"/>
          </a:solidFill>
          <a:ln/>
        </p:spPr>
        <p:txBody>
          <a:bodyPr/>
          <a:lstStyle/>
          <a:p>
            <a:endParaRPr lang="en-IN"/>
          </a:p>
        </p:txBody>
      </p:sp>
      <p:sp>
        <p:nvSpPr>
          <p:cNvPr id="5" name="Shape 3"/>
          <p:cNvSpPr/>
          <p:nvPr/>
        </p:nvSpPr>
        <p:spPr>
          <a:xfrm>
            <a:off x="877824" y="5641848"/>
            <a:ext cx="219456" cy="219456"/>
          </a:xfrm>
          <a:prstGeom prst="ellipse">
            <a:avLst/>
          </a:prstGeom>
          <a:solidFill>
            <a:srgbClr val="6B7689"/>
          </a:solidFill>
          <a:ln/>
        </p:spPr>
        <p:txBody>
          <a:bodyPr/>
          <a:lstStyle/>
          <a:p>
            <a:endParaRPr lang="en-IN"/>
          </a:p>
        </p:txBody>
      </p:sp>
      <p:sp>
        <p:nvSpPr>
          <p:cNvPr id="6" name="Text 4"/>
          <p:cNvSpPr/>
          <p:nvPr/>
        </p:nvSpPr>
        <p:spPr>
          <a:xfrm>
            <a:off x="1243584" y="5394960"/>
            <a:ext cx="3657600" cy="713232"/>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One lecture</a:t>
            </a:r>
            <a:endParaRPr lang="en-US" sz="1400" dirty="0"/>
          </a:p>
        </p:txBody>
      </p:sp>
      <p:sp>
        <p:nvSpPr>
          <p:cNvPr id="7" name="Text 5"/>
          <p:cNvSpPr/>
          <p:nvPr/>
        </p:nvSpPr>
        <p:spPr>
          <a:xfrm>
            <a:off x="5029200" y="5394960"/>
            <a:ext cx="6245352" cy="713232"/>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Slides 6 to 14 of this deck, unchanged. Fits any existing AI or image processing course.</a:t>
            </a:r>
            <a:endParaRPr lang="en-US" sz="1200" dirty="0"/>
          </a:p>
        </p:txBody>
      </p:sp>
      <p:sp>
        <p:nvSpPr>
          <p:cNvPr id="8" name="Shape 6"/>
          <p:cNvSpPr/>
          <p:nvPr/>
        </p:nvSpPr>
        <p:spPr>
          <a:xfrm>
            <a:off x="1024128" y="4572000"/>
            <a:ext cx="10524744" cy="713232"/>
          </a:xfrm>
          <a:prstGeom prst="roundRect">
            <a:avLst>
              <a:gd name="adj" fmla="val 10256"/>
            </a:avLst>
          </a:prstGeom>
          <a:solidFill>
            <a:srgbClr val="F4F6FA"/>
          </a:solidFill>
          <a:ln/>
        </p:spPr>
        <p:txBody>
          <a:bodyPr/>
          <a:lstStyle/>
          <a:p>
            <a:endParaRPr lang="en-IN"/>
          </a:p>
        </p:txBody>
      </p:sp>
      <p:sp>
        <p:nvSpPr>
          <p:cNvPr id="9" name="Shape 7"/>
          <p:cNvSpPr/>
          <p:nvPr/>
        </p:nvSpPr>
        <p:spPr>
          <a:xfrm>
            <a:off x="1261872" y="4818888"/>
            <a:ext cx="219456" cy="219456"/>
          </a:xfrm>
          <a:prstGeom prst="ellipse">
            <a:avLst/>
          </a:prstGeom>
          <a:solidFill>
            <a:srgbClr val="FFC24A"/>
          </a:solidFill>
          <a:ln/>
        </p:spPr>
        <p:txBody>
          <a:bodyPr/>
          <a:lstStyle/>
          <a:p>
            <a:endParaRPr lang="en-IN"/>
          </a:p>
        </p:txBody>
      </p:sp>
      <p:sp>
        <p:nvSpPr>
          <p:cNvPr id="10" name="Text 8"/>
          <p:cNvSpPr/>
          <p:nvPr/>
        </p:nvSpPr>
        <p:spPr>
          <a:xfrm>
            <a:off x="1627632" y="4572000"/>
            <a:ext cx="3657600" cy="713232"/>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A lab exercise</a:t>
            </a:r>
            <a:endParaRPr lang="en-US" sz="1400" dirty="0"/>
          </a:p>
        </p:txBody>
      </p:sp>
      <p:sp>
        <p:nvSpPr>
          <p:cNvPr id="11" name="Text 9"/>
          <p:cNvSpPr/>
          <p:nvPr/>
        </p:nvSpPr>
        <p:spPr>
          <a:xfrm>
            <a:off x="5413248" y="4572000"/>
            <a:ext cx="5861304" cy="713232"/>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Students rebuild the five-stage architecture on free tiers. No GPU, no install requests to IT.</a:t>
            </a:r>
            <a:endParaRPr lang="en-US" sz="1200" dirty="0"/>
          </a:p>
        </p:txBody>
      </p:sp>
      <p:sp>
        <p:nvSpPr>
          <p:cNvPr id="12" name="Shape 10"/>
          <p:cNvSpPr/>
          <p:nvPr/>
        </p:nvSpPr>
        <p:spPr>
          <a:xfrm>
            <a:off x="1408176" y="3749040"/>
            <a:ext cx="10140696" cy="713232"/>
          </a:xfrm>
          <a:prstGeom prst="roundRect">
            <a:avLst>
              <a:gd name="adj" fmla="val 10256"/>
            </a:avLst>
          </a:prstGeom>
          <a:solidFill>
            <a:srgbClr val="F4F6FA"/>
          </a:solidFill>
          <a:ln/>
        </p:spPr>
        <p:txBody>
          <a:bodyPr/>
          <a:lstStyle/>
          <a:p>
            <a:endParaRPr lang="en-IN"/>
          </a:p>
        </p:txBody>
      </p:sp>
      <p:sp>
        <p:nvSpPr>
          <p:cNvPr id="13" name="Shape 11"/>
          <p:cNvSpPr/>
          <p:nvPr/>
        </p:nvSpPr>
        <p:spPr>
          <a:xfrm>
            <a:off x="1645920" y="3995928"/>
            <a:ext cx="219456" cy="219456"/>
          </a:xfrm>
          <a:prstGeom prst="ellipse">
            <a:avLst/>
          </a:prstGeom>
          <a:solidFill>
            <a:srgbClr val="FFC24A"/>
          </a:solidFill>
          <a:ln/>
        </p:spPr>
        <p:txBody>
          <a:bodyPr/>
          <a:lstStyle/>
          <a:p>
            <a:endParaRPr lang="en-IN"/>
          </a:p>
        </p:txBody>
      </p:sp>
      <p:sp>
        <p:nvSpPr>
          <p:cNvPr id="14" name="Text 12"/>
          <p:cNvSpPr/>
          <p:nvPr/>
        </p:nvSpPr>
        <p:spPr>
          <a:xfrm>
            <a:off x="2011680" y="3749040"/>
            <a:ext cx="3657600" cy="713232"/>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A mini-project on campus data</a:t>
            </a:r>
            <a:endParaRPr lang="en-US" sz="1400" dirty="0"/>
          </a:p>
        </p:txBody>
      </p:sp>
      <p:sp>
        <p:nvSpPr>
          <p:cNvPr id="15" name="Text 13"/>
          <p:cNvSpPr/>
          <p:nvPr/>
        </p:nvSpPr>
        <p:spPr>
          <a:xfrm>
            <a:off x="5797296" y="3749040"/>
            <a:ext cx="5477256" cy="713232"/>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Your own admission forms, lab records or field photographs. Data no one else has - clear consent and anonymise first.</a:t>
            </a:r>
            <a:endParaRPr lang="en-US" sz="1200" dirty="0"/>
          </a:p>
        </p:txBody>
      </p:sp>
      <p:sp>
        <p:nvSpPr>
          <p:cNvPr id="16" name="Shape 14"/>
          <p:cNvSpPr/>
          <p:nvPr/>
        </p:nvSpPr>
        <p:spPr>
          <a:xfrm>
            <a:off x="1792224" y="2926080"/>
            <a:ext cx="9756648" cy="713232"/>
          </a:xfrm>
          <a:prstGeom prst="roundRect">
            <a:avLst>
              <a:gd name="adj" fmla="val 10256"/>
            </a:avLst>
          </a:prstGeom>
          <a:solidFill>
            <a:srgbClr val="F4F6FA"/>
          </a:solidFill>
          <a:ln/>
        </p:spPr>
        <p:txBody>
          <a:bodyPr/>
          <a:lstStyle/>
          <a:p>
            <a:endParaRPr lang="en-IN"/>
          </a:p>
        </p:txBody>
      </p:sp>
      <p:sp>
        <p:nvSpPr>
          <p:cNvPr id="17" name="Shape 15"/>
          <p:cNvSpPr/>
          <p:nvPr/>
        </p:nvSpPr>
        <p:spPr>
          <a:xfrm>
            <a:off x="2029968" y="3172968"/>
            <a:ext cx="219456" cy="219456"/>
          </a:xfrm>
          <a:prstGeom prst="ellipse">
            <a:avLst/>
          </a:prstGeom>
          <a:solidFill>
            <a:srgbClr val="00C2A8"/>
          </a:solidFill>
          <a:ln/>
        </p:spPr>
        <p:txBody>
          <a:bodyPr/>
          <a:lstStyle/>
          <a:p>
            <a:endParaRPr lang="en-IN"/>
          </a:p>
        </p:txBody>
      </p:sp>
      <p:sp>
        <p:nvSpPr>
          <p:cNvPr id="18" name="Text 16"/>
          <p:cNvSpPr/>
          <p:nvPr/>
        </p:nvSpPr>
        <p:spPr>
          <a:xfrm>
            <a:off x="2395728" y="2926080"/>
            <a:ext cx="3657600" cy="713232"/>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A student paper or dataset</a:t>
            </a:r>
            <a:endParaRPr lang="en-US" sz="1400" dirty="0"/>
          </a:p>
        </p:txBody>
      </p:sp>
      <p:sp>
        <p:nvSpPr>
          <p:cNvPr id="19" name="Text 17"/>
          <p:cNvSpPr/>
          <p:nvPr/>
        </p:nvSpPr>
        <p:spPr>
          <a:xfrm>
            <a:off x="6181344" y="2926080"/>
            <a:ext cx="5093208" cy="713232"/>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A narrow, well-evaluated benchmark. Publishable, and it outlives the model it tested.</a:t>
            </a:r>
            <a:endParaRPr lang="en-US" sz="1200" dirty="0"/>
          </a:p>
        </p:txBody>
      </p:sp>
      <p:sp>
        <p:nvSpPr>
          <p:cNvPr id="20" name="Shape 18"/>
          <p:cNvSpPr/>
          <p:nvPr/>
        </p:nvSpPr>
        <p:spPr>
          <a:xfrm>
            <a:off x="2176272" y="2103120"/>
            <a:ext cx="9372600" cy="713232"/>
          </a:xfrm>
          <a:prstGeom prst="roundRect">
            <a:avLst>
              <a:gd name="adj" fmla="val 10256"/>
            </a:avLst>
          </a:prstGeom>
          <a:solidFill>
            <a:srgbClr val="F4F6FA"/>
          </a:solidFill>
          <a:ln/>
        </p:spPr>
        <p:txBody>
          <a:bodyPr/>
          <a:lstStyle/>
          <a:p>
            <a:endParaRPr lang="en-IN"/>
          </a:p>
        </p:txBody>
      </p:sp>
      <p:sp>
        <p:nvSpPr>
          <p:cNvPr id="21" name="Shape 19"/>
          <p:cNvSpPr/>
          <p:nvPr/>
        </p:nvSpPr>
        <p:spPr>
          <a:xfrm>
            <a:off x="2414016" y="2350008"/>
            <a:ext cx="219456" cy="219456"/>
          </a:xfrm>
          <a:prstGeom prst="ellipse">
            <a:avLst/>
          </a:prstGeom>
          <a:solidFill>
            <a:srgbClr val="FF6B4A"/>
          </a:solidFill>
          <a:ln/>
        </p:spPr>
        <p:txBody>
          <a:bodyPr/>
          <a:lstStyle/>
          <a:p>
            <a:endParaRPr lang="en-IN"/>
          </a:p>
        </p:txBody>
      </p:sp>
      <p:sp>
        <p:nvSpPr>
          <p:cNvPr id="22" name="Text 20"/>
          <p:cNvSpPr/>
          <p:nvPr/>
        </p:nvSpPr>
        <p:spPr>
          <a:xfrm>
            <a:off x="2779776" y="2103120"/>
            <a:ext cx="3657600" cy="713232"/>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A funded proposal</a:t>
            </a:r>
            <a:endParaRPr lang="en-US" sz="1400" dirty="0"/>
          </a:p>
        </p:txBody>
      </p:sp>
      <p:sp>
        <p:nvSpPr>
          <p:cNvPr id="23" name="Text 21"/>
          <p:cNvSpPr/>
          <p:nvPr/>
        </p:nvSpPr>
        <p:spPr>
          <a:xfrm>
            <a:off x="6565392" y="2103120"/>
            <a:ext cx="4709160" cy="713232"/>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ANRF or IndiaAI, with pilot results already in hand.</a:t>
            </a:r>
            <a:endParaRPr lang="en-US" sz="1200" dirty="0"/>
          </a:p>
        </p:txBody>
      </p:sp>
      <p:sp>
        <p:nvSpPr>
          <p:cNvPr id="24" name="Text 22"/>
          <p:cNvSpPr/>
          <p:nvPr/>
        </p:nvSpPr>
        <p:spPr>
          <a:xfrm>
            <a:off x="640080" y="1536192"/>
            <a:ext cx="10908792" cy="457200"/>
          </a:xfrm>
          <a:prstGeom prst="rect">
            <a:avLst/>
          </a:prstGeom>
          <a:noFill/>
          <a:ln/>
        </p:spPr>
        <p:txBody>
          <a:bodyPr wrap="square" lIns="0" tIns="0" rIns="0" bIns="0" rtlCol="0" anchor="ctr"/>
          <a:lstStyle/>
          <a:p>
            <a:pPr marL="0" indent="0">
              <a:buNone/>
            </a:pPr>
            <a:r>
              <a:rPr lang="en-US" sz="1600" b="1" dirty="0">
                <a:solidFill>
                  <a:srgbClr val="0E1524"/>
                </a:solidFill>
                <a:latin typeface="Arial" pitchFamily="34" charset="0"/>
                <a:ea typeface="Arial" pitchFamily="34" charset="-122"/>
                <a:cs typeface="Arial" pitchFamily="34" charset="-120"/>
              </a:rPr>
              <a:t>You have something no AI startup has: a captive cohort of students, and decades of campus records nobody has ever digitised.</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960120"/>
            <a:ext cx="10908792" cy="411480"/>
          </a:xfrm>
          <a:prstGeom prst="rect">
            <a:avLst/>
          </a:prstGeom>
          <a:noFill/>
          <a:ln/>
        </p:spPr>
        <p:txBody>
          <a:bodyPr wrap="square" lIns="0" tIns="0" rIns="0" bIns="0" rtlCol="0" anchor="ctr"/>
          <a:lstStyle/>
          <a:p>
            <a:pPr marL="0" indent="0">
              <a:buNone/>
            </a:pPr>
            <a:r>
              <a:rPr lang="en-US" sz="2200" b="1" dirty="0">
                <a:solidFill>
                  <a:srgbClr val="A8B2C4"/>
                </a:solidFill>
                <a:latin typeface="Arial" pitchFamily="34" charset="0"/>
                <a:ea typeface="Arial" pitchFamily="34" charset="-122"/>
                <a:cs typeface="Arial" pitchFamily="34" charset="-120"/>
              </a:rPr>
              <a:t>The whole of Part Four in one line</a:t>
            </a:r>
            <a:endParaRPr lang="en-US" sz="2200" dirty="0"/>
          </a:p>
        </p:txBody>
      </p:sp>
      <p:sp>
        <p:nvSpPr>
          <p:cNvPr id="3" name="Text 1"/>
          <p:cNvSpPr/>
          <p:nvPr/>
        </p:nvSpPr>
        <p:spPr>
          <a:xfrm>
            <a:off x="640080" y="1828800"/>
            <a:ext cx="10515600" cy="1691640"/>
          </a:xfrm>
          <a:prstGeom prst="rect">
            <a:avLst/>
          </a:prstGeom>
          <a:noFill/>
          <a:ln/>
        </p:spPr>
        <p:txBody>
          <a:bodyPr wrap="square" lIns="0" tIns="0" rIns="0" bIns="0" rtlCol="0" anchor="ctr"/>
          <a:lstStyle/>
          <a:p>
            <a:pPr marL="0" indent="0">
              <a:lnSpc>
                <a:spcPts val="5200"/>
              </a:lnSpc>
              <a:buNone/>
            </a:pPr>
            <a:r>
              <a:rPr lang="en-US" sz="4400" b="1" dirty="0">
                <a:solidFill>
                  <a:srgbClr val="FFFFFF"/>
                </a:solidFill>
                <a:latin typeface="Arial" pitchFamily="34" charset="0"/>
                <a:ea typeface="Arial" pitchFamily="34" charset="-122"/>
                <a:cs typeface="Arial" pitchFamily="34" charset="-120"/>
              </a:rPr>
              <a:t>Narrow claims get funded.</a:t>
            </a:r>
            <a:endParaRPr lang="en-US" sz="4400" dirty="0"/>
          </a:p>
          <a:p>
            <a:pPr marL="0" indent="0">
              <a:lnSpc>
                <a:spcPts val="5200"/>
              </a:lnSpc>
              <a:buNone/>
            </a:pPr>
            <a:r>
              <a:rPr lang="en-US" sz="4400" b="1" dirty="0">
                <a:solidFill>
                  <a:srgbClr val="FFFFFF"/>
                </a:solidFill>
                <a:latin typeface="Arial" pitchFamily="34" charset="0"/>
                <a:ea typeface="Arial" pitchFamily="34" charset="-122"/>
                <a:cs typeface="Arial" pitchFamily="34" charset="-120"/>
              </a:rPr>
              <a:t>Broad ones get returned.</a:t>
            </a:r>
            <a:endParaRPr lang="en-US" sz="4400" dirty="0"/>
          </a:p>
        </p:txBody>
      </p:sp>
      <p:sp>
        <p:nvSpPr>
          <p:cNvPr id="4" name="Shape 2"/>
          <p:cNvSpPr/>
          <p:nvPr/>
        </p:nvSpPr>
        <p:spPr>
          <a:xfrm>
            <a:off x="640080" y="3931920"/>
            <a:ext cx="10908792" cy="1417320"/>
          </a:xfrm>
          <a:prstGeom prst="roundRect">
            <a:avLst>
              <a:gd name="adj" fmla="val 6452"/>
            </a:avLst>
          </a:prstGeom>
          <a:solidFill>
            <a:srgbClr val="1B2437"/>
          </a:solidFill>
          <a:ln/>
        </p:spPr>
        <p:txBody>
          <a:bodyPr/>
          <a:lstStyle/>
          <a:p>
            <a:endParaRPr lang="en-IN"/>
          </a:p>
        </p:txBody>
      </p:sp>
      <p:sp>
        <p:nvSpPr>
          <p:cNvPr id="5" name="Text 3"/>
          <p:cNvSpPr/>
          <p:nvPr/>
        </p:nvSpPr>
        <p:spPr>
          <a:xfrm>
            <a:off x="1051560" y="3931920"/>
            <a:ext cx="10104120" cy="1417320"/>
          </a:xfrm>
          <a:prstGeom prst="rect">
            <a:avLst/>
          </a:prstGeom>
          <a:noFill/>
          <a:ln/>
        </p:spPr>
        <p:txBody>
          <a:bodyPr wrap="square" lIns="0" tIns="0" rIns="0" bIns="0" rtlCol="0" anchor="ctr"/>
          <a:lstStyle/>
          <a:p>
            <a:pPr marL="0" indent="0">
              <a:lnSpc>
                <a:spcPts val="2400"/>
              </a:lnSpc>
              <a:buNone/>
            </a:pPr>
            <a:r>
              <a:rPr lang="en-US" sz="1550" dirty="0">
                <a:solidFill>
                  <a:srgbClr val="A8B2C4"/>
                </a:solidFill>
                <a:latin typeface="Calibri" pitchFamily="34" charset="0"/>
                <a:ea typeface="Calibri" pitchFamily="34" charset="-122"/>
                <a:cs typeface="Calibri" pitchFamily="34" charset="-120"/>
              </a:rPr>
              <a:t>The compute is subsidised, the calls are open, and most of the allocation is going unclaimed. What is scarce is not budget or GPUs - it is a claim narrow enough for a reviewer to score, backed by a test set nobody else can build. Your campus data is that test set, and it is already sitting in your department.</a:t>
            </a:r>
            <a:endParaRPr lang="en-US" sz="1550" dirty="0"/>
          </a:p>
        </p:txBody>
      </p:sp>
      <p:sp>
        <p:nvSpPr>
          <p:cNvPr id="6" name="Shape 4"/>
          <p:cNvSpPr/>
          <p:nvPr/>
        </p:nvSpPr>
        <p:spPr>
          <a:xfrm>
            <a:off x="640080" y="5806440"/>
            <a:ext cx="137160" cy="137160"/>
          </a:xfrm>
          <a:prstGeom prst="ellipse">
            <a:avLst/>
          </a:prstGeom>
          <a:solidFill>
            <a:srgbClr val="00C2A8"/>
          </a:solidFill>
          <a:ln/>
        </p:spPr>
        <p:txBody>
          <a:bodyPr/>
          <a:lstStyle/>
          <a:p>
            <a:endParaRPr lang="en-IN"/>
          </a:p>
        </p:txBody>
      </p:sp>
      <p:sp>
        <p:nvSpPr>
          <p:cNvPr id="7" name="Shape 5"/>
          <p:cNvSpPr/>
          <p:nvPr/>
        </p:nvSpPr>
        <p:spPr>
          <a:xfrm>
            <a:off x="880110" y="5806440"/>
            <a:ext cx="137160" cy="137160"/>
          </a:xfrm>
          <a:prstGeom prst="ellipse">
            <a:avLst/>
          </a:prstGeom>
          <a:solidFill>
            <a:srgbClr val="FF6B4A"/>
          </a:solidFill>
          <a:ln/>
        </p:spPr>
        <p:txBody>
          <a:bodyPr/>
          <a:lstStyle/>
          <a:p>
            <a:endParaRPr lang="en-IN"/>
          </a:p>
        </p:txBody>
      </p:sp>
      <p:sp>
        <p:nvSpPr>
          <p:cNvPr id="8" name="Shape 6"/>
          <p:cNvSpPr/>
          <p:nvPr/>
        </p:nvSpPr>
        <p:spPr>
          <a:xfrm>
            <a:off x="1120140" y="5806440"/>
            <a:ext cx="137160" cy="137160"/>
          </a:xfrm>
          <a:prstGeom prst="ellipse">
            <a:avLst/>
          </a:prstGeom>
          <a:solidFill>
            <a:srgbClr val="FFC24A"/>
          </a:solidFill>
          <a:ln/>
        </p:spPr>
        <p:txBody>
          <a:bodyPr/>
          <a:lstStyle/>
          <a:p>
            <a:endParaRPr lang="en-IN"/>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E1524"/>
        </a:solidFill>
        <a:effectLst/>
      </p:bgPr>
    </p:bg>
    <p:spTree>
      <p:nvGrpSpPr>
        <p:cNvPr id="1" name=""/>
        <p:cNvGrpSpPr/>
        <p:nvPr/>
      </p:nvGrpSpPr>
      <p:grpSpPr>
        <a:xfrm>
          <a:off x="0" y="0"/>
          <a:ext cx="0" cy="0"/>
          <a:chOff x="0" y="0"/>
          <a:chExt cx="0" cy="0"/>
        </a:xfrm>
      </p:grpSpPr>
      <p:sp>
        <p:nvSpPr>
          <p:cNvPr id="101" name="Text 101"/>
          <p:cNvSpPr/>
          <p:nvPr/>
        </p:nvSpPr>
        <p:spPr>
          <a:xfrm>
            <a:off x="640080" y="777240"/>
            <a:ext cx="10908792" cy="594360"/>
          </a:xfrm>
          <a:prstGeom prst="rect">
            <a:avLst/>
          </a:prstGeom>
          <a:noFill/>
          <a:ln/>
        </p:spPr>
        <p:txBody>
          <a:bodyPr wrap="square" lIns="0" tIns="0" rIns="0" bIns="0" rtlCol="0" anchor="ctr"/>
          <a:lstStyle/>
          <a:p>
            <a:pPr marL="0" indent="0" algn="l">
              <a:buNone/>
            </a:pPr>
            <a:r>
              <a:rPr lang="en-US" sz="3400" b="1" dirty="0">
                <a:solidFill>
                  <a:srgbClr val="FFFFFF"/>
                </a:solidFill>
                <a:latin typeface="Arial" pitchFamily="34" charset="0"/>
                <a:ea typeface="Arial" pitchFamily="34" charset="-122"/>
                <a:cs typeface="Arial" pitchFamily="34" charset="-120"/>
              </a:rPr>
              <a:t>The whole session in four lines</a:t>
            </a:r>
            <a:endParaRPr lang="en-US" sz="3400" dirty="0"/>
          </a:p>
        </p:txBody>
      </p:sp>
      <p:sp>
        <p:nvSpPr>
          <p:cNvPr id="102" name="Text 102"/>
          <p:cNvSpPr/>
          <p:nvPr/>
        </p:nvSpPr>
        <p:spPr>
          <a:xfrm>
            <a:off x="640080" y="1417320"/>
            <a:ext cx="10058400" cy="320040"/>
          </a:xfrm>
          <a:prstGeom prst="rect">
            <a:avLst/>
          </a:prstGeom>
          <a:noFill/>
          <a:ln/>
        </p:spPr>
        <p:txBody>
          <a:bodyPr wrap="square" lIns="0" tIns="0" rIns="0" bIns="0" rtlCol="0" anchor="ctr"/>
          <a:lstStyle/>
          <a:p>
            <a:pPr marL="0" indent="0" algn="l">
              <a:buNone/>
            </a:pPr>
            <a:r>
              <a:rPr lang="en-US" sz="1400" dirty="0">
                <a:solidFill>
                  <a:srgbClr val="A8B2C4"/>
                </a:solidFill>
                <a:latin typeface="Calibri" pitchFamily="34" charset="0"/>
                <a:ea typeface="Calibri" pitchFamily="34" charset="-122"/>
                <a:cs typeface="Calibri" pitchFamily="34" charset="-120"/>
              </a:rPr>
              <a:t>If you remember nothing else from tonight, remember these.</a:t>
            </a:r>
            <a:endParaRPr lang="en-US" sz="1400" dirty="0"/>
          </a:p>
        </p:txBody>
      </p:sp>
      <p:sp>
        <p:nvSpPr>
          <p:cNvPr id="103" name="Shape 103"/>
          <p:cNvSpPr/>
          <p:nvPr/>
        </p:nvSpPr>
        <p:spPr>
          <a:xfrm>
            <a:off x="640080" y="1980000"/>
            <a:ext cx="10908792" cy="700000"/>
          </a:xfrm>
          <a:prstGeom prst="roundRect">
            <a:avLst>
              <a:gd name="adj" fmla="val 10526"/>
            </a:avLst>
          </a:prstGeom>
          <a:solidFill>
            <a:srgbClr val="1B2437"/>
          </a:solidFill>
          <a:ln/>
        </p:spPr>
        <p:txBody>
          <a:bodyPr/>
          <a:lstStyle/>
          <a:p>
            <a:endParaRPr/>
          </a:p>
        </p:txBody>
      </p:sp>
      <p:sp>
        <p:nvSpPr>
          <p:cNvPr id="104" name="Text 104"/>
          <p:cNvSpPr/>
          <p:nvPr/>
        </p:nvSpPr>
        <p:spPr>
          <a:xfrm>
            <a:off x="1051560" y="1980000"/>
            <a:ext cx="1828800" cy="700000"/>
          </a:xfrm>
          <a:prstGeom prst="rect">
            <a:avLst/>
          </a:prstGeom>
          <a:noFill/>
          <a:ln/>
        </p:spPr>
        <p:txBody>
          <a:bodyPr wrap="square" lIns="0" tIns="0" rIns="0" bIns="0" rtlCol="0" anchor="ctr"/>
          <a:lstStyle/>
          <a:p>
            <a:pPr marL="0" indent="0" algn="l">
              <a:buNone/>
            </a:pPr>
            <a:r>
              <a:rPr lang="en-US" sz="950" b="1" kern="0" spc="150" dirty="0">
                <a:solidFill>
                  <a:srgbClr val="00C2A8"/>
                </a:solidFill>
                <a:latin typeface="Arial" pitchFamily="34" charset="0"/>
                <a:ea typeface="Arial" pitchFamily="34" charset="-122"/>
                <a:cs typeface="Arial" pitchFamily="34" charset="-120"/>
              </a:rPr>
              <a:t>PART ONE</a:t>
            </a:r>
            <a:endParaRPr lang="en-US" sz="950" dirty="0"/>
          </a:p>
        </p:txBody>
      </p:sp>
      <p:sp>
        <p:nvSpPr>
          <p:cNvPr id="105" name="Text 105"/>
          <p:cNvSpPr/>
          <p:nvPr/>
        </p:nvSpPr>
        <p:spPr>
          <a:xfrm>
            <a:off x="3108960" y="1980000"/>
            <a:ext cx="8028432" cy="700000"/>
          </a:xfrm>
          <a:prstGeom prst="rect">
            <a:avLst/>
          </a:prstGeom>
          <a:noFill/>
          <a:ln/>
        </p:spPr>
        <p:txBody>
          <a:bodyPr wrap="square" lIns="0" tIns="0" rIns="0" bIns="0" rtlCol="0" anchor="ctr"/>
          <a:lstStyle/>
          <a:p>
            <a:pPr marL="0" indent="0" algn="l">
              <a:buNone/>
            </a:pPr>
            <a:r>
              <a:rPr lang="en-US" sz="1500" b="1" dirty="0">
                <a:solidFill>
                  <a:srgbClr val="FFFFFF"/>
                </a:solidFill>
                <a:latin typeface="Arial" pitchFamily="34" charset="0"/>
                <a:ea typeface="Arial" pitchFamily="34" charset="-122"/>
                <a:cs typeface="Arial" pitchFamily="34" charset="-120"/>
              </a:rPr>
              <a:t>Shared representation beat specialised models.</a:t>
            </a:r>
            <a:endParaRPr lang="en-US" sz="1500" dirty="0"/>
          </a:p>
          <a:p>
            <a:pPr marL="0" indent="0" algn="l">
              <a:buNone/>
            </a:pPr>
            <a:r>
              <a:rPr lang="en-US" sz="1100" b="0" dirty="0">
                <a:solidFill>
                  <a:srgbClr val="8A94A6"/>
                </a:solidFill>
                <a:latin typeface="Arial" pitchFamily="34" charset="0"/>
                <a:ea typeface="Arial" pitchFamily="34" charset="-122"/>
                <a:cs typeface="Arial" pitchFamily="34" charset="-120"/>
              </a:rPr>
              <a:t>A dedicated OCR engine is still cheaper on clean scans; the shared space wins the cross-modal questions.</a:t>
            </a:r>
            <a:endParaRPr lang="en-US" sz="1500" dirty="0"/>
          </a:p>
        </p:txBody>
      </p:sp>
      <p:sp>
        <p:nvSpPr>
          <p:cNvPr id="106" name="Shape 106"/>
          <p:cNvSpPr/>
          <p:nvPr/>
        </p:nvSpPr>
        <p:spPr>
          <a:xfrm>
            <a:off x="640080" y="2840000"/>
            <a:ext cx="10908792" cy="700000"/>
          </a:xfrm>
          <a:prstGeom prst="roundRect">
            <a:avLst>
              <a:gd name="adj" fmla="val 10526"/>
            </a:avLst>
          </a:prstGeom>
          <a:solidFill>
            <a:srgbClr val="1B2437"/>
          </a:solidFill>
          <a:ln/>
        </p:spPr>
        <p:txBody>
          <a:bodyPr/>
          <a:lstStyle/>
          <a:p>
            <a:endParaRPr/>
          </a:p>
        </p:txBody>
      </p:sp>
      <p:sp>
        <p:nvSpPr>
          <p:cNvPr id="107" name="Text 107"/>
          <p:cNvSpPr/>
          <p:nvPr/>
        </p:nvSpPr>
        <p:spPr>
          <a:xfrm>
            <a:off x="1051560" y="2840000"/>
            <a:ext cx="1828800" cy="700000"/>
          </a:xfrm>
          <a:prstGeom prst="rect">
            <a:avLst/>
          </a:prstGeom>
          <a:noFill/>
          <a:ln/>
        </p:spPr>
        <p:txBody>
          <a:bodyPr wrap="square" lIns="0" tIns="0" rIns="0" bIns="0" rtlCol="0" anchor="ctr"/>
          <a:lstStyle/>
          <a:p>
            <a:pPr marL="0" indent="0" algn="l">
              <a:buNone/>
            </a:pPr>
            <a:r>
              <a:rPr lang="en-US" sz="950" b="1" kern="0" spc="150" dirty="0">
                <a:solidFill>
                  <a:srgbClr val="FF6B4A"/>
                </a:solidFill>
                <a:latin typeface="Arial" pitchFamily="34" charset="0"/>
                <a:ea typeface="Arial" pitchFamily="34" charset="-122"/>
                <a:cs typeface="Arial" pitchFamily="34" charset="-120"/>
              </a:rPr>
              <a:t>PART TWO</a:t>
            </a:r>
            <a:endParaRPr lang="en-US" sz="950" dirty="0"/>
          </a:p>
        </p:txBody>
      </p:sp>
      <p:sp>
        <p:nvSpPr>
          <p:cNvPr id="108" name="Text 108"/>
          <p:cNvSpPr/>
          <p:nvPr/>
        </p:nvSpPr>
        <p:spPr>
          <a:xfrm>
            <a:off x="3108960" y="2840000"/>
            <a:ext cx="8028432" cy="700000"/>
          </a:xfrm>
          <a:prstGeom prst="rect">
            <a:avLst/>
          </a:prstGeom>
          <a:noFill/>
          <a:ln/>
        </p:spPr>
        <p:txBody>
          <a:bodyPr wrap="square" lIns="0" tIns="0" rIns="0" bIns="0" rtlCol="0" anchor="ctr"/>
          <a:lstStyle/>
          <a:p>
            <a:pPr marL="0" indent="0" algn="l">
              <a:buNone/>
            </a:pPr>
            <a:r>
              <a:rPr lang="en-US" sz="1500" b="1" dirty="0">
                <a:solidFill>
                  <a:srgbClr val="FFFFFF"/>
                </a:solidFill>
                <a:latin typeface="Arial" pitchFamily="34" charset="0"/>
                <a:ea typeface="Arial" pitchFamily="34" charset="-122"/>
                <a:cs typeface="Arial" pitchFamily="34" charset="-120"/>
              </a:rPr>
              <a:t>What breaks is more useful to you than what works.</a:t>
            </a:r>
            <a:endParaRPr lang="en-US" sz="1500" dirty="0"/>
          </a:p>
        </p:txBody>
      </p:sp>
      <p:sp>
        <p:nvSpPr>
          <p:cNvPr id="109" name="Shape 109"/>
          <p:cNvSpPr/>
          <p:nvPr/>
        </p:nvSpPr>
        <p:spPr>
          <a:xfrm>
            <a:off x="640080" y="3700000"/>
            <a:ext cx="10908792" cy="700000"/>
          </a:xfrm>
          <a:prstGeom prst="roundRect">
            <a:avLst>
              <a:gd name="adj" fmla="val 10526"/>
            </a:avLst>
          </a:prstGeom>
          <a:solidFill>
            <a:srgbClr val="1B2437"/>
          </a:solidFill>
          <a:ln/>
        </p:spPr>
        <p:txBody>
          <a:bodyPr/>
          <a:lstStyle/>
          <a:p>
            <a:endParaRPr/>
          </a:p>
        </p:txBody>
      </p:sp>
      <p:sp>
        <p:nvSpPr>
          <p:cNvPr id="110" name="Text 110"/>
          <p:cNvSpPr/>
          <p:nvPr/>
        </p:nvSpPr>
        <p:spPr>
          <a:xfrm>
            <a:off x="1051560" y="3700000"/>
            <a:ext cx="1828800" cy="700000"/>
          </a:xfrm>
          <a:prstGeom prst="rect">
            <a:avLst/>
          </a:prstGeom>
          <a:noFill/>
          <a:ln/>
        </p:spPr>
        <p:txBody>
          <a:bodyPr wrap="square" lIns="0" tIns="0" rIns="0" bIns="0" rtlCol="0" anchor="ctr"/>
          <a:lstStyle/>
          <a:p>
            <a:pPr marL="0" indent="0" algn="l">
              <a:buNone/>
            </a:pPr>
            <a:r>
              <a:rPr lang="en-US" sz="950" b="1" kern="0" spc="150" dirty="0">
                <a:solidFill>
                  <a:srgbClr val="FFC24A"/>
                </a:solidFill>
                <a:latin typeface="Arial" pitchFamily="34" charset="0"/>
                <a:ea typeface="Arial" pitchFamily="34" charset="-122"/>
                <a:cs typeface="Arial" pitchFamily="34" charset="-120"/>
              </a:rPr>
              <a:t>PART THREE</a:t>
            </a:r>
            <a:endParaRPr lang="en-US" sz="950" dirty="0"/>
          </a:p>
        </p:txBody>
      </p:sp>
      <p:sp>
        <p:nvSpPr>
          <p:cNvPr id="111" name="Text 111"/>
          <p:cNvSpPr/>
          <p:nvPr/>
        </p:nvSpPr>
        <p:spPr>
          <a:xfrm>
            <a:off x="3108960" y="3700000"/>
            <a:ext cx="8028432" cy="700000"/>
          </a:xfrm>
          <a:prstGeom prst="rect">
            <a:avLst/>
          </a:prstGeom>
          <a:noFill/>
          <a:ln/>
        </p:spPr>
        <p:txBody>
          <a:bodyPr wrap="square" lIns="0" tIns="0" rIns="0" bIns="0" rtlCol="0" anchor="ctr"/>
          <a:lstStyle/>
          <a:p>
            <a:pPr marL="0" indent="0" algn="l">
              <a:buNone/>
            </a:pPr>
            <a:r>
              <a:rPr lang="en-US" sz="1500" b="1" dirty="0">
                <a:solidFill>
                  <a:srgbClr val="FFFFFF"/>
                </a:solidFill>
                <a:latin typeface="Arial" pitchFamily="34" charset="0"/>
                <a:ea typeface="Arial" pitchFamily="34" charset="-122"/>
                <a:cs typeface="Arial" pitchFamily="34" charset="-120"/>
              </a:rPr>
              <a:t>One stage is new; the other four decide whether it ships.</a:t>
            </a:r>
            <a:endParaRPr lang="en-US" sz="1500" dirty="0"/>
          </a:p>
        </p:txBody>
      </p:sp>
      <p:sp>
        <p:nvSpPr>
          <p:cNvPr id="112" name="Shape 112"/>
          <p:cNvSpPr/>
          <p:nvPr/>
        </p:nvSpPr>
        <p:spPr>
          <a:xfrm>
            <a:off x="640080" y="4560000"/>
            <a:ext cx="10908792" cy="700000"/>
          </a:xfrm>
          <a:prstGeom prst="roundRect">
            <a:avLst>
              <a:gd name="adj" fmla="val 10526"/>
            </a:avLst>
          </a:prstGeom>
          <a:solidFill>
            <a:srgbClr val="1B2437"/>
          </a:solidFill>
          <a:ln/>
        </p:spPr>
        <p:txBody>
          <a:bodyPr/>
          <a:lstStyle/>
          <a:p>
            <a:endParaRPr/>
          </a:p>
        </p:txBody>
      </p:sp>
      <p:sp>
        <p:nvSpPr>
          <p:cNvPr id="113" name="Text 113"/>
          <p:cNvSpPr/>
          <p:nvPr/>
        </p:nvSpPr>
        <p:spPr>
          <a:xfrm>
            <a:off x="1051560" y="4560000"/>
            <a:ext cx="1828800" cy="700000"/>
          </a:xfrm>
          <a:prstGeom prst="rect">
            <a:avLst/>
          </a:prstGeom>
          <a:noFill/>
          <a:ln/>
        </p:spPr>
        <p:txBody>
          <a:bodyPr wrap="square" lIns="0" tIns="0" rIns="0" bIns="0" rtlCol="0" anchor="ctr"/>
          <a:lstStyle/>
          <a:p>
            <a:pPr marL="0" indent="0" algn="l">
              <a:buNone/>
            </a:pPr>
            <a:r>
              <a:rPr lang="en-US" sz="950" b="1" kern="0" spc="150" dirty="0">
                <a:solidFill>
                  <a:srgbClr val="A8B2C4"/>
                </a:solidFill>
                <a:latin typeface="Arial" pitchFamily="34" charset="0"/>
                <a:ea typeface="Arial" pitchFamily="34" charset="-122"/>
                <a:cs typeface="Arial" pitchFamily="34" charset="-120"/>
              </a:rPr>
              <a:t>PART FOUR</a:t>
            </a:r>
            <a:endParaRPr lang="en-US" sz="950" dirty="0"/>
          </a:p>
        </p:txBody>
      </p:sp>
      <p:sp>
        <p:nvSpPr>
          <p:cNvPr id="114" name="Text 114"/>
          <p:cNvSpPr/>
          <p:nvPr/>
        </p:nvSpPr>
        <p:spPr>
          <a:xfrm>
            <a:off x="3108960" y="4560000"/>
            <a:ext cx="8028432" cy="700000"/>
          </a:xfrm>
          <a:prstGeom prst="rect">
            <a:avLst/>
          </a:prstGeom>
          <a:noFill/>
          <a:ln/>
        </p:spPr>
        <p:txBody>
          <a:bodyPr wrap="square" lIns="0" tIns="0" rIns="0" bIns="0" rtlCol="0" anchor="ctr"/>
          <a:lstStyle/>
          <a:p>
            <a:pPr marL="0" indent="0" algn="l">
              <a:buNone/>
            </a:pPr>
            <a:r>
              <a:rPr lang="en-US" sz="1500" b="1" dirty="0">
                <a:solidFill>
                  <a:srgbClr val="FFFFFF"/>
                </a:solidFill>
                <a:latin typeface="Arial" pitchFamily="34" charset="0"/>
                <a:ea typeface="Arial" pitchFamily="34" charset="-122"/>
                <a:cs typeface="Arial" pitchFamily="34" charset="-120"/>
              </a:rPr>
              <a:t>Narrow claims get funded. Broad ones get returned.</a:t>
            </a:r>
            <a:endParaRPr lang="en-US" sz="1500" dirty="0"/>
          </a:p>
        </p:txBody>
      </p:sp>
      <p:sp>
        <p:nvSpPr>
          <p:cNvPr id="115" name="Text 115"/>
          <p:cNvSpPr/>
          <p:nvPr/>
        </p:nvSpPr>
        <p:spPr>
          <a:xfrm>
            <a:off x="640080" y="5560000"/>
            <a:ext cx="10908792" cy="365760"/>
          </a:xfrm>
          <a:prstGeom prst="rect">
            <a:avLst/>
          </a:prstGeom>
          <a:noFill/>
          <a:ln/>
        </p:spPr>
        <p:txBody>
          <a:bodyPr wrap="square" lIns="0" tIns="0" rIns="0" bIns="0" rtlCol="0" anchor="ctr"/>
          <a:lstStyle/>
          <a:p>
            <a:pPr marL="0" indent="0" algn="l">
              <a:buNone/>
            </a:pPr>
            <a:r>
              <a:rPr lang="en-US" sz="1400" dirty="0">
                <a:solidFill>
                  <a:srgbClr val="A8B2C4"/>
                </a:solidFill>
                <a:latin typeface="Calibri" pitchFamily="34" charset="0"/>
                <a:ea typeface="Calibri" pitchFamily="34" charset="-122"/>
                <a:cs typeface="Calibri" pitchFamily="34" charset="-120"/>
              </a:rPr>
              <a:t>Four lines, four parts. The next two slides turn them into something you can do tonight, and on Monday.</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6">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777240"/>
            <a:ext cx="10908792" cy="59436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Run it yourself tonight, for free</a:t>
            </a:r>
            <a:endParaRPr lang="en-US" sz="3400" dirty="0"/>
          </a:p>
        </p:txBody>
      </p:sp>
      <p:sp>
        <p:nvSpPr>
          <p:cNvPr id="3" name="Text 1"/>
          <p:cNvSpPr/>
          <p:nvPr/>
        </p:nvSpPr>
        <p:spPr>
          <a:xfrm>
            <a:off x="640080" y="1417320"/>
            <a:ext cx="10058400" cy="320040"/>
          </a:xfrm>
          <a:prstGeom prst="rect">
            <a:avLst/>
          </a:prstGeom>
          <a:noFill/>
          <a:ln/>
        </p:spPr>
        <p:txBody>
          <a:bodyPr wrap="square" lIns="0" tIns="0" rIns="0" bIns="0" rtlCol="0" anchor="ctr"/>
          <a:lstStyle/>
          <a:p>
            <a:pPr marL="0" indent="0">
              <a:buNone/>
            </a:pPr>
            <a:r>
              <a:rPr lang="en-US" sz="1500" dirty="0">
                <a:solidFill>
                  <a:srgbClr val="A8B2C4"/>
                </a:solidFill>
                <a:latin typeface="Calibri" pitchFamily="34" charset="0"/>
                <a:ea typeface="Calibri" pitchFamily="34" charset="-122"/>
                <a:cs typeface="Calibri" pitchFamily="34" charset="-120"/>
              </a:rPr>
              <a:t>Three routes to a working multimodal call. The first needs nothing installed.</a:t>
            </a:r>
            <a:endParaRPr lang="en-US" sz="1500" dirty="0"/>
          </a:p>
        </p:txBody>
      </p:sp>
      <p:sp>
        <p:nvSpPr>
          <p:cNvPr id="4" name="Shape 2"/>
          <p:cNvSpPr/>
          <p:nvPr/>
        </p:nvSpPr>
        <p:spPr>
          <a:xfrm>
            <a:off x="640080" y="2148840"/>
            <a:ext cx="3401568" cy="2514600"/>
          </a:xfrm>
          <a:prstGeom prst="roundRect">
            <a:avLst>
              <a:gd name="adj" fmla="val 3636"/>
            </a:avLst>
          </a:prstGeom>
          <a:solidFill>
            <a:srgbClr val="1B2437"/>
          </a:solidFill>
          <a:ln/>
        </p:spPr>
        <p:txBody>
          <a:bodyPr/>
          <a:lstStyle/>
          <a:p>
            <a:endParaRPr/>
          </a:p>
        </p:txBody>
      </p:sp>
      <p:sp>
        <p:nvSpPr>
          <p:cNvPr id="5" name="Shape 3"/>
          <p:cNvSpPr/>
          <p:nvPr/>
        </p:nvSpPr>
        <p:spPr>
          <a:xfrm>
            <a:off x="932688" y="2450592"/>
            <a:ext cx="292608" cy="292608"/>
          </a:xfrm>
          <a:prstGeom prst="ellipse">
            <a:avLst/>
          </a:prstGeom>
          <a:solidFill>
            <a:srgbClr val="FF6B4A"/>
          </a:solidFill>
          <a:ln/>
        </p:spPr>
        <p:txBody>
          <a:bodyPr/>
          <a:lstStyle/>
          <a:p>
            <a:endParaRPr/>
          </a:p>
        </p:txBody>
      </p:sp>
      <p:sp>
        <p:nvSpPr>
          <p:cNvPr id="6" name="Text 4"/>
          <p:cNvSpPr/>
          <p:nvPr/>
        </p:nvSpPr>
        <p:spPr>
          <a:xfrm>
            <a:off x="932688" y="2880360"/>
            <a:ext cx="2834640" cy="292608"/>
          </a:xfrm>
          <a:prstGeom prst="rect">
            <a:avLst/>
          </a:prstGeom>
          <a:noFill/>
          <a:ln/>
        </p:spPr>
        <p:txBody>
          <a:bodyPr wrap="square" lIns="0" tIns="0" rIns="0" bIns="0" rtlCol="0" anchor="ctr"/>
          <a:lstStyle/>
          <a:p>
            <a:pPr marL="0" indent="0">
              <a:buNone/>
            </a:pPr>
            <a:r>
              <a:rPr lang="en-US" sz="1500" b="1" dirty="0">
                <a:solidFill>
                  <a:srgbClr val="FF6B4A"/>
                </a:solidFill>
                <a:latin typeface="Arial" pitchFamily="34" charset="0"/>
                <a:ea typeface="Arial" pitchFamily="34" charset="-122"/>
                <a:cs typeface="Arial" pitchFamily="34" charset="-120"/>
              </a:rPr>
              <a:t>In a browser - 5 minutes</a:t>
            </a:r>
            <a:endParaRPr lang="en-US" sz="1500" dirty="0"/>
          </a:p>
        </p:txBody>
      </p:sp>
      <p:sp>
        <p:nvSpPr>
          <p:cNvPr id="7" name="Text 5"/>
          <p:cNvSpPr/>
          <p:nvPr/>
        </p:nvSpPr>
        <p:spPr>
          <a:xfrm>
            <a:off x="93268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Any chat tool that accepts an image. Photograph a purchase order, paste the JSON shape from slide 18, and ask for exactly that.</a:t>
            </a:r>
            <a:endParaRPr lang="en-US" sz="1300" dirty="0"/>
          </a:p>
        </p:txBody>
      </p:sp>
      <p:sp>
        <p:nvSpPr>
          <p:cNvPr id="8" name="Shape 6"/>
          <p:cNvSpPr/>
          <p:nvPr/>
        </p:nvSpPr>
        <p:spPr>
          <a:xfrm>
            <a:off x="4343400" y="2148840"/>
            <a:ext cx="3401568" cy="2514600"/>
          </a:xfrm>
          <a:prstGeom prst="roundRect">
            <a:avLst>
              <a:gd name="adj" fmla="val 3636"/>
            </a:avLst>
          </a:prstGeom>
          <a:solidFill>
            <a:srgbClr val="1B2437"/>
          </a:solidFill>
          <a:ln/>
        </p:spPr>
        <p:txBody>
          <a:bodyPr/>
          <a:lstStyle/>
          <a:p>
            <a:endParaRPr/>
          </a:p>
        </p:txBody>
      </p:sp>
      <p:sp>
        <p:nvSpPr>
          <p:cNvPr id="9" name="Shape 7"/>
          <p:cNvSpPr/>
          <p:nvPr/>
        </p:nvSpPr>
        <p:spPr>
          <a:xfrm>
            <a:off x="4636008" y="2450592"/>
            <a:ext cx="292608" cy="292608"/>
          </a:xfrm>
          <a:prstGeom prst="ellipse">
            <a:avLst/>
          </a:prstGeom>
          <a:solidFill>
            <a:srgbClr val="FFC24A"/>
          </a:solidFill>
          <a:ln/>
        </p:spPr>
        <p:txBody>
          <a:bodyPr/>
          <a:lstStyle/>
          <a:p>
            <a:endParaRPr/>
          </a:p>
        </p:txBody>
      </p:sp>
      <p:sp>
        <p:nvSpPr>
          <p:cNvPr id="10" name="Text 8"/>
          <p:cNvSpPr/>
          <p:nvPr/>
        </p:nvSpPr>
        <p:spPr>
          <a:xfrm>
            <a:off x="4636008" y="2880360"/>
            <a:ext cx="2834640" cy="292608"/>
          </a:xfrm>
          <a:prstGeom prst="rect">
            <a:avLst/>
          </a:prstGeom>
          <a:noFill/>
          <a:ln/>
        </p:spPr>
        <p:txBody>
          <a:bodyPr wrap="square" lIns="0" tIns="0" rIns="0" bIns="0" rtlCol="0" anchor="ctr"/>
          <a:lstStyle/>
          <a:p>
            <a:pPr marL="0" indent="0">
              <a:buNone/>
            </a:pPr>
            <a:r>
              <a:rPr lang="en-US" sz="1500" b="1" dirty="0">
                <a:solidFill>
                  <a:srgbClr val="FFC24A"/>
                </a:solidFill>
                <a:latin typeface="Arial" pitchFamily="34" charset="0"/>
                <a:ea typeface="Arial" pitchFamily="34" charset="-122"/>
                <a:cs typeface="Arial" pitchFamily="34" charset="-120"/>
              </a:rPr>
              <a:t>In a notebook - 30 minutes</a:t>
            </a:r>
            <a:endParaRPr lang="en-US" sz="1500" dirty="0"/>
          </a:p>
        </p:txBody>
      </p:sp>
      <p:sp>
        <p:nvSpPr>
          <p:cNvPr id="11" name="Text 9"/>
          <p:cNvSpPr/>
          <p:nvPr/>
        </p:nvSpPr>
        <p:spPr>
          <a:xfrm>
            <a:off x="463600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Colab free tier plus Hugging Face transformers. Run an open VLM across twenty of your own documents. This is the lab exercise.</a:t>
            </a:r>
            <a:endParaRPr lang="en-US" sz="1300" dirty="0"/>
          </a:p>
        </p:txBody>
      </p:sp>
      <p:sp>
        <p:nvSpPr>
          <p:cNvPr id="12" name="Shape 10"/>
          <p:cNvSpPr/>
          <p:nvPr/>
        </p:nvSpPr>
        <p:spPr>
          <a:xfrm>
            <a:off x="8046720" y="2148840"/>
            <a:ext cx="3401568" cy="2514600"/>
          </a:xfrm>
          <a:prstGeom prst="roundRect">
            <a:avLst>
              <a:gd name="adj" fmla="val 3636"/>
            </a:avLst>
          </a:prstGeom>
          <a:solidFill>
            <a:srgbClr val="1B2437"/>
          </a:solidFill>
          <a:ln/>
        </p:spPr>
        <p:txBody>
          <a:bodyPr/>
          <a:lstStyle/>
          <a:p>
            <a:endParaRPr/>
          </a:p>
        </p:txBody>
      </p:sp>
      <p:sp>
        <p:nvSpPr>
          <p:cNvPr id="13" name="Shape 11"/>
          <p:cNvSpPr/>
          <p:nvPr/>
        </p:nvSpPr>
        <p:spPr>
          <a:xfrm>
            <a:off x="8339328" y="2450592"/>
            <a:ext cx="292608" cy="292608"/>
          </a:xfrm>
          <a:prstGeom prst="ellipse">
            <a:avLst/>
          </a:prstGeom>
          <a:solidFill>
            <a:srgbClr val="00C2A8"/>
          </a:solidFill>
          <a:ln/>
        </p:spPr>
        <p:txBody>
          <a:bodyPr/>
          <a:lstStyle/>
          <a:p>
            <a:endParaRPr/>
          </a:p>
        </p:txBody>
      </p:sp>
      <p:sp>
        <p:nvSpPr>
          <p:cNvPr id="14" name="Text 12"/>
          <p:cNvSpPr/>
          <p:nvPr/>
        </p:nvSpPr>
        <p:spPr>
          <a:xfrm>
            <a:off x="8339328" y="2880360"/>
            <a:ext cx="2834640" cy="292608"/>
          </a:xfrm>
          <a:prstGeom prst="rect">
            <a:avLst/>
          </a:prstGeom>
          <a:noFill/>
          <a:ln/>
        </p:spPr>
        <p:txBody>
          <a:bodyPr wrap="square" lIns="0" tIns="0" rIns="0" bIns="0" rtlCol="0" anchor="ctr"/>
          <a:lstStyle/>
          <a:p>
            <a:pPr marL="0" indent="0">
              <a:buNone/>
            </a:pPr>
            <a:r>
              <a:rPr lang="en-US" sz="1500" b="1" dirty="0">
                <a:solidFill>
                  <a:srgbClr val="00C2A8"/>
                </a:solidFill>
                <a:latin typeface="Arial" pitchFamily="34" charset="0"/>
                <a:ea typeface="Arial" pitchFamily="34" charset="-122"/>
                <a:cs typeface="Arial" pitchFamily="34" charset="-120"/>
              </a:rPr>
              <a:t>On your own laptop - 1 hour</a:t>
            </a:r>
            <a:endParaRPr lang="en-US" sz="1500" dirty="0"/>
          </a:p>
        </p:txBody>
      </p:sp>
      <p:sp>
        <p:nvSpPr>
          <p:cNvPr id="15" name="Text 13"/>
          <p:cNvSpPr/>
          <p:nvPr/>
        </p:nvSpPr>
        <p:spPr>
          <a:xfrm>
            <a:off x="833932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Ollama and a small open model - Gemma 4 E4B (it also hears audio) or Qwen3-VL 8B. Offline on an 8-12 GB card. Nothing leaves the room.</a:t>
            </a:r>
            <a:endParaRPr lang="en-US" sz="1300" dirty="0"/>
          </a:p>
        </p:txBody>
      </p:sp>
      <p:sp>
        <p:nvSpPr>
          <p:cNvPr id="16" name="Text 14"/>
          <p:cNvSpPr/>
          <p:nvPr/>
        </p:nvSpPr>
        <p:spPr>
          <a:xfrm>
            <a:off x="640080" y="5029200"/>
            <a:ext cx="10908792" cy="365760"/>
          </a:xfrm>
          <a:prstGeom prst="rect">
            <a:avLst/>
          </a:prstGeom>
          <a:noFill/>
          <a:ln/>
        </p:spPr>
        <p:txBody>
          <a:bodyPr wrap="square" lIns="0" tIns="0" rIns="0" bIns="0" rtlCol="0" anchor="ctr"/>
          <a:lstStyle/>
          <a:p>
            <a:pPr marL="0" indent="0">
              <a:buNone/>
            </a:pPr>
            <a:r>
              <a:rPr lang="en-US" sz="1500" i="1" dirty="0">
                <a:solidFill>
                  <a:srgbClr val="A8B2C4"/>
                </a:solidFill>
                <a:latin typeface="Calibri" pitchFamily="34" charset="0"/>
                <a:ea typeface="Calibri" pitchFamily="34" charset="-122"/>
                <a:cs typeface="Calibri" pitchFamily="34" charset="-120"/>
              </a:rPr>
              <a:t>The first two need no GPU of your own, no licence and no request to IT. Model names move faster than syllabi - the architecture on slide 23 does not. Model list current as of September 2026.</a:t>
            </a:r>
            <a:endParaRPr lang="en-US" sz="1500" dirty="0"/>
          </a:p>
        </p:txBody>
      </p:sp>
      <p:sp>
        <p:nvSpPr>
          <p:cNvPr id="17" name="Shape 15"/>
          <p:cNvSpPr/>
          <p:nvPr/>
        </p:nvSpPr>
        <p:spPr>
          <a:xfrm>
            <a:off x="640080" y="5715000"/>
            <a:ext cx="137160" cy="137160"/>
          </a:xfrm>
          <a:prstGeom prst="ellipse">
            <a:avLst/>
          </a:prstGeom>
          <a:solidFill>
            <a:srgbClr val="00C2A8"/>
          </a:solidFill>
          <a:ln/>
        </p:spPr>
        <p:txBody>
          <a:bodyPr/>
          <a:lstStyle/>
          <a:p>
            <a:endParaRPr/>
          </a:p>
        </p:txBody>
      </p:sp>
      <p:sp>
        <p:nvSpPr>
          <p:cNvPr id="18" name="Shape 16"/>
          <p:cNvSpPr/>
          <p:nvPr/>
        </p:nvSpPr>
        <p:spPr>
          <a:xfrm>
            <a:off x="880110" y="5715000"/>
            <a:ext cx="137160" cy="137160"/>
          </a:xfrm>
          <a:prstGeom prst="ellipse">
            <a:avLst/>
          </a:prstGeom>
          <a:solidFill>
            <a:srgbClr val="FF6B4A"/>
          </a:solidFill>
          <a:ln/>
        </p:spPr>
        <p:txBody>
          <a:bodyPr/>
          <a:lstStyle/>
          <a:p>
            <a:endParaRPr/>
          </a:p>
        </p:txBody>
      </p:sp>
      <p:sp>
        <p:nvSpPr>
          <p:cNvPr id="19" name="Shape 17"/>
          <p:cNvSpPr/>
          <p:nvPr/>
        </p:nvSpPr>
        <p:spPr>
          <a:xfrm>
            <a:off x="1120140" y="5715000"/>
            <a:ext cx="137160" cy="137160"/>
          </a:xfrm>
          <a:prstGeom prst="ellipse">
            <a:avLst/>
          </a:prstGeom>
          <a:solidFill>
            <a:srgbClr val="FFC24A"/>
          </a:solidFill>
          <a:ln/>
        </p:spPr>
        <p:txBody>
          <a:bodyPr/>
          <a:lstStyle/>
          <a:p>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6">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777240"/>
            <a:ext cx="10908792" cy="59436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What to do on Monday</a:t>
            </a:r>
            <a:endParaRPr lang="en-US" sz="3400" dirty="0"/>
          </a:p>
        </p:txBody>
      </p:sp>
      <p:sp>
        <p:nvSpPr>
          <p:cNvPr id="3" name="Text 1"/>
          <p:cNvSpPr/>
          <p:nvPr/>
        </p:nvSpPr>
        <p:spPr>
          <a:xfrm>
            <a:off x="640080" y="1417320"/>
            <a:ext cx="10058400" cy="320040"/>
          </a:xfrm>
          <a:prstGeom prst="rect">
            <a:avLst/>
          </a:prstGeom>
          <a:noFill/>
          <a:ln/>
        </p:spPr>
        <p:txBody>
          <a:bodyPr wrap="square" lIns="0" tIns="0" rIns="0" bIns="0" rtlCol="0" anchor="ctr"/>
          <a:lstStyle/>
          <a:p>
            <a:pPr marL="0" indent="0">
              <a:buNone/>
            </a:pPr>
            <a:r>
              <a:rPr lang="en-US" sz="1500" dirty="0">
                <a:solidFill>
                  <a:srgbClr val="A8B2C4"/>
                </a:solidFill>
                <a:latin typeface="Calibri" pitchFamily="34" charset="0"/>
                <a:ea typeface="Calibri" pitchFamily="34" charset="-122"/>
                <a:cs typeface="Calibri" pitchFamily="34" charset="-120"/>
              </a:rPr>
              <a:t>Three actions, roughly two hours each. Pick the one that matches your role.</a:t>
            </a:r>
            <a:endParaRPr lang="en-US" sz="1500" dirty="0"/>
          </a:p>
        </p:txBody>
      </p:sp>
      <p:sp>
        <p:nvSpPr>
          <p:cNvPr id="4" name="Shape 2"/>
          <p:cNvSpPr/>
          <p:nvPr/>
        </p:nvSpPr>
        <p:spPr>
          <a:xfrm>
            <a:off x="640080" y="2148840"/>
            <a:ext cx="3401568" cy="2514600"/>
          </a:xfrm>
          <a:prstGeom prst="roundRect">
            <a:avLst>
              <a:gd name="adj" fmla="val 3636"/>
            </a:avLst>
          </a:prstGeom>
          <a:solidFill>
            <a:srgbClr val="1B2437"/>
          </a:solidFill>
          <a:ln/>
        </p:spPr>
        <p:txBody>
          <a:bodyPr/>
          <a:lstStyle/>
          <a:p>
            <a:endParaRPr/>
          </a:p>
        </p:txBody>
      </p:sp>
      <p:sp>
        <p:nvSpPr>
          <p:cNvPr id="5" name="Shape 3"/>
          <p:cNvSpPr/>
          <p:nvPr/>
        </p:nvSpPr>
        <p:spPr>
          <a:xfrm>
            <a:off x="932688" y="2450592"/>
            <a:ext cx="292608" cy="292608"/>
          </a:xfrm>
          <a:prstGeom prst="ellipse">
            <a:avLst/>
          </a:prstGeom>
          <a:solidFill>
            <a:srgbClr val="FF6B4A"/>
          </a:solidFill>
          <a:ln/>
        </p:spPr>
        <p:txBody>
          <a:bodyPr/>
          <a:lstStyle/>
          <a:p>
            <a:endParaRPr/>
          </a:p>
        </p:txBody>
      </p:sp>
      <p:sp>
        <p:nvSpPr>
          <p:cNvPr id="6" name="Text 4"/>
          <p:cNvSpPr/>
          <p:nvPr/>
        </p:nvSpPr>
        <p:spPr>
          <a:xfrm>
            <a:off x="932688" y="2880360"/>
            <a:ext cx="2834640" cy="292608"/>
          </a:xfrm>
          <a:prstGeom prst="rect">
            <a:avLst/>
          </a:prstGeom>
          <a:noFill/>
          <a:ln/>
        </p:spPr>
        <p:txBody>
          <a:bodyPr wrap="square" lIns="0" tIns="0" rIns="0" bIns="0" rtlCol="0" anchor="ctr"/>
          <a:lstStyle/>
          <a:p>
            <a:pPr marL="0" indent="0">
              <a:buNone/>
            </a:pPr>
            <a:r>
              <a:rPr lang="en-US" sz="1500" b="1" dirty="0">
                <a:solidFill>
                  <a:srgbClr val="FF6B4A"/>
                </a:solidFill>
                <a:latin typeface="Arial" pitchFamily="34" charset="0"/>
                <a:ea typeface="Arial" pitchFamily="34" charset="-122"/>
                <a:cs typeface="Arial" pitchFamily="34" charset="-120"/>
              </a:rPr>
              <a:t>If you teach</a:t>
            </a:r>
            <a:endParaRPr lang="en-US" sz="1500" dirty="0"/>
          </a:p>
        </p:txBody>
      </p:sp>
      <p:sp>
        <p:nvSpPr>
          <p:cNvPr id="7" name="Text 5"/>
          <p:cNvSpPr/>
          <p:nvPr/>
        </p:nvSpPr>
        <p:spPr>
          <a:xfrm>
            <a:off x="93268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Take slides 6 to 14 into your next class. The embedding idea is one lecture and needs no new lab.</a:t>
            </a:r>
            <a:endParaRPr lang="en-US" sz="1300" dirty="0"/>
          </a:p>
        </p:txBody>
      </p:sp>
      <p:sp>
        <p:nvSpPr>
          <p:cNvPr id="8" name="Shape 6"/>
          <p:cNvSpPr/>
          <p:nvPr/>
        </p:nvSpPr>
        <p:spPr>
          <a:xfrm>
            <a:off x="4343400" y="2148840"/>
            <a:ext cx="3401568" cy="2514600"/>
          </a:xfrm>
          <a:prstGeom prst="roundRect">
            <a:avLst>
              <a:gd name="adj" fmla="val 3636"/>
            </a:avLst>
          </a:prstGeom>
          <a:solidFill>
            <a:srgbClr val="1B2437"/>
          </a:solidFill>
          <a:ln/>
        </p:spPr>
        <p:txBody>
          <a:bodyPr/>
          <a:lstStyle/>
          <a:p>
            <a:endParaRPr/>
          </a:p>
        </p:txBody>
      </p:sp>
      <p:sp>
        <p:nvSpPr>
          <p:cNvPr id="9" name="Shape 7"/>
          <p:cNvSpPr/>
          <p:nvPr/>
        </p:nvSpPr>
        <p:spPr>
          <a:xfrm>
            <a:off x="4636008" y="2450592"/>
            <a:ext cx="292608" cy="292608"/>
          </a:xfrm>
          <a:prstGeom prst="ellipse">
            <a:avLst/>
          </a:prstGeom>
          <a:solidFill>
            <a:srgbClr val="FFC24A"/>
          </a:solidFill>
          <a:ln/>
        </p:spPr>
        <p:txBody>
          <a:bodyPr/>
          <a:lstStyle/>
          <a:p>
            <a:endParaRPr/>
          </a:p>
        </p:txBody>
      </p:sp>
      <p:sp>
        <p:nvSpPr>
          <p:cNvPr id="10" name="Text 8"/>
          <p:cNvSpPr/>
          <p:nvPr/>
        </p:nvSpPr>
        <p:spPr>
          <a:xfrm>
            <a:off x="4636008" y="2880360"/>
            <a:ext cx="2834640" cy="292608"/>
          </a:xfrm>
          <a:prstGeom prst="rect">
            <a:avLst/>
          </a:prstGeom>
          <a:noFill/>
          <a:ln/>
        </p:spPr>
        <p:txBody>
          <a:bodyPr wrap="square" lIns="0" tIns="0" rIns="0" bIns="0" rtlCol="0" anchor="ctr"/>
          <a:lstStyle/>
          <a:p>
            <a:pPr marL="0" indent="0">
              <a:buNone/>
            </a:pPr>
            <a:r>
              <a:rPr lang="en-US" sz="1500" b="1" dirty="0">
                <a:solidFill>
                  <a:srgbClr val="FFC24A"/>
                </a:solidFill>
                <a:latin typeface="Arial" pitchFamily="34" charset="0"/>
                <a:ea typeface="Arial" pitchFamily="34" charset="-122"/>
                <a:cs typeface="Arial" pitchFamily="34" charset="-120"/>
              </a:rPr>
              <a:t>If you research</a:t>
            </a:r>
            <a:endParaRPr lang="en-US" sz="1500" dirty="0"/>
          </a:p>
        </p:txBody>
      </p:sp>
      <p:sp>
        <p:nvSpPr>
          <p:cNvPr id="11" name="Text 9"/>
          <p:cNvSpPr/>
          <p:nvPr/>
        </p:nvSpPr>
        <p:spPr>
          <a:xfrm>
            <a:off x="463600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Pick one failure case from slide 20 and start a 300-example test set for it. No GPU required.</a:t>
            </a:r>
            <a:endParaRPr lang="en-US" sz="1300" dirty="0"/>
          </a:p>
        </p:txBody>
      </p:sp>
      <p:sp>
        <p:nvSpPr>
          <p:cNvPr id="12" name="Shape 10"/>
          <p:cNvSpPr/>
          <p:nvPr/>
        </p:nvSpPr>
        <p:spPr>
          <a:xfrm>
            <a:off x="8046720" y="2148840"/>
            <a:ext cx="3401568" cy="2514600"/>
          </a:xfrm>
          <a:prstGeom prst="roundRect">
            <a:avLst>
              <a:gd name="adj" fmla="val 3636"/>
            </a:avLst>
          </a:prstGeom>
          <a:solidFill>
            <a:srgbClr val="1B2437"/>
          </a:solidFill>
          <a:ln/>
        </p:spPr>
        <p:txBody>
          <a:bodyPr/>
          <a:lstStyle/>
          <a:p>
            <a:endParaRPr/>
          </a:p>
        </p:txBody>
      </p:sp>
      <p:sp>
        <p:nvSpPr>
          <p:cNvPr id="13" name="Shape 11"/>
          <p:cNvSpPr/>
          <p:nvPr/>
        </p:nvSpPr>
        <p:spPr>
          <a:xfrm>
            <a:off x="8339328" y="2450592"/>
            <a:ext cx="292608" cy="292608"/>
          </a:xfrm>
          <a:prstGeom prst="ellipse">
            <a:avLst/>
          </a:prstGeom>
          <a:solidFill>
            <a:srgbClr val="00C2A8"/>
          </a:solidFill>
          <a:ln/>
        </p:spPr>
        <p:txBody>
          <a:bodyPr/>
          <a:lstStyle/>
          <a:p>
            <a:endParaRPr/>
          </a:p>
        </p:txBody>
      </p:sp>
      <p:sp>
        <p:nvSpPr>
          <p:cNvPr id="14" name="Text 12"/>
          <p:cNvSpPr/>
          <p:nvPr/>
        </p:nvSpPr>
        <p:spPr>
          <a:xfrm>
            <a:off x="8339328" y="2880360"/>
            <a:ext cx="2834640" cy="292608"/>
          </a:xfrm>
          <a:prstGeom prst="rect">
            <a:avLst/>
          </a:prstGeom>
          <a:noFill/>
          <a:ln/>
        </p:spPr>
        <p:txBody>
          <a:bodyPr wrap="square" lIns="0" tIns="0" rIns="0" bIns="0" rtlCol="0" anchor="ctr"/>
          <a:lstStyle/>
          <a:p>
            <a:pPr marL="0" indent="0">
              <a:buNone/>
            </a:pPr>
            <a:r>
              <a:rPr lang="en-US" sz="1500" b="1" dirty="0">
                <a:solidFill>
                  <a:srgbClr val="00C2A8"/>
                </a:solidFill>
                <a:latin typeface="Arial" pitchFamily="34" charset="0"/>
                <a:ea typeface="Arial" pitchFamily="34" charset="-122"/>
                <a:cs typeface="Arial" pitchFamily="34" charset="-120"/>
              </a:rPr>
              <a:t>If you guide projects</a:t>
            </a:r>
            <a:endParaRPr lang="en-US" sz="1500" dirty="0"/>
          </a:p>
        </p:txBody>
      </p:sp>
      <p:sp>
        <p:nvSpPr>
          <p:cNvPr id="15" name="Text 13"/>
          <p:cNvSpPr/>
          <p:nvPr/>
        </p:nvSpPr>
        <p:spPr>
          <a:xfrm>
            <a:off x="833932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Give one final-year team slide 23 and a set of your own campus documents. That is a project and a dataset at once.</a:t>
            </a:r>
            <a:endParaRPr lang="en-US" sz="1300" dirty="0"/>
          </a:p>
        </p:txBody>
      </p:sp>
      <p:sp>
        <p:nvSpPr>
          <p:cNvPr id="16" name="Text 14"/>
          <p:cNvSpPr/>
          <p:nvPr/>
        </p:nvSpPr>
        <p:spPr>
          <a:xfrm>
            <a:off x="640080" y="5029200"/>
            <a:ext cx="10908792" cy="365760"/>
          </a:xfrm>
          <a:prstGeom prst="rect">
            <a:avLst/>
          </a:prstGeom>
          <a:noFill/>
          <a:ln/>
        </p:spPr>
        <p:txBody>
          <a:bodyPr wrap="square" lIns="0" tIns="0" rIns="0" bIns="0" rtlCol="0" anchor="ctr"/>
          <a:lstStyle/>
          <a:p>
            <a:pPr marL="0" indent="0">
              <a:buNone/>
            </a:pPr>
            <a:r>
              <a:rPr lang="en-US" sz="1500" i="1" dirty="0">
                <a:solidFill>
                  <a:srgbClr val="A8B2C4"/>
                </a:solidFill>
                <a:latin typeface="Calibri" pitchFamily="34" charset="0"/>
                <a:ea typeface="Calibri" pitchFamily="34" charset="-122"/>
                <a:cs typeface="Calibri" pitchFamily="34" charset="-120"/>
              </a:rPr>
              <a:t>None of these need a GPU or a budget. If your institution is not on the IndiaAI compute portal yet, register it this week - approval takes longer than writing the proposal will.</a:t>
            </a:r>
            <a:endParaRPr lang="en-US" sz="1500" dirty="0"/>
          </a:p>
        </p:txBody>
      </p:sp>
      <p:sp>
        <p:nvSpPr>
          <p:cNvPr id="17" name="Shape 15"/>
          <p:cNvSpPr/>
          <p:nvPr/>
        </p:nvSpPr>
        <p:spPr>
          <a:xfrm>
            <a:off x="640080" y="5715000"/>
            <a:ext cx="137160" cy="137160"/>
          </a:xfrm>
          <a:prstGeom prst="ellipse">
            <a:avLst/>
          </a:prstGeom>
          <a:solidFill>
            <a:srgbClr val="00C2A8"/>
          </a:solidFill>
          <a:ln/>
        </p:spPr>
        <p:txBody>
          <a:bodyPr/>
          <a:lstStyle/>
          <a:p>
            <a:endParaRPr/>
          </a:p>
        </p:txBody>
      </p:sp>
      <p:sp>
        <p:nvSpPr>
          <p:cNvPr id="18" name="Shape 16"/>
          <p:cNvSpPr/>
          <p:nvPr/>
        </p:nvSpPr>
        <p:spPr>
          <a:xfrm>
            <a:off x="880110" y="5715000"/>
            <a:ext cx="137160" cy="137160"/>
          </a:xfrm>
          <a:prstGeom prst="ellipse">
            <a:avLst/>
          </a:prstGeom>
          <a:solidFill>
            <a:srgbClr val="FF6B4A"/>
          </a:solidFill>
          <a:ln/>
        </p:spPr>
        <p:txBody>
          <a:bodyPr/>
          <a:lstStyle/>
          <a:p>
            <a:endParaRPr/>
          </a:p>
        </p:txBody>
      </p:sp>
      <p:sp>
        <p:nvSpPr>
          <p:cNvPr id="19" name="Shape 17"/>
          <p:cNvSpPr/>
          <p:nvPr/>
        </p:nvSpPr>
        <p:spPr>
          <a:xfrm>
            <a:off x="1120140" y="5715000"/>
            <a:ext cx="137160" cy="137160"/>
          </a:xfrm>
          <a:prstGeom prst="ellipse">
            <a:avLst/>
          </a:prstGeom>
          <a:solidFill>
            <a:srgbClr val="FFC24A"/>
          </a:solidFill>
          <a:ln/>
        </p:spPr>
        <p:txBody>
          <a:bodyPr/>
          <a:lstStyle/>
          <a:p>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7">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1737360"/>
            <a:ext cx="164592" cy="164592"/>
          </a:xfrm>
          <a:prstGeom prst="ellipse">
            <a:avLst/>
          </a:prstGeom>
          <a:solidFill>
            <a:srgbClr val="00C2A8"/>
          </a:solidFill>
          <a:ln/>
        </p:spPr>
        <p:txBody>
          <a:bodyPr/>
          <a:lstStyle/>
          <a:p>
            <a:endParaRPr lang="en-IN"/>
          </a:p>
        </p:txBody>
      </p:sp>
      <p:sp>
        <p:nvSpPr>
          <p:cNvPr id="3" name="Shape 1"/>
          <p:cNvSpPr/>
          <p:nvPr/>
        </p:nvSpPr>
        <p:spPr>
          <a:xfrm>
            <a:off x="928116" y="1737360"/>
            <a:ext cx="164592" cy="164592"/>
          </a:xfrm>
          <a:prstGeom prst="ellipse">
            <a:avLst/>
          </a:prstGeom>
          <a:solidFill>
            <a:srgbClr val="FF6B4A"/>
          </a:solidFill>
          <a:ln/>
        </p:spPr>
        <p:txBody>
          <a:bodyPr/>
          <a:lstStyle/>
          <a:p>
            <a:endParaRPr lang="en-IN"/>
          </a:p>
        </p:txBody>
      </p:sp>
      <p:sp>
        <p:nvSpPr>
          <p:cNvPr id="4" name="Shape 2"/>
          <p:cNvSpPr/>
          <p:nvPr/>
        </p:nvSpPr>
        <p:spPr>
          <a:xfrm>
            <a:off x="1216152" y="1737360"/>
            <a:ext cx="164592" cy="164592"/>
          </a:xfrm>
          <a:prstGeom prst="ellipse">
            <a:avLst/>
          </a:prstGeom>
          <a:solidFill>
            <a:srgbClr val="FFC24A"/>
          </a:solidFill>
          <a:ln/>
        </p:spPr>
        <p:txBody>
          <a:bodyPr/>
          <a:lstStyle/>
          <a:p>
            <a:endParaRPr lang="en-IN"/>
          </a:p>
        </p:txBody>
      </p:sp>
      <p:sp>
        <p:nvSpPr>
          <p:cNvPr id="5" name="Text 3"/>
          <p:cNvSpPr/>
          <p:nvPr/>
        </p:nvSpPr>
        <p:spPr>
          <a:xfrm>
            <a:off x="640080" y="2194560"/>
            <a:ext cx="8229600" cy="914400"/>
          </a:xfrm>
          <a:prstGeom prst="rect">
            <a:avLst/>
          </a:prstGeom>
          <a:noFill/>
          <a:ln/>
        </p:spPr>
        <p:txBody>
          <a:bodyPr wrap="square" lIns="0" tIns="0" rIns="0" bIns="0" rtlCol="0" anchor="ctr"/>
          <a:lstStyle/>
          <a:p>
            <a:pPr marL="0" indent="0">
              <a:buNone/>
            </a:pPr>
            <a:r>
              <a:rPr lang="en-US" sz="5000" b="1" dirty="0">
                <a:solidFill>
                  <a:srgbClr val="FFFFFF"/>
                </a:solidFill>
                <a:latin typeface="Arial" pitchFamily="34" charset="0"/>
                <a:ea typeface="Arial" pitchFamily="34" charset="-122"/>
                <a:cs typeface="Arial" pitchFamily="34" charset="-120"/>
              </a:rPr>
              <a:t>Questions</a:t>
            </a:r>
            <a:endParaRPr lang="en-US" sz="5000" dirty="0"/>
          </a:p>
        </p:txBody>
      </p:sp>
      <p:sp>
        <p:nvSpPr>
          <p:cNvPr id="6" name="Text 4"/>
          <p:cNvSpPr/>
          <p:nvPr/>
        </p:nvSpPr>
        <p:spPr>
          <a:xfrm>
            <a:off x="640080" y="3200400"/>
            <a:ext cx="8229600" cy="457200"/>
          </a:xfrm>
          <a:prstGeom prst="rect">
            <a:avLst/>
          </a:prstGeom>
          <a:noFill/>
          <a:ln/>
        </p:spPr>
        <p:txBody>
          <a:bodyPr wrap="square" lIns="0" tIns="0" rIns="0" bIns="0" rtlCol="0" anchor="ctr"/>
          <a:lstStyle/>
          <a:p>
            <a:pPr marL="0" indent="0">
              <a:buNone/>
            </a:pPr>
            <a:r>
              <a:rPr lang="en-US" sz="1900" dirty="0">
                <a:solidFill>
                  <a:srgbClr val="A8B2C4"/>
                </a:solidFill>
                <a:latin typeface="Calibri" pitchFamily="34" charset="0"/>
                <a:ea typeface="Calibri" pitchFamily="34" charset="-122"/>
                <a:cs typeface="Calibri" pitchFamily="34" charset="-120"/>
              </a:rPr>
              <a:t>Thank you.</a:t>
            </a:r>
            <a:endParaRPr lang="en-US" sz="1900" dirty="0"/>
          </a:p>
        </p:txBody>
      </p:sp>
      <p:sp>
        <p:nvSpPr>
          <p:cNvPr id="7" name="Text 5"/>
          <p:cNvSpPr/>
          <p:nvPr/>
        </p:nvSpPr>
        <p:spPr>
          <a:xfrm>
            <a:off x="640080" y="4114800"/>
            <a:ext cx="2194560" cy="320040"/>
          </a:xfrm>
          <a:prstGeom prst="rect">
            <a:avLst/>
          </a:prstGeom>
          <a:noFill/>
          <a:ln/>
        </p:spPr>
        <p:txBody>
          <a:bodyPr wrap="square" lIns="0" tIns="0" rIns="0" bIns="0" rtlCol="0" anchor="ctr"/>
          <a:lstStyle/>
          <a:p>
            <a:pPr marL="0" indent="0">
              <a:buNone/>
            </a:pPr>
            <a:r>
              <a:rPr lang="en-US" sz="1300" b="1" dirty="0">
                <a:solidFill>
                  <a:srgbClr val="00C2A8"/>
                </a:solidFill>
                <a:latin typeface="Arial" pitchFamily="34" charset="0"/>
                <a:ea typeface="Arial" pitchFamily="34" charset="-122"/>
                <a:cs typeface="Arial" pitchFamily="34" charset="-120"/>
              </a:rPr>
              <a:t>Slides</a:t>
            </a:r>
            <a:endParaRPr lang="en-US" sz="1300" dirty="0"/>
          </a:p>
        </p:txBody>
      </p:sp>
      <p:sp>
        <p:nvSpPr>
          <p:cNvPr id="8" name="Text 6"/>
          <p:cNvSpPr/>
          <p:nvPr/>
        </p:nvSpPr>
        <p:spPr>
          <a:xfrm>
            <a:off x="2926080" y="4114800"/>
            <a:ext cx="9165836" cy="457200"/>
          </a:xfrm>
          <a:prstGeom prst="rect">
            <a:avLst/>
          </a:prstGeom>
          <a:noFill/>
          <a:ln/>
        </p:spPr>
        <p:txBody>
          <a:bodyPr wrap="square" lIns="0" tIns="0" rIns="0" bIns="0" rtlCol="0" anchor="ctr"/>
          <a:lstStyle/>
          <a:p>
            <a:r>
              <a:rPr lang="en-US" sz="1300" dirty="0">
                <a:solidFill>
                  <a:srgbClr val="A8B2C4"/>
                </a:solidFill>
                <a:latin typeface="Courier New" pitchFamily="34" charset="0"/>
                <a:ea typeface="Courier New" pitchFamily="34" charset="-122"/>
                <a:cs typeface="Courier New" pitchFamily="34" charset="-120"/>
                <a:hlinkClick r:id="rId3"/>
              </a:rPr>
              <a:t>https://github.com/lksmangai/DeepLearning/blob/master/Multimodal-AI-ATAL-FDP-Deck.pptx</a:t>
            </a:r>
            <a:endParaRPr lang="en-US" sz="1300" dirty="0">
              <a:solidFill>
                <a:srgbClr val="A8B2C4"/>
              </a:solidFill>
              <a:latin typeface="Courier New" pitchFamily="34" charset="0"/>
              <a:ea typeface="Courier New" pitchFamily="34" charset="-122"/>
              <a:cs typeface="Courier New" pitchFamily="34" charset="-120"/>
            </a:endParaRPr>
          </a:p>
          <a:p>
            <a:pPr marL="0" indent="0">
              <a:buNone/>
            </a:pPr>
            <a:endParaRPr lang="en-US" sz="1300" dirty="0"/>
          </a:p>
        </p:txBody>
      </p:sp>
      <p:sp>
        <p:nvSpPr>
          <p:cNvPr id="9" name="Text 7"/>
          <p:cNvSpPr/>
          <p:nvPr/>
        </p:nvSpPr>
        <p:spPr>
          <a:xfrm>
            <a:off x="640080" y="4681728"/>
            <a:ext cx="2194560" cy="320040"/>
          </a:xfrm>
          <a:prstGeom prst="rect">
            <a:avLst/>
          </a:prstGeom>
          <a:noFill/>
          <a:ln/>
        </p:spPr>
        <p:txBody>
          <a:bodyPr wrap="square" lIns="0" tIns="0" rIns="0" bIns="0" rtlCol="0" anchor="ctr"/>
          <a:lstStyle/>
          <a:p>
            <a:pPr marL="0" indent="0">
              <a:buNone/>
            </a:pPr>
            <a:r>
              <a:rPr lang="en-US" sz="1300" b="1" dirty="0">
                <a:solidFill>
                  <a:srgbClr val="00C2A8"/>
                </a:solidFill>
                <a:latin typeface="Arial" pitchFamily="34" charset="0"/>
                <a:ea typeface="Arial" pitchFamily="34" charset="-122"/>
                <a:cs typeface="Arial" pitchFamily="34" charset="-120"/>
              </a:rPr>
              <a:t>Reading list</a:t>
            </a:r>
            <a:endParaRPr lang="en-US" sz="1300" dirty="0"/>
          </a:p>
        </p:txBody>
      </p:sp>
      <p:sp>
        <p:nvSpPr>
          <p:cNvPr id="10" name="Text 8"/>
          <p:cNvSpPr/>
          <p:nvPr/>
        </p:nvSpPr>
        <p:spPr>
          <a:xfrm>
            <a:off x="2926080" y="4681728"/>
            <a:ext cx="6858000" cy="320040"/>
          </a:xfrm>
          <a:prstGeom prst="rect">
            <a:avLst/>
          </a:prstGeom>
          <a:noFill/>
          <a:ln/>
        </p:spPr>
        <p:txBody>
          <a:bodyPr wrap="square" lIns="0" tIns="0" rIns="0" bIns="0" rtlCol="0" anchor="ctr"/>
          <a:lstStyle/>
          <a:p>
            <a:pPr marL="0" indent="0">
              <a:buNone/>
            </a:pPr>
            <a:r>
              <a:rPr lang="en-US" sz="1300" dirty="0">
                <a:solidFill>
                  <a:srgbClr val="A8B2C4"/>
                </a:solidFill>
                <a:latin typeface="Courier New" pitchFamily="34" charset="0"/>
                <a:ea typeface="Courier New" pitchFamily="34" charset="-122"/>
                <a:cs typeface="Courier New" pitchFamily="34" charset="-120"/>
              </a:rPr>
              <a:t>CLIP  ·  Flamingo  ·  LLaVA  ·  Qwen3-VL  (arXiv)</a:t>
            </a:r>
            <a:endParaRPr lang="en-US" sz="1300" dirty="0"/>
          </a:p>
        </p:txBody>
      </p:sp>
      <p:sp>
        <p:nvSpPr>
          <p:cNvPr id="11" name="Text 9"/>
          <p:cNvSpPr/>
          <p:nvPr/>
        </p:nvSpPr>
        <p:spPr>
          <a:xfrm>
            <a:off x="640080" y="5248656"/>
            <a:ext cx="2194560" cy="320040"/>
          </a:xfrm>
          <a:prstGeom prst="rect">
            <a:avLst/>
          </a:prstGeom>
          <a:noFill/>
          <a:ln/>
        </p:spPr>
        <p:txBody>
          <a:bodyPr wrap="square" lIns="0" tIns="0" rIns="0" bIns="0" rtlCol="0" anchor="ctr"/>
          <a:lstStyle/>
          <a:p>
            <a:pPr marL="0" indent="0">
              <a:buNone/>
            </a:pPr>
            <a:r>
              <a:rPr lang="en-US" sz="1300" b="1" dirty="0">
                <a:solidFill>
                  <a:srgbClr val="00C2A8"/>
                </a:solidFill>
                <a:latin typeface="Arial" pitchFamily="34" charset="0"/>
                <a:ea typeface="Arial" pitchFamily="34" charset="-122"/>
                <a:cs typeface="Arial" pitchFamily="34" charset="-120"/>
              </a:rPr>
              <a:t>Contact</a:t>
            </a:r>
            <a:endParaRPr lang="en-US" sz="1300" dirty="0"/>
          </a:p>
        </p:txBody>
      </p:sp>
      <p:sp>
        <p:nvSpPr>
          <p:cNvPr id="12" name="Text 10"/>
          <p:cNvSpPr/>
          <p:nvPr/>
        </p:nvSpPr>
        <p:spPr>
          <a:xfrm>
            <a:off x="2926080" y="5248656"/>
            <a:ext cx="6858000" cy="320040"/>
          </a:xfrm>
          <a:prstGeom prst="rect">
            <a:avLst/>
          </a:prstGeom>
          <a:noFill/>
          <a:ln/>
        </p:spPr>
        <p:txBody>
          <a:bodyPr wrap="square" lIns="0" tIns="0" rIns="0" bIns="0" rtlCol="0" anchor="ctr"/>
          <a:lstStyle/>
          <a:p>
            <a:pPr marL="0" indent="0">
              <a:buNone/>
            </a:pPr>
            <a:r>
              <a:rPr lang="en-US" sz="1300" dirty="0">
                <a:solidFill>
                  <a:srgbClr val="A8B2C4"/>
                </a:solidFill>
                <a:latin typeface="Courier New" pitchFamily="34" charset="0"/>
                <a:ea typeface="Courier New" pitchFamily="34" charset="-122"/>
                <a:cs typeface="Courier New" pitchFamily="34" charset="-120"/>
              </a:rPr>
              <a:t>lakshmanaraj.sankaralingam@ideastoimpacts.com</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4" name="Text 184"/>
          <p:cNvSpPr/>
          <p:nvPr/>
        </p:nvSpPr>
        <p:spPr>
          <a:xfrm>
            <a:off x="640080" y="384048"/>
            <a:ext cx="10908792" cy="237744"/>
          </a:xfrm>
          <a:prstGeom prst="rect">
            <a:avLst/>
          </a:prstGeom>
          <a:noFill/>
          <a:ln/>
        </p:spPr>
        <p:txBody>
          <a:bodyPr wrap="square" lIns="0" tIns="0" rIns="0" bIns="0" rtlCol="0" anchor="ctr"/>
          <a:lstStyle/>
          <a:p>
            <a:pPr marL="0" indent="0" algn="l">
              <a:buNone/>
            </a:pPr>
            <a:r>
              <a:rPr lang="en-US" sz="1100" b="1" kern="0" spc="200" dirty="0">
                <a:solidFill>
                  <a:srgbClr val="FF6B4A"/>
                </a:solidFill>
                <a:latin typeface="Arial" pitchFamily="34" charset="0"/>
                <a:ea typeface="Arial" pitchFamily="34" charset="-122"/>
                <a:cs typeface="Arial" pitchFamily="34" charset="-120"/>
              </a:rPr>
              <a:t>APPENDIX - THE QUESTION FROM THE CHAT</a:t>
            </a:r>
            <a:endParaRPr lang="en-US" sz="1100" dirty="0"/>
          </a:p>
        </p:txBody>
      </p:sp>
      <p:sp>
        <p:nvSpPr>
          <p:cNvPr id="185" name="Text 185"/>
          <p:cNvSpPr/>
          <p:nvPr/>
        </p:nvSpPr>
        <p:spPr>
          <a:xfrm>
            <a:off x="640080" y="658368"/>
            <a:ext cx="10908792" cy="658368"/>
          </a:xfrm>
          <a:prstGeom prst="rect">
            <a:avLst/>
          </a:prstGeom>
          <a:noFill/>
          <a:ln/>
        </p:spPr>
        <p:txBody>
          <a:bodyPr wrap="square" lIns="0" tIns="0" rIns="0" bIns="0" rtlCol="0" anchor="t"/>
          <a:lstStyle/>
          <a:p>
            <a:pPr marL="0" indent="0" algn="l">
              <a:buNone/>
            </a:pPr>
            <a:r>
              <a:rPr lang="en-US" sz="3400" b="1" dirty="0">
                <a:solidFill>
                  <a:srgbClr val="0E1524"/>
                </a:solidFill>
                <a:latin typeface="Arial" pitchFamily="34" charset="0"/>
                <a:ea typeface="Arial" pitchFamily="34" charset="-122"/>
                <a:cs typeface="Arial" pitchFamily="34" charset="-120"/>
              </a:rPr>
              <a:t>Which model, actually?</a:t>
            </a:r>
            <a:endParaRPr lang="en-US" sz="3400" dirty="0"/>
          </a:p>
        </p:txBody>
      </p:sp>
      <p:sp>
        <p:nvSpPr>
          <p:cNvPr id="186" name="Text 186"/>
          <p:cNvSpPr/>
          <p:nvPr/>
        </p:nvSpPr>
        <p:spPr>
          <a:xfrm>
            <a:off x="640080" y="1481328"/>
            <a:ext cx="10241280" cy="274320"/>
          </a:xfrm>
          <a:prstGeom prst="rect">
            <a:avLst/>
          </a:prstGeom>
          <a:noFill/>
          <a:ln/>
        </p:spPr>
        <p:txBody>
          <a:bodyPr wrap="square" lIns="0" tIns="0" rIns="0" bIns="0" rtlCol="0" anchor="ctr"/>
          <a:lstStyle/>
          <a:p>
            <a:pPr marL="0" indent="0" algn="l">
              <a:buNone/>
            </a:pPr>
            <a:r>
              <a:rPr lang="en-US" sz="1400" dirty="0">
                <a:solidFill>
                  <a:srgbClr val="6B7689"/>
                </a:solidFill>
                <a:latin typeface="Calibri" pitchFamily="34" charset="0"/>
                <a:ea typeface="Calibri" pitchFamily="34" charset="-122"/>
                <a:cs typeface="Calibri" pitchFamily="34" charset="-120"/>
              </a:rPr>
              <a:t>The question that always arrives in the chat. Verify versions before you teach from it.</a:t>
            </a:r>
            <a:endParaRPr lang="en-US" sz="1400" dirty="0"/>
          </a:p>
        </p:txBody>
      </p:sp>
      <p:sp>
        <p:nvSpPr>
          <p:cNvPr id="187" name="Shape 187"/>
          <p:cNvSpPr/>
          <p:nvPr/>
        </p:nvSpPr>
        <p:spPr>
          <a:xfrm>
            <a:off x="640080" y="1950000"/>
            <a:ext cx="3400000" cy="3108960"/>
          </a:xfrm>
          <a:prstGeom prst="roundRect">
            <a:avLst>
              <a:gd name="adj" fmla="val 10526"/>
            </a:avLst>
          </a:prstGeom>
          <a:solidFill>
            <a:srgbClr val="F4F6FA"/>
          </a:solidFill>
          <a:ln/>
        </p:spPr>
        <p:txBody>
          <a:bodyPr/>
          <a:lstStyle/>
          <a:p>
            <a:endParaRPr lang="en-IN"/>
          </a:p>
        </p:txBody>
      </p:sp>
      <p:sp>
        <p:nvSpPr>
          <p:cNvPr id="188" name="Shape 188"/>
          <p:cNvSpPr/>
          <p:nvPr/>
        </p:nvSpPr>
        <p:spPr>
          <a:xfrm>
            <a:off x="914400" y="2224320"/>
            <a:ext cx="182880" cy="182880"/>
          </a:xfrm>
          <a:prstGeom prst="ellipse">
            <a:avLst/>
          </a:prstGeom>
          <a:solidFill>
            <a:srgbClr val="FF6B4A"/>
          </a:solidFill>
          <a:ln/>
        </p:spPr>
        <p:txBody>
          <a:bodyPr/>
          <a:lstStyle/>
          <a:p>
            <a:endParaRPr lang="en-IN"/>
          </a:p>
        </p:txBody>
      </p:sp>
      <p:sp>
        <p:nvSpPr>
          <p:cNvPr id="189" name="Text 189"/>
          <p:cNvSpPr/>
          <p:nvPr/>
        </p:nvSpPr>
        <p:spPr>
          <a:xfrm>
            <a:off x="914400"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Hosted frontier models</a:t>
            </a:r>
            <a:endParaRPr lang="en-US" sz="1500" dirty="0"/>
          </a:p>
        </p:txBody>
      </p:sp>
      <p:sp>
        <p:nvSpPr>
          <p:cNvPr id="190" name="Text 190"/>
          <p:cNvSpPr/>
          <p:nvPr/>
        </p:nvSpPr>
        <p:spPr>
          <a:xfrm>
            <a:off x="914400"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Called over an API. No setup at all.</a:t>
            </a:r>
            <a:endParaRPr lang="en-US" sz="1000" dirty="0"/>
          </a:p>
        </p:txBody>
      </p:sp>
      <p:sp>
        <p:nvSpPr>
          <p:cNvPr id="191" name="Text 191"/>
          <p:cNvSpPr/>
          <p:nvPr/>
        </p:nvSpPr>
        <p:spPr>
          <a:xfrm>
            <a:off x="914400"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MODELS TO NAME</a:t>
            </a:r>
            <a:endParaRPr lang="en-US" sz="800" dirty="0"/>
          </a:p>
        </p:txBody>
      </p:sp>
      <p:sp>
        <p:nvSpPr>
          <p:cNvPr id="192" name="Text 192"/>
          <p:cNvSpPr/>
          <p:nvPr/>
        </p:nvSpPr>
        <p:spPr>
          <a:xfrm>
            <a:off x="914400"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Claude, Gemini, GPT - all read images</a:t>
            </a:r>
            <a:endParaRPr lang="en-US" sz="1000" dirty="0"/>
          </a:p>
        </p:txBody>
      </p:sp>
      <p:sp>
        <p:nvSpPr>
          <p:cNvPr id="193" name="Text 193"/>
          <p:cNvSpPr/>
          <p:nvPr/>
        </p:nvSpPr>
        <p:spPr>
          <a:xfrm>
            <a:off x="914400"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STRENGTH TODAY</a:t>
            </a:r>
            <a:endParaRPr lang="en-US" sz="800" dirty="0"/>
          </a:p>
        </p:txBody>
      </p:sp>
      <p:sp>
        <p:nvSpPr>
          <p:cNvPr id="194" name="Text 194"/>
          <p:cNvSpPr/>
          <p:nvPr/>
        </p:nvSpPr>
        <p:spPr>
          <a:xfrm>
            <a:off x="914400"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Best on messy real-world documents</a:t>
            </a:r>
            <a:endParaRPr lang="en-US" sz="1000" dirty="0"/>
          </a:p>
        </p:txBody>
      </p:sp>
      <p:sp>
        <p:nvSpPr>
          <p:cNvPr id="195" name="Text 195"/>
          <p:cNvSpPr/>
          <p:nvPr/>
        </p:nvSpPr>
        <p:spPr>
          <a:xfrm>
            <a:off x="914400"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WATCH OUT FOR</a:t>
            </a:r>
            <a:endParaRPr lang="en-US" sz="800" dirty="0"/>
          </a:p>
        </p:txBody>
      </p:sp>
      <p:sp>
        <p:nvSpPr>
          <p:cNvPr id="196" name="Text 196"/>
          <p:cNvSpPr/>
          <p:nvPr/>
        </p:nvSpPr>
        <p:spPr>
          <a:xfrm>
            <a:off x="914400"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Per-call cost; data leaves campus</a:t>
            </a:r>
            <a:endParaRPr lang="en-US" sz="1000" dirty="0"/>
          </a:p>
        </p:txBody>
      </p:sp>
      <p:sp>
        <p:nvSpPr>
          <p:cNvPr id="197" name="Text 197"/>
          <p:cNvSpPr/>
          <p:nvPr/>
        </p:nvSpPr>
        <p:spPr>
          <a:xfrm>
            <a:off x="914400"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TRY IT FOR</a:t>
            </a:r>
            <a:endParaRPr lang="en-US" sz="800" dirty="0"/>
          </a:p>
        </p:txBody>
      </p:sp>
      <p:sp>
        <p:nvSpPr>
          <p:cNvPr id="198" name="Text 198"/>
          <p:cNvSpPr/>
          <p:nvPr/>
        </p:nvSpPr>
        <p:spPr>
          <a:xfrm>
            <a:off x="914400"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First papers, pilots and demos</a:t>
            </a:r>
            <a:endParaRPr lang="en-US" sz="1000" dirty="0"/>
          </a:p>
        </p:txBody>
      </p:sp>
      <p:sp>
        <p:nvSpPr>
          <p:cNvPr id="199" name="Shape 199"/>
          <p:cNvSpPr/>
          <p:nvPr/>
        </p:nvSpPr>
        <p:spPr>
          <a:xfrm>
            <a:off x="4394476" y="1950000"/>
            <a:ext cx="3400000" cy="3108960"/>
          </a:xfrm>
          <a:prstGeom prst="roundRect">
            <a:avLst>
              <a:gd name="adj" fmla="val 10526"/>
            </a:avLst>
          </a:prstGeom>
          <a:solidFill>
            <a:srgbClr val="F4F6FA"/>
          </a:solidFill>
          <a:ln/>
        </p:spPr>
        <p:txBody>
          <a:bodyPr/>
          <a:lstStyle/>
          <a:p>
            <a:endParaRPr lang="en-IN"/>
          </a:p>
        </p:txBody>
      </p:sp>
      <p:sp>
        <p:nvSpPr>
          <p:cNvPr id="200" name="Shape 200"/>
          <p:cNvSpPr/>
          <p:nvPr/>
        </p:nvSpPr>
        <p:spPr>
          <a:xfrm>
            <a:off x="4668796" y="2224320"/>
            <a:ext cx="182880" cy="182880"/>
          </a:xfrm>
          <a:prstGeom prst="ellipse">
            <a:avLst/>
          </a:prstGeom>
          <a:solidFill>
            <a:srgbClr val="00C2A8"/>
          </a:solidFill>
          <a:ln/>
        </p:spPr>
        <p:txBody>
          <a:bodyPr/>
          <a:lstStyle/>
          <a:p>
            <a:endParaRPr lang="en-IN"/>
          </a:p>
        </p:txBody>
      </p:sp>
      <p:sp>
        <p:nvSpPr>
          <p:cNvPr id="201" name="Text 201"/>
          <p:cNvSpPr/>
          <p:nvPr/>
        </p:nvSpPr>
        <p:spPr>
          <a:xfrm>
            <a:off x="4668796"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Open weights, self-hosted</a:t>
            </a:r>
            <a:endParaRPr lang="en-US" sz="1500" dirty="0"/>
          </a:p>
        </p:txBody>
      </p:sp>
      <p:sp>
        <p:nvSpPr>
          <p:cNvPr id="202" name="Text 202"/>
          <p:cNvSpPr/>
          <p:nvPr/>
        </p:nvSpPr>
        <p:spPr>
          <a:xfrm>
            <a:off x="4668796"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Downloaded, run on your own GPU.</a:t>
            </a:r>
            <a:endParaRPr lang="en-US" sz="1000" dirty="0"/>
          </a:p>
        </p:txBody>
      </p:sp>
      <p:sp>
        <p:nvSpPr>
          <p:cNvPr id="203" name="Text 203"/>
          <p:cNvSpPr/>
          <p:nvPr/>
        </p:nvSpPr>
        <p:spPr>
          <a:xfrm>
            <a:off x="4668796"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MODELS TO NAME</a:t>
            </a:r>
            <a:endParaRPr lang="en-US" sz="800" dirty="0"/>
          </a:p>
        </p:txBody>
      </p:sp>
      <p:sp>
        <p:nvSpPr>
          <p:cNvPr id="204" name="Text 204"/>
          <p:cNvSpPr/>
          <p:nvPr/>
        </p:nvSpPr>
        <p:spPr>
          <a:xfrm>
            <a:off x="4668796"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Qwen 3.5 / 3.8, Gemma 4 31B, Qwen3-VL, InternVL</a:t>
            </a:r>
            <a:endParaRPr lang="en-US" sz="1000" dirty="0"/>
          </a:p>
        </p:txBody>
      </p:sp>
      <p:sp>
        <p:nvSpPr>
          <p:cNvPr id="205" name="Text 205"/>
          <p:cNvSpPr/>
          <p:nvPr/>
        </p:nvSpPr>
        <p:spPr>
          <a:xfrm>
            <a:off x="4668796"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STRENGTH TODAY</a:t>
            </a:r>
            <a:endParaRPr lang="en-US" sz="800" dirty="0"/>
          </a:p>
        </p:txBody>
      </p:sp>
      <p:sp>
        <p:nvSpPr>
          <p:cNvPr id="206" name="Text 206"/>
          <p:cNvSpPr/>
          <p:nvPr/>
        </p:nvSpPr>
        <p:spPr>
          <a:xfrm>
            <a:off x="4668796"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Leads open document reading</a:t>
            </a:r>
            <a:endParaRPr lang="en-US" sz="1000" dirty="0"/>
          </a:p>
        </p:txBody>
      </p:sp>
      <p:sp>
        <p:nvSpPr>
          <p:cNvPr id="207" name="Text 207"/>
          <p:cNvSpPr/>
          <p:nvPr/>
        </p:nvSpPr>
        <p:spPr>
          <a:xfrm>
            <a:off x="4668796"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WATCH OUT FOR</a:t>
            </a:r>
            <a:endParaRPr lang="en-US" sz="800" dirty="0"/>
          </a:p>
        </p:txBody>
      </p:sp>
      <p:sp>
        <p:nvSpPr>
          <p:cNvPr id="208" name="Text 208"/>
          <p:cNvSpPr/>
          <p:nvPr/>
        </p:nvSpPr>
        <p:spPr>
          <a:xfrm>
            <a:off x="4668796"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Version churn every few months</a:t>
            </a:r>
            <a:endParaRPr lang="en-US" sz="1000" dirty="0"/>
          </a:p>
        </p:txBody>
      </p:sp>
      <p:sp>
        <p:nvSpPr>
          <p:cNvPr id="209" name="Text 209"/>
          <p:cNvSpPr/>
          <p:nvPr/>
        </p:nvSpPr>
        <p:spPr>
          <a:xfrm>
            <a:off x="4668796"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TRY IT FOR</a:t>
            </a:r>
            <a:endParaRPr lang="en-US" sz="800" dirty="0"/>
          </a:p>
        </p:txBody>
      </p:sp>
      <p:sp>
        <p:nvSpPr>
          <p:cNvPr id="210" name="Text 210"/>
          <p:cNvSpPr/>
          <p:nvPr/>
        </p:nvSpPr>
        <p:spPr>
          <a:xfrm>
            <a:off x="4668796"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Sensitive data, IndiaAI compute</a:t>
            </a:r>
            <a:endParaRPr lang="en-US" sz="1000" dirty="0"/>
          </a:p>
        </p:txBody>
      </p:sp>
      <p:sp>
        <p:nvSpPr>
          <p:cNvPr id="211" name="Shape 211"/>
          <p:cNvSpPr/>
          <p:nvPr/>
        </p:nvSpPr>
        <p:spPr>
          <a:xfrm>
            <a:off x="8148872" y="1950000"/>
            <a:ext cx="3400000" cy="3108960"/>
          </a:xfrm>
          <a:prstGeom prst="roundRect">
            <a:avLst>
              <a:gd name="adj" fmla="val 10526"/>
            </a:avLst>
          </a:prstGeom>
          <a:solidFill>
            <a:srgbClr val="F4F6FA"/>
          </a:solidFill>
          <a:ln/>
        </p:spPr>
        <p:txBody>
          <a:bodyPr/>
          <a:lstStyle/>
          <a:p>
            <a:endParaRPr lang="en-IN"/>
          </a:p>
        </p:txBody>
      </p:sp>
      <p:sp>
        <p:nvSpPr>
          <p:cNvPr id="212" name="Shape 212"/>
          <p:cNvSpPr/>
          <p:nvPr/>
        </p:nvSpPr>
        <p:spPr>
          <a:xfrm>
            <a:off x="8423192" y="2224320"/>
            <a:ext cx="182880" cy="182880"/>
          </a:xfrm>
          <a:prstGeom prst="ellipse">
            <a:avLst/>
          </a:prstGeom>
          <a:solidFill>
            <a:srgbClr val="FFC24A"/>
          </a:solidFill>
          <a:ln/>
        </p:spPr>
        <p:txBody>
          <a:bodyPr/>
          <a:lstStyle/>
          <a:p>
            <a:endParaRPr lang="en-IN"/>
          </a:p>
        </p:txBody>
      </p:sp>
      <p:sp>
        <p:nvSpPr>
          <p:cNvPr id="213" name="Text 213"/>
          <p:cNvSpPr/>
          <p:nvPr/>
        </p:nvSpPr>
        <p:spPr>
          <a:xfrm>
            <a:off x="8423192"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Small, on-device</a:t>
            </a:r>
            <a:endParaRPr lang="en-US" sz="1500" dirty="0"/>
          </a:p>
        </p:txBody>
      </p:sp>
      <p:sp>
        <p:nvSpPr>
          <p:cNvPr id="214" name="Text 214"/>
          <p:cNvSpPr/>
          <p:nvPr/>
        </p:nvSpPr>
        <p:spPr>
          <a:xfrm>
            <a:off x="8423192"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Runs on a laptop or a gateway.</a:t>
            </a:r>
            <a:endParaRPr lang="en-US" sz="1000" dirty="0"/>
          </a:p>
        </p:txBody>
      </p:sp>
      <p:sp>
        <p:nvSpPr>
          <p:cNvPr id="215" name="Text 215"/>
          <p:cNvSpPr/>
          <p:nvPr/>
        </p:nvSpPr>
        <p:spPr>
          <a:xfrm>
            <a:off x="8423192"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MODELS TO NAME</a:t>
            </a:r>
            <a:endParaRPr lang="en-US" sz="800" dirty="0"/>
          </a:p>
        </p:txBody>
      </p:sp>
      <p:sp>
        <p:nvSpPr>
          <p:cNvPr id="216" name="Text 216"/>
          <p:cNvSpPr/>
          <p:nvPr/>
        </p:nvSpPr>
        <p:spPr>
          <a:xfrm>
            <a:off x="8423192"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Gemma 4 E2B / E4B, Qwen3-VL 4B, Moondream</a:t>
            </a:r>
            <a:endParaRPr lang="en-US" sz="1000" dirty="0"/>
          </a:p>
        </p:txBody>
      </p:sp>
      <p:sp>
        <p:nvSpPr>
          <p:cNvPr id="217" name="Text 217"/>
          <p:cNvSpPr/>
          <p:nvPr/>
        </p:nvSpPr>
        <p:spPr>
          <a:xfrm>
            <a:off x="8423192"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STRENGTH TODAY</a:t>
            </a:r>
            <a:endParaRPr lang="en-US" sz="800" dirty="0"/>
          </a:p>
        </p:txBody>
      </p:sp>
      <p:sp>
        <p:nvSpPr>
          <p:cNvPr id="218" name="Text 218"/>
          <p:cNvSpPr/>
          <p:nvPr/>
        </p:nvSpPr>
        <p:spPr>
          <a:xfrm>
            <a:off x="8423192"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Offline on 4 to 12 GB; Gemma 4 also hears audio</a:t>
            </a:r>
            <a:endParaRPr lang="en-US" sz="1000" dirty="0"/>
          </a:p>
        </p:txBody>
      </p:sp>
      <p:sp>
        <p:nvSpPr>
          <p:cNvPr id="219" name="Text 219"/>
          <p:cNvSpPr/>
          <p:nvPr/>
        </p:nvSpPr>
        <p:spPr>
          <a:xfrm>
            <a:off x="8423192"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WATCH OUT FOR</a:t>
            </a:r>
            <a:endParaRPr lang="en-US" sz="800" dirty="0"/>
          </a:p>
        </p:txBody>
      </p:sp>
      <p:sp>
        <p:nvSpPr>
          <p:cNvPr id="220" name="Text 220"/>
          <p:cNvSpPr/>
          <p:nvPr/>
        </p:nvSpPr>
        <p:spPr>
          <a:xfrm>
            <a:off x="8423192"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Weak on dense handwritten pages</a:t>
            </a:r>
            <a:endParaRPr lang="en-US" sz="1000" dirty="0"/>
          </a:p>
        </p:txBody>
      </p:sp>
      <p:sp>
        <p:nvSpPr>
          <p:cNvPr id="221" name="Text 221"/>
          <p:cNvSpPr/>
          <p:nvPr/>
        </p:nvSpPr>
        <p:spPr>
          <a:xfrm>
            <a:off x="8423192"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TRY IT FOR</a:t>
            </a:r>
            <a:endParaRPr lang="en-US" sz="800" dirty="0"/>
          </a:p>
        </p:txBody>
      </p:sp>
      <p:sp>
        <p:nvSpPr>
          <p:cNvPr id="222" name="Text 222"/>
          <p:cNvSpPr/>
          <p:nvPr/>
        </p:nvSpPr>
        <p:spPr>
          <a:xfrm>
            <a:off x="8423192"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Field work and student laptops</a:t>
            </a:r>
            <a:endParaRPr lang="en-US" sz="1000" dirty="0"/>
          </a:p>
        </p:txBody>
      </p:sp>
      <p:sp>
        <p:nvSpPr>
          <p:cNvPr id="223" name="Text 223"/>
          <p:cNvSpPr/>
          <p:nvPr/>
        </p:nvSpPr>
        <p:spPr>
          <a:xfrm>
            <a:off x="640080" y="5532120"/>
            <a:ext cx="10908792" cy="365760"/>
          </a:xfrm>
          <a:prstGeom prst="rect">
            <a:avLst/>
          </a:prstGeom>
          <a:noFill/>
          <a:ln/>
        </p:spPr>
        <p:txBody>
          <a:bodyPr wrap="square" lIns="0" tIns="0" rIns="0" bIns="0" rtlCol="0" anchor="ctr"/>
          <a:lstStyle/>
          <a:p>
            <a:pPr marL="0" indent="0" algn="l">
              <a:buNone/>
            </a:pPr>
            <a:r>
              <a:rPr lang="en-US" sz="1600" b="1" dirty="0">
                <a:solidFill>
                  <a:srgbClr val="0E1524"/>
                </a:solidFill>
                <a:latin typeface="Arial" pitchFamily="34" charset="0"/>
                <a:ea typeface="Arial" pitchFamily="34" charset="-122"/>
                <a:cs typeface="Arial" pitchFamily="34" charset="-120"/>
              </a:rPr>
              <a:t>Names move every few months. Slide 25 tells you how to choose; this only says what to try. Current as of September 2026.</a:t>
            </a:r>
            <a:endParaRPr lang="en-US" sz="1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APPENDIX - EVALUATION</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How do we know it is actually good?</a:t>
            </a:r>
            <a:endParaRPr lang="en-US" sz="3400" dirty="0"/>
          </a:p>
        </p:txBody>
      </p:sp>
      <p:sp>
        <p:nvSpPr>
          <p:cNvPr id="4" name="Text 2"/>
          <p:cNvSpPr/>
          <p:nvPr/>
        </p:nvSpPr>
        <p:spPr>
          <a:xfrm>
            <a:off x="640080" y="1481328"/>
            <a:ext cx="960120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Four families of metric. A proposal that names one from each is already ahead of most.</a:t>
            </a:r>
            <a:endParaRPr lang="en-US" sz="1400" dirty="0"/>
          </a:p>
        </p:txBody>
      </p:sp>
      <p:sp>
        <p:nvSpPr>
          <p:cNvPr id="5" name="Shape 3"/>
          <p:cNvSpPr/>
          <p:nvPr/>
        </p:nvSpPr>
        <p:spPr>
          <a:xfrm>
            <a:off x="640080"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6" name="Shape 4"/>
          <p:cNvSpPr/>
          <p:nvPr/>
        </p:nvSpPr>
        <p:spPr>
          <a:xfrm>
            <a:off x="932688" y="2331720"/>
            <a:ext cx="457200" cy="457200"/>
          </a:xfrm>
          <a:prstGeom prst="ellipse">
            <a:avLst/>
          </a:prstGeom>
          <a:solidFill>
            <a:srgbClr val="00C2A8"/>
          </a:solidFill>
          <a:ln/>
        </p:spPr>
        <p:txBody>
          <a:bodyPr/>
          <a:lstStyle/>
          <a:p>
            <a:endParaRPr lang="en-IN"/>
          </a:p>
        </p:txBody>
      </p:sp>
      <p:sp>
        <p:nvSpPr>
          <p:cNvPr id="7" name="Text 5"/>
          <p:cNvSpPr/>
          <p:nvPr/>
        </p:nvSpPr>
        <p:spPr>
          <a:xfrm>
            <a:off x="932688"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Task quality</a:t>
            </a:r>
            <a:endParaRPr lang="en-US" sz="1900" dirty="0"/>
          </a:p>
        </p:txBody>
      </p:sp>
      <p:sp>
        <p:nvSpPr>
          <p:cNvPr id="8" name="Text 6"/>
          <p:cNvSpPr/>
          <p:nvPr/>
        </p:nvSpPr>
        <p:spPr>
          <a:xfrm>
            <a:off x="932688"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Accuracy, precision, recall, F1. Exact match and field-level extraction accuracy.</a:t>
            </a:r>
            <a:endParaRPr lang="en-US" sz="1250" dirty="0"/>
          </a:p>
        </p:txBody>
      </p:sp>
      <p:sp>
        <p:nvSpPr>
          <p:cNvPr id="9" name="Shape 7"/>
          <p:cNvSpPr/>
          <p:nvPr/>
        </p:nvSpPr>
        <p:spPr>
          <a:xfrm>
            <a:off x="3410712"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0" name="Shape 8"/>
          <p:cNvSpPr/>
          <p:nvPr/>
        </p:nvSpPr>
        <p:spPr>
          <a:xfrm>
            <a:off x="3703320" y="2331720"/>
            <a:ext cx="457200" cy="457200"/>
          </a:xfrm>
          <a:prstGeom prst="ellipse">
            <a:avLst/>
          </a:prstGeom>
          <a:solidFill>
            <a:srgbClr val="FF6B4A"/>
          </a:solidFill>
          <a:ln/>
        </p:spPr>
        <p:txBody>
          <a:bodyPr/>
          <a:lstStyle/>
          <a:p>
            <a:endParaRPr lang="en-IN"/>
          </a:p>
        </p:txBody>
      </p:sp>
      <p:sp>
        <p:nvSpPr>
          <p:cNvPr id="11" name="Text 9"/>
          <p:cNvSpPr/>
          <p:nvPr/>
        </p:nvSpPr>
        <p:spPr>
          <a:xfrm>
            <a:off x="3703320"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Cross-modal</a:t>
            </a:r>
            <a:endParaRPr lang="en-US" sz="1900" dirty="0"/>
          </a:p>
        </p:txBody>
      </p:sp>
      <p:sp>
        <p:nvSpPr>
          <p:cNvPr id="12" name="Text 10"/>
          <p:cNvSpPr/>
          <p:nvPr/>
        </p:nvSpPr>
        <p:spPr>
          <a:xfrm>
            <a:off x="3703320"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Alignment accuracy, evidence grounding, and per-modality ablation.</a:t>
            </a:r>
            <a:endParaRPr lang="en-US" sz="1250" dirty="0"/>
          </a:p>
        </p:txBody>
      </p:sp>
      <p:sp>
        <p:nvSpPr>
          <p:cNvPr id="13" name="Shape 11"/>
          <p:cNvSpPr/>
          <p:nvPr/>
        </p:nvSpPr>
        <p:spPr>
          <a:xfrm>
            <a:off x="6181344"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4" name="Shape 12"/>
          <p:cNvSpPr/>
          <p:nvPr/>
        </p:nvSpPr>
        <p:spPr>
          <a:xfrm>
            <a:off x="6473952" y="2331720"/>
            <a:ext cx="457200" cy="457200"/>
          </a:xfrm>
          <a:prstGeom prst="ellipse">
            <a:avLst/>
          </a:prstGeom>
          <a:solidFill>
            <a:srgbClr val="FFC24A"/>
          </a:solidFill>
          <a:ln/>
        </p:spPr>
        <p:txBody>
          <a:bodyPr/>
          <a:lstStyle/>
          <a:p>
            <a:endParaRPr lang="en-IN"/>
          </a:p>
        </p:txBody>
      </p:sp>
      <p:sp>
        <p:nvSpPr>
          <p:cNvPr id="15" name="Text 13"/>
          <p:cNvSpPr/>
          <p:nvPr/>
        </p:nvSpPr>
        <p:spPr>
          <a:xfrm>
            <a:off x="6473952"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Trust</a:t>
            </a:r>
            <a:endParaRPr lang="en-US" sz="1900" dirty="0"/>
          </a:p>
        </p:txBody>
      </p:sp>
      <p:sp>
        <p:nvSpPr>
          <p:cNvPr id="16" name="Text 14"/>
          <p:cNvSpPr/>
          <p:nvPr/>
        </p:nvSpPr>
        <p:spPr>
          <a:xfrm>
            <a:off x="6473952"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Calibration error, hallucination rate, abstention and selective risk.</a:t>
            </a:r>
            <a:endParaRPr lang="en-US" sz="1250" dirty="0"/>
          </a:p>
        </p:txBody>
      </p:sp>
      <p:sp>
        <p:nvSpPr>
          <p:cNvPr id="17" name="Shape 15"/>
          <p:cNvSpPr/>
          <p:nvPr/>
        </p:nvSpPr>
        <p:spPr>
          <a:xfrm>
            <a:off x="8951976"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8" name="Shape 16"/>
          <p:cNvSpPr/>
          <p:nvPr/>
        </p:nvSpPr>
        <p:spPr>
          <a:xfrm>
            <a:off x="9244584" y="2331720"/>
            <a:ext cx="457200" cy="457200"/>
          </a:xfrm>
          <a:prstGeom prst="ellipse">
            <a:avLst/>
          </a:prstGeom>
          <a:solidFill>
            <a:srgbClr val="6B7689"/>
          </a:solidFill>
          <a:ln/>
        </p:spPr>
        <p:txBody>
          <a:bodyPr/>
          <a:lstStyle/>
          <a:p>
            <a:endParaRPr lang="en-IN"/>
          </a:p>
        </p:txBody>
      </p:sp>
      <p:sp>
        <p:nvSpPr>
          <p:cNvPr id="19" name="Text 17"/>
          <p:cNvSpPr/>
          <p:nvPr/>
        </p:nvSpPr>
        <p:spPr>
          <a:xfrm>
            <a:off x="9244584"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Engineering</a:t>
            </a:r>
            <a:endParaRPr lang="en-US" sz="1900" dirty="0"/>
          </a:p>
        </p:txBody>
      </p:sp>
      <p:sp>
        <p:nvSpPr>
          <p:cNvPr id="20" name="Text 18"/>
          <p:cNvSpPr/>
          <p:nvPr/>
        </p:nvSpPr>
        <p:spPr>
          <a:xfrm>
            <a:off x="9244584"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Latency, cost per successful task, throughput at peak load.</a:t>
            </a:r>
            <a:endParaRPr lang="en-US" sz="1250" dirty="0"/>
          </a:p>
        </p:txBody>
      </p:sp>
      <p:sp>
        <p:nvSpPr>
          <p:cNvPr id="21" name="Text 19"/>
          <p:cNvSpPr/>
          <p:nvPr/>
        </p:nvSpPr>
        <p:spPr>
          <a:xfrm>
            <a:off x="640080" y="4709160"/>
            <a:ext cx="10908792" cy="548640"/>
          </a:xfrm>
          <a:prstGeom prst="rect">
            <a:avLst/>
          </a:prstGeom>
          <a:noFill/>
          <a:ln/>
        </p:spPr>
        <p:txBody>
          <a:bodyPr wrap="square" lIns="0" tIns="0" rIns="0" bIns="0" rtlCol="0" anchor="ctr"/>
          <a:lstStyle/>
          <a:p>
            <a:pPr marL="0" indent="0">
              <a:buNone/>
            </a:pPr>
            <a:r>
              <a:rPr lang="en-US" sz="1500" i="1" dirty="0">
                <a:solidFill>
                  <a:srgbClr val="0E1524"/>
                </a:solidFill>
                <a:latin typeface="Calibri" pitchFamily="34" charset="0"/>
                <a:ea typeface="Calibri" pitchFamily="34" charset="-122"/>
                <a:cs typeface="Calibri" pitchFamily="34" charset="-120"/>
              </a:rPr>
              <a:t>Report the engineering numbers next to the accuracy numbers. A system that is right and unaffordable has not been evaluated.</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65824</Words>
  <Application>Microsoft Office PowerPoint</Application>
  <PresentationFormat>Widescreen</PresentationFormat>
  <Paragraphs>2859</Paragraphs>
  <Slides>39</Slides>
  <Notes>39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39</vt:i4>
      </vt:variant>
    </vt:vector>
  </HeadingPairs>
  <TitlesOfParts>
    <vt:vector size="43"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Emerging Trends in AI and Data Science</dc:title>
  <dc:subject>PptxGenJS Presentation</dc:subject>
  <dc:creator>Speaker</dc:creator>
  <cp:lastModifiedBy>Lakshmanaraj  Sankaralingam</cp:lastModifiedBy>
  <cp:revision>3</cp:revision>
  <dcterms:created xsi:type="dcterms:W3CDTF">2026-08-06T12:55:00Z</dcterms:created>
  <dcterms:modified xsi:type="dcterms:W3CDTF">2026-09-26T07:58:17Z</dcterms:modified>
</cp:coreProperties>
</file>