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83"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8" r:id="rId19"/>
    <p:sldId id="284" r:id="rId20"/>
    <p:sldId id="285" r:id="rId21"/>
    <p:sldId id="286" r:id="rId22"/>
    <p:sldId id="287" r:id="rId23"/>
    <p:sldId id="289" r:id="rId24"/>
    <p:sldId id="275" r:id="rId25"/>
    <p:sldId id="276" r:id="rId26"/>
    <p:sldId id="294" r:id="rId27"/>
    <p:sldId id="277" r:id="rId28"/>
    <p:sldId id="278" r:id="rId29"/>
    <p:sldId id="279" r:id="rId30"/>
    <p:sldId id="280" r:id="rId31"/>
    <p:sldId id="290" r:id="rId32"/>
    <p:sldId id="291" r:id="rId33"/>
    <p:sldId id="292" r:id="rId34"/>
    <p:sldId id="281" r:id="rId35"/>
    <p:sldId id="282" r:id="rId36"/>
    <p:sldId id="293" r:id="rId37"/>
    <p:sldId id="295"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Budget estimate</c:v>
                </c:pt>
              </c:strCache>
            </c:strRef>
          </c:tx>
          <c:spPr>
            <a:solidFill>
              <a:srgbClr val="0E1524"/>
            </a:solidFill>
            <a:effectLst/>
          </c:spPr>
          <c:invertIfNegative val="0"/>
          <c:dLbls>
            <c:numFmt formatCode="#,##0" sourceLinked="0"/>
            <c:spPr>
              <a:noFill/>
              <a:ln>
                <a:noFill/>
              </a:ln>
              <a:effectLst/>
            </c:spPr>
            <c:txPr>
              <a:bodyPr/>
              <a:lstStyle/>
              <a:p>
                <a:pPr>
                  <a:defRPr sz="1000" b="0" i="0" u="none" strike="noStrike">
                    <a:solidFill>
                      <a:srgbClr val="6B768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 2024-25</c:v>
                </c:pt>
                <c:pt idx="1">
                  <c:v>FY 2025-26</c:v>
                </c:pt>
                <c:pt idx="2">
                  <c:v>FY 2026-27</c:v>
                </c:pt>
              </c:strCache>
            </c:strRef>
          </c:cat>
          <c:val>
            <c:numRef>
              <c:f>Sheet1!$B$2:$B$4</c:f>
              <c:numCache>
                <c:formatCode>General</c:formatCode>
                <c:ptCount val="3"/>
                <c:pt idx="0">
                  <c:v>551.75</c:v>
                </c:pt>
                <c:pt idx="1">
                  <c:v>2000</c:v>
                </c:pt>
                <c:pt idx="2">
                  <c:v>1000</c:v>
                </c:pt>
              </c:numCache>
            </c:numRef>
          </c:val>
          <c:extLst>
            <c:ext xmlns:c16="http://schemas.microsoft.com/office/drawing/2014/chart" uri="{C3380CC4-5D6E-409C-BE32-E72D297353CC}">
              <c16:uniqueId val="{00000000-651F-45E8-8DC0-8391C7052D25}"/>
            </c:ext>
          </c:extLst>
        </c:ser>
        <c:ser>
          <c:idx val="1"/>
          <c:order val="1"/>
          <c:tx>
            <c:strRef>
              <c:f>Sheet1!$C$1</c:f>
              <c:strCache>
                <c:ptCount val="1"/>
                <c:pt idx="0">
                  <c:v>Released</c:v>
                </c:pt>
              </c:strCache>
            </c:strRef>
          </c:tx>
          <c:spPr>
            <a:solidFill>
              <a:srgbClr val="FF6B4A"/>
            </a:solidFill>
            <a:effectLst/>
          </c:spPr>
          <c:invertIfNegative val="0"/>
          <c:dLbls>
            <c:numFmt formatCode="#,##0" sourceLinked="0"/>
            <c:spPr>
              <a:noFill/>
              <a:ln>
                <a:noFill/>
              </a:ln>
              <a:effectLst/>
            </c:spPr>
            <c:txPr>
              <a:bodyPr/>
              <a:lstStyle/>
              <a:p>
                <a:pPr>
                  <a:defRPr sz="1000" b="0" i="0" u="none" strike="noStrike">
                    <a:solidFill>
                      <a:srgbClr val="6B768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 2024-25</c:v>
                </c:pt>
                <c:pt idx="1">
                  <c:v>FY 2025-26</c:v>
                </c:pt>
                <c:pt idx="2">
                  <c:v>FY 2026-27</c:v>
                </c:pt>
              </c:strCache>
            </c:strRef>
          </c:cat>
          <c:val>
            <c:numRef>
              <c:f>Sheet1!$C$2:$C$4</c:f>
              <c:numCache>
                <c:formatCode>General</c:formatCode>
                <c:ptCount val="3"/>
                <c:pt idx="0">
                  <c:v>21.79</c:v>
                </c:pt>
                <c:pt idx="1">
                  <c:v>379.15</c:v>
                </c:pt>
                <c:pt idx="2">
                  <c:v>0</c:v>
                </c:pt>
              </c:numCache>
            </c:numRef>
          </c:val>
          <c:extLst>
            <c:ext xmlns:c16="http://schemas.microsoft.com/office/drawing/2014/chart" uri="{C3380CC4-5D6E-409C-BE32-E72D297353CC}">
              <c16:uniqueId val="{00000001-651F-45E8-8DC0-8391C7052D2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689"/>
                </a:solidFill>
                <a:latin typeface="Arial"/>
              </a:defRPr>
            </a:pPr>
            <a:endParaRPr lang="en-US"/>
          </a:p>
        </c:txPr>
        <c:crossAx val="2094734552"/>
        <c:crosses val="autoZero"/>
        <c:auto val="1"/>
        <c:lblAlgn val="ctr"/>
        <c:lblOffset val="100"/>
        <c:noMultiLvlLbl val="1"/>
      </c:catAx>
      <c:valAx>
        <c:axId val="2094734552"/>
        <c:scaling>
          <c:orientation val="minMax"/>
          <c:max val="2300"/>
          <c:min val="0"/>
        </c:scaling>
        <c:delete val="0"/>
        <c:axPos val="l"/>
        <c:majorGridlines>
          <c:spPr>
            <a:ln w="12700" cap="flat">
              <a:solidFill>
                <a:srgbClr val="E4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68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6B7689"/>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91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cold. Do not read the title. Say: "In the next 90 minutes I am going to show you one idea that changed how AI systems are built - and then I am going to show you how to run it yourself, tonight, for free." Keep this slide up for 20 seconds only.</a:t>
            </a:r>
          </a:p>
          <a:p>
            <a:endParaRPr/>
          </a:p>
          <a:p>
            <a:r>
              <a:t>ATAL housekeeping: the coordinator will have introduced you already, so do not repeat your bio. Ask participants to keep the chat open - you will use it twice for polls. Remind them the session is being recorded.</a:t>
            </a:r>
          </a:p>
          <a:p>
            <a:r>
              <a:t>One line of positioning is worth saying, because it is not in the coordinator's introduction and it changes how the room hears the next 90 minutes: you are not here from a lab, you are here from the delivery side, and everything in Part Three is drawn the way it actually gets built and paid for. Faculty rooms are used to AI talks from researchers; an architect telling them which four stages kill projects is a different session. Say it once, in about ten seconds, and move on - the deck earns the rest.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anchor example for the whole talk. Come back to it in Part Three. Poll the chat: how many separate systems would you have needed for this in 2019? Answer: at least five, plus a human to stitch the outputs together. A chat poll is the cheapest way to wake up an online room in the first three minutes.</a:t>
            </a:r>
          </a:p>
          <a:p>
            <a:endParaRPr/>
          </a:p>
          <a:p>
            <a:r>
              <a:t>Note the drone clip is 90 seconds, not 90 minutes - that is deliberate, and you will come back to it on the honest slide. Short video works today; long video does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at the architecture block and say what it is: a blueprint you can redraw on a whiteboard on Monday, not a product tour. That is what makes this session reusable.</a:t>
            </a:r>
          </a:p>
          <a:p>
            <a:endParaRPr/>
          </a:p>
          <a:p>
            <a:r>
              <a:t>Realistic timing warning: a 90 minute ATAL slot usually loses 5-8 minutes to the introduction and the coordinator's recap. If you start late, cut slides 11 and 16 - never the architecture section, it is the reason there is no demo.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these out - ATAL participants are assessed and they want to know what they are getting. 45 seconds, no more. Tell them outcome 4 is the one nobody else on this FDP will hand them, so stay till the 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minutes for this section. Resist going deeper than this - the room is faculty from many departments, not only CSE, and there will be mechanical and civil colleagues present. Concepts, not equations. If you want one equation, use the cosine similarity on the embedding slide and nothing else.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trench coat line usually gets a laugh. Use it. The serious point after it: shared space is the whole trick, and the next four slides explain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of this room taught or built systems on this architecture, and many still teach it as the current state of the art. That is the point to make gently: the syllabus in most colleges still stops at the left half of this slide. Ask in chat how many still teach OCR and CNN classification as separate units. The hands go 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only one idea survives the talk, make it this one. Analogy that works: a library where books, films and songs about the same subject are shelved together, instead of separate rooms by format.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is the canonical reference here (Radford et al., 2021) - name it, the researchers will want the citation. Emphasise the data point: supervision came free from the structure of the web.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architecture click for engineers. The punchline: multimodality was not a new architecture, it was a new way of feeding the old 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Practical slide - this is the one participants will screenshot for project guidance. Say plainly: your students' first paper does not need cross-attention. A well-evaluated late fusion system on a novel dataset is publishable, and it fits inside one semester of a UG final-year project.</a:t>
            </a:r>
          </a:p>
          <a:p>
            <a:r>
              <a:t>Terminology to have ready: IBM and most textbooks split fusion into early, mid and late. What this slide calls cross-attention is their mid or intermediate fusion. If a participant has read around the topic they may ask - say the labels differ, the three design choices do not.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Breath point. This is roughly the 28 minute mark. Check the clock here - if you are over 32, cut two slides from Part Two (video and edge models).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Pace up here. These slides are fast - 90 seconds each. The energy should rise into the architecture section.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linger on all six. Spend real time on document intelligence and agentic loops. Document intelligence is the one your colleges can apply to their own admission forms, attendance registers and lab records this year.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Tell them the honest number: on clean typed documents this is production-ready today. On dense handwritten forms it is not. Do not oversell - the credibility you keep here pays off in the funding section. Local hook: every institution in this FDP has decades of undigitised records. That is a dataset nobody else has.</a:t>
            </a:r>
          </a:p>
          <a:p/>
          <a:p>
            <a:r>
              <a:t>The 0.94 in the JSON is the model’s own number, not a calibrated probability. Flag it here in one sentence so nobody leaves thinking the field can be trusted as a measurement.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verify-first advice is the most useful practical thing in Part Two. Industry people will write it down.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does double duty - it is the credibility slide and the topic-selection slide. Say the last line slowly, and tell them to photograph it. For an FDP room, this is the single most valuable slide in the deck: six research problems, all measurable, none needing a large GPU budget.</a:t>
            </a:r>
          </a:p>
          <a:p/>
          <a:p>
            <a:r>
              <a:t>Run the chat poll on the last line - it takes fifteen seconds and it gives you the room’s own failure case to name again on slide 25 and slide 34. Keep the tally; it is the cheapest way to make Part Four feel addressed to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Breath point, roughly the 44 minute mark. Ten seconds of silence after the big line - resist filling it.</a:t>
            </a:r>
          </a:p>
          <a:p>
            <a:endParaRPr/>
          </a:p>
          <a:p>
            <a:r>
              <a:t>This is the pivot of the whole session. Everything before it was capability; everything after it is what a faculty member does with capability. If you are running late, this is the one slide in the deck you must not skip.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replaces the live demo. Say why, plainly: a recorded demo ages badly and a live one fails on a shared screen, but an architecture you can draw on a whiteboard is what your participants will actually reuse - in a lecture, in a project review, in a proposal.</a:t>
            </a:r>
          </a:p>
          <a:p>
            <a:endParaRPr/>
          </a:p>
          <a:p>
            <a:r>
              <a:t>16 minutes for three slides. Draw the five stages on a whiteboard or annotate the slide as you speak if your platform allows it.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spine of this section. Walk it left to right in about four minutes, then deliver the closing line slowly.</a:t>
            </a:r>
          </a:p>
          <a:p>
            <a:endParaRPr/>
          </a:p>
          <a:p>
            <a:r>
              <a:t>The point that lands with experienced faculty: the coral box is the only part that did not exist in 2019, and it is the part requiring the least code. Everything a project actually dies of - dirty ingestion, no evaluation set, no fallback, unbounded cost - lives in the grey boxes and the black band.</a:t>
            </a:r>
          </a:p>
          <a:p>
            <a:endParaRPr/>
          </a:p>
          <a:p>
            <a:r>
              <a:t>If someone asks where training fits: for most applied work it does not. You are composing pre-trained encoders, not training them. Fine-tuning is a later optimisation, and say so - it saves your participants a wasted semester.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closes the loop on the opening slide - the room has been waiting 50 minutes for it. Take four minutes.</a:t>
            </a:r>
          </a:p>
          <a:p/>
          <a:p>
            <a:r>
              <a:t>Three things to draw attention to. First, the video is sampled down to twelve frames, not streamed whole; that sampling decision is where most video pipelines quietly lose the event they were looking for, and it is on the honest slide as an open problem. Second, the model cites which modality supported its answer - that evidence field is what makes the output auditable, and reviewers of your papers will ask for it. Third, the system declines to decide: 0.81 under a 0.9 threshold means a human looks at it, and that is the difference between a demo and something an engineering department would sign off on.</a:t>
            </a:r>
          </a:p>
          <a:p/>
          <a:p>
            <a:r>
              <a:t>If asked whether the model really understands the sensor trend: be honest. It reads a small table well and a long one badly. That is a research problem, not a secret.</a:t>
            </a:r>
          </a:p>
          <a:p/>
          <a:p>
            <a:r>
              <a:t>Say plainly that the 0.81 is self-reported and uncalibrated. Thresholding on it is a routing decision, not a guarantee - and making that number trustworthy is research problem 03 on slide 25. That admission is what separates this from a vendor demo.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minutes, and the most practically useful slide of the section for a room with no budget.</a:t>
            </a:r>
          </a:p>
          <a:p>
            <a:endParaRPr/>
          </a:p>
          <a:p>
            <a:r>
              <a:t>The row that matters for this audience is 'data leaves campus'. Any project touching student records, patient images or industry data needs the middle or right column, and that decision has to be made before the proposal is written, not after. Tie it back: the IndiaAI compute pillar at about Rs 65 per GPU-hour is what makes the middle column affordable for a college.</a:t>
            </a:r>
          </a:p>
          <a:p>
            <a:endParaRPr/>
          </a:p>
          <a:p>
            <a:r>
              <a:t>The closing line is the discipline point. Most teams self-host first out of enthusiasm, spend a semester on infrastructure, and never build the test set that would have told them whether it was necessary.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Roughly the 60 minute mark. The line participants should leave with is that the architecture, not the model, is the engineering contribution - which is also what makes an applied multimodal paper publishable rather than a tool report.</a:t>
            </a:r>
          </a:p>
          <a:p>
            <a:endParaRPr/>
          </a:p>
          <a:p>
            <a:r>
              <a:t>If someone in chat asks which open model to use, this is the slide to answer from: the choice matters far less than the four stages around it.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explicitly: the next five slides alternate between the research use and the classroom use, because most people in this room do both. Nobody switches off.</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dataset-and-benchmark route is the most reliable first publication for a scholar without compute. Say it plainly, they rarely hear it. Point out that problem 02 is the one where a college in Tamil Nadu or Maharashtra has a structural advantage over a lab in California - they have the scripts, the forms and the speakers.</a:t>
            </a:r>
          </a:p>
          <a:p/>
          <a:p>
            <a:r>
              <a:t>If you polled the room on slide 17, name the winning failure here and point at the row and the measure it maps to. Fine spatial detail lands on row 05, long video on row 04.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Sixty seconds, and tell the room to photograph it. This is the slide that separates an FDP session from a product talk - it says where the ideas came from and gives every scholar in the room five things they can cite on Monday.</a:t>
            </a:r>
          </a:p>
          <a:p>
            <a:r>
              <a:t>The split is the message. Rows one and two will still be correct in five years, so they belong in the framing section of any proposal. Rows three to five are living documents and will be wrong at some point, which is why the arXiv numbers are on the slide - a participant can re-check them in under a minute.</a:t>
            </a:r>
          </a:p>
          <a:p>
            <a:r>
              <a:t>Row four is the practical one and the reason to slow down here. It is a maintained index of MLLM benchmarks, 258 of them as of May 2026. Slide 25 told them the easiest first publication is a benchmark for a domain nobody has covered; row four is how they check that claim is actually true before they spend a semester on it. Reviewers will check. Say that.</a:t>
            </a:r>
          </a:p>
          <a:p>
            <a:r>
              <a:t>Row two gives the formal vocabulary - representation, alignment, reasoning, generation, transference, quantification. A proposal that names its challenge in those terms reads as informed rather than enthusiastic, and that is worth more to a first-time applicant than any model recommendation.</a:t>
            </a:r>
          </a:p>
          <a:p>
            <a:r>
              <a:t>Terminology note if it comes up: IBM and several textbooks describe fusion as early, mid and late. What this deck calls cross-attention on slide 11 is what they call mid or intermediate fusion. Same three design choices, different labels.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1 is where most first papers die - the claim is too broad to evaluate. Push hard on narrowing. This slide is also a ready-made review checklist for the PhD scholars they supervise.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Your strongest slide for this room - every participant's institution is eligible and almost none have applied. Deliver the last line as an invitation, not a complaint about bureaucracy.</a:t>
            </a:r>
          </a:p>
          <a:p>
            <a:endParaRPr/>
          </a:p>
          <a:p>
            <a:r>
              <a:t>Be precise if challenged: the bars are budget estimates, and the revised estimates were lower (173 and 800 crore). The releases are still a small fraction either way. Do not overstate it - you spent Part Two building credibility.</a:t>
            </a:r>
          </a:p>
          <a:p>
            <a:endParaRPr/>
          </a:p>
          <a:p>
            <a:r>
              <a:t>Verify these figures the week you present. They move.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Verify the current call windows the week of the talk - these change. Do not read the whole slide. Point at ANRF and the IndiaAI compute pillar, which are the two that an AICTE-approved institution can act on immediately, and move 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bottom to top - the ladder is drawn rising. Two honest points. First, each rung is a semester, not a weekend, and rung one is the only one that needs no approval from anybody. Second, most departments try to jump straight to rung five and are rejected for having no pilot data; the ladder is the reason why.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Roughly the 76 minute mark. Deliver this as an invitation. The room contains people who assume grants are for IITs and NITs - the funding slide already showed them otherwise, and this line is the takeaway from it.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no more. You have just delivered the Part Four line, so read the first three aloud and let the fourth sit on screen - repeating it word for word one slide later sounds like padding.</a:t>
            </a:r>
          </a:p>
          <a:p>
            <a:endParaRPr/>
          </a:p>
          <a:p>
            <a:r>
              <a:t>This is the photograph slide. Pause on it, say so, and give the room a moment before you move to the two closing slides - the free toolkit tonight, then the Monday actions.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pays off the promise you made in the first twenty seconds - that they could run this themselves tonight, for free. Do not skip it, and do not let it become a tools lecture. Ninety seconds.</a:t>
            </a:r>
          </a:p>
          <a:p>
            <a:r>
              <a:t>Point at the first card and say plainly that it is the whole of stage 3 from slide 20, done in a browser, with no install request to IT and no purchase order. That is the sentence that gets a room of faculty to actually try it.</a:t>
            </a:r>
          </a:p>
          <a:p>
            <a:r>
              <a:t>The third card is for anyone whose data cannot leave campus - and after the deployment slide they now know who they are. An 8B open model on a 12 GB card is inside the budget of a department that already bought one gaming laptop for final-year projects.</a:t>
            </a:r>
          </a:p>
          <a:p>
            <a:r>
              <a:t>Say the closing line as a warning: verify these model names the week you present. Qwen3-VL and Gemma 3 are current as of mid-2026 and both families move fast. The five-stage architecture does not, which is exactly why the architecture was the session and this slide is only the footnote.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Land this hard. A session that ends with a specific Monday action gets remembered; one that ends with "the future is exciting" does not. Ask them to type which of the three they are picking into the chat - it takes ten seconds and it is the closest thing to a commitment you can get online.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slide link is the one field still to fill before you send the deck to the coordinator - ATAL asks for presentation files about a week in advance, and this deck is what participants keep. Since there is no demo, the deck has to stand alone: make sure slides 20 to 22 are legible in the PDF you send.</a:t>
            </a:r>
          </a:p>
          <a:p>
            <a:endParaRPr/>
          </a:p>
          <a:p>
            <a:r>
              <a:t>Keep this slide up for the whole Q and A so people can photograph it. If questions run dry, ask them the question from slide 2 again now that they have the vocabulary to answer it.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present this slide. It exists because the same question always arrives in the chat - which model should I actually use - and answering it live costs four minutes you do not have and dates the recording.</a:t>
            </a:r>
          </a:p>
          <a:p>
            <a:r>
              <a:t>If it is asked during Q and A, jump here, answer in thirty seconds, and go back. The answer is the footer: choose on where your data is allowed to live and what cost shape you can defend, then look at benchmarks. A department that picks on leaderboard position alone will re-pick every semester.</a:t>
            </a:r>
          </a:p>
          <a:p>
            <a:r>
              <a:t>Because participants keep the deck, this slide keeps earning after the session - but it is also the first thing in the deck that will go stale. Put a date on it before you send the file to the coordinator, so anyone reading it in six months knows to re-check.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github.com/lksmangai/DeepLearning/blob/master/Multimodal-AI-ATAL-FDP-Deck.pptx"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4"/>
        </a:solidFill>
        <a:effectLst/>
      </p:bgPr>
    </p:bg>
    <p:spTree>
      <p:nvGrpSpPr>
        <p:cNvPr id="1" name=""/>
        <p:cNvGrpSpPr/>
        <p:nvPr/>
      </p:nvGrpSpPr>
      <p:grpSpPr>
        <a:xfrm>
          <a:off x="0" y="0"/>
          <a:ext cx="0" cy="0"/>
          <a:chOff x="0" y="0"/>
          <a:chExt cx="0" cy="0"/>
        </a:xfrm>
      </p:grpSpPr>
      <p:sp>
        <p:nvSpPr>
          <p:cNvPr id="2" name="Shape 0"/>
          <p:cNvSpPr/>
          <p:nvPr/>
        </p:nvSpPr>
        <p:spPr>
          <a:xfrm>
            <a:off x="640080" y="1417320"/>
            <a:ext cx="155448" cy="155448"/>
          </a:xfrm>
          <a:prstGeom prst="ellipse">
            <a:avLst/>
          </a:prstGeom>
          <a:solidFill>
            <a:srgbClr val="00C2A8"/>
          </a:solidFill>
          <a:ln/>
        </p:spPr>
        <p:txBody>
          <a:bodyPr/>
          <a:lstStyle/>
          <a:p>
            <a:endParaRPr lang="en-IN"/>
          </a:p>
        </p:txBody>
      </p:sp>
      <p:sp>
        <p:nvSpPr>
          <p:cNvPr id="3" name="Shape 1"/>
          <p:cNvSpPr/>
          <p:nvPr/>
        </p:nvSpPr>
        <p:spPr>
          <a:xfrm>
            <a:off x="912114" y="1417320"/>
            <a:ext cx="155448" cy="155448"/>
          </a:xfrm>
          <a:prstGeom prst="ellipse">
            <a:avLst/>
          </a:prstGeom>
          <a:solidFill>
            <a:srgbClr val="FF6B4A"/>
          </a:solidFill>
          <a:ln/>
        </p:spPr>
        <p:txBody>
          <a:bodyPr/>
          <a:lstStyle/>
          <a:p>
            <a:endParaRPr lang="en-IN"/>
          </a:p>
        </p:txBody>
      </p:sp>
      <p:sp>
        <p:nvSpPr>
          <p:cNvPr id="4" name="Shape 2"/>
          <p:cNvSpPr/>
          <p:nvPr/>
        </p:nvSpPr>
        <p:spPr>
          <a:xfrm>
            <a:off x="1184148" y="1417320"/>
            <a:ext cx="155448" cy="155448"/>
          </a:xfrm>
          <a:prstGeom prst="ellipse">
            <a:avLst/>
          </a:prstGeom>
          <a:solidFill>
            <a:srgbClr val="FFC24A"/>
          </a:solidFill>
          <a:ln/>
        </p:spPr>
        <p:txBody>
          <a:bodyPr/>
          <a:lstStyle/>
          <a:p>
            <a:endParaRPr lang="en-IN"/>
          </a:p>
        </p:txBody>
      </p:sp>
      <p:sp>
        <p:nvSpPr>
          <p:cNvPr id="5" name="Text 3"/>
          <p:cNvSpPr/>
          <p:nvPr/>
        </p:nvSpPr>
        <p:spPr>
          <a:xfrm>
            <a:off x="640080" y="1874520"/>
            <a:ext cx="10241280" cy="155448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Arial" pitchFamily="34" charset="0"/>
                <a:ea typeface="Arial" pitchFamily="34" charset="-122"/>
                <a:cs typeface="Arial" pitchFamily="34" charset="-120"/>
              </a:rPr>
              <a:t>Emerging Trends in Artificial Intelligence</a:t>
            </a:r>
            <a:endParaRPr lang="en-US" sz="4000" dirty="0"/>
          </a:p>
          <a:p>
            <a:pPr marL="0" indent="0">
              <a:lnSpc>
                <a:spcPts val="4600"/>
              </a:lnSpc>
              <a:buNone/>
            </a:pPr>
            <a:r>
              <a:rPr lang="en-US" sz="4000" b="1" dirty="0">
                <a:solidFill>
                  <a:srgbClr val="FFFFFF"/>
                </a:solidFill>
                <a:latin typeface="Arial" pitchFamily="34" charset="0"/>
                <a:ea typeface="Arial" pitchFamily="34" charset="-122"/>
                <a:cs typeface="Arial" pitchFamily="34" charset="-120"/>
              </a:rPr>
              <a:t>and Data Science</a:t>
            </a:r>
            <a:endParaRPr lang="en-US" sz="4000" dirty="0"/>
          </a:p>
        </p:txBody>
      </p:sp>
      <p:sp>
        <p:nvSpPr>
          <p:cNvPr id="6" name="Text 4"/>
          <p:cNvSpPr/>
          <p:nvPr/>
        </p:nvSpPr>
        <p:spPr>
          <a:xfrm>
            <a:off x="640080" y="3493008"/>
            <a:ext cx="9601200" cy="411480"/>
          </a:xfrm>
          <a:prstGeom prst="rect">
            <a:avLst/>
          </a:prstGeom>
          <a:noFill/>
          <a:ln/>
        </p:spPr>
        <p:txBody>
          <a:bodyPr wrap="square" lIns="0" tIns="0" rIns="0" bIns="0" rtlCol="0" anchor="ctr"/>
          <a:lstStyle/>
          <a:p>
            <a:pPr marL="0" indent="0">
              <a:buNone/>
            </a:pPr>
            <a:r>
              <a:rPr lang="en-US" sz="2000" dirty="0">
                <a:solidFill>
                  <a:srgbClr val="A8B2C4"/>
                </a:solidFill>
                <a:latin typeface="Calibri" pitchFamily="34" charset="0"/>
                <a:ea typeface="Calibri" pitchFamily="34" charset="-122"/>
                <a:cs typeface="Calibri" pitchFamily="34" charset="-120"/>
              </a:rPr>
              <a:t>Bridging Fundamentals, Innovation, and Research</a:t>
            </a:r>
            <a:endParaRPr lang="en-US" sz="2000" dirty="0"/>
          </a:p>
        </p:txBody>
      </p:sp>
      <p:sp>
        <p:nvSpPr>
          <p:cNvPr id="7" name="Shape 5"/>
          <p:cNvSpPr/>
          <p:nvPr/>
        </p:nvSpPr>
        <p:spPr>
          <a:xfrm>
            <a:off x="640080" y="4224528"/>
            <a:ext cx="3063240" cy="475488"/>
          </a:xfrm>
          <a:prstGeom prst="roundRect">
            <a:avLst>
              <a:gd name="adj" fmla="val 50000"/>
            </a:avLst>
          </a:prstGeom>
          <a:solidFill>
            <a:srgbClr val="FF6B4A"/>
          </a:solidFill>
          <a:ln/>
        </p:spPr>
        <p:txBody>
          <a:bodyPr/>
          <a:lstStyle/>
          <a:p>
            <a:endParaRPr lang="en-IN"/>
          </a:p>
        </p:txBody>
      </p:sp>
      <p:sp>
        <p:nvSpPr>
          <p:cNvPr id="8" name="Text 6"/>
          <p:cNvSpPr/>
          <p:nvPr/>
        </p:nvSpPr>
        <p:spPr>
          <a:xfrm>
            <a:off x="640080" y="4224528"/>
            <a:ext cx="3063240" cy="475488"/>
          </a:xfrm>
          <a:prstGeom prst="rect">
            <a:avLst/>
          </a:prstGeom>
          <a:noFill/>
          <a:ln/>
        </p:spPr>
        <p:txBody>
          <a:bodyPr wrap="square" lIns="0" tIns="0" rIns="0" bIns="0" rtlCol="0" anchor="ctr"/>
          <a:lstStyle/>
          <a:p>
            <a:pPr marL="0" indent="0" algn="ctr">
              <a:buNone/>
            </a:pPr>
            <a:r>
              <a:rPr lang="en-US" sz="1200" b="1" kern="0" spc="100" dirty="0">
                <a:solidFill>
                  <a:srgbClr val="0E1524"/>
                </a:solidFill>
                <a:latin typeface="Arial" pitchFamily="34" charset="0"/>
                <a:ea typeface="Arial" pitchFamily="34" charset="-122"/>
                <a:cs typeface="Arial" pitchFamily="34" charset="-120"/>
              </a:rPr>
              <a:t>IN FOCUS:  MULTIMODAL AI</a:t>
            </a:r>
            <a:endParaRPr lang="en-US" sz="1200" dirty="0"/>
          </a:p>
        </p:txBody>
      </p:sp>
      <p:sp>
        <p:nvSpPr>
          <p:cNvPr id="9" name="Text 7"/>
          <p:cNvSpPr/>
          <p:nvPr/>
        </p:nvSpPr>
        <p:spPr>
          <a:xfrm>
            <a:off x="640080" y="4983480"/>
            <a:ext cx="7315200" cy="27432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AICTE ATAL Academy Online FDP  ·  Session 6  ·  90 minutes</a:t>
            </a:r>
            <a:endParaRPr lang="en-US" sz="1300" dirty="0"/>
          </a:p>
        </p:txBody>
      </p:sp>
      <p:sp>
        <p:nvSpPr>
          <p:cNvPr id="11" name="Text 7"/>
          <p:cNvSpPr/>
          <p:nvPr/>
        </p:nvSpPr>
        <p:spPr>
          <a:xfrm>
            <a:off x="640080" y="5410200"/>
            <a:ext cx="10241280" cy="27432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S. Lakshmanaraj  ·  Enterprise AI Architect - Services  ·  Ideas to Impacts, a Praavega.ai company</a:t>
            </a:r>
            <a:endParaRPr lang="en-US" sz="1300" dirty="0"/>
          </a:p>
        </p:txBody>
      </p:sp>
      <p:sp>
        <p:nvSpPr>
          <p:cNvPr id="10" name="Text 8"/>
          <p:cNvSpPr/>
          <p:nvPr/>
        </p:nvSpPr>
        <p:spPr>
          <a:xfrm>
            <a:off x="640080" y="5842000"/>
            <a:ext cx="10241280" cy="274320"/>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37+ years in enterprise IT  ·  the last four building AI systems  ·  Pune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24"/>
        </a:solidFill>
        <a:effectLst/>
      </p:bgPr>
    </p:bg>
    <p:spTree>
      <p:nvGrpSpPr>
        <p:cNvPr id="1" name=""/>
        <p:cNvGrpSpPr/>
        <p:nvPr/>
      </p:nvGrpSpPr>
      <p:grpSpPr>
        <a:xfrm>
          <a:off x="0" y="0"/>
          <a:ext cx="0" cy="0"/>
          <a:chOff x="0" y="0"/>
          <a:chExt cx="0" cy="0"/>
        </a:xfrm>
      </p:grpSpPr>
      <p:sp>
        <p:nvSpPr>
          <p:cNvPr id="2" name="Text 0"/>
          <p:cNvSpPr/>
          <p:nvPr/>
        </p:nvSpPr>
        <p:spPr>
          <a:xfrm>
            <a:off x="640080" y="685800"/>
            <a:ext cx="10908792" cy="64008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Four files. One model.</a:t>
            </a:r>
            <a:endParaRPr lang="en-US" sz="3400" dirty="0"/>
          </a:p>
        </p:txBody>
      </p:sp>
      <p:sp>
        <p:nvSpPr>
          <p:cNvPr id="3" name="Text 1"/>
          <p:cNvSpPr/>
          <p:nvPr/>
        </p:nvSpPr>
        <p:spPr>
          <a:xfrm>
            <a:off x="640080" y="1371600"/>
            <a:ext cx="9601200" cy="320040"/>
          </a:xfrm>
          <a:prstGeom prst="rect">
            <a:avLst/>
          </a:prstGeom>
          <a:noFill/>
          <a:ln/>
        </p:spPr>
        <p:txBody>
          <a:bodyPr wrap="square" lIns="0" tIns="0" rIns="0" bIns="0" rtlCol="0" anchor="ctr"/>
          <a:lstStyle/>
          <a:p>
            <a:pPr marL="0" indent="0">
              <a:buNone/>
            </a:pPr>
            <a:r>
              <a:rPr lang="en-US" sz="1500" dirty="0">
                <a:solidFill>
                  <a:srgbClr val="A8B2C4"/>
                </a:solidFill>
                <a:latin typeface="Calibri" pitchFamily="34" charset="0"/>
                <a:ea typeface="Calibri" pitchFamily="34" charset="-122"/>
                <a:cs typeface="Calibri" pitchFamily="34" charset="-120"/>
              </a:rPr>
              <a:t>Five years ago this needed four teams, four models, and four pipelines.</a:t>
            </a:r>
            <a:endParaRPr lang="en-US" sz="1500" dirty="0"/>
          </a:p>
        </p:txBody>
      </p:sp>
      <p:sp>
        <p:nvSpPr>
          <p:cNvPr id="4" name="Shape 2"/>
          <p:cNvSpPr/>
          <p:nvPr/>
        </p:nvSpPr>
        <p:spPr>
          <a:xfrm>
            <a:off x="640080" y="2148840"/>
            <a:ext cx="2500884" cy="1783080"/>
          </a:xfrm>
          <a:prstGeom prst="roundRect">
            <a:avLst>
              <a:gd name="adj" fmla="val 5128"/>
            </a:avLst>
          </a:prstGeom>
          <a:solidFill>
            <a:srgbClr val="1B2437"/>
          </a:solidFill>
          <a:ln/>
        </p:spPr>
        <p:txBody>
          <a:bodyPr/>
          <a:lstStyle/>
          <a:p>
            <a:endParaRPr lang="en-IN"/>
          </a:p>
        </p:txBody>
      </p:sp>
      <p:sp>
        <p:nvSpPr>
          <p:cNvPr id="5" name="Shape 3"/>
          <p:cNvSpPr/>
          <p:nvPr/>
        </p:nvSpPr>
        <p:spPr>
          <a:xfrm>
            <a:off x="932688" y="2450592"/>
            <a:ext cx="274320" cy="274320"/>
          </a:xfrm>
          <a:prstGeom prst="ellipse">
            <a:avLst/>
          </a:prstGeom>
          <a:solidFill>
            <a:srgbClr val="FF6B4A"/>
          </a:solidFill>
          <a:ln/>
        </p:spPr>
        <p:txBody>
          <a:bodyPr/>
          <a:lstStyle/>
          <a:p>
            <a:endParaRPr lang="en-IN"/>
          </a:p>
        </p:txBody>
      </p:sp>
      <p:sp>
        <p:nvSpPr>
          <p:cNvPr id="6" name="Text 4"/>
          <p:cNvSpPr/>
          <p:nvPr/>
        </p:nvSpPr>
        <p:spPr>
          <a:xfrm>
            <a:off x="1325880" y="2468880"/>
            <a:ext cx="1615084" cy="237744"/>
          </a:xfrm>
          <a:prstGeom prst="rect">
            <a:avLst/>
          </a:prstGeom>
          <a:noFill/>
          <a:ln/>
        </p:spPr>
        <p:txBody>
          <a:bodyPr wrap="square" lIns="0" tIns="0" rIns="0" bIns="0" rtlCol="0" anchor="ctr"/>
          <a:lstStyle/>
          <a:p>
            <a:pPr marL="0" indent="0">
              <a:buNone/>
            </a:pPr>
            <a:r>
              <a:rPr lang="en-US" sz="1000" b="1" kern="0" spc="150" dirty="0">
                <a:solidFill>
                  <a:srgbClr val="FF6B4A"/>
                </a:solidFill>
                <a:latin typeface="Arial" pitchFamily="34" charset="0"/>
                <a:ea typeface="Arial" pitchFamily="34" charset="-122"/>
                <a:cs typeface="Arial" pitchFamily="34" charset="-120"/>
              </a:rPr>
              <a:t>IMAGE</a:t>
            </a:r>
            <a:endParaRPr lang="en-US" sz="1000" dirty="0"/>
          </a:p>
        </p:txBody>
      </p:sp>
      <p:sp>
        <p:nvSpPr>
          <p:cNvPr id="7" name="Text 5"/>
          <p:cNvSpPr/>
          <p:nvPr/>
        </p:nvSpPr>
        <p:spPr>
          <a:xfrm>
            <a:off x="932688" y="2852928"/>
            <a:ext cx="1915668" cy="292608"/>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A photograph</a:t>
            </a:r>
            <a:endParaRPr lang="en-US" sz="1700" dirty="0"/>
          </a:p>
        </p:txBody>
      </p:sp>
      <p:sp>
        <p:nvSpPr>
          <p:cNvPr id="8" name="Text 6"/>
          <p:cNvSpPr/>
          <p:nvPr/>
        </p:nvSpPr>
        <p:spPr>
          <a:xfrm>
            <a:off x="932688" y="3200400"/>
            <a:ext cx="1915668" cy="548640"/>
          </a:xfrm>
          <a:prstGeom prst="rect">
            <a:avLst/>
          </a:prstGeom>
          <a:noFill/>
          <a:ln/>
        </p:spPr>
        <p:txBody>
          <a:bodyPr wrap="square" lIns="0" tIns="0" rIns="0" bIns="0" rtlCol="0" anchor="ctr"/>
          <a:lstStyle/>
          <a:p>
            <a:pPr marL="0" indent="0">
              <a:buNone/>
            </a:pPr>
            <a:r>
              <a:rPr lang="en-US" sz="1250" dirty="0">
                <a:solidFill>
                  <a:srgbClr val="A8B2C4"/>
                </a:solidFill>
                <a:latin typeface="Calibri" pitchFamily="34" charset="0"/>
                <a:ea typeface="Calibri" pitchFamily="34" charset="-122"/>
                <a:cs typeface="Calibri" pitchFamily="34" charset="-120"/>
              </a:rPr>
              <a:t>A cracked weld on a pipeline joint</a:t>
            </a:r>
            <a:endParaRPr lang="en-US" sz="1250" dirty="0"/>
          </a:p>
        </p:txBody>
      </p:sp>
      <p:sp>
        <p:nvSpPr>
          <p:cNvPr id="9" name="Shape 7"/>
          <p:cNvSpPr/>
          <p:nvPr/>
        </p:nvSpPr>
        <p:spPr>
          <a:xfrm>
            <a:off x="6245352" y="2148840"/>
            <a:ext cx="2500884" cy="1783080"/>
          </a:xfrm>
          <a:prstGeom prst="roundRect">
            <a:avLst>
              <a:gd name="adj" fmla="val 5128"/>
            </a:avLst>
          </a:prstGeom>
          <a:solidFill>
            <a:srgbClr val="1B2437"/>
          </a:solidFill>
          <a:ln/>
        </p:spPr>
        <p:txBody>
          <a:bodyPr/>
          <a:lstStyle/>
          <a:p>
            <a:endParaRPr lang="en-IN"/>
          </a:p>
        </p:txBody>
      </p:sp>
      <p:sp>
        <p:nvSpPr>
          <p:cNvPr id="10" name="Shape 8"/>
          <p:cNvSpPr/>
          <p:nvPr/>
        </p:nvSpPr>
        <p:spPr>
          <a:xfrm>
            <a:off x="6537960" y="2450592"/>
            <a:ext cx="274320" cy="274320"/>
          </a:xfrm>
          <a:prstGeom prst="ellipse">
            <a:avLst/>
          </a:prstGeom>
          <a:solidFill>
            <a:srgbClr val="00C2A8"/>
          </a:solidFill>
          <a:ln/>
        </p:spPr>
        <p:txBody>
          <a:bodyPr/>
          <a:lstStyle/>
          <a:p>
            <a:endParaRPr lang="en-IN"/>
          </a:p>
        </p:txBody>
      </p:sp>
      <p:sp>
        <p:nvSpPr>
          <p:cNvPr id="11" name="Text 9"/>
          <p:cNvSpPr/>
          <p:nvPr/>
        </p:nvSpPr>
        <p:spPr>
          <a:xfrm>
            <a:off x="6931152" y="2468880"/>
            <a:ext cx="1615084" cy="237744"/>
          </a:xfrm>
          <a:prstGeom prst="rect">
            <a:avLst/>
          </a:prstGeom>
          <a:noFill/>
          <a:ln/>
        </p:spPr>
        <p:txBody>
          <a:bodyPr wrap="square" lIns="0" tIns="0" rIns="0" bIns="0" rtlCol="0" anchor="ctr"/>
          <a:lstStyle/>
          <a:p>
            <a:pPr marL="0" indent="0">
              <a:buNone/>
            </a:pPr>
            <a:r>
              <a:rPr lang="en-US" sz="1000" b="1" kern="0" spc="150" dirty="0">
                <a:solidFill>
                  <a:srgbClr val="00C2A8"/>
                </a:solidFill>
                <a:latin typeface="Arial" pitchFamily="34" charset="0"/>
                <a:ea typeface="Arial" pitchFamily="34" charset="-122"/>
                <a:cs typeface="Arial" pitchFamily="34" charset="-120"/>
              </a:rPr>
              <a:t>AUDIO</a:t>
            </a:r>
            <a:endParaRPr lang="en-US" sz="1000" dirty="0"/>
          </a:p>
        </p:txBody>
      </p:sp>
      <p:sp>
        <p:nvSpPr>
          <p:cNvPr id="12" name="Text 10"/>
          <p:cNvSpPr/>
          <p:nvPr/>
        </p:nvSpPr>
        <p:spPr>
          <a:xfrm>
            <a:off x="6537960" y="2852928"/>
            <a:ext cx="1915668" cy="292608"/>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A voice note</a:t>
            </a:r>
            <a:endParaRPr lang="en-US" sz="1700" dirty="0"/>
          </a:p>
        </p:txBody>
      </p:sp>
      <p:sp>
        <p:nvSpPr>
          <p:cNvPr id="13" name="Text 11"/>
          <p:cNvSpPr/>
          <p:nvPr/>
        </p:nvSpPr>
        <p:spPr>
          <a:xfrm>
            <a:off x="6537960" y="3200400"/>
            <a:ext cx="1915668" cy="548640"/>
          </a:xfrm>
          <a:prstGeom prst="rect">
            <a:avLst/>
          </a:prstGeom>
          <a:noFill/>
          <a:ln/>
        </p:spPr>
        <p:txBody>
          <a:bodyPr wrap="square" lIns="0" tIns="0" rIns="0" bIns="0" rtlCol="0" anchor="ctr"/>
          <a:lstStyle/>
          <a:p>
            <a:pPr marL="0" indent="0">
              <a:buNone/>
            </a:pPr>
            <a:r>
              <a:rPr lang="en-US" sz="1250" dirty="0">
                <a:solidFill>
                  <a:srgbClr val="A8B2C4"/>
                </a:solidFill>
                <a:latin typeface="Calibri" pitchFamily="34" charset="0"/>
                <a:ea typeface="Calibri" pitchFamily="34" charset="-122"/>
                <a:cs typeface="Calibri" pitchFamily="34" charset="-120"/>
              </a:rPr>
              <a:t>The site engineer describing what he saw</a:t>
            </a:r>
            <a:endParaRPr lang="en-US" sz="1250" dirty="0"/>
          </a:p>
        </p:txBody>
      </p:sp>
      <p:sp>
        <p:nvSpPr>
          <p:cNvPr id="14" name="Shape 12"/>
          <p:cNvSpPr/>
          <p:nvPr/>
        </p:nvSpPr>
        <p:spPr>
          <a:xfrm>
            <a:off x="9047988" y="2148840"/>
            <a:ext cx="2500884" cy="1783080"/>
          </a:xfrm>
          <a:prstGeom prst="roundRect">
            <a:avLst>
              <a:gd name="adj" fmla="val 5128"/>
            </a:avLst>
          </a:prstGeom>
          <a:solidFill>
            <a:srgbClr val="1B2437"/>
          </a:solidFill>
          <a:ln/>
        </p:spPr>
        <p:txBody>
          <a:bodyPr/>
          <a:lstStyle/>
          <a:p>
            <a:endParaRPr lang="en-IN"/>
          </a:p>
        </p:txBody>
      </p:sp>
      <p:sp>
        <p:nvSpPr>
          <p:cNvPr id="15" name="Shape 13"/>
          <p:cNvSpPr/>
          <p:nvPr/>
        </p:nvSpPr>
        <p:spPr>
          <a:xfrm>
            <a:off x="9340596" y="2450592"/>
            <a:ext cx="274320" cy="274320"/>
          </a:xfrm>
          <a:prstGeom prst="ellipse">
            <a:avLst/>
          </a:prstGeom>
          <a:solidFill>
            <a:srgbClr val="A8B2C4"/>
          </a:solidFill>
          <a:ln/>
        </p:spPr>
        <p:txBody>
          <a:bodyPr/>
          <a:lstStyle/>
          <a:p>
            <a:endParaRPr lang="en-IN"/>
          </a:p>
        </p:txBody>
      </p:sp>
      <p:sp>
        <p:nvSpPr>
          <p:cNvPr id="16" name="Text 14"/>
          <p:cNvSpPr/>
          <p:nvPr/>
        </p:nvSpPr>
        <p:spPr>
          <a:xfrm>
            <a:off x="9733788" y="2468880"/>
            <a:ext cx="1615084" cy="237744"/>
          </a:xfrm>
          <a:prstGeom prst="rect">
            <a:avLst/>
          </a:prstGeom>
          <a:noFill/>
          <a:ln/>
        </p:spPr>
        <p:txBody>
          <a:bodyPr wrap="square" lIns="0" tIns="0" rIns="0" bIns="0" rtlCol="0" anchor="ctr"/>
          <a:lstStyle/>
          <a:p>
            <a:pPr marL="0" indent="0">
              <a:buNone/>
            </a:pPr>
            <a:r>
              <a:rPr lang="en-US" sz="1000" b="1" kern="0" spc="150" dirty="0">
                <a:solidFill>
                  <a:srgbClr val="A8B2C4"/>
                </a:solidFill>
                <a:latin typeface="Arial" pitchFamily="34" charset="0"/>
                <a:ea typeface="Arial" pitchFamily="34" charset="-122"/>
                <a:cs typeface="Arial" pitchFamily="34" charset="-120"/>
              </a:rPr>
              <a:t>STRUCTURED</a:t>
            </a:r>
            <a:endParaRPr lang="en-US" sz="1000" dirty="0"/>
          </a:p>
        </p:txBody>
      </p:sp>
      <p:sp>
        <p:nvSpPr>
          <p:cNvPr id="17" name="Text 15"/>
          <p:cNvSpPr/>
          <p:nvPr/>
        </p:nvSpPr>
        <p:spPr>
          <a:xfrm>
            <a:off x="9340596" y="2852928"/>
            <a:ext cx="1915668" cy="292608"/>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A spreadsheet</a:t>
            </a:r>
            <a:endParaRPr lang="en-US" sz="1700" dirty="0"/>
          </a:p>
        </p:txBody>
      </p:sp>
      <p:sp>
        <p:nvSpPr>
          <p:cNvPr id="18" name="Text 16"/>
          <p:cNvSpPr/>
          <p:nvPr/>
        </p:nvSpPr>
        <p:spPr>
          <a:xfrm>
            <a:off x="9340596" y="3200400"/>
            <a:ext cx="1915668" cy="548640"/>
          </a:xfrm>
          <a:prstGeom prst="rect">
            <a:avLst/>
          </a:prstGeom>
          <a:noFill/>
          <a:ln/>
        </p:spPr>
        <p:txBody>
          <a:bodyPr wrap="square" lIns="0" tIns="0" rIns="0" bIns="0" rtlCol="0" anchor="ctr"/>
          <a:lstStyle/>
          <a:p>
            <a:pPr marL="0" indent="0">
              <a:buNone/>
            </a:pPr>
            <a:r>
              <a:rPr lang="en-US" sz="1250" dirty="0">
                <a:solidFill>
                  <a:srgbClr val="A8B2C4"/>
                </a:solidFill>
                <a:latin typeface="Calibri" pitchFamily="34" charset="0"/>
                <a:ea typeface="Calibri" pitchFamily="34" charset="-122"/>
                <a:cs typeface="Calibri" pitchFamily="34" charset="-120"/>
              </a:rPr>
              <a:t>Six months of pressure sensor readings</a:t>
            </a:r>
            <a:endParaRPr lang="en-US" sz="1250" dirty="0"/>
          </a:p>
        </p:txBody>
      </p:sp>
      <p:sp>
        <p:nvSpPr>
          <p:cNvPr id="19" name="Shape 17"/>
          <p:cNvSpPr/>
          <p:nvPr/>
        </p:nvSpPr>
        <p:spPr>
          <a:xfrm>
            <a:off x="640080" y="4434840"/>
            <a:ext cx="10908792" cy="1234440"/>
          </a:xfrm>
          <a:prstGeom prst="roundRect">
            <a:avLst>
              <a:gd name="adj" fmla="val 7407"/>
            </a:avLst>
          </a:prstGeom>
          <a:solidFill>
            <a:srgbClr val="FFFFFF"/>
          </a:solidFill>
          <a:ln/>
        </p:spPr>
        <p:txBody>
          <a:bodyPr/>
          <a:lstStyle/>
          <a:p>
            <a:endParaRPr lang="en-IN"/>
          </a:p>
        </p:txBody>
      </p:sp>
      <p:sp>
        <p:nvSpPr>
          <p:cNvPr id="20" name="Text 18"/>
          <p:cNvSpPr/>
          <p:nvPr/>
        </p:nvSpPr>
        <p:spPr>
          <a:xfrm>
            <a:off x="1005840" y="4617720"/>
            <a:ext cx="10149840" cy="365760"/>
          </a:xfrm>
          <a:prstGeom prst="rect">
            <a:avLst/>
          </a:prstGeom>
          <a:noFill/>
          <a:ln/>
        </p:spPr>
        <p:txBody>
          <a:bodyPr wrap="square" lIns="0" tIns="0" rIns="0" bIns="0" rtlCol="0" anchor="ctr"/>
          <a:lstStyle/>
          <a:p>
            <a:pPr marL="0" indent="0">
              <a:buNone/>
            </a:pPr>
            <a:r>
              <a:rPr lang="en-US" sz="2000" b="1" dirty="0">
                <a:solidFill>
                  <a:srgbClr val="0E1524"/>
                </a:solidFill>
                <a:latin typeface="Arial" pitchFamily="34" charset="0"/>
                <a:ea typeface="Arial" pitchFamily="34" charset="-122"/>
                <a:cs typeface="Arial" pitchFamily="34" charset="-120"/>
              </a:rPr>
              <a:t>"Is this joint safe to run through monsoon season?"</a:t>
            </a:r>
            <a:endParaRPr lang="en-US" sz="2000" dirty="0"/>
          </a:p>
        </p:txBody>
      </p:sp>
      <p:sp>
        <p:nvSpPr>
          <p:cNvPr id="21" name="Text 19"/>
          <p:cNvSpPr/>
          <p:nvPr/>
        </p:nvSpPr>
        <p:spPr>
          <a:xfrm>
            <a:off x="1005840" y="5047488"/>
            <a:ext cx="10149840" cy="320040"/>
          </a:xfrm>
          <a:prstGeom prst="rect">
            <a:avLst/>
          </a:prstGeom>
          <a:noFill/>
          <a:ln/>
        </p:spPr>
        <p:txBody>
          <a:bodyPr wrap="square" lIns="0" tIns="0" rIns="0" bIns="0" rtlCol="0" anchor="ctr"/>
          <a:lstStyle/>
          <a:p>
            <a:pPr marL="0" indent="0">
              <a:buNone/>
            </a:pPr>
            <a:r>
              <a:rPr lang="en-US" sz="1400" i="1" dirty="0">
                <a:solidFill>
                  <a:srgbClr val="6B7689"/>
                </a:solidFill>
                <a:latin typeface="Calibri" pitchFamily="34" charset="0"/>
                <a:ea typeface="Calibri" pitchFamily="34" charset="-122"/>
                <a:cs typeface="Calibri" pitchFamily="34" charset="-120"/>
              </a:rPr>
              <a:t>One question. One model. It has to look, watch, listen, and read the numbers to answer it.</a:t>
            </a:r>
            <a:endParaRPr lang="en-US" sz="1400" dirty="0"/>
          </a:p>
        </p:txBody>
      </p:sp>
      <p:sp>
        <p:nvSpPr>
          <p:cNvPr id="22" name="Shape 2"/>
          <p:cNvSpPr/>
          <p:nvPr/>
        </p:nvSpPr>
        <p:spPr>
          <a:xfrm>
            <a:off x="3442716" y="2148840"/>
            <a:ext cx="2500884" cy="1783080"/>
          </a:xfrm>
          <a:prstGeom prst="roundRect">
            <a:avLst>
              <a:gd name="adj" fmla="val 5128"/>
            </a:avLst>
          </a:prstGeom>
          <a:solidFill>
            <a:srgbClr val="1B2437"/>
          </a:solidFill>
          <a:ln/>
        </p:spPr>
        <p:txBody>
          <a:bodyPr/>
          <a:lstStyle/>
          <a:p>
            <a:endParaRPr lang="en-IN"/>
          </a:p>
        </p:txBody>
      </p:sp>
      <p:sp>
        <p:nvSpPr>
          <p:cNvPr id="23" name="Shape 3"/>
          <p:cNvSpPr/>
          <p:nvPr/>
        </p:nvSpPr>
        <p:spPr>
          <a:xfrm>
            <a:off x="3735324" y="2450592"/>
            <a:ext cx="274320" cy="274320"/>
          </a:xfrm>
          <a:prstGeom prst="ellipse">
            <a:avLst/>
          </a:prstGeom>
          <a:solidFill>
            <a:srgbClr val="FFC24A"/>
          </a:solidFill>
          <a:ln/>
        </p:spPr>
        <p:txBody>
          <a:bodyPr/>
          <a:lstStyle/>
          <a:p>
            <a:endParaRPr lang="en-IN"/>
          </a:p>
        </p:txBody>
      </p:sp>
      <p:sp>
        <p:nvSpPr>
          <p:cNvPr id="24" name="Text 4"/>
          <p:cNvSpPr/>
          <p:nvPr/>
        </p:nvSpPr>
        <p:spPr>
          <a:xfrm>
            <a:off x="4128516" y="2468880"/>
            <a:ext cx="1615084" cy="237744"/>
          </a:xfrm>
          <a:prstGeom prst="rect">
            <a:avLst/>
          </a:prstGeom>
          <a:noFill/>
          <a:ln/>
        </p:spPr>
        <p:txBody>
          <a:bodyPr wrap="square" lIns="0" tIns="0" rIns="0" bIns="0" rtlCol="0" anchor="ctr"/>
          <a:lstStyle/>
          <a:p>
            <a:pPr marL="0" indent="0">
              <a:buNone/>
            </a:pPr>
            <a:r>
              <a:rPr lang="en-US" sz="1000" b="1" kern="0" spc="150" dirty="0">
                <a:solidFill>
                  <a:srgbClr val="FFC24A"/>
                </a:solidFill>
                <a:latin typeface="Arial" pitchFamily="34" charset="0"/>
                <a:ea typeface="Arial" pitchFamily="34" charset="-122"/>
                <a:cs typeface="Arial" pitchFamily="34" charset="-120"/>
              </a:rPr>
              <a:t>VIDEO</a:t>
            </a:r>
            <a:endParaRPr lang="en-US" sz="1000" dirty="0"/>
          </a:p>
        </p:txBody>
      </p:sp>
      <p:sp>
        <p:nvSpPr>
          <p:cNvPr id="25" name="Text 5"/>
          <p:cNvSpPr/>
          <p:nvPr/>
        </p:nvSpPr>
        <p:spPr>
          <a:xfrm>
            <a:off x="3735324" y="2852928"/>
            <a:ext cx="1915668" cy="292608"/>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A drone clip</a:t>
            </a:r>
            <a:endParaRPr lang="en-US" sz="1700" dirty="0"/>
          </a:p>
        </p:txBody>
      </p:sp>
      <p:sp>
        <p:nvSpPr>
          <p:cNvPr id="26" name="Text 6"/>
          <p:cNvSpPr/>
          <p:nvPr/>
        </p:nvSpPr>
        <p:spPr>
          <a:xfrm>
            <a:off x="3735324" y="3200400"/>
            <a:ext cx="1915668" cy="548640"/>
          </a:xfrm>
          <a:prstGeom prst="rect">
            <a:avLst/>
          </a:prstGeom>
          <a:noFill/>
          <a:ln/>
        </p:spPr>
        <p:txBody>
          <a:bodyPr wrap="square" lIns="0" tIns="0" rIns="0" bIns="0" rtlCol="0" anchor="ctr"/>
          <a:lstStyle/>
          <a:p>
            <a:pPr marL="0" indent="0">
              <a:buNone/>
            </a:pPr>
            <a:r>
              <a:rPr lang="en-US" sz="1250" dirty="0">
                <a:solidFill>
                  <a:srgbClr val="A8B2C4"/>
                </a:solidFill>
                <a:latin typeface="Calibri" pitchFamily="34" charset="0"/>
                <a:ea typeface="Calibri" pitchFamily="34" charset="-122"/>
                <a:cs typeface="Calibri" pitchFamily="34" charset="-120"/>
              </a:rPr>
              <a:t>90 seconds along the same pipeline run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ROADMAP</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How the next 90 minutes runs</a:t>
            </a:r>
            <a:endParaRPr lang="en-US" sz="3400" dirty="0"/>
          </a:p>
        </p:txBody>
      </p:sp>
      <p:sp>
        <p:nvSpPr>
          <p:cNvPr id="4" name="Shape 2"/>
          <p:cNvSpPr/>
          <p:nvPr/>
        </p:nvSpPr>
        <p:spPr>
          <a:xfrm>
            <a:off x="640080" y="1600200"/>
            <a:ext cx="10908792" cy="621792"/>
          </a:xfrm>
          <a:prstGeom prst="roundRect">
            <a:avLst>
              <a:gd name="adj" fmla="val 11765"/>
            </a:avLst>
          </a:prstGeom>
          <a:solidFill>
            <a:srgbClr val="F4F6FA"/>
          </a:solidFill>
          <a:ln/>
        </p:spPr>
        <p:txBody>
          <a:bodyPr/>
          <a:lstStyle/>
          <a:p>
            <a:endParaRPr lang="en-IN"/>
          </a:p>
        </p:txBody>
      </p:sp>
      <p:sp>
        <p:nvSpPr>
          <p:cNvPr id="5" name="Text 3"/>
          <p:cNvSpPr/>
          <p:nvPr/>
        </p:nvSpPr>
        <p:spPr>
          <a:xfrm>
            <a:off x="896112" y="1600200"/>
            <a:ext cx="1188720" cy="621792"/>
          </a:xfrm>
          <a:prstGeom prst="rect">
            <a:avLst/>
          </a:prstGeom>
          <a:noFill/>
          <a:ln/>
        </p:spPr>
        <p:txBody>
          <a:bodyPr wrap="square" lIns="0" tIns="0" rIns="0" bIns="0" rtlCol="0" anchor="ctr"/>
          <a:lstStyle/>
          <a:p>
            <a:pPr marL="0" indent="0">
              <a:buNone/>
            </a:pPr>
            <a:r>
              <a:rPr lang="en-US" sz="1300" b="1" dirty="0">
                <a:solidFill>
                  <a:srgbClr val="6B7689"/>
                </a:solidFill>
                <a:latin typeface="Arial" pitchFamily="34" charset="0"/>
                <a:ea typeface="Arial" pitchFamily="34" charset="-122"/>
                <a:cs typeface="Arial" pitchFamily="34" charset="-120"/>
              </a:rPr>
              <a:t>00-06 min</a:t>
            </a:r>
            <a:endParaRPr lang="en-US" sz="1300" dirty="0"/>
          </a:p>
        </p:txBody>
      </p:sp>
      <p:sp>
        <p:nvSpPr>
          <p:cNvPr id="6" name="Text 4"/>
          <p:cNvSpPr/>
          <p:nvPr/>
        </p:nvSpPr>
        <p:spPr>
          <a:xfrm>
            <a:off x="2240280" y="1600200"/>
            <a:ext cx="2834640" cy="621792"/>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Opening</a:t>
            </a:r>
            <a:endParaRPr lang="en-US" sz="1500" dirty="0"/>
          </a:p>
        </p:txBody>
      </p:sp>
      <p:sp>
        <p:nvSpPr>
          <p:cNvPr id="7" name="Text 5"/>
          <p:cNvSpPr/>
          <p:nvPr/>
        </p:nvSpPr>
        <p:spPr>
          <a:xfrm>
            <a:off x="5166360" y="1600200"/>
            <a:ext cx="6035040" cy="621792"/>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Why this topic, and what you leave with</a:t>
            </a:r>
            <a:endParaRPr lang="en-US" sz="1300" dirty="0"/>
          </a:p>
        </p:txBody>
      </p:sp>
      <p:sp>
        <p:nvSpPr>
          <p:cNvPr id="8" name="Shape 6"/>
          <p:cNvSpPr/>
          <p:nvPr/>
        </p:nvSpPr>
        <p:spPr>
          <a:xfrm>
            <a:off x="640080" y="2359152"/>
            <a:ext cx="10908792" cy="621792"/>
          </a:xfrm>
          <a:prstGeom prst="roundRect">
            <a:avLst>
              <a:gd name="adj" fmla="val 11765"/>
            </a:avLst>
          </a:prstGeom>
          <a:solidFill>
            <a:srgbClr val="F4F6FA"/>
          </a:solidFill>
          <a:ln/>
        </p:spPr>
        <p:txBody>
          <a:bodyPr/>
          <a:lstStyle/>
          <a:p>
            <a:endParaRPr lang="en-IN"/>
          </a:p>
        </p:txBody>
      </p:sp>
      <p:sp>
        <p:nvSpPr>
          <p:cNvPr id="9" name="Text 7"/>
          <p:cNvSpPr/>
          <p:nvPr/>
        </p:nvSpPr>
        <p:spPr>
          <a:xfrm>
            <a:off x="896112" y="2359152"/>
            <a:ext cx="1188720" cy="621792"/>
          </a:xfrm>
          <a:prstGeom prst="rect">
            <a:avLst/>
          </a:prstGeom>
          <a:noFill/>
          <a:ln/>
        </p:spPr>
        <p:txBody>
          <a:bodyPr wrap="square" lIns="0" tIns="0" rIns="0" bIns="0" rtlCol="0" anchor="ctr"/>
          <a:lstStyle/>
          <a:p>
            <a:pPr marL="0" indent="0">
              <a:buNone/>
            </a:pPr>
            <a:r>
              <a:rPr lang="en-US" sz="1300" b="1" dirty="0">
                <a:solidFill>
                  <a:srgbClr val="00C2A8"/>
                </a:solidFill>
                <a:latin typeface="Arial" pitchFamily="34" charset="0"/>
                <a:ea typeface="Arial" pitchFamily="34" charset="-122"/>
                <a:cs typeface="Arial" pitchFamily="34" charset="-120"/>
              </a:rPr>
              <a:t>06-26 min</a:t>
            </a:r>
            <a:endParaRPr lang="en-US" sz="1300" dirty="0"/>
          </a:p>
        </p:txBody>
      </p:sp>
      <p:sp>
        <p:nvSpPr>
          <p:cNvPr id="10" name="Text 8"/>
          <p:cNvSpPr/>
          <p:nvPr/>
        </p:nvSpPr>
        <p:spPr>
          <a:xfrm>
            <a:off x="2240280" y="2359152"/>
            <a:ext cx="2834640" cy="621792"/>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Fundamentals</a:t>
            </a:r>
            <a:endParaRPr lang="en-US" sz="1500" dirty="0"/>
          </a:p>
        </p:txBody>
      </p:sp>
      <p:sp>
        <p:nvSpPr>
          <p:cNvPr id="11" name="Text 9"/>
          <p:cNvSpPr/>
          <p:nvPr/>
        </p:nvSpPr>
        <p:spPr>
          <a:xfrm>
            <a:off x="5166360" y="2359152"/>
            <a:ext cx="6035040" cy="621792"/>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What actually changed under the hood</a:t>
            </a:r>
            <a:endParaRPr lang="en-US" sz="1300" dirty="0"/>
          </a:p>
        </p:txBody>
      </p:sp>
      <p:sp>
        <p:nvSpPr>
          <p:cNvPr id="12" name="Shape 10"/>
          <p:cNvSpPr/>
          <p:nvPr/>
        </p:nvSpPr>
        <p:spPr>
          <a:xfrm>
            <a:off x="640080" y="3118104"/>
            <a:ext cx="10908792" cy="621792"/>
          </a:xfrm>
          <a:prstGeom prst="roundRect">
            <a:avLst>
              <a:gd name="adj" fmla="val 11765"/>
            </a:avLst>
          </a:prstGeom>
          <a:solidFill>
            <a:srgbClr val="F4F6FA"/>
          </a:solidFill>
          <a:ln/>
        </p:spPr>
        <p:txBody>
          <a:bodyPr/>
          <a:lstStyle/>
          <a:p>
            <a:endParaRPr lang="en-IN"/>
          </a:p>
        </p:txBody>
      </p:sp>
      <p:sp>
        <p:nvSpPr>
          <p:cNvPr id="13" name="Text 11"/>
          <p:cNvSpPr/>
          <p:nvPr/>
        </p:nvSpPr>
        <p:spPr>
          <a:xfrm>
            <a:off x="896112" y="3118104"/>
            <a:ext cx="1188720" cy="621792"/>
          </a:xfrm>
          <a:prstGeom prst="rect">
            <a:avLst/>
          </a:prstGeom>
          <a:noFill/>
          <a:ln/>
        </p:spPr>
        <p:txBody>
          <a:bodyPr wrap="square" lIns="0" tIns="0" rIns="0" bIns="0" rtlCol="0" anchor="ctr"/>
          <a:lstStyle/>
          <a:p>
            <a:pPr marL="0" indent="0">
              <a:buNone/>
            </a:pPr>
            <a:r>
              <a:rPr lang="en-US" sz="1300" b="1" dirty="0">
                <a:solidFill>
                  <a:srgbClr val="FF6B4A"/>
                </a:solidFill>
                <a:latin typeface="Arial" pitchFamily="34" charset="0"/>
                <a:ea typeface="Arial" pitchFamily="34" charset="-122"/>
                <a:cs typeface="Arial" pitchFamily="34" charset="-120"/>
              </a:rPr>
              <a:t>26-44 min</a:t>
            </a:r>
            <a:endParaRPr lang="en-US" sz="1300" dirty="0"/>
          </a:p>
        </p:txBody>
      </p:sp>
      <p:sp>
        <p:nvSpPr>
          <p:cNvPr id="14" name="Text 12"/>
          <p:cNvSpPr/>
          <p:nvPr/>
        </p:nvSpPr>
        <p:spPr>
          <a:xfrm>
            <a:off x="2240280" y="3118104"/>
            <a:ext cx="2834640" cy="621792"/>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Innovation</a:t>
            </a:r>
            <a:endParaRPr lang="en-US" sz="1500" dirty="0"/>
          </a:p>
        </p:txBody>
      </p:sp>
      <p:sp>
        <p:nvSpPr>
          <p:cNvPr id="15" name="Text 13"/>
          <p:cNvSpPr/>
          <p:nvPr/>
        </p:nvSpPr>
        <p:spPr>
          <a:xfrm>
            <a:off x="5166360" y="3118104"/>
            <a:ext cx="6035040" cy="621792"/>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What is newly possible, and what still breaks</a:t>
            </a:r>
            <a:endParaRPr lang="en-US" sz="1300" dirty="0"/>
          </a:p>
        </p:txBody>
      </p:sp>
      <p:sp>
        <p:nvSpPr>
          <p:cNvPr id="16" name="Shape 14"/>
          <p:cNvSpPr/>
          <p:nvPr/>
        </p:nvSpPr>
        <p:spPr>
          <a:xfrm>
            <a:off x="640080" y="3877056"/>
            <a:ext cx="10908792" cy="621792"/>
          </a:xfrm>
          <a:prstGeom prst="roundRect">
            <a:avLst>
              <a:gd name="adj" fmla="val 11765"/>
            </a:avLst>
          </a:prstGeom>
          <a:solidFill>
            <a:srgbClr val="0E1524"/>
          </a:solidFill>
          <a:ln/>
        </p:spPr>
        <p:txBody>
          <a:bodyPr/>
          <a:lstStyle/>
          <a:p>
            <a:endParaRPr lang="en-IN"/>
          </a:p>
        </p:txBody>
      </p:sp>
      <p:sp>
        <p:nvSpPr>
          <p:cNvPr id="17" name="Text 15"/>
          <p:cNvSpPr/>
          <p:nvPr/>
        </p:nvSpPr>
        <p:spPr>
          <a:xfrm>
            <a:off x="896112" y="3877056"/>
            <a:ext cx="1188720" cy="621792"/>
          </a:xfrm>
          <a:prstGeom prst="rect">
            <a:avLst/>
          </a:prstGeom>
          <a:noFill/>
          <a:ln/>
        </p:spPr>
        <p:txBody>
          <a:bodyPr wrap="square" lIns="0" tIns="0" rIns="0" bIns="0" rtlCol="0" anchor="ctr"/>
          <a:lstStyle/>
          <a:p>
            <a:pPr marL="0" indent="0">
              <a:buNone/>
            </a:pPr>
            <a:r>
              <a:rPr lang="en-US" sz="1300" b="1" dirty="0">
                <a:solidFill>
                  <a:srgbClr val="FFC24A"/>
                </a:solidFill>
                <a:latin typeface="Arial" pitchFamily="34" charset="0"/>
                <a:ea typeface="Arial" pitchFamily="34" charset="-122"/>
                <a:cs typeface="Arial" pitchFamily="34" charset="-120"/>
              </a:rPr>
              <a:t>44-60 min</a:t>
            </a:r>
            <a:endParaRPr lang="en-US" sz="1300" dirty="0"/>
          </a:p>
        </p:txBody>
      </p:sp>
      <p:sp>
        <p:nvSpPr>
          <p:cNvPr id="18" name="Text 16"/>
          <p:cNvSpPr/>
          <p:nvPr/>
        </p:nvSpPr>
        <p:spPr>
          <a:xfrm>
            <a:off x="2240280" y="3877056"/>
            <a:ext cx="2834640" cy="621792"/>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Architecture</a:t>
            </a:r>
            <a:endParaRPr lang="en-US" sz="1500" dirty="0"/>
          </a:p>
        </p:txBody>
      </p:sp>
      <p:sp>
        <p:nvSpPr>
          <p:cNvPr id="19" name="Text 17"/>
          <p:cNvSpPr/>
          <p:nvPr/>
        </p:nvSpPr>
        <p:spPr>
          <a:xfrm>
            <a:off x="5166360" y="3877056"/>
            <a:ext cx="6035040" cy="621792"/>
          </a:xfrm>
          <a:prstGeom prst="rect">
            <a:avLst/>
          </a:prstGeom>
          <a:noFill/>
          <a:ln/>
        </p:spPr>
        <p:txBody>
          <a:bodyPr wrap="square" lIns="0" tIns="0" rIns="0" bIns="0" rtlCol="0" anchor="ctr"/>
          <a:lstStyle/>
          <a:p>
            <a:pPr marL="0" indent="0">
              <a:buNone/>
            </a:pPr>
            <a:r>
              <a:rPr lang="en-US" sz="1300" dirty="0">
                <a:solidFill>
                  <a:srgbClr val="A8B2C4"/>
                </a:solidFill>
                <a:latin typeface="Calibri" pitchFamily="34" charset="0"/>
                <a:ea typeface="Calibri" pitchFamily="34" charset="-122"/>
                <a:cs typeface="Calibri" pitchFamily="34" charset="-120"/>
              </a:rPr>
              <a:t>How one of these is assembled, stage by stage</a:t>
            </a:r>
            <a:endParaRPr lang="en-US" sz="1300" dirty="0"/>
          </a:p>
        </p:txBody>
      </p:sp>
      <p:sp>
        <p:nvSpPr>
          <p:cNvPr id="20" name="Shape 18"/>
          <p:cNvSpPr/>
          <p:nvPr/>
        </p:nvSpPr>
        <p:spPr>
          <a:xfrm>
            <a:off x="640080" y="4636008"/>
            <a:ext cx="10908792" cy="621792"/>
          </a:xfrm>
          <a:prstGeom prst="roundRect">
            <a:avLst>
              <a:gd name="adj" fmla="val 11765"/>
            </a:avLst>
          </a:prstGeom>
          <a:solidFill>
            <a:srgbClr val="F4F6FA"/>
          </a:solidFill>
          <a:ln/>
        </p:spPr>
        <p:txBody>
          <a:bodyPr/>
          <a:lstStyle/>
          <a:p>
            <a:endParaRPr lang="en-IN"/>
          </a:p>
        </p:txBody>
      </p:sp>
      <p:sp>
        <p:nvSpPr>
          <p:cNvPr id="21" name="Text 19"/>
          <p:cNvSpPr/>
          <p:nvPr/>
        </p:nvSpPr>
        <p:spPr>
          <a:xfrm>
            <a:off x="896112" y="4636008"/>
            <a:ext cx="1188720" cy="621792"/>
          </a:xfrm>
          <a:prstGeom prst="rect">
            <a:avLst/>
          </a:prstGeom>
          <a:noFill/>
          <a:ln/>
        </p:spPr>
        <p:txBody>
          <a:bodyPr wrap="square" lIns="0" tIns="0" rIns="0" bIns="0" rtlCol="0" anchor="ctr"/>
          <a:lstStyle/>
          <a:p>
            <a:pPr marL="0" indent="0">
              <a:buNone/>
            </a:pPr>
            <a:r>
              <a:rPr lang="en-US" sz="1300" b="1" dirty="0">
                <a:solidFill>
                  <a:srgbClr val="00C2A8"/>
                </a:solidFill>
                <a:latin typeface="Arial" pitchFamily="34" charset="0"/>
                <a:ea typeface="Arial" pitchFamily="34" charset="-122"/>
                <a:cs typeface="Arial" pitchFamily="34" charset="-120"/>
              </a:rPr>
              <a:t>60-80 min</a:t>
            </a:r>
            <a:endParaRPr lang="en-US" sz="1300" dirty="0"/>
          </a:p>
        </p:txBody>
      </p:sp>
      <p:sp>
        <p:nvSpPr>
          <p:cNvPr id="22" name="Text 20"/>
          <p:cNvSpPr/>
          <p:nvPr/>
        </p:nvSpPr>
        <p:spPr>
          <a:xfrm>
            <a:off x="2240280" y="4636008"/>
            <a:ext cx="2834640" cy="621792"/>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Research and Teaching</a:t>
            </a:r>
            <a:endParaRPr lang="en-US" sz="1500" dirty="0"/>
          </a:p>
        </p:txBody>
      </p:sp>
      <p:sp>
        <p:nvSpPr>
          <p:cNvPr id="23" name="Text 21"/>
          <p:cNvSpPr/>
          <p:nvPr/>
        </p:nvSpPr>
        <p:spPr>
          <a:xfrm>
            <a:off x="5166360" y="4636008"/>
            <a:ext cx="6035040" cy="621792"/>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Publications, grants, and classroom use</a:t>
            </a:r>
            <a:endParaRPr lang="en-US" sz="1300" dirty="0"/>
          </a:p>
        </p:txBody>
      </p:sp>
      <p:sp>
        <p:nvSpPr>
          <p:cNvPr id="24" name="Shape 22"/>
          <p:cNvSpPr/>
          <p:nvPr/>
        </p:nvSpPr>
        <p:spPr>
          <a:xfrm>
            <a:off x="640080" y="5394960"/>
            <a:ext cx="10908792" cy="621792"/>
          </a:xfrm>
          <a:prstGeom prst="roundRect">
            <a:avLst>
              <a:gd name="adj" fmla="val 11765"/>
            </a:avLst>
          </a:prstGeom>
          <a:solidFill>
            <a:srgbClr val="F4F6FA"/>
          </a:solidFill>
          <a:ln/>
        </p:spPr>
        <p:txBody>
          <a:bodyPr/>
          <a:lstStyle/>
          <a:p>
            <a:endParaRPr lang="en-IN"/>
          </a:p>
        </p:txBody>
      </p:sp>
      <p:sp>
        <p:nvSpPr>
          <p:cNvPr id="25" name="Text 23"/>
          <p:cNvSpPr/>
          <p:nvPr/>
        </p:nvSpPr>
        <p:spPr>
          <a:xfrm>
            <a:off x="896112" y="5394960"/>
            <a:ext cx="1188720" cy="621792"/>
          </a:xfrm>
          <a:prstGeom prst="rect">
            <a:avLst/>
          </a:prstGeom>
          <a:noFill/>
          <a:ln/>
        </p:spPr>
        <p:txBody>
          <a:bodyPr wrap="square" lIns="0" tIns="0" rIns="0" bIns="0" rtlCol="0" anchor="ctr"/>
          <a:lstStyle/>
          <a:p>
            <a:pPr marL="0" indent="0">
              <a:buNone/>
            </a:pPr>
            <a:r>
              <a:rPr lang="en-US" sz="1300" b="1" dirty="0">
                <a:solidFill>
                  <a:srgbClr val="6B7689"/>
                </a:solidFill>
                <a:latin typeface="Arial" pitchFamily="34" charset="0"/>
                <a:ea typeface="Arial" pitchFamily="34" charset="-122"/>
                <a:cs typeface="Arial" pitchFamily="34" charset="-120"/>
              </a:rPr>
              <a:t>80-90 min</a:t>
            </a:r>
            <a:endParaRPr lang="en-US" sz="1300" dirty="0"/>
          </a:p>
        </p:txBody>
      </p:sp>
      <p:sp>
        <p:nvSpPr>
          <p:cNvPr id="26" name="Text 24"/>
          <p:cNvSpPr/>
          <p:nvPr/>
        </p:nvSpPr>
        <p:spPr>
          <a:xfrm>
            <a:off x="2240280" y="5394960"/>
            <a:ext cx="2834640" cy="621792"/>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Q and A</a:t>
            </a:r>
            <a:endParaRPr lang="en-US" sz="1500" dirty="0"/>
          </a:p>
        </p:txBody>
      </p:sp>
      <p:sp>
        <p:nvSpPr>
          <p:cNvPr id="27" name="Text 25"/>
          <p:cNvSpPr/>
          <p:nvPr/>
        </p:nvSpPr>
        <p:spPr>
          <a:xfrm>
            <a:off x="5166360" y="5394960"/>
            <a:ext cx="6035040" cy="621792"/>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Open floor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LEARNING OUTCOMES</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What you should be able to do by the end</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Four outcomes. The first two are teachable next week, the third is runnable tonight.</a:t>
            </a:r>
            <a:endParaRPr lang="en-US" sz="1400" dirty="0"/>
          </a:p>
        </p:txBody>
      </p:sp>
      <p:sp>
        <p:nvSpPr>
          <p:cNvPr id="5" name="Shape 3"/>
          <p:cNvSpPr/>
          <p:nvPr/>
        </p:nvSpPr>
        <p:spPr>
          <a:xfrm>
            <a:off x="640080" y="2011680"/>
            <a:ext cx="10908792" cy="694944"/>
          </a:xfrm>
          <a:prstGeom prst="roundRect">
            <a:avLst>
              <a:gd name="adj" fmla="val 10526"/>
            </a:avLst>
          </a:prstGeom>
          <a:solidFill>
            <a:srgbClr val="F4F6FA"/>
          </a:solidFill>
          <a:ln/>
        </p:spPr>
        <p:txBody>
          <a:bodyPr/>
          <a:lstStyle/>
          <a:p>
            <a:endParaRPr lang="en-IN"/>
          </a:p>
        </p:txBody>
      </p:sp>
      <p:sp>
        <p:nvSpPr>
          <p:cNvPr id="6" name="Shape 4"/>
          <p:cNvSpPr/>
          <p:nvPr/>
        </p:nvSpPr>
        <p:spPr>
          <a:xfrm>
            <a:off x="896112" y="2185416"/>
            <a:ext cx="347472" cy="347472"/>
          </a:xfrm>
          <a:prstGeom prst="ellipse">
            <a:avLst/>
          </a:prstGeom>
          <a:solidFill>
            <a:srgbClr val="FF6B4A"/>
          </a:solidFill>
          <a:ln/>
        </p:spPr>
        <p:txBody>
          <a:bodyPr/>
          <a:lstStyle/>
          <a:p>
            <a:endParaRPr lang="en-IN"/>
          </a:p>
        </p:txBody>
      </p:sp>
      <p:sp>
        <p:nvSpPr>
          <p:cNvPr id="7" name="Text 5"/>
          <p:cNvSpPr/>
          <p:nvPr/>
        </p:nvSpPr>
        <p:spPr>
          <a:xfrm>
            <a:off x="896112" y="2185416"/>
            <a:ext cx="347472" cy="347472"/>
          </a:xfrm>
          <a:prstGeom prst="rect">
            <a:avLst/>
          </a:prstGeom>
          <a:noFill/>
          <a:ln/>
        </p:spPr>
        <p:txBody>
          <a:bodyPr wrap="square" lIns="0" tIns="0" rIns="0" bIns="0" rtlCol="0" anchor="ctr"/>
          <a:lstStyle/>
          <a:p>
            <a:pPr marL="0" indent="0" algn="ctr">
              <a:buNone/>
            </a:pPr>
            <a:r>
              <a:rPr lang="en-US" sz="1300" b="1" dirty="0">
                <a:solidFill>
                  <a:srgbClr val="0E1524"/>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417320" y="2011680"/>
            <a:ext cx="2651760" cy="694944"/>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Explain the shared space</a:t>
            </a:r>
            <a:endParaRPr lang="en-US" sz="1550" dirty="0"/>
          </a:p>
        </p:txBody>
      </p:sp>
      <p:sp>
        <p:nvSpPr>
          <p:cNvPr id="9" name="Text 7"/>
          <p:cNvSpPr/>
          <p:nvPr/>
        </p:nvSpPr>
        <p:spPr>
          <a:xfrm>
            <a:off x="4160520" y="2011680"/>
            <a:ext cx="7040880" cy="694944"/>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Say, without equations, why one model can now handle an image, a sentence and a sound clip</a:t>
            </a:r>
            <a:endParaRPr lang="en-US" sz="1300" dirty="0"/>
          </a:p>
        </p:txBody>
      </p:sp>
      <p:sp>
        <p:nvSpPr>
          <p:cNvPr id="10" name="Shape 8"/>
          <p:cNvSpPr/>
          <p:nvPr/>
        </p:nvSpPr>
        <p:spPr>
          <a:xfrm>
            <a:off x="640080" y="2852928"/>
            <a:ext cx="10908792" cy="694944"/>
          </a:xfrm>
          <a:prstGeom prst="roundRect">
            <a:avLst>
              <a:gd name="adj" fmla="val 10526"/>
            </a:avLst>
          </a:prstGeom>
          <a:solidFill>
            <a:srgbClr val="F4F6FA"/>
          </a:solidFill>
          <a:ln/>
        </p:spPr>
        <p:txBody>
          <a:bodyPr/>
          <a:lstStyle/>
          <a:p>
            <a:endParaRPr lang="en-IN"/>
          </a:p>
        </p:txBody>
      </p:sp>
      <p:sp>
        <p:nvSpPr>
          <p:cNvPr id="11" name="Shape 9"/>
          <p:cNvSpPr/>
          <p:nvPr/>
        </p:nvSpPr>
        <p:spPr>
          <a:xfrm>
            <a:off x="896112" y="3026664"/>
            <a:ext cx="347472" cy="347472"/>
          </a:xfrm>
          <a:prstGeom prst="ellipse">
            <a:avLst/>
          </a:prstGeom>
          <a:solidFill>
            <a:srgbClr val="FFC24A"/>
          </a:solidFill>
          <a:ln/>
        </p:spPr>
        <p:txBody>
          <a:bodyPr/>
          <a:lstStyle/>
          <a:p>
            <a:endParaRPr lang="en-IN"/>
          </a:p>
        </p:txBody>
      </p:sp>
      <p:sp>
        <p:nvSpPr>
          <p:cNvPr id="12" name="Text 10"/>
          <p:cNvSpPr/>
          <p:nvPr/>
        </p:nvSpPr>
        <p:spPr>
          <a:xfrm>
            <a:off x="896112" y="3026664"/>
            <a:ext cx="347472" cy="347472"/>
          </a:xfrm>
          <a:prstGeom prst="rect">
            <a:avLst/>
          </a:prstGeom>
          <a:noFill/>
          <a:ln/>
        </p:spPr>
        <p:txBody>
          <a:bodyPr wrap="square" lIns="0" tIns="0" rIns="0" bIns="0" rtlCol="0" anchor="ctr"/>
          <a:lstStyle/>
          <a:p>
            <a:pPr marL="0" indent="0" algn="ctr">
              <a:buNone/>
            </a:pPr>
            <a:r>
              <a:rPr lang="en-US" sz="1300" b="1" dirty="0">
                <a:solidFill>
                  <a:srgbClr val="0E1524"/>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417320" y="2852928"/>
            <a:ext cx="2651760" cy="694944"/>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Choose a fusion strategy</a:t>
            </a:r>
            <a:endParaRPr lang="en-US" sz="1550" dirty="0"/>
          </a:p>
        </p:txBody>
      </p:sp>
      <p:sp>
        <p:nvSpPr>
          <p:cNvPr id="14" name="Text 12"/>
          <p:cNvSpPr/>
          <p:nvPr/>
        </p:nvSpPr>
        <p:spPr>
          <a:xfrm>
            <a:off x="4160520" y="2852928"/>
            <a:ext cx="7040880" cy="694944"/>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Pick between early, late and cross-attention fusion for a project, and defend the choice</a:t>
            </a:r>
            <a:endParaRPr lang="en-US" sz="1300" dirty="0"/>
          </a:p>
        </p:txBody>
      </p:sp>
      <p:sp>
        <p:nvSpPr>
          <p:cNvPr id="15" name="Shape 13"/>
          <p:cNvSpPr/>
          <p:nvPr/>
        </p:nvSpPr>
        <p:spPr>
          <a:xfrm>
            <a:off x="640080" y="3694176"/>
            <a:ext cx="10908792" cy="694944"/>
          </a:xfrm>
          <a:prstGeom prst="roundRect">
            <a:avLst>
              <a:gd name="adj" fmla="val 10526"/>
            </a:avLst>
          </a:prstGeom>
          <a:solidFill>
            <a:srgbClr val="F4F6FA"/>
          </a:solidFill>
          <a:ln/>
        </p:spPr>
        <p:txBody>
          <a:bodyPr/>
          <a:lstStyle/>
          <a:p>
            <a:endParaRPr lang="en-IN"/>
          </a:p>
        </p:txBody>
      </p:sp>
      <p:sp>
        <p:nvSpPr>
          <p:cNvPr id="16" name="Shape 14"/>
          <p:cNvSpPr/>
          <p:nvPr/>
        </p:nvSpPr>
        <p:spPr>
          <a:xfrm>
            <a:off x="896112" y="3867912"/>
            <a:ext cx="347472" cy="347472"/>
          </a:xfrm>
          <a:prstGeom prst="ellipse">
            <a:avLst/>
          </a:prstGeom>
          <a:solidFill>
            <a:srgbClr val="00C2A8"/>
          </a:solidFill>
          <a:ln/>
        </p:spPr>
        <p:txBody>
          <a:bodyPr/>
          <a:lstStyle/>
          <a:p>
            <a:endParaRPr lang="en-IN"/>
          </a:p>
        </p:txBody>
      </p:sp>
      <p:sp>
        <p:nvSpPr>
          <p:cNvPr id="17" name="Text 15"/>
          <p:cNvSpPr/>
          <p:nvPr/>
        </p:nvSpPr>
        <p:spPr>
          <a:xfrm>
            <a:off x="896112" y="3867912"/>
            <a:ext cx="347472" cy="347472"/>
          </a:xfrm>
          <a:prstGeom prst="rect">
            <a:avLst/>
          </a:prstGeom>
          <a:noFill/>
          <a:ln/>
        </p:spPr>
        <p:txBody>
          <a:bodyPr wrap="square" lIns="0" tIns="0" rIns="0" bIns="0" rtlCol="0" anchor="ctr"/>
          <a:lstStyle/>
          <a:p>
            <a:pPr marL="0" indent="0" algn="ctr">
              <a:buNone/>
            </a:pPr>
            <a:r>
              <a:rPr lang="en-US" sz="1300" b="1" dirty="0">
                <a:solidFill>
                  <a:srgbClr val="0E1524"/>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417320" y="3694176"/>
            <a:ext cx="2651760" cy="694944"/>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Draw the architecture</a:t>
            </a:r>
            <a:endParaRPr lang="en-US" sz="1550" dirty="0"/>
          </a:p>
        </p:txBody>
      </p:sp>
      <p:sp>
        <p:nvSpPr>
          <p:cNvPr id="19" name="Text 17"/>
          <p:cNvSpPr/>
          <p:nvPr/>
        </p:nvSpPr>
        <p:spPr>
          <a:xfrm>
            <a:off x="4160520" y="3694176"/>
            <a:ext cx="7040880" cy="694944"/>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Sketch an end-to-end multimodal system for your own domain and name every component</a:t>
            </a:r>
            <a:endParaRPr lang="en-US" sz="1300" dirty="0"/>
          </a:p>
        </p:txBody>
      </p:sp>
      <p:sp>
        <p:nvSpPr>
          <p:cNvPr id="20" name="Shape 18"/>
          <p:cNvSpPr/>
          <p:nvPr/>
        </p:nvSpPr>
        <p:spPr>
          <a:xfrm>
            <a:off x="640080" y="4535424"/>
            <a:ext cx="10908792" cy="694944"/>
          </a:xfrm>
          <a:prstGeom prst="roundRect">
            <a:avLst>
              <a:gd name="adj" fmla="val 10526"/>
            </a:avLst>
          </a:prstGeom>
          <a:solidFill>
            <a:srgbClr val="F4F6FA"/>
          </a:solidFill>
          <a:ln/>
        </p:spPr>
        <p:txBody>
          <a:bodyPr/>
          <a:lstStyle/>
          <a:p>
            <a:endParaRPr lang="en-IN"/>
          </a:p>
        </p:txBody>
      </p:sp>
      <p:sp>
        <p:nvSpPr>
          <p:cNvPr id="21" name="Shape 19"/>
          <p:cNvSpPr/>
          <p:nvPr/>
        </p:nvSpPr>
        <p:spPr>
          <a:xfrm>
            <a:off x="896112" y="4709160"/>
            <a:ext cx="347472" cy="347472"/>
          </a:xfrm>
          <a:prstGeom prst="ellipse">
            <a:avLst/>
          </a:prstGeom>
          <a:solidFill>
            <a:srgbClr val="6B7689"/>
          </a:solidFill>
          <a:ln/>
        </p:spPr>
        <p:txBody>
          <a:bodyPr/>
          <a:lstStyle/>
          <a:p>
            <a:endParaRPr lang="en-IN"/>
          </a:p>
        </p:txBody>
      </p:sp>
      <p:sp>
        <p:nvSpPr>
          <p:cNvPr id="22" name="Text 20"/>
          <p:cNvSpPr/>
          <p:nvPr/>
        </p:nvSpPr>
        <p:spPr>
          <a:xfrm>
            <a:off x="896112" y="4709160"/>
            <a:ext cx="347472" cy="347472"/>
          </a:xfrm>
          <a:prstGeom prst="rect">
            <a:avLst/>
          </a:prstGeom>
          <a:noFill/>
          <a:ln/>
        </p:spPr>
        <p:txBody>
          <a:bodyPr wrap="square" lIns="0" tIns="0" rIns="0" bIns="0" rtlCol="0" anchor="ctr"/>
          <a:lstStyle/>
          <a:p>
            <a:pPr marL="0" indent="0" algn="ctr">
              <a:buNone/>
            </a:pPr>
            <a:r>
              <a:rPr lang="en-US" sz="1300" b="1" dirty="0">
                <a:solidFill>
                  <a:srgbClr val="0E1524"/>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417320" y="4535424"/>
            <a:ext cx="2651760" cy="694944"/>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Frame a fundable problem</a:t>
            </a:r>
            <a:endParaRPr lang="en-US" sz="1550" dirty="0"/>
          </a:p>
        </p:txBody>
      </p:sp>
      <p:sp>
        <p:nvSpPr>
          <p:cNvPr id="24" name="Text 22"/>
          <p:cNvSpPr/>
          <p:nvPr/>
        </p:nvSpPr>
        <p:spPr>
          <a:xfrm>
            <a:off x="4160520" y="4535424"/>
            <a:ext cx="7040880" cy="694944"/>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Turn one open failure case into a narrow, evaluable proposal for an ANRF or IndiaAI call</a:t>
            </a:r>
            <a:endParaRPr lang="en-US" sz="1300" dirty="0"/>
          </a:p>
        </p:txBody>
      </p:sp>
      <p:sp>
        <p:nvSpPr>
          <p:cNvPr id="25" name="Text 23"/>
          <p:cNvSpPr/>
          <p:nvPr/>
        </p:nvSpPr>
        <p:spPr>
          <a:xfrm>
            <a:off x="640080" y="5532120"/>
            <a:ext cx="10908792" cy="365760"/>
          </a:xfrm>
          <a:prstGeom prst="rect">
            <a:avLst/>
          </a:prstGeom>
          <a:noFill/>
          <a:ln/>
        </p:spPr>
        <p:txBody>
          <a:bodyPr wrap="square" lIns="0" tIns="0" rIns="0" bIns="0" rtlCol="0" anchor="ctr"/>
          <a:lstStyle/>
          <a:p>
            <a:pPr marL="0" indent="0">
              <a:buNone/>
            </a:pPr>
            <a:r>
              <a:rPr lang="en-US" sz="1600" b="1" dirty="0">
                <a:solidFill>
                  <a:srgbClr val="0E1524"/>
                </a:solidFill>
                <a:latin typeface="Arial" pitchFamily="34" charset="0"/>
                <a:ea typeface="Arial" pitchFamily="34" charset="-122"/>
                <a:cs typeface="Arial" pitchFamily="34" charset="-120"/>
              </a:rPr>
              <a:t>Outcome 1 fits into an existing AI or image-processing course with no new lab. Outcome 3 needs a whiteboard.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E1524"/>
        </a:solidFill>
        <a:effectLst/>
      </p:bgPr>
    </p:bg>
    <p:spTree>
      <p:nvGrpSpPr>
        <p:cNvPr id="1" name=""/>
        <p:cNvGrpSpPr/>
        <p:nvPr/>
      </p:nvGrpSpPr>
      <p:grpSpPr>
        <a:xfrm>
          <a:off x="0" y="0"/>
          <a:ext cx="0" cy="0"/>
          <a:chOff x="0" y="0"/>
          <a:chExt cx="0" cy="0"/>
        </a:xfrm>
      </p:grpSpPr>
      <p:sp>
        <p:nvSpPr>
          <p:cNvPr id="2" name="Shape 0"/>
          <p:cNvSpPr/>
          <p:nvPr/>
        </p:nvSpPr>
        <p:spPr>
          <a:xfrm>
            <a:off x="640080" y="2331720"/>
            <a:ext cx="164592" cy="164592"/>
          </a:xfrm>
          <a:prstGeom prst="ellipse">
            <a:avLst/>
          </a:prstGeom>
          <a:solidFill>
            <a:srgbClr val="00C2A8"/>
          </a:solidFill>
          <a:ln/>
        </p:spPr>
        <p:txBody>
          <a:bodyPr/>
          <a:lstStyle/>
          <a:p>
            <a:endParaRPr lang="en-IN"/>
          </a:p>
        </p:txBody>
      </p:sp>
      <p:sp>
        <p:nvSpPr>
          <p:cNvPr id="3" name="Shape 1"/>
          <p:cNvSpPr/>
          <p:nvPr/>
        </p:nvSpPr>
        <p:spPr>
          <a:xfrm>
            <a:off x="928116" y="2331720"/>
            <a:ext cx="164592" cy="164592"/>
          </a:xfrm>
          <a:prstGeom prst="ellipse">
            <a:avLst/>
          </a:prstGeom>
          <a:solidFill>
            <a:srgbClr val="FF6B4A"/>
          </a:solidFill>
          <a:ln/>
        </p:spPr>
        <p:txBody>
          <a:bodyPr/>
          <a:lstStyle/>
          <a:p>
            <a:endParaRPr lang="en-IN"/>
          </a:p>
        </p:txBody>
      </p:sp>
      <p:sp>
        <p:nvSpPr>
          <p:cNvPr id="4" name="Shape 2"/>
          <p:cNvSpPr/>
          <p:nvPr/>
        </p:nvSpPr>
        <p:spPr>
          <a:xfrm>
            <a:off x="1216152" y="2331720"/>
            <a:ext cx="164592" cy="164592"/>
          </a:xfrm>
          <a:prstGeom prst="ellipse">
            <a:avLst/>
          </a:prstGeom>
          <a:solidFill>
            <a:srgbClr val="FFC24A"/>
          </a:solidFill>
          <a:ln/>
        </p:spPr>
        <p:txBody>
          <a:bodyPr/>
          <a:lstStyle/>
          <a:p>
            <a:endParaRPr lang="en-IN"/>
          </a:p>
        </p:txBody>
      </p:sp>
      <p:sp>
        <p:nvSpPr>
          <p:cNvPr id="5" name="Text 3"/>
          <p:cNvSpPr/>
          <p:nvPr/>
        </p:nvSpPr>
        <p:spPr>
          <a:xfrm>
            <a:off x="640080" y="2788920"/>
            <a:ext cx="5486400" cy="274320"/>
          </a:xfrm>
          <a:prstGeom prst="rect">
            <a:avLst/>
          </a:prstGeom>
          <a:noFill/>
          <a:ln/>
        </p:spPr>
        <p:txBody>
          <a:bodyPr wrap="square" lIns="0" tIns="0" rIns="0" bIns="0" rtlCol="0" anchor="ctr"/>
          <a:lstStyle/>
          <a:p>
            <a:pPr marL="0" indent="0">
              <a:buNone/>
            </a:pPr>
            <a:r>
              <a:rPr lang="en-US" sz="1300" b="1" kern="0" spc="300" dirty="0">
                <a:solidFill>
                  <a:srgbClr val="FF6B4A"/>
                </a:solidFill>
                <a:latin typeface="Arial" pitchFamily="34" charset="0"/>
                <a:ea typeface="Arial" pitchFamily="34" charset="-122"/>
                <a:cs typeface="Arial" pitchFamily="34" charset="-120"/>
              </a:rPr>
              <a:t>PART ONE</a:t>
            </a:r>
            <a:endParaRPr lang="en-US" sz="1300" dirty="0"/>
          </a:p>
        </p:txBody>
      </p:sp>
      <p:sp>
        <p:nvSpPr>
          <p:cNvPr id="6" name="Text 4"/>
          <p:cNvSpPr/>
          <p:nvPr/>
        </p:nvSpPr>
        <p:spPr>
          <a:xfrm>
            <a:off x="640080" y="3127248"/>
            <a:ext cx="8229600" cy="914400"/>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Fundamentals</a:t>
            </a:r>
            <a:endParaRPr lang="en-US" sz="5200" dirty="0"/>
          </a:p>
        </p:txBody>
      </p:sp>
      <p:sp>
        <p:nvSpPr>
          <p:cNvPr id="7" name="Text 5"/>
          <p:cNvSpPr/>
          <p:nvPr/>
        </p:nvSpPr>
        <p:spPr>
          <a:xfrm>
            <a:off x="640080" y="4160520"/>
            <a:ext cx="7863840" cy="731520"/>
          </a:xfrm>
          <a:prstGeom prst="rect">
            <a:avLst/>
          </a:prstGeom>
          <a:noFill/>
          <a:ln/>
        </p:spPr>
        <p:txBody>
          <a:bodyPr wrap="square" lIns="0" tIns="0" rIns="0" bIns="0" rtlCol="0" anchor="ctr"/>
          <a:lstStyle/>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What actually changed under the hood - and why one model can now handle</a:t>
            </a:r>
            <a:endParaRPr lang="en-US" sz="1600" dirty="0"/>
          </a:p>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an image, a sentence, and a sound clip at the same time.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DEFINITION</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A modality is just a kind of signal</a:t>
            </a:r>
            <a:endParaRPr lang="en-US" sz="3400" dirty="0"/>
          </a:p>
        </p:txBody>
      </p:sp>
      <p:sp>
        <p:nvSpPr>
          <p:cNvPr id="4" name="Text 2"/>
          <p:cNvSpPr/>
          <p:nvPr/>
        </p:nvSpPr>
        <p:spPr>
          <a:xfrm>
            <a:off x="640080" y="1481328"/>
            <a:ext cx="960120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Humans switch between them without noticing. Machines historically could not.</a:t>
            </a:r>
            <a:endParaRPr lang="en-US" sz="1400" dirty="0"/>
          </a:p>
        </p:txBody>
      </p:sp>
      <p:sp>
        <p:nvSpPr>
          <p:cNvPr id="5" name="Shape 3"/>
          <p:cNvSpPr/>
          <p:nvPr/>
        </p:nvSpPr>
        <p:spPr>
          <a:xfrm>
            <a:off x="640080"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6" name="Shape 4"/>
          <p:cNvSpPr/>
          <p:nvPr/>
        </p:nvSpPr>
        <p:spPr>
          <a:xfrm>
            <a:off x="932688" y="2331720"/>
            <a:ext cx="457200" cy="457200"/>
          </a:xfrm>
          <a:prstGeom prst="ellipse">
            <a:avLst/>
          </a:prstGeom>
          <a:solidFill>
            <a:srgbClr val="00C2A8"/>
          </a:solidFill>
          <a:ln/>
        </p:spPr>
        <p:txBody>
          <a:bodyPr/>
          <a:lstStyle/>
          <a:p>
            <a:endParaRPr lang="en-IN"/>
          </a:p>
        </p:txBody>
      </p:sp>
      <p:sp>
        <p:nvSpPr>
          <p:cNvPr id="7" name="Text 5"/>
          <p:cNvSpPr/>
          <p:nvPr/>
        </p:nvSpPr>
        <p:spPr>
          <a:xfrm>
            <a:off x="932688"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Text</a:t>
            </a:r>
            <a:endParaRPr lang="en-US" sz="1900" dirty="0"/>
          </a:p>
        </p:txBody>
      </p:sp>
      <p:sp>
        <p:nvSpPr>
          <p:cNvPr id="8" name="Text 6"/>
          <p:cNvSpPr/>
          <p:nvPr/>
        </p:nvSpPr>
        <p:spPr>
          <a:xfrm>
            <a:off x="932688"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Documents, code, chat, logs</a:t>
            </a:r>
            <a:endParaRPr lang="en-US" sz="1250" dirty="0"/>
          </a:p>
        </p:txBody>
      </p:sp>
      <p:sp>
        <p:nvSpPr>
          <p:cNvPr id="9" name="Shape 7"/>
          <p:cNvSpPr/>
          <p:nvPr/>
        </p:nvSpPr>
        <p:spPr>
          <a:xfrm>
            <a:off x="3410712"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0" name="Shape 8"/>
          <p:cNvSpPr/>
          <p:nvPr/>
        </p:nvSpPr>
        <p:spPr>
          <a:xfrm>
            <a:off x="3703320" y="2331720"/>
            <a:ext cx="457200" cy="457200"/>
          </a:xfrm>
          <a:prstGeom prst="ellipse">
            <a:avLst/>
          </a:prstGeom>
          <a:solidFill>
            <a:srgbClr val="FF6B4A"/>
          </a:solidFill>
          <a:ln/>
        </p:spPr>
        <p:txBody>
          <a:bodyPr/>
          <a:lstStyle/>
          <a:p>
            <a:endParaRPr lang="en-IN"/>
          </a:p>
        </p:txBody>
      </p:sp>
      <p:sp>
        <p:nvSpPr>
          <p:cNvPr id="11" name="Text 9"/>
          <p:cNvSpPr/>
          <p:nvPr/>
        </p:nvSpPr>
        <p:spPr>
          <a:xfrm>
            <a:off x="3703320"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Vision</a:t>
            </a:r>
            <a:endParaRPr lang="en-US" sz="1900" dirty="0"/>
          </a:p>
        </p:txBody>
      </p:sp>
      <p:sp>
        <p:nvSpPr>
          <p:cNvPr id="12" name="Text 10"/>
          <p:cNvSpPr/>
          <p:nvPr/>
        </p:nvSpPr>
        <p:spPr>
          <a:xfrm>
            <a:off x="3703320"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Photos, scans, video, charts</a:t>
            </a:r>
            <a:endParaRPr lang="en-US" sz="1250" dirty="0"/>
          </a:p>
        </p:txBody>
      </p:sp>
      <p:sp>
        <p:nvSpPr>
          <p:cNvPr id="13" name="Shape 11"/>
          <p:cNvSpPr/>
          <p:nvPr/>
        </p:nvSpPr>
        <p:spPr>
          <a:xfrm>
            <a:off x="6181344"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4" name="Shape 12"/>
          <p:cNvSpPr/>
          <p:nvPr/>
        </p:nvSpPr>
        <p:spPr>
          <a:xfrm>
            <a:off x="6473952" y="2331720"/>
            <a:ext cx="457200" cy="457200"/>
          </a:xfrm>
          <a:prstGeom prst="ellipse">
            <a:avLst/>
          </a:prstGeom>
          <a:solidFill>
            <a:srgbClr val="FFC24A"/>
          </a:solidFill>
          <a:ln/>
        </p:spPr>
        <p:txBody>
          <a:bodyPr/>
          <a:lstStyle/>
          <a:p>
            <a:endParaRPr lang="en-IN"/>
          </a:p>
        </p:txBody>
      </p:sp>
      <p:sp>
        <p:nvSpPr>
          <p:cNvPr id="15" name="Text 13"/>
          <p:cNvSpPr/>
          <p:nvPr/>
        </p:nvSpPr>
        <p:spPr>
          <a:xfrm>
            <a:off x="6473952"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Audio</a:t>
            </a:r>
            <a:endParaRPr lang="en-US" sz="1900" dirty="0"/>
          </a:p>
        </p:txBody>
      </p:sp>
      <p:sp>
        <p:nvSpPr>
          <p:cNvPr id="16" name="Text 14"/>
          <p:cNvSpPr/>
          <p:nvPr/>
        </p:nvSpPr>
        <p:spPr>
          <a:xfrm>
            <a:off x="6473952"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Speech, machine sound, music</a:t>
            </a:r>
            <a:endParaRPr lang="en-US" sz="1250" dirty="0"/>
          </a:p>
        </p:txBody>
      </p:sp>
      <p:sp>
        <p:nvSpPr>
          <p:cNvPr id="17" name="Shape 15"/>
          <p:cNvSpPr/>
          <p:nvPr/>
        </p:nvSpPr>
        <p:spPr>
          <a:xfrm>
            <a:off x="8951976"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8" name="Shape 16"/>
          <p:cNvSpPr/>
          <p:nvPr/>
        </p:nvSpPr>
        <p:spPr>
          <a:xfrm>
            <a:off x="9244584" y="2331720"/>
            <a:ext cx="457200" cy="457200"/>
          </a:xfrm>
          <a:prstGeom prst="ellipse">
            <a:avLst/>
          </a:prstGeom>
          <a:solidFill>
            <a:srgbClr val="6B7689"/>
          </a:solidFill>
          <a:ln/>
        </p:spPr>
        <p:txBody>
          <a:bodyPr/>
          <a:lstStyle/>
          <a:p>
            <a:endParaRPr lang="en-IN"/>
          </a:p>
        </p:txBody>
      </p:sp>
      <p:sp>
        <p:nvSpPr>
          <p:cNvPr id="19" name="Text 17"/>
          <p:cNvSpPr/>
          <p:nvPr/>
        </p:nvSpPr>
        <p:spPr>
          <a:xfrm>
            <a:off x="9244584"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Structured</a:t>
            </a:r>
            <a:endParaRPr lang="en-US" sz="1900" dirty="0"/>
          </a:p>
        </p:txBody>
      </p:sp>
      <p:sp>
        <p:nvSpPr>
          <p:cNvPr id="20" name="Text 18"/>
          <p:cNvSpPr/>
          <p:nvPr/>
        </p:nvSpPr>
        <p:spPr>
          <a:xfrm>
            <a:off x="9244584"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Tables, sensors, time series</a:t>
            </a:r>
            <a:endParaRPr lang="en-US" sz="1250" dirty="0"/>
          </a:p>
        </p:txBody>
      </p:sp>
      <p:sp>
        <p:nvSpPr>
          <p:cNvPr id="21" name="Text 19"/>
          <p:cNvSpPr/>
          <p:nvPr/>
        </p:nvSpPr>
        <p:spPr>
          <a:xfrm>
            <a:off x="640080" y="4709160"/>
            <a:ext cx="10908792" cy="548640"/>
          </a:xfrm>
          <a:prstGeom prst="rect">
            <a:avLst/>
          </a:prstGeom>
          <a:noFill/>
          <a:ln/>
        </p:spPr>
        <p:txBody>
          <a:bodyPr wrap="square" lIns="0" tIns="0" rIns="0" bIns="0" rtlCol="0" anchor="ctr"/>
          <a:lstStyle/>
          <a:p>
            <a:pPr marL="0" indent="0">
              <a:buNone/>
            </a:pPr>
            <a:r>
              <a:rPr lang="en-US" sz="1500" i="1" dirty="0">
                <a:solidFill>
                  <a:srgbClr val="0E1524"/>
                </a:solidFill>
                <a:latin typeface="Calibri" pitchFamily="34" charset="0"/>
                <a:ea typeface="Calibri" pitchFamily="34" charset="-122"/>
                <a:cs typeface="Calibri" pitchFamily="34" charset="-120"/>
              </a:rPr>
              <a:t>Multimodal AI is not four models in a trench coat. It is one model that was trained so that all four of these land in the same representational space.</a:t>
            </a:r>
            <a:endParaRPr lang="en-US" sz="1500" dirty="0"/>
          </a:p>
        </p:txBody>
      </p:sp>
      <p:sp>
        <p:nvSpPr>
          <p:cNvPr id="5" name="Shape 3"/>
          <p:cNvSpPr/>
          <p:nvPr/>
        </p:nvSpPr>
        <p:spPr>
          <a:xfrm>
            <a:off x="640080" y="5330000"/>
            <a:ext cx="10908792" cy="100584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4" name="Text 2"/>
          <p:cNvSpPr/>
          <p:nvPr/>
        </p:nvSpPr>
        <p:spPr>
          <a:xfrm>
            <a:off x="1005840" y="5470000"/>
            <a:ext cx="10149840" cy="500000"/>
          </a:xfrm>
          <a:prstGeom prst="rect">
            <a:avLst/>
          </a:prstGeom>
          <a:noFill/>
          <a:ln/>
        </p:spPr>
        <p:txBody>
          <a:bodyPr wrap="square" lIns="0" tIns="0" rIns="0" bIns="0" rtlCol="0" anchor="ctr"/>
          <a:lstStyle/>
          <a:p>
            <a:pPr marL="0" indent="0">
              <a:buNone/>
            </a:pPr>
            <a:r>
              <a:rPr lang="en-US" sz="1400" dirty="0">
                <a:solidFill>
                  <a:srgbClr val="0E1524"/>
                </a:solidFill>
                <a:latin typeface="Calibri" pitchFamily="34" charset="0"/>
                <a:ea typeface="Calibri" pitchFamily="34" charset="-122"/>
                <a:cs typeface="Calibri" pitchFamily="34" charset="-120"/>
              </a:rPr>
              <a:t>Multimodal AI enables a single system to jointly process, align and reason across two or more modalities - text, images, audio, video, structured data - and to produce one grounded output.</a:t>
            </a:r>
            <a:endParaRPr lang="en-US" sz="1400" dirty="0"/>
          </a:p>
        </p:txBody>
      </p:sp>
      <p:sp>
        <p:nvSpPr>
          <p:cNvPr id="4" name="Text 2"/>
          <p:cNvSpPr/>
          <p:nvPr/>
        </p:nvSpPr>
        <p:spPr>
          <a:xfrm>
            <a:off x="1005840" y="6030000"/>
            <a:ext cx="10149840" cy="230000"/>
          </a:xfrm>
          <a:prstGeom prst="rect">
            <a:avLst/>
          </a:prstGeom>
          <a:noFill/>
          <a:ln/>
        </p:spPr>
        <p:txBody>
          <a:bodyPr wrap="square" lIns="0" tIns="0" rIns="0" bIns="0" rtlCol="0" anchor="ctr"/>
          <a:lstStyle/>
          <a:p>
            <a:pPr marL="0" indent="0">
              <a:buNone/>
            </a:pPr>
            <a:r>
              <a:rPr lang="en-US" sz="1100" dirty="0">
                <a:solidFill>
                  <a:srgbClr val="6B7689"/>
                </a:solidFill>
                <a:latin typeface="Calibri" pitchFamily="34" charset="0"/>
                <a:ea typeface="Calibri" pitchFamily="34" charset="-122"/>
                <a:cs typeface="Calibri" pitchFamily="34" charset="-120"/>
              </a:rPr>
              <a:t>This session is about understanding across modalities and the decisions that follow. Generation from prompts belongs to the NLP and generative AI session.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BEFORE</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The old way: four silos, one human stitching</a:t>
            </a:r>
            <a:endParaRPr lang="en-US" sz="3400" dirty="0"/>
          </a:p>
        </p:txBody>
      </p:sp>
      <p:sp>
        <p:nvSpPr>
          <p:cNvPr id="4" name="Shape 2"/>
          <p:cNvSpPr/>
          <p:nvPr/>
        </p:nvSpPr>
        <p:spPr>
          <a:xfrm>
            <a:off x="640080" y="1737360"/>
            <a:ext cx="2514600" cy="1143000"/>
          </a:xfrm>
          <a:prstGeom prst="roundRect">
            <a:avLst>
              <a:gd name="adj" fmla="val 6400"/>
            </a:avLst>
          </a:prstGeom>
          <a:solidFill>
            <a:srgbClr val="FFFFFF"/>
          </a:solidFill>
          <a:ln w="15875">
            <a:solidFill>
              <a:srgbClr val="D3D9E4"/>
            </a:solidFill>
            <a:prstDash val="solid"/>
          </a:ln>
        </p:spPr>
        <p:txBody>
          <a:bodyPr/>
          <a:lstStyle/>
          <a:p>
            <a:endParaRPr lang="en-IN"/>
          </a:p>
        </p:txBody>
      </p:sp>
      <p:sp>
        <p:nvSpPr>
          <p:cNvPr id="5" name="Text 3"/>
          <p:cNvSpPr/>
          <p:nvPr/>
        </p:nvSpPr>
        <p:spPr>
          <a:xfrm>
            <a:off x="822960" y="1965960"/>
            <a:ext cx="219456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OCR engine</a:t>
            </a:r>
            <a:endParaRPr lang="en-US" sz="1450" dirty="0"/>
          </a:p>
        </p:txBody>
      </p:sp>
      <p:sp>
        <p:nvSpPr>
          <p:cNvPr id="6" name="Text 4"/>
          <p:cNvSpPr/>
          <p:nvPr/>
        </p:nvSpPr>
        <p:spPr>
          <a:xfrm>
            <a:off x="822960" y="2304288"/>
            <a:ext cx="2194560" cy="274320"/>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Reads the scan</a:t>
            </a:r>
            <a:endParaRPr lang="en-US" sz="1200" dirty="0"/>
          </a:p>
        </p:txBody>
      </p:sp>
      <p:sp>
        <p:nvSpPr>
          <p:cNvPr id="7" name="Shape 5"/>
          <p:cNvSpPr/>
          <p:nvPr/>
        </p:nvSpPr>
        <p:spPr>
          <a:xfrm>
            <a:off x="1892808" y="2880360"/>
            <a:ext cx="0" cy="502920"/>
          </a:xfrm>
          <a:prstGeom prst="line">
            <a:avLst/>
          </a:prstGeom>
          <a:noFill/>
          <a:ln w="19050">
            <a:solidFill>
              <a:srgbClr val="C4CCDA"/>
            </a:solidFill>
            <a:prstDash val="solid"/>
            <a:tailEnd type="triangle"/>
          </a:ln>
        </p:spPr>
        <p:txBody>
          <a:bodyPr/>
          <a:lstStyle/>
          <a:p>
            <a:endParaRPr lang="en-IN"/>
          </a:p>
        </p:txBody>
      </p:sp>
      <p:sp>
        <p:nvSpPr>
          <p:cNvPr id="8" name="Shape 6"/>
          <p:cNvSpPr/>
          <p:nvPr/>
        </p:nvSpPr>
        <p:spPr>
          <a:xfrm>
            <a:off x="3410712" y="1737360"/>
            <a:ext cx="2514600" cy="1143000"/>
          </a:xfrm>
          <a:prstGeom prst="roundRect">
            <a:avLst>
              <a:gd name="adj" fmla="val 6400"/>
            </a:avLst>
          </a:prstGeom>
          <a:solidFill>
            <a:srgbClr val="FFFFFF"/>
          </a:solidFill>
          <a:ln w="15875">
            <a:solidFill>
              <a:srgbClr val="D3D9E4"/>
            </a:solidFill>
            <a:prstDash val="solid"/>
          </a:ln>
        </p:spPr>
        <p:txBody>
          <a:bodyPr/>
          <a:lstStyle/>
          <a:p>
            <a:endParaRPr lang="en-IN"/>
          </a:p>
        </p:txBody>
      </p:sp>
      <p:sp>
        <p:nvSpPr>
          <p:cNvPr id="9" name="Text 7"/>
          <p:cNvSpPr/>
          <p:nvPr/>
        </p:nvSpPr>
        <p:spPr>
          <a:xfrm>
            <a:off x="3593592" y="1965960"/>
            <a:ext cx="219456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CNN classifier</a:t>
            </a:r>
            <a:endParaRPr lang="en-US" sz="1450" dirty="0"/>
          </a:p>
        </p:txBody>
      </p:sp>
      <p:sp>
        <p:nvSpPr>
          <p:cNvPr id="10" name="Text 8"/>
          <p:cNvSpPr/>
          <p:nvPr/>
        </p:nvSpPr>
        <p:spPr>
          <a:xfrm>
            <a:off x="3593592" y="2304288"/>
            <a:ext cx="2194560" cy="274320"/>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Labels the image</a:t>
            </a:r>
            <a:endParaRPr lang="en-US" sz="1200" dirty="0"/>
          </a:p>
        </p:txBody>
      </p:sp>
      <p:sp>
        <p:nvSpPr>
          <p:cNvPr id="11" name="Shape 9"/>
          <p:cNvSpPr/>
          <p:nvPr/>
        </p:nvSpPr>
        <p:spPr>
          <a:xfrm>
            <a:off x="4663440" y="2880360"/>
            <a:ext cx="0" cy="502920"/>
          </a:xfrm>
          <a:prstGeom prst="line">
            <a:avLst/>
          </a:prstGeom>
          <a:noFill/>
          <a:ln w="19050">
            <a:solidFill>
              <a:srgbClr val="C4CCDA"/>
            </a:solidFill>
            <a:prstDash val="solid"/>
            <a:tailEnd type="triangle"/>
          </a:ln>
        </p:spPr>
        <p:txBody>
          <a:bodyPr/>
          <a:lstStyle/>
          <a:p>
            <a:endParaRPr lang="en-IN"/>
          </a:p>
        </p:txBody>
      </p:sp>
      <p:sp>
        <p:nvSpPr>
          <p:cNvPr id="12" name="Shape 10"/>
          <p:cNvSpPr/>
          <p:nvPr/>
        </p:nvSpPr>
        <p:spPr>
          <a:xfrm>
            <a:off x="6181344" y="1737360"/>
            <a:ext cx="2514600" cy="1143000"/>
          </a:xfrm>
          <a:prstGeom prst="roundRect">
            <a:avLst>
              <a:gd name="adj" fmla="val 6400"/>
            </a:avLst>
          </a:prstGeom>
          <a:solidFill>
            <a:srgbClr val="FFFFFF"/>
          </a:solidFill>
          <a:ln w="15875">
            <a:solidFill>
              <a:srgbClr val="D3D9E4"/>
            </a:solidFill>
            <a:prstDash val="solid"/>
          </a:ln>
        </p:spPr>
        <p:txBody>
          <a:bodyPr/>
          <a:lstStyle/>
          <a:p>
            <a:endParaRPr lang="en-IN"/>
          </a:p>
        </p:txBody>
      </p:sp>
      <p:sp>
        <p:nvSpPr>
          <p:cNvPr id="13" name="Text 11"/>
          <p:cNvSpPr/>
          <p:nvPr/>
        </p:nvSpPr>
        <p:spPr>
          <a:xfrm>
            <a:off x="6364224" y="1965960"/>
            <a:ext cx="219456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ASR system</a:t>
            </a:r>
            <a:endParaRPr lang="en-US" sz="1450" dirty="0"/>
          </a:p>
        </p:txBody>
      </p:sp>
      <p:sp>
        <p:nvSpPr>
          <p:cNvPr id="14" name="Text 12"/>
          <p:cNvSpPr/>
          <p:nvPr/>
        </p:nvSpPr>
        <p:spPr>
          <a:xfrm>
            <a:off x="6364224" y="2304288"/>
            <a:ext cx="2194560" cy="274320"/>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Transcribes speech</a:t>
            </a:r>
            <a:endParaRPr lang="en-US" sz="1200" dirty="0"/>
          </a:p>
        </p:txBody>
      </p:sp>
      <p:sp>
        <p:nvSpPr>
          <p:cNvPr id="15" name="Shape 13"/>
          <p:cNvSpPr/>
          <p:nvPr/>
        </p:nvSpPr>
        <p:spPr>
          <a:xfrm>
            <a:off x="7434072" y="2880360"/>
            <a:ext cx="0" cy="502920"/>
          </a:xfrm>
          <a:prstGeom prst="line">
            <a:avLst/>
          </a:prstGeom>
          <a:noFill/>
          <a:ln w="19050">
            <a:solidFill>
              <a:srgbClr val="C4CCDA"/>
            </a:solidFill>
            <a:prstDash val="solid"/>
            <a:tailEnd type="triangle"/>
          </a:ln>
        </p:spPr>
        <p:txBody>
          <a:bodyPr/>
          <a:lstStyle/>
          <a:p>
            <a:endParaRPr lang="en-IN"/>
          </a:p>
        </p:txBody>
      </p:sp>
      <p:sp>
        <p:nvSpPr>
          <p:cNvPr id="16" name="Shape 14"/>
          <p:cNvSpPr/>
          <p:nvPr/>
        </p:nvSpPr>
        <p:spPr>
          <a:xfrm>
            <a:off x="8951976" y="1737360"/>
            <a:ext cx="2514600" cy="1143000"/>
          </a:xfrm>
          <a:prstGeom prst="roundRect">
            <a:avLst>
              <a:gd name="adj" fmla="val 6400"/>
            </a:avLst>
          </a:prstGeom>
          <a:solidFill>
            <a:srgbClr val="FFFFFF"/>
          </a:solidFill>
          <a:ln w="15875">
            <a:solidFill>
              <a:srgbClr val="D3D9E4"/>
            </a:solidFill>
            <a:prstDash val="solid"/>
          </a:ln>
        </p:spPr>
        <p:txBody>
          <a:bodyPr/>
          <a:lstStyle/>
          <a:p>
            <a:endParaRPr lang="en-IN"/>
          </a:p>
        </p:txBody>
      </p:sp>
      <p:sp>
        <p:nvSpPr>
          <p:cNvPr id="17" name="Text 15"/>
          <p:cNvSpPr/>
          <p:nvPr/>
        </p:nvSpPr>
        <p:spPr>
          <a:xfrm>
            <a:off x="9134856" y="1965960"/>
            <a:ext cx="219456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NLP pipeline</a:t>
            </a:r>
            <a:endParaRPr lang="en-US" sz="1450" dirty="0"/>
          </a:p>
        </p:txBody>
      </p:sp>
      <p:sp>
        <p:nvSpPr>
          <p:cNvPr id="18" name="Text 16"/>
          <p:cNvSpPr/>
          <p:nvPr/>
        </p:nvSpPr>
        <p:spPr>
          <a:xfrm>
            <a:off x="9134856" y="2304288"/>
            <a:ext cx="2194560" cy="274320"/>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Parses the text</a:t>
            </a:r>
            <a:endParaRPr lang="en-US" sz="1200" dirty="0"/>
          </a:p>
        </p:txBody>
      </p:sp>
      <p:sp>
        <p:nvSpPr>
          <p:cNvPr id="19" name="Shape 17"/>
          <p:cNvSpPr/>
          <p:nvPr/>
        </p:nvSpPr>
        <p:spPr>
          <a:xfrm>
            <a:off x="10204704" y="2880360"/>
            <a:ext cx="0" cy="502920"/>
          </a:xfrm>
          <a:prstGeom prst="line">
            <a:avLst/>
          </a:prstGeom>
          <a:noFill/>
          <a:ln w="19050">
            <a:solidFill>
              <a:srgbClr val="C4CCDA"/>
            </a:solidFill>
            <a:prstDash val="solid"/>
            <a:tailEnd type="triangle"/>
          </a:ln>
        </p:spPr>
        <p:txBody>
          <a:bodyPr/>
          <a:lstStyle/>
          <a:p>
            <a:endParaRPr lang="en-IN"/>
          </a:p>
        </p:txBody>
      </p:sp>
      <p:sp>
        <p:nvSpPr>
          <p:cNvPr id="20" name="Shape 18"/>
          <p:cNvSpPr/>
          <p:nvPr/>
        </p:nvSpPr>
        <p:spPr>
          <a:xfrm>
            <a:off x="640080" y="3401568"/>
            <a:ext cx="10908792" cy="868680"/>
          </a:xfrm>
          <a:prstGeom prst="roundRect">
            <a:avLst>
              <a:gd name="adj" fmla="val 8421"/>
            </a:avLst>
          </a:prstGeom>
          <a:solidFill>
            <a:srgbClr val="0E1524"/>
          </a:solidFill>
          <a:ln/>
        </p:spPr>
        <p:txBody>
          <a:bodyPr/>
          <a:lstStyle/>
          <a:p>
            <a:endParaRPr lang="en-IN"/>
          </a:p>
        </p:txBody>
      </p:sp>
      <p:sp>
        <p:nvSpPr>
          <p:cNvPr id="21" name="Text 19"/>
          <p:cNvSpPr/>
          <p:nvPr/>
        </p:nvSpPr>
        <p:spPr>
          <a:xfrm>
            <a:off x="640080" y="3401568"/>
            <a:ext cx="10908792" cy="86868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 human reads all four outputs and decides what they mean together</a:t>
            </a:r>
            <a:endParaRPr lang="en-US" sz="1700" dirty="0"/>
          </a:p>
        </p:txBody>
      </p:sp>
      <p:sp>
        <p:nvSpPr>
          <p:cNvPr id="22" name="Text 20"/>
          <p:cNvSpPr/>
          <p:nvPr/>
        </p:nvSpPr>
        <p:spPr>
          <a:xfrm>
            <a:off x="640080" y="4617720"/>
            <a:ext cx="3383280" cy="274320"/>
          </a:xfrm>
          <a:prstGeom prst="rect">
            <a:avLst/>
          </a:prstGeom>
          <a:noFill/>
          <a:ln/>
        </p:spPr>
        <p:txBody>
          <a:bodyPr wrap="square" lIns="0" tIns="0" rIns="0" bIns="0" rtlCol="0" anchor="ctr"/>
          <a:lstStyle/>
          <a:p>
            <a:pPr marL="0" indent="0">
              <a:buNone/>
            </a:pPr>
            <a:r>
              <a:rPr lang="en-US" sz="1400" b="1" dirty="0">
                <a:solidFill>
                  <a:srgbClr val="FF6B4A"/>
                </a:solidFill>
                <a:latin typeface="Arial" pitchFamily="34" charset="0"/>
                <a:ea typeface="Arial" pitchFamily="34" charset="-122"/>
                <a:cs typeface="Arial" pitchFamily="34" charset="-120"/>
              </a:rPr>
              <a:t>4 codebases</a:t>
            </a:r>
            <a:endParaRPr lang="en-US" sz="1400" dirty="0"/>
          </a:p>
        </p:txBody>
      </p:sp>
      <p:sp>
        <p:nvSpPr>
          <p:cNvPr id="23" name="Text 21"/>
          <p:cNvSpPr/>
          <p:nvPr/>
        </p:nvSpPr>
        <p:spPr>
          <a:xfrm>
            <a:off x="640080" y="4937760"/>
            <a:ext cx="338328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Four teams, four deploy cycles, four sets of bugs</a:t>
            </a:r>
            <a:endParaRPr lang="en-US" sz="1250" dirty="0"/>
          </a:p>
        </p:txBody>
      </p:sp>
      <p:sp>
        <p:nvSpPr>
          <p:cNvPr id="24" name="Text 22"/>
          <p:cNvSpPr/>
          <p:nvPr/>
        </p:nvSpPr>
        <p:spPr>
          <a:xfrm>
            <a:off x="4343400" y="4617720"/>
            <a:ext cx="3383280" cy="274320"/>
          </a:xfrm>
          <a:prstGeom prst="rect">
            <a:avLst/>
          </a:prstGeom>
          <a:noFill/>
          <a:ln/>
        </p:spPr>
        <p:txBody>
          <a:bodyPr wrap="square" lIns="0" tIns="0" rIns="0" bIns="0" rtlCol="0" anchor="ctr"/>
          <a:lstStyle/>
          <a:p>
            <a:pPr marL="0" indent="0">
              <a:buNone/>
            </a:pPr>
            <a:r>
              <a:rPr lang="en-US" sz="1400" b="1" dirty="0">
                <a:solidFill>
                  <a:srgbClr val="FF6B4A"/>
                </a:solidFill>
                <a:latin typeface="Arial" pitchFamily="34" charset="0"/>
                <a:ea typeface="Arial" pitchFamily="34" charset="-122"/>
                <a:cs typeface="Arial" pitchFamily="34" charset="-120"/>
              </a:rPr>
              <a:t>No shared meaning</a:t>
            </a:r>
            <a:endParaRPr lang="en-US" sz="1400" dirty="0"/>
          </a:p>
        </p:txBody>
      </p:sp>
      <p:sp>
        <p:nvSpPr>
          <p:cNvPr id="25" name="Text 23"/>
          <p:cNvSpPr/>
          <p:nvPr/>
        </p:nvSpPr>
        <p:spPr>
          <a:xfrm>
            <a:off x="4343400" y="4937760"/>
            <a:ext cx="338328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The CNN never knew what the transcript said</a:t>
            </a:r>
            <a:endParaRPr lang="en-US" sz="1250" dirty="0"/>
          </a:p>
        </p:txBody>
      </p:sp>
      <p:sp>
        <p:nvSpPr>
          <p:cNvPr id="26" name="Text 24"/>
          <p:cNvSpPr/>
          <p:nvPr/>
        </p:nvSpPr>
        <p:spPr>
          <a:xfrm>
            <a:off x="8046720" y="4617720"/>
            <a:ext cx="3383280" cy="274320"/>
          </a:xfrm>
          <a:prstGeom prst="rect">
            <a:avLst/>
          </a:prstGeom>
          <a:noFill/>
          <a:ln/>
        </p:spPr>
        <p:txBody>
          <a:bodyPr wrap="square" lIns="0" tIns="0" rIns="0" bIns="0" rtlCol="0" anchor="ctr"/>
          <a:lstStyle/>
          <a:p>
            <a:pPr marL="0" indent="0">
              <a:buNone/>
            </a:pPr>
            <a:r>
              <a:rPr lang="en-US" sz="1400" b="1" dirty="0">
                <a:solidFill>
                  <a:srgbClr val="FF6B4A"/>
                </a:solidFill>
                <a:latin typeface="Arial" pitchFamily="34" charset="0"/>
                <a:ea typeface="Arial" pitchFamily="34" charset="-122"/>
                <a:cs typeface="Arial" pitchFamily="34" charset="-120"/>
              </a:rPr>
              <a:t>Brittle glue</a:t>
            </a:r>
            <a:endParaRPr lang="en-US" sz="1400" dirty="0"/>
          </a:p>
        </p:txBody>
      </p:sp>
      <p:sp>
        <p:nvSpPr>
          <p:cNvPr id="27" name="Text 25"/>
          <p:cNvSpPr/>
          <p:nvPr/>
        </p:nvSpPr>
        <p:spPr>
          <a:xfrm>
            <a:off x="8046720" y="4937760"/>
            <a:ext cx="338328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Most failures happened between the boxes, not inside them</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IDEA 1 OF 3</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Everything becomes a list of numbers</a:t>
            </a:r>
            <a:endParaRPr lang="en-US" sz="3400" dirty="0"/>
          </a:p>
        </p:txBody>
      </p:sp>
      <p:sp>
        <p:nvSpPr>
          <p:cNvPr id="4" name="Text 2"/>
          <p:cNvSpPr/>
          <p:nvPr/>
        </p:nvSpPr>
        <p:spPr>
          <a:xfrm>
            <a:off x="640080" y="1481328"/>
            <a:ext cx="1005840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An embedding is a coordinate. Similar things land near each other - regardless of what kind of thing they are.</a:t>
            </a:r>
            <a:endParaRPr lang="en-US" sz="1400" dirty="0"/>
          </a:p>
        </p:txBody>
      </p:sp>
      <p:sp>
        <p:nvSpPr>
          <p:cNvPr id="5" name="Shape 3"/>
          <p:cNvSpPr/>
          <p:nvPr/>
        </p:nvSpPr>
        <p:spPr>
          <a:xfrm>
            <a:off x="640080" y="2148840"/>
            <a:ext cx="2880360" cy="566928"/>
          </a:xfrm>
          <a:prstGeom prst="roundRect">
            <a:avLst>
              <a:gd name="adj" fmla="val 12903"/>
            </a:avLst>
          </a:prstGeom>
          <a:solidFill>
            <a:srgbClr val="F4F6FA"/>
          </a:solidFill>
          <a:ln/>
        </p:spPr>
        <p:txBody>
          <a:bodyPr/>
          <a:lstStyle/>
          <a:p>
            <a:endParaRPr lang="en-IN"/>
          </a:p>
        </p:txBody>
      </p:sp>
      <p:sp>
        <p:nvSpPr>
          <p:cNvPr id="6" name="Shape 4"/>
          <p:cNvSpPr/>
          <p:nvPr/>
        </p:nvSpPr>
        <p:spPr>
          <a:xfrm>
            <a:off x="868680" y="2322576"/>
            <a:ext cx="219456" cy="219456"/>
          </a:xfrm>
          <a:prstGeom prst="ellipse">
            <a:avLst/>
          </a:prstGeom>
          <a:solidFill>
            <a:srgbClr val="00C2A8"/>
          </a:solidFill>
          <a:ln/>
        </p:spPr>
        <p:txBody>
          <a:bodyPr/>
          <a:lstStyle/>
          <a:p>
            <a:endParaRPr lang="en-IN"/>
          </a:p>
        </p:txBody>
      </p:sp>
      <p:sp>
        <p:nvSpPr>
          <p:cNvPr id="7" name="Text 5"/>
          <p:cNvSpPr/>
          <p:nvPr/>
        </p:nvSpPr>
        <p:spPr>
          <a:xfrm>
            <a:off x="1207008" y="2148840"/>
            <a:ext cx="2194560" cy="566928"/>
          </a:xfrm>
          <a:prstGeom prst="rect">
            <a:avLst/>
          </a:prstGeom>
          <a:noFill/>
          <a:ln/>
        </p:spPr>
        <p:txBody>
          <a:bodyPr wrap="square" lIns="0" tIns="0" rIns="0" bIns="0" rtlCol="0" anchor="ctr"/>
          <a:lstStyle/>
          <a:p>
            <a:pPr marL="0" indent="0">
              <a:buNone/>
            </a:pPr>
            <a:r>
              <a:rPr lang="en-US" sz="1350" dirty="0">
                <a:solidFill>
                  <a:srgbClr val="0E1524"/>
                </a:solidFill>
                <a:latin typeface="Calibri" pitchFamily="34" charset="0"/>
                <a:ea typeface="Calibri" pitchFamily="34" charset="-122"/>
                <a:cs typeface="Calibri" pitchFamily="34" charset="-120"/>
              </a:rPr>
              <a:t>the word "dog"</a:t>
            </a:r>
            <a:endParaRPr lang="en-US" sz="1350" dirty="0"/>
          </a:p>
        </p:txBody>
      </p:sp>
      <p:sp>
        <p:nvSpPr>
          <p:cNvPr id="8" name="Shape 6"/>
          <p:cNvSpPr/>
          <p:nvPr/>
        </p:nvSpPr>
        <p:spPr>
          <a:xfrm>
            <a:off x="3611880" y="2432304"/>
            <a:ext cx="685800" cy="0"/>
          </a:xfrm>
          <a:prstGeom prst="line">
            <a:avLst/>
          </a:prstGeom>
          <a:noFill/>
          <a:ln w="19050">
            <a:solidFill>
              <a:srgbClr val="C4CCDA"/>
            </a:solidFill>
            <a:prstDash val="solid"/>
            <a:tailEnd type="triangle"/>
          </a:ln>
        </p:spPr>
        <p:txBody>
          <a:bodyPr/>
          <a:lstStyle/>
          <a:p>
            <a:endParaRPr lang="en-IN"/>
          </a:p>
        </p:txBody>
      </p:sp>
      <p:sp>
        <p:nvSpPr>
          <p:cNvPr id="9" name="Shape 7"/>
          <p:cNvSpPr/>
          <p:nvPr/>
        </p:nvSpPr>
        <p:spPr>
          <a:xfrm>
            <a:off x="640080" y="2926080"/>
            <a:ext cx="2880360" cy="566928"/>
          </a:xfrm>
          <a:prstGeom prst="roundRect">
            <a:avLst>
              <a:gd name="adj" fmla="val 12903"/>
            </a:avLst>
          </a:prstGeom>
          <a:solidFill>
            <a:srgbClr val="F4F6FA"/>
          </a:solidFill>
          <a:ln/>
        </p:spPr>
        <p:txBody>
          <a:bodyPr/>
          <a:lstStyle/>
          <a:p>
            <a:endParaRPr lang="en-IN"/>
          </a:p>
        </p:txBody>
      </p:sp>
      <p:sp>
        <p:nvSpPr>
          <p:cNvPr id="10" name="Shape 8"/>
          <p:cNvSpPr/>
          <p:nvPr/>
        </p:nvSpPr>
        <p:spPr>
          <a:xfrm>
            <a:off x="868680" y="3099816"/>
            <a:ext cx="219456" cy="219456"/>
          </a:xfrm>
          <a:prstGeom prst="ellipse">
            <a:avLst/>
          </a:prstGeom>
          <a:solidFill>
            <a:srgbClr val="FF6B4A"/>
          </a:solidFill>
          <a:ln/>
        </p:spPr>
        <p:txBody>
          <a:bodyPr/>
          <a:lstStyle/>
          <a:p>
            <a:endParaRPr lang="en-IN"/>
          </a:p>
        </p:txBody>
      </p:sp>
      <p:sp>
        <p:nvSpPr>
          <p:cNvPr id="11" name="Text 9"/>
          <p:cNvSpPr/>
          <p:nvPr/>
        </p:nvSpPr>
        <p:spPr>
          <a:xfrm>
            <a:off x="1207008" y="2926080"/>
            <a:ext cx="2194560" cy="566928"/>
          </a:xfrm>
          <a:prstGeom prst="rect">
            <a:avLst/>
          </a:prstGeom>
          <a:noFill/>
          <a:ln/>
        </p:spPr>
        <p:txBody>
          <a:bodyPr wrap="square" lIns="0" tIns="0" rIns="0" bIns="0" rtlCol="0" anchor="ctr"/>
          <a:lstStyle/>
          <a:p>
            <a:pPr marL="0" indent="0">
              <a:buNone/>
            </a:pPr>
            <a:r>
              <a:rPr lang="en-US" sz="1350" dirty="0">
                <a:solidFill>
                  <a:srgbClr val="0E1524"/>
                </a:solidFill>
                <a:latin typeface="Calibri" pitchFamily="34" charset="0"/>
                <a:ea typeface="Calibri" pitchFamily="34" charset="-122"/>
                <a:cs typeface="Calibri" pitchFamily="34" charset="-120"/>
              </a:rPr>
              <a:t>a photo of a dog</a:t>
            </a:r>
            <a:endParaRPr lang="en-US" sz="1350" dirty="0"/>
          </a:p>
        </p:txBody>
      </p:sp>
      <p:sp>
        <p:nvSpPr>
          <p:cNvPr id="12" name="Shape 10"/>
          <p:cNvSpPr/>
          <p:nvPr/>
        </p:nvSpPr>
        <p:spPr>
          <a:xfrm>
            <a:off x="3611880" y="3209544"/>
            <a:ext cx="685800" cy="0"/>
          </a:xfrm>
          <a:prstGeom prst="line">
            <a:avLst/>
          </a:prstGeom>
          <a:noFill/>
          <a:ln w="19050">
            <a:solidFill>
              <a:srgbClr val="C4CCDA"/>
            </a:solidFill>
            <a:prstDash val="solid"/>
            <a:tailEnd type="triangle"/>
          </a:ln>
        </p:spPr>
        <p:txBody>
          <a:bodyPr/>
          <a:lstStyle/>
          <a:p>
            <a:endParaRPr lang="en-IN"/>
          </a:p>
        </p:txBody>
      </p:sp>
      <p:sp>
        <p:nvSpPr>
          <p:cNvPr id="13" name="Shape 11"/>
          <p:cNvSpPr/>
          <p:nvPr/>
        </p:nvSpPr>
        <p:spPr>
          <a:xfrm>
            <a:off x="640080" y="3703320"/>
            <a:ext cx="2880360" cy="566928"/>
          </a:xfrm>
          <a:prstGeom prst="roundRect">
            <a:avLst>
              <a:gd name="adj" fmla="val 12903"/>
            </a:avLst>
          </a:prstGeom>
          <a:solidFill>
            <a:srgbClr val="F4F6FA"/>
          </a:solidFill>
          <a:ln/>
        </p:spPr>
        <p:txBody>
          <a:bodyPr/>
          <a:lstStyle/>
          <a:p>
            <a:endParaRPr lang="en-IN"/>
          </a:p>
        </p:txBody>
      </p:sp>
      <p:sp>
        <p:nvSpPr>
          <p:cNvPr id="14" name="Shape 12"/>
          <p:cNvSpPr/>
          <p:nvPr/>
        </p:nvSpPr>
        <p:spPr>
          <a:xfrm>
            <a:off x="868680" y="3877056"/>
            <a:ext cx="219456" cy="219456"/>
          </a:xfrm>
          <a:prstGeom prst="ellipse">
            <a:avLst/>
          </a:prstGeom>
          <a:solidFill>
            <a:srgbClr val="FFC24A"/>
          </a:solidFill>
          <a:ln/>
        </p:spPr>
        <p:txBody>
          <a:bodyPr/>
          <a:lstStyle/>
          <a:p>
            <a:endParaRPr lang="en-IN"/>
          </a:p>
        </p:txBody>
      </p:sp>
      <p:sp>
        <p:nvSpPr>
          <p:cNvPr id="15" name="Text 13"/>
          <p:cNvSpPr/>
          <p:nvPr/>
        </p:nvSpPr>
        <p:spPr>
          <a:xfrm>
            <a:off x="1207008" y="3703320"/>
            <a:ext cx="2194560" cy="566928"/>
          </a:xfrm>
          <a:prstGeom prst="rect">
            <a:avLst/>
          </a:prstGeom>
          <a:noFill/>
          <a:ln/>
        </p:spPr>
        <p:txBody>
          <a:bodyPr wrap="square" lIns="0" tIns="0" rIns="0" bIns="0" rtlCol="0" anchor="ctr"/>
          <a:lstStyle/>
          <a:p>
            <a:pPr marL="0" indent="0">
              <a:buNone/>
            </a:pPr>
            <a:r>
              <a:rPr lang="en-US" sz="1350" dirty="0">
                <a:solidFill>
                  <a:srgbClr val="0E1524"/>
                </a:solidFill>
                <a:latin typeface="Calibri" pitchFamily="34" charset="0"/>
                <a:ea typeface="Calibri" pitchFamily="34" charset="-122"/>
                <a:cs typeface="Calibri" pitchFamily="34" charset="-120"/>
              </a:rPr>
              <a:t>a recording of a bark</a:t>
            </a:r>
            <a:endParaRPr lang="en-US" sz="1350" dirty="0"/>
          </a:p>
        </p:txBody>
      </p:sp>
      <p:sp>
        <p:nvSpPr>
          <p:cNvPr id="16" name="Shape 14"/>
          <p:cNvSpPr/>
          <p:nvPr/>
        </p:nvSpPr>
        <p:spPr>
          <a:xfrm>
            <a:off x="3611880" y="3986784"/>
            <a:ext cx="685800" cy="0"/>
          </a:xfrm>
          <a:prstGeom prst="line">
            <a:avLst/>
          </a:prstGeom>
          <a:noFill/>
          <a:ln w="19050">
            <a:solidFill>
              <a:srgbClr val="C4CCDA"/>
            </a:solidFill>
            <a:prstDash val="solid"/>
            <a:tailEnd type="triangle"/>
          </a:ln>
        </p:spPr>
        <p:txBody>
          <a:bodyPr/>
          <a:lstStyle/>
          <a:p>
            <a:endParaRPr lang="en-IN"/>
          </a:p>
        </p:txBody>
      </p:sp>
      <p:sp>
        <p:nvSpPr>
          <p:cNvPr id="17" name="Shape 15"/>
          <p:cNvSpPr/>
          <p:nvPr/>
        </p:nvSpPr>
        <p:spPr>
          <a:xfrm>
            <a:off x="4434840" y="2148840"/>
            <a:ext cx="2514600" cy="2121408"/>
          </a:xfrm>
          <a:prstGeom prst="roundRect">
            <a:avLst>
              <a:gd name="adj" fmla="val 3448"/>
            </a:avLst>
          </a:prstGeom>
          <a:solidFill>
            <a:srgbClr val="0E1524"/>
          </a:solidFill>
          <a:ln/>
        </p:spPr>
        <p:txBody>
          <a:bodyPr/>
          <a:lstStyle/>
          <a:p>
            <a:endParaRPr lang="en-IN"/>
          </a:p>
        </p:txBody>
      </p:sp>
      <p:sp>
        <p:nvSpPr>
          <p:cNvPr id="18" name="Text 16"/>
          <p:cNvSpPr/>
          <p:nvPr/>
        </p:nvSpPr>
        <p:spPr>
          <a:xfrm>
            <a:off x="4434840" y="2926080"/>
            <a:ext cx="2514600" cy="3200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Encoder</a:t>
            </a:r>
            <a:endParaRPr lang="en-US" sz="1800" dirty="0"/>
          </a:p>
        </p:txBody>
      </p:sp>
      <p:sp>
        <p:nvSpPr>
          <p:cNvPr id="19" name="Text 17"/>
          <p:cNvSpPr/>
          <p:nvPr/>
        </p:nvSpPr>
        <p:spPr>
          <a:xfrm>
            <a:off x="4434840" y="3291840"/>
            <a:ext cx="2514600" cy="548640"/>
          </a:xfrm>
          <a:prstGeom prst="rect">
            <a:avLst/>
          </a:prstGeom>
          <a:noFill/>
          <a:ln/>
        </p:spPr>
        <p:txBody>
          <a:bodyPr wrap="square" lIns="0" tIns="0" rIns="0" bIns="0" rtlCol="0" anchor="ctr"/>
          <a:lstStyle/>
          <a:p>
            <a:pPr marL="0" indent="0" algn="ctr">
              <a:buNone/>
            </a:pPr>
            <a:r>
              <a:rPr lang="en-US" sz="1250" dirty="0">
                <a:solidFill>
                  <a:srgbClr val="A8B2C4"/>
                </a:solidFill>
                <a:latin typeface="Calibri" pitchFamily="34" charset="0"/>
                <a:ea typeface="Calibri" pitchFamily="34" charset="-122"/>
                <a:cs typeface="Calibri" pitchFamily="34" charset="-120"/>
              </a:rPr>
              <a:t>turns any input</a:t>
            </a:r>
            <a:endParaRPr lang="en-US" sz="1250" dirty="0"/>
          </a:p>
          <a:p>
            <a:pPr marL="0" indent="0" algn="ctr">
              <a:buNone/>
            </a:pPr>
            <a:r>
              <a:rPr lang="en-US" sz="1250" dirty="0">
                <a:solidFill>
                  <a:srgbClr val="A8B2C4"/>
                </a:solidFill>
                <a:latin typeface="Calibri" pitchFamily="34" charset="0"/>
                <a:ea typeface="Calibri" pitchFamily="34" charset="-122"/>
                <a:cs typeface="Calibri" pitchFamily="34" charset="-120"/>
              </a:rPr>
              <a:t>into a vector</a:t>
            </a:r>
            <a:endParaRPr lang="en-US" sz="1250" dirty="0"/>
          </a:p>
        </p:txBody>
      </p:sp>
      <p:sp>
        <p:nvSpPr>
          <p:cNvPr id="20" name="Shape 18"/>
          <p:cNvSpPr/>
          <p:nvPr/>
        </p:nvSpPr>
        <p:spPr>
          <a:xfrm>
            <a:off x="7086600" y="3200400"/>
            <a:ext cx="685800" cy="0"/>
          </a:xfrm>
          <a:prstGeom prst="line">
            <a:avLst/>
          </a:prstGeom>
          <a:noFill/>
          <a:ln w="19050">
            <a:solidFill>
              <a:srgbClr val="C4CCDA"/>
            </a:solidFill>
            <a:prstDash val="solid"/>
            <a:tailEnd type="triangle"/>
          </a:ln>
        </p:spPr>
        <p:txBody>
          <a:bodyPr/>
          <a:lstStyle/>
          <a:p>
            <a:endParaRPr lang="en-IN"/>
          </a:p>
        </p:txBody>
      </p:sp>
      <p:sp>
        <p:nvSpPr>
          <p:cNvPr id="21" name="Shape 19"/>
          <p:cNvSpPr/>
          <p:nvPr/>
        </p:nvSpPr>
        <p:spPr>
          <a:xfrm>
            <a:off x="7909560" y="2148840"/>
            <a:ext cx="3639312" cy="2121408"/>
          </a:xfrm>
          <a:prstGeom prst="roundRect">
            <a:avLst>
              <a:gd name="adj" fmla="val 3448"/>
            </a:avLst>
          </a:prstGeom>
          <a:solidFill>
            <a:srgbClr val="F4F6FA"/>
          </a:solidFill>
          <a:ln/>
        </p:spPr>
        <p:txBody>
          <a:bodyPr/>
          <a:lstStyle/>
          <a:p>
            <a:endParaRPr lang="en-IN"/>
          </a:p>
        </p:txBody>
      </p:sp>
      <p:sp>
        <p:nvSpPr>
          <p:cNvPr id="22" name="Text 20"/>
          <p:cNvSpPr/>
          <p:nvPr/>
        </p:nvSpPr>
        <p:spPr>
          <a:xfrm>
            <a:off x="8138160" y="2697480"/>
            <a:ext cx="3200400" cy="320040"/>
          </a:xfrm>
          <a:prstGeom prst="rect">
            <a:avLst/>
          </a:prstGeom>
          <a:noFill/>
          <a:ln/>
        </p:spPr>
        <p:txBody>
          <a:bodyPr wrap="square" lIns="0" tIns="0" rIns="0" bIns="0" rtlCol="0" anchor="ctr"/>
          <a:lstStyle/>
          <a:p>
            <a:pPr marL="0" indent="0">
              <a:buNone/>
            </a:pPr>
            <a:r>
              <a:rPr lang="en-US" sz="1400" b="1" dirty="0">
                <a:solidFill>
                  <a:srgbClr val="0E1524"/>
                </a:solidFill>
                <a:latin typeface="Courier New" pitchFamily="34" charset="0"/>
                <a:ea typeface="Courier New" pitchFamily="34" charset="-122"/>
                <a:cs typeface="Courier New" pitchFamily="34" charset="-120"/>
              </a:rPr>
              <a:t>[ 0.21, -0.88, 0.04, ... ]</a:t>
            </a:r>
            <a:endParaRPr lang="en-US" sz="1400" dirty="0"/>
          </a:p>
        </p:txBody>
      </p:sp>
      <p:sp>
        <p:nvSpPr>
          <p:cNvPr id="23" name="Text 21"/>
          <p:cNvSpPr/>
          <p:nvPr/>
        </p:nvSpPr>
        <p:spPr>
          <a:xfrm>
            <a:off x="8138160" y="3154680"/>
            <a:ext cx="3200400" cy="54864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All three land in nearly the</a:t>
            </a:r>
            <a:endParaRPr lang="en-US" sz="1300" dirty="0"/>
          </a:p>
          <a:p>
            <a:pPr marL="0" indent="0">
              <a:buNone/>
            </a:pPr>
            <a:r>
              <a:rPr lang="en-US" sz="1300" dirty="0">
                <a:solidFill>
                  <a:srgbClr val="6B7689"/>
                </a:solidFill>
                <a:latin typeface="Calibri" pitchFamily="34" charset="0"/>
                <a:ea typeface="Calibri" pitchFamily="34" charset="-122"/>
                <a:cs typeface="Calibri" pitchFamily="34" charset="-120"/>
              </a:rPr>
              <a:t>same region of the space.</a:t>
            </a:r>
            <a:endParaRPr lang="en-US" sz="1300" dirty="0"/>
          </a:p>
        </p:txBody>
      </p:sp>
      <p:sp>
        <p:nvSpPr>
          <p:cNvPr id="24" name="Text 22"/>
          <p:cNvSpPr/>
          <p:nvPr/>
        </p:nvSpPr>
        <p:spPr>
          <a:xfrm>
            <a:off x="8138160" y="3767328"/>
            <a:ext cx="3200400" cy="274320"/>
          </a:xfrm>
          <a:prstGeom prst="rect">
            <a:avLst/>
          </a:prstGeom>
          <a:noFill/>
          <a:ln/>
        </p:spPr>
        <p:txBody>
          <a:bodyPr wrap="square" lIns="0" tIns="0" rIns="0" bIns="0" rtlCol="0" anchor="ctr"/>
          <a:lstStyle/>
          <a:p>
            <a:pPr marL="0" indent="0">
              <a:buNone/>
            </a:pPr>
            <a:r>
              <a:rPr lang="en-US" sz="1100" i="1" dirty="0">
                <a:solidFill>
                  <a:srgbClr val="6B7689"/>
                </a:solidFill>
                <a:latin typeface="Calibri" pitchFamily="34" charset="0"/>
                <a:ea typeface="Calibri" pitchFamily="34" charset="-122"/>
                <a:cs typeface="Calibri" pitchFamily="34" charset="-120"/>
              </a:rPr>
              <a:t>768 to 4096 numbers, typically</a:t>
            </a:r>
            <a:endParaRPr lang="en-US" sz="1100" dirty="0"/>
          </a:p>
        </p:txBody>
      </p:sp>
      <p:sp>
        <p:nvSpPr>
          <p:cNvPr id="25" name="Text 23"/>
          <p:cNvSpPr/>
          <p:nvPr/>
        </p:nvSpPr>
        <p:spPr>
          <a:xfrm>
            <a:off x="640080" y="4709160"/>
            <a:ext cx="10908792" cy="365760"/>
          </a:xfrm>
          <a:prstGeom prst="rect">
            <a:avLst/>
          </a:prstGeom>
          <a:noFill/>
          <a:ln/>
        </p:spPr>
        <p:txBody>
          <a:bodyPr wrap="square" lIns="0" tIns="0" rIns="0" bIns="0" rtlCol="0" anchor="ctr"/>
          <a:lstStyle/>
          <a:p>
            <a:pPr marL="0" indent="0">
              <a:buNone/>
            </a:pPr>
            <a:r>
              <a:rPr lang="en-US" sz="1700" b="1" dirty="0">
                <a:solidFill>
                  <a:srgbClr val="0E1524"/>
                </a:solidFill>
                <a:latin typeface="Arial" pitchFamily="34" charset="0"/>
                <a:ea typeface="Arial" pitchFamily="34" charset="-122"/>
                <a:cs typeface="Arial" pitchFamily="34" charset="-120"/>
              </a:rPr>
              <a:t>Once meaning is a coordinate, comparing a picture to a sentence is just arithmetic.</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IDEA 2 OF 3</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How the space gets shared</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Contrastive training: show the model millions of matched pairs, pull matches together, push mismatches apart.</a:t>
            </a:r>
            <a:endParaRPr lang="en-US" sz="1400" dirty="0"/>
          </a:p>
        </p:txBody>
      </p:sp>
      <p:sp>
        <p:nvSpPr>
          <p:cNvPr id="5" name="Shape 3"/>
          <p:cNvSpPr/>
          <p:nvPr/>
        </p:nvSpPr>
        <p:spPr>
          <a:xfrm>
            <a:off x="640080" y="2057400"/>
            <a:ext cx="5303520" cy="2377440"/>
          </a:xfrm>
          <a:prstGeom prst="roundRect">
            <a:avLst>
              <a:gd name="adj" fmla="val 3462"/>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6" name="Text 4"/>
          <p:cNvSpPr/>
          <p:nvPr/>
        </p:nvSpPr>
        <p:spPr>
          <a:xfrm>
            <a:off x="960120" y="2331720"/>
            <a:ext cx="4572000" cy="256032"/>
          </a:xfrm>
          <a:prstGeom prst="rect">
            <a:avLst/>
          </a:prstGeom>
          <a:noFill/>
          <a:ln/>
        </p:spPr>
        <p:txBody>
          <a:bodyPr wrap="square" lIns="0" tIns="0" rIns="0" bIns="0" rtlCol="0" anchor="ctr"/>
          <a:lstStyle/>
          <a:p>
            <a:pPr marL="0" indent="0">
              <a:buNone/>
            </a:pPr>
            <a:r>
              <a:rPr lang="en-US" sz="1100" b="1" kern="0" spc="150" dirty="0">
                <a:solidFill>
                  <a:srgbClr val="00C2A8"/>
                </a:solidFill>
                <a:latin typeface="Arial" pitchFamily="34" charset="0"/>
                <a:ea typeface="Arial" pitchFamily="34" charset="-122"/>
                <a:cs typeface="Arial" pitchFamily="34" charset="-120"/>
              </a:rPr>
              <a:t>PULL TOGETHER</a:t>
            </a:r>
            <a:endParaRPr lang="en-US" sz="1100" dirty="0"/>
          </a:p>
        </p:txBody>
      </p:sp>
      <p:sp>
        <p:nvSpPr>
          <p:cNvPr id="7" name="Text 5"/>
          <p:cNvSpPr/>
          <p:nvPr/>
        </p:nvSpPr>
        <p:spPr>
          <a:xfrm>
            <a:off x="960120" y="2670048"/>
            <a:ext cx="4663440" cy="731520"/>
          </a:xfrm>
          <a:prstGeom prst="rect">
            <a:avLst/>
          </a:prstGeom>
          <a:noFill/>
          <a:ln/>
        </p:spPr>
        <p:txBody>
          <a:bodyPr wrap="square" lIns="0" tIns="0" rIns="0" bIns="0" rtlCol="0" anchor="ctr"/>
          <a:lstStyle/>
          <a:p>
            <a:pPr marL="0" indent="0">
              <a:buNone/>
            </a:pPr>
            <a:r>
              <a:rPr lang="en-US" sz="1400" dirty="0">
                <a:solidFill>
                  <a:srgbClr val="0E1524"/>
                </a:solidFill>
                <a:latin typeface="Calibri" pitchFamily="34" charset="0"/>
                <a:ea typeface="Calibri" pitchFamily="34" charset="-122"/>
                <a:cs typeface="Calibri" pitchFamily="34" charset="-120"/>
              </a:rPr>
              <a:t>A caption and the image it describes are a true pair. The model adjusts until their vectors nearly overlap.</a:t>
            </a:r>
            <a:endParaRPr lang="en-US" sz="1400" dirty="0"/>
          </a:p>
        </p:txBody>
      </p:sp>
      <p:sp>
        <p:nvSpPr>
          <p:cNvPr id="8" name="Text 6"/>
          <p:cNvSpPr/>
          <p:nvPr/>
        </p:nvSpPr>
        <p:spPr>
          <a:xfrm>
            <a:off x="960120" y="3520440"/>
            <a:ext cx="4663440" cy="457200"/>
          </a:xfrm>
          <a:prstGeom prst="rect">
            <a:avLst/>
          </a:prstGeom>
          <a:noFill/>
          <a:ln/>
        </p:spPr>
        <p:txBody>
          <a:bodyPr wrap="square" lIns="0" tIns="0" rIns="0" bIns="0" rtlCol="0" anchor="ctr"/>
          <a:lstStyle/>
          <a:p>
            <a:pPr marL="0" indent="0">
              <a:buNone/>
            </a:pPr>
            <a:r>
              <a:rPr lang="en-US" sz="1150" dirty="0">
                <a:solidFill>
                  <a:srgbClr val="6B7689"/>
                </a:solidFill>
                <a:latin typeface="Courier New" pitchFamily="34" charset="0"/>
                <a:ea typeface="Courier New" pitchFamily="34" charset="-122"/>
                <a:cs typeface="Courier New" pitchFamily="34" charset="-120"/>
              </a:rPr>
              <a:t>"a cracked weld on a steel pipe"  +  that exact photo</a:t>
            </a:r>
            <a:endParaRPr lang="en-US" sz="1150" dirty="0"/>
          </a:p>
        </p:txBody>
      </p:sp>
      <p:sp>
        <p:nvSpPr>
          <p:cNvPr id="9" name="Shape 7"/>
          <p:cNvSpPr/>
          <p:nvPr/>
        </p:nvSpPr>
        <p:spPr>
          <a:xfrm>
            <a:off x="6245352" y="2057400"/>
            <a:ext cx="5303520" cy="2377440"/>
          </a:xfrm>
          <a:prstGeom prst="roundRect">
            <a:avLst>
              <a:gd name="adj" fmla="val 3462"/>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0" name="Text 8"/>
          <p:cNvSpPr/>
          <p:nvPr/>
        </p:nvSpPr>
        <p:spPr>
          <a:xfrm>
            <a:off x="6565392" y="2331720"/>
            <a:ext cx="4572000" cy="256032"/>
          </a:xfrm>
          <a:prstGeom prst="rect">
            <a:avLst/>
          </a:prstGeom>
          <a:noFill/>
          <a:ln/>
        </p:spPr>
        <p:txBody>
          <a:bodyPr wrap="square" lIns="0" tIns="0" rIns="0" bIns="0" rtlCol="0" anchor="ctr"/>
          <a:lstStyle/>
          <a:p>
            <a:pPr marL="0" indent="0">
              <a:buNone/>
            </a:pPr>
            <a:r>
              <a:rPr lang="en-US" sz="1100" b="1" kern="0" spc="150" dirty="0">
                <a:solidFill>
                  <a:srgbClr val="FF6B4A"/>
                </a:solidFill>
                <a:latin typeface="Arial" pitchFamily="34" charset="0"/>
                <a:ea typeface="Arial" pitchFamily="34" charset="-122"/>
                <a:cs typeface="Arial" pitchFamily="34" charset="-120"/>
              </a:rPr>
              <a:t>PUSH APART</a:t>
            </a:r>
            <a:endParaRPr lang="en-US" sz="1100" dirty="0"/>
          </a:p>
        </p:txBody>
      </p:sp>
      <p:sp>
        <p:nvSpPr>
          <p:cNvPr id="11" name="Text 9"/>
          <p:cNvSpPr/>
          <p:nvPr/>
        </p:nvSpPr>
        <p:spPr>
          <a:xfrm>
            <a:off x="6565392" y="2670048"/>
            <a:ext cx="4663440" cy="731520"/>
          </a:xfrm>
          <a:prstGeom prst="rect">
            <a:avLst/>
          </a:prstGeom>
          <a:noFill/>
          <a:ln/>
        </p:spPr>
        <p:txBody>
          <a:bodyPr wrap="square" lIns="0" tIns="0" rIns="0" bIns="0" rtlCol="0" anchor="ctr"/>
          <a:lstStyle/>
          <a:p>
            <a:pPr marL="0" indent="0">
              <a:buNone/>
            </a:pPr>
            <a:r>
              <a:rPr lang="en-US" sz="1400" dirty="0">
                <a:solidFill>
                  <a:srgbClr val="0E1524"/>
                </a:solidFill>
                <a:latin typeface="Calibri" pitchFamily="34" charset="0"/>
                <a:ea typeface="Calibri" pitchFamily="34" charset="-122"/>
                <a:cs typeface="Calibri" pitchFamily="34" charset="-120"/>
              </a:rPr>
              <a:t>Every other caption in the batch is a wrong answer. Their vectors get driven away from that image.</a:t>
            </a:r>
            <a:endParaRPr lang="en-US" sz="1400" dirty="0"/>
          </a:p>
        </p:txBody>
      </p:sp>
      <p:sp>
        <p:nvSpPr>
          <p:cNvPr id="12" name="Text 10"/>
          <p:cNvSpPr/>
          <p:nvPr/>
        </p:nvSpPr>
        <p:spPr>
          <a:xfrm>
            <a:off x="6565392" y="3520440"/>
            <a:ext cx="4663440" cy="457200"/>
          </a:xfrm>
          <a:prstGeom prst="rect">
            <a:avLst/>
          </a:prstGeom>
          <a:noFill/>
          <a:ln/>
        </p:spPr>
        <p:txBody>
          <a:bodyPr wrap="square" lIns="0" tIns="0" rIns="0" bIns="0" rtlCol="0" anchor="ctr"/>
          <a:lstStyle/>
          <a:p>
            <a:pPr marL="0" indent="0">
              <a:buNone/>
            </a:pPr>
            <a:r>
              <a:rPr lang="en-US" sz="1150" dirty="0">
                <a:solidFill>
                  <a:srgbClr val="6B7689"/>
                </a:solidFill>
                <a:latin typeface="Courier New" pitchFamily="34" charset="0"/>
                <a:ea typeface="Courier New" pitchFamily="34" charset="-122"/>
                <a:cs typeface="Courier New" pitchFamily="34" charset="-120"/>
              </a:rPr>
              <a:t>"a golden retriever in a park"  +  that same photo</a:t>
            </a:r>
            <a:endParaRPr lang="en-US" sz="1150" dirty="0"/>
          </a:p>
        </p:txBody>
      </p:sp>
      <p:sp>
        <p:nvSpPr>
          <p:cNvPr id="13" name="Shape 11"/>
          <p:cNvSpPr/>
          <p:nvPr/>
        </p:nvSpPr>
        <p:spPr>
          <a:xfrm>
            <a:off x="640080" y="4709160"/>
            <a:ext cx="10908792" cy="914400"/>
          </a:xfrm>
          <a:prstGeom prst="roundRect">
            <a:avLst>
              <a:gd name="adj" fmla="val 8000"/>
            </a:avLst>
          </a:prstGeom>
          <a:solidFill>
            <a:srgbClr val="0E1524"/>
          </a:solidFill>
          <a:ln/>
        </p:spPr>
        <p:txBody>
          <a:bodyPr/>
          <a:lstStyle/>
          <a:p>
            <a:endParaRPr lang="en-IN"/>
          </a:p>
        </p:txBody>
      </p:sp>
      <p:sp>
        <p:nvSpPr>
          <p:cNvPr id="14" name="Text 12"/>
          <p:cNvSpPr/>
          <p:nvPr/>
        </p:nvSpPr>
        <p:spPr>
          <a:xfrm>
            <a:off x="1005840" y="4709160"/>
            <a:ext cx="10149840" cy="91440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Nobody labelled these pairs by hand. The internet already had billions of images sitting next to their captions - that accident of the web is what made the whole field possible.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IDEA 3 OF 3</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The transformer does not care what it is reading</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Attention operates on a sequence of tokens. Every modality can be chopped into a sequence - so every modality fits.</a:t>
            </a:r>
            <a:endParaRPr lang="en-US" sz="1400" dirty="0"/>
          </a:p>
        </p:txBody>
      </p:sp>
      <p:sp>
        <p:nvSpPr>
          <p:cNvPr id="5" name="Shape 3"/>
          <p:cNvSpPr/>
          <p:nvPr/>
        </p:nvSpPr>
        <p:spPr>
          <a:xfrm>
            <a:off x="640080" y="2057400"/>
            <a:ext cx="10908792" cy="658368"/>
          </a:xfrm>
          <a:prstGeom prst="roundRect">
            <a:avLst>
              <a:gd name="adj" fmla="val 11111"/>
            </a:avLst>
          </a:prstGeom>
          <a:solidFill>
            <a:srgbClr val="F4F6FA"/>
          </a:solidFill>
          <a:ln/>
        </p:spPr>
        <p:txBody>
          <a:bodyPr/>
          <a:lstStyle/>
          <a:p>
            <a:endParaRPr lang="en-IN"/>
          </a:p>
        </p:txBody>
      </p:sp>
      <p:sp>
        <p:nvSpPr>
          <p:cNvPr id="6" name="Shape 4"/>
          <p:cNvSpPr/>
          <p:nvPr/>
        </p:nvSpPr>
        <p:spPr>
          <a:xfrm>
            <a:off x="914400" y="2272284"/>
            <a:ext cx="228600" cy="228600"/>
          </a:xfrm>
          <a:prstGeom prst="ellipse">
            <a:avLst/>
          </a:prstGeom>
          <a:solidFill>
            <a:srgbClr val="00C2A8"/>
          </a:solidFill>
          <a:ln/>
        </p:spPr>
        <p:txBody>
          <a:bodyPr/>
          <a:lstStyle/>
          <a:p>
            <a:endParaRPr lang="en-IN"/>
          </a:p>
        </p:txBody>
      </p:sp>
      <p:sp>
        <p:nvSpPr>
          <p:cNvPr id="7" name="Text 5"/>
          <p:cNvSpPr/>
          <p:nvPr/>
        </p:nvSpPr>
        <p:spPr>
          <a:xfrm>
            <a:off x="1298448" y="2057400"/>
            <a:ext cx="1371600" cy="65836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Text</a:t>
            </a:r>
            <a:endParaRPr lang="en-US" sz="1500" dirty="0"/>
          </a:p>
        </p:txBody>
      </p:sp>
      <p:sp>
        <p:nvSpPr>
          <p:cNvPr id="8" name="Text 6"/>
          <p:cNvSpPr/>
          <p:nvPr/>
        </p:nvSpPr>
        <p:spPr>
          <a:xfrm>
            <a:off x="2743200" y="2057400"/>
            <a:ext cx="2834640" cy="658368"/>
          </a:xfrm>
          <a:prstGeom prst="rect">
            <a:avLst/>
          </a:prstGeom>
          <a:noFill/>
          <a:ln/>
        </p:spPr>
        <p:txBody>
          <a:bodyPr wrap="square" lIns="0" tIns="0" rIns="0" bIns="0" rtlCol="0" anchor="ctr"/>
          <a:lstStyle/>
          <a:p>
            <a:pPr marL="0" indent="0">
              <a:buNone/>
            </a:pPr>
            <a:r>
              <a:rPr lang="en-US" sz="1350" b="1" dirty="0">
                <a:solidFill>
                  <a:srgbClr val="00C2A8"/>
                </a:solidFill>
                <a:latin typeface="Arial" pitchFamily="34" charset="0"/>
                <a:ea typeface="Arial" pitchFamily="34" charset="-122"/>
                <a:cs typeface="Arial" pitchFamily="34" charset="-120"/>
              </a:rPr>
              <a:t>Sub-word pieces</a:t>
            </a:r>
            <a:endParaRPr lang="en-US" sz="1350" dirty="0"/>
          </a:p>
        </p:txBody>
      </p:sp>
      <p:sp>
        <p:nvSpPr>
          <p:cNvPr id="9" name="Text 7"/>
          <p:cNvSpPr/>
          <p:nvPr/>
        </p:nvSpPr>
        <p:spPr>
          <a:xfrm>
            <a:off x="5669280" y="2057400"/>
            <a:ext cx="5577840" cy="658368"/>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"multimodal" becomes  multi | modal</a:t>
            </a:r>
            <a:endParaRPr lang="en-US" sz="1300" dirty="0"/>
          </a:p>
        </p:txBody>
      </p:sp>
      <p:sp>
        <p:nvSpPr>
          <p:cNvPr id="10" name="Shape 8"/>
          <p:cNvSpPr/>
          <p:nvPr/>
        </p:nvSpPr>
        <p:spPr>
          <a:xfrm>
            <a:off x="640080" y="2843784"/>
            <a:ext cx="10908792" cy="658368"/>
          </a:xfrm>
          <a:prstGeom prst="roundRect">
            <a:avLst>
              <a:gd name="adj" fmla="val 11111"/>
            </a:avLst>
          </a:prstGeom>
          <a:solidFill>
            <a:srgbClr val="F4F6FA"/>
          </a:solidFill>
          <a:ln/>
        </p:spPr>
        <p:txBody>
          <a:bodyPr/>
          <a:lstStyle/>
          <a:p>
            <a:endParaRPr lang="en-IN"/>
          </a:p>
        </p:txBody>
      </p:sp>
      <p:sp>
        <p:nvSpPr>
          <p:cNvPr id="11" name="Shape 9"/>
          <p:cNvSpPr/>
          <p:nvPr/>
        </p:nvSpPr>
        <p:spPr>
          <a:xfrm>
            <a:off x="914400" y="3058668"/>
            <a:ext cx="228600" cy="228600"/>
          </a:xfrm>
          <a:prstGeom prst="ellipse">
            <a:avLst/>
          </a:prstGeom>
          <a:solidFill>
            <a:srgbClr val="FF6B4A"/>
          </a:solidFill>
          <a:ln/>
        </p:spPr>
        <p:txBody>
          <a:bodyPr/>
          <a:lstStyle/>
          <a:p>
            <a:endParaRPr lang="en-IN"/>
          </a:p>
        </p:txBody>
      </p:sp>
      <p:sp>
        <p:nvSpPr>
          <p:cNvPr id="12" name="Text 10"/>
          <p:cNvSpPr/>
          <p:nvPr/>
        </p:nvSpPr>
        <p:spPr>
          <a:xfrm>
            <a:off x="1298448" y="2843784"/>
            <a:ext cx="1371600" cy="65836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Image</a:t>
            </a:r>
            <a:endParaRPr lang="en-US" sz="1500" dirty="0"/>
          </a:p>
        </p:txBody>
      </p:sp>
      <p:sp>
        <p:nvSpPr>
          <p:cNvPr id="13" name="Text 11"/>
          <p:cNvSpPr/>
          <p:nvPr/>
        </p:nvSpPr>
        <p:spPr>
          <a:xfrm>
            <a:off x="2743200" y="2843784"/>
            <a:ext cx="2834640" cy="658368"/>
          </a:xfrm>
          <a:prstGeom prst="rect">
            <a:avLst/>
          </a:prstGeom>
          <a:noFill/>
          <a:ln/>
        </p:spPr>
        <p:txBody>
          <a:bodyPr wrap="square" lIns="0" tIns="0" rIns="0" bIns="0" rtlCol="0" anchor="ctr"/>
          <a:lstStyle/>
          <a:p>
            <a:pPr marL="0" indent="0">
              <a:buNone/>
            </a:pPr>
            <a:r>
              <a:rPr lang="en-US" sz="1350" b="1" dirty="0">
                <a:solidFill>
                  <a:srgbClr val="FF6B4A"/>
                </a:solidFill>
                <a:latin typeface="Arial" pitchFamily="34" charset="0"/>
                <a:ea typeface="Arial" pitchFamily="34" charset="-122"/>
                <a:cs typeface="Arial" pitchFamily="34" charset="-120"/>
              </a:rPr>
              <a:t>Fixed patches</a:t>
            </a:r>
            <a:endParaRPr lang="en-US" sz="1350" dirty="0"/>
          </a:p>
        </p:txBody>
      </p:sp>
      <p:sp>
        <p:nvSpPr>
          <p:cNvPr id="14" name="Text 12"/>
          <p:cNvSpPr/>
          <p:nvPr/>
        </p:nvSpPr>
        <p:spPr>
          <a:xfrm>
            <a:off x="5669280" y="2843784"/>
            <a:ext cx="5577840" cy="658368"/>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A 224x224 image becomes 196 patches of 16x16</a:t>
            </a:r>
            <a:endParaRPr lang="en-US" sz="1300" dirty="0"/>
          </a:p>
        </p:txBody>
      </p:sp>
      <p:sp>
        <p:nvSpPr>
          <p:cNvPr id="15" name="Shape 13"/>
          <p:cNvSpPr/>
          <p:nvPr/>
        </p:nvSpPr>
        <p:spPr>
          <a:xfrm>
            <a:off x="640080" y="3630168"/>
            <a:ext cx="10908792" cy="658368"/>
          </a:xfrm>
          <a:prstGeom prst="roundRect">
            <a:avLst>
              <a:gd name="adj" fmla="val 11111"/>
            </a:avLst>
          </a:prstGeom>
          <a:solidFill>
            <a:srgbClr val="F4F6FA"/>
          </a:solidFill>
          <a:ln/>
        </p:spPr>
        <p:txBody>
          <a:bodyPr/>
          <a:lstStyle/>
          <a:p>
            <a:endParaRPr lang="en-IN"/>
          </a:p>
        </p:txBody>
      </p:sp>
      <p:sp>
        <p:nvSpPr>
          <p:cNvPr id="16" name="Shape 14"/>
          <p:cNvSpPr/>
          <p:nvPr/>
        </p:nvSpPr>
        <p:spPr>
          <a:xfrm>
            <a:off x="914400" y="3845052"/>
            <a:ext cx="228600" cy="228600"/>
          </a:xfrm>
          <a:prstGeom prst="ellipse">
            <a:avLst/>
          </a:prstGeom>
          <a:solidFill>
            <a:srgbClr val="FFC24A"/>
          </a:solidFill>
          <a:ln/>
        </p:spPr>
        <p:txBody>
          <a:bodyPr/>
          <a:lstStyle/>
          <a:p>
            <a:endParaRPr lang="en-IN"/>
          </a:p>
        </p:txBody>
      </p:sp>
      <p:sp>
        <p:nvSpPr>
          <p:cNvPr id="17" name="Text 15"/>
          <p:cNvSpPr/>
          <p:nvPr/>
        </p:nvSpPr>
        <p:spPr>
          <a:xfrm>
            <a:off x="1298448" y="3630168"/>
            <a:ext cx="1371600" cy="65836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Audio</a:t>
            </a:r>
            <a:endParaRPr lang="en-US" sz="1500" dirty="0"/>
          </a:p>
        </p:txBody>
      </p:sp>
      <p:sp>
        <p:nvSpPr>
          <p:cNvPr id="18" name="Text 16"/>
          <p:cNvSpPr/>
          <p:nvPr/>
        </p:nvSpPr>
        <p:spPr>
          <a:xfrm>
            <a:off x="2743200" y="3630168"/>
            <a:ext cx="2834640" cy="658368"/>
          </a:xfrm>
          <a:prstGeom prst="rect">
            <a:avLst/>
          </a:prstGeom>
          <a:noFill/>
          <a:ln/>
        </p:spPr>
        <p:txBody>
          <a:bodyPr wrap="square" lIns="0" tIns="0" rIns="0" bIns="0" rtlCol="0" anchor="ctr"/>
          <a:lstStyle/>
          <a:p>
            <a:pPr marL="0" indent="0">
              <a:buNone/>
            </a:pPr>
            <a:r>
              <a:rPr lang="en-US" sz="1350" b="1" dirty="0">
                <a:solidFill>
                  <a:srgbClr val="FFC24A"/>
                </a:solidFill>
                <a:latin typeface="Arial" pitchFamily="34" charset="0"/>
                <a:ea typeface="Arial" pitchFamily="34" charset="-122"/>
                <a:cs typeface="Arial" pitchFamily="34" charset="-120"/>
              </a:rPr>
              <a:t>Spectrogram frames</a:t>
            </a:r>
            <a:endParaRPr lang="en-US" sz="1350" dirty="0"/>
          </a:p>
        </p:txBody>
      </p:sp>
      <p:sp>
        <p:nvSpPr>
          <p:cNvPr id="19" name="Text 17"/>
          <p:cNvSpPr/>
          <p:nvPr/>
        </p:nvSpPr>
        <p:spPr>
          <a:xfrm>
            <a:off x="5669280" y="3630168"/>
            <a:ext cx="5577840" cy="658368"/>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Sound becomes a picture of frequency over time</a:t>
            </a:r>
            <a:endParaRPr lang="en-US" sz="1300" dirty="0"/>
          </a:p>
        </p:txBody>
      </p:sp>
      <p:sp>
        <p:nvSpPr>
          <p:cNvPr id="20" name="Shape 18"/>
          <p:cNvSpPr/>
          <p:nvPr/>
        </p:nvSpPr>
        <p:spPr>
          <a:xfrm>
            <a:off x="640080" y="4416552"/>
            <a:ext cx="10908792" cy="658368"/>
          </a:xfrm>
          <a:prstGeom prst="roundRect">
            <a:avLst>
              <a:gd name="adj" fmla="val 11111"/>
            </a:avLst>
          </a:prstGeom>
          <a:solidFill>
            <a:srgbClr val="F4F6FA"/>
          </a:solidFill>
          <a:ln/>
        </p:spPr>
        <p:txBody>
          <a:bodyPr/>
          <a:lstStyle/>
          <a:p>
            <a:endParaRPr lang="en-IN"/>
          </a:p>
        </p:txBody>
      </p:sp>
      <p:sp>
        <p:nvSpPr>
          <p:cNvPr id="21" name="Shape 19"/>
          <p:cNvSpPr/>
          <p:nvPr/>
        </p:nvSpPr>
        <p:spPr>
          <a:xfrm>
            <a:off x="914400" y="4631436"/>
            <a:ext cx="228600" cy="228600"/>
          </a:xfrm>
          <a:prstGeom prst="ellipse">
            <a:avLst/>
          </a:prstGeom>
          <a:solidFill>
            <a:srgbClr val="6B7689"/>
          </a:solidFill>
          <a:ln/>
        </p:spPr>
        <p:txBody>
          <a:bodyPr/>
          <a:lstStyle/>
          <a:p>
            <a:endParaRPr lang="en-IN"/>
          </a:p>
        </p:txBody>
      </p:sp>
      <p:sp>
        <p:nvSpPr>
          <p:cNvPr id="22" name="Text 20"/>
          <p:cNvSpPr/>
          <p:nvPr/>
        </p:nvSpPr>
        <p:spPr>
          <a:xfrm>
            <a:off x="1298448" y="4416552"/>
            <a:ext cx="1371600" cy="65836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Video</a:t>
            </a:r>
            <a:endParaRPr lang="en-US" sz="1500" dirty="0"/>
          </a:p>
        </p:txBody>
      </p:sp>
      <p:sp>
        <p:nvSpPr>
          <p:cNvPr id="23" name="Text 21"/>
          <p:cNvSpPr/>
          <p:nvPr/>
        </p:nvSpPr>
        <p:spPr>
          <a:xfrm>
            <a:off x="2743200" y="4416552"/>
            <a:ext cx="2834640" cy="658368"/>
          </a:xfrm>
          <a:prstGeom prst="rect">
            <a:avLst/>
          </a:prstGeom>
          <a:noFill/>
          <a:ln/>
        </p:spPr>
        <p:txBody>
          <a:bodyPr wrap="square" lIns="0" tIns="0" rIns="0" bIns="0" rtlCol="0" anchor="ctr"/>
          <a:lstStyle/>
          <a:p>
            <a:pPr marL="0" indent="0">
              <a:buNone/>
            </a:pPr>
            <a:r>
              <a:rPr lang="en-US" sz="1350" b="1" dirty="0">
                <a:solidFill>
                  <a:srgbClr val="6B7689"/>
                </a:solidFill>
                <a:latin typeface="Arial" pitchFamily="34" charset="0"/>
                <a:ea typeface="Arial" pitchFamily="34" charset="-122"/>
                <a:cs typeface="Arial" pitchFamily="34" charset="-120"/>
              </a:rPr>
              <a:t>Patches plus time</a:t>
            </a:r>
            <a:endParaRPr lang="en-US" sz="1350" dirty="0"/>
          </a:p>
        </p:txBody>
      </p:sp>
      <p:sp>
        <p:nvSpPr>
          <p:cNvPr id="24" name="Text 22"/>
          <p:cNvSpPr/>
          <p:nvPr/>
        </p:nvSpPr>
        <p:spPr>
          <a:xfrm>
            <a:off x="5669280" y="4416552"/>
            <a:ext cx="5577840" cy="658368"/>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Frames sampled, then patched like images</a:t>
            </a:r>
            <a:endParaRPr lang="en-US" sz="1300" dirty="0"/>
          </a:p>
        </p:txBody>
      </p:sp>
      <p:sp>
        <p:nvSpPr>
          <p:cNvPr id="25" name="Text 23"/>
          <p:cNvSpPr/>
          <p:nvPr/>
        </p:nvSpPr>
        <p:spPr>
          <a:xfrm>
            <a:off x="640080" y="5349240"/>
            <a:ext cx="10908792" cy="365760"/>
          </a:xfrm>
          <a:prstGeom prst="rect">
            <a:avLst/>
          </a:prstGeom>
          <a:noFill/>
          <a:ln/>
        </p:spPr>
        <p:txBody>
          <a:bodyPr wrap="square" lIns="0" tIns="0" rIns="0" bIns="0" rtlCol="0" anchor="ctr"/>
          <a:lstStyle/>
          <a:p>
            <a:pPr marL="0" indent="0">
              <a:buNone/>
            </a:pPr>
            <a:r>
              <a:rPr lang="en-US" sz="1650" b="1" dirty="0">
                <a:solidFill>
                  <a:srgbClr val="0E1524"/>
                </a:solidFill>
                <a:latin typeface="Arial" pitchFamily="34" charset="0"/>
                <a:ea typeface="Arial" pitchFamily="34" charset="-122"/>
                <a:cs typeface="Arial" pitchFamily="34" charset="-120"/>
              </a:rPr>
              <a:t>Once it is a token sequence, the same attention machinery that reads a paragraph can read a chest X-ray.</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DESIGN CHOICE</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Three ways to combine the signals</a:t>
            </a:r>
            <a:endParaRPr lang="en-US" sz="3400" dirty="0"/>
          </a:p>
        </p:txBody>
      </p:sp>
      <p:sp>
        <p:nvSpPr>
          <p:cNvPr id="4" name="Shape 2"/>
          <p:cNvSpPr/>
          <p:nvPr/>
        </p:nvSpPr>
        <p:spPr>
          <a:xfrm>
            <a:off x="640080" y="1691640"/>
            <a:ext cx="3401568" cy="3291840"/>
          </a:xfrm>
          <a:prstGeom prst="roundRect">
            <a:avLst>
              <a:gd name="adj" fmla="val 25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5" name="Shape 3"/>
          <p:cNvSpPr/>
          <p:nvPr/>
        </p:nvSpPr>
        <p:spPr>
          <a:xfrm>
            <a:off x="932688" y="1965960"/>
            <a:ext cx="310896" cy="310896"/>
          </a:xfrm>
          <a:prstGeom prst="ellipse">
            <a:avLst/>
          </a:prstGeom>
          <a:solidFill>
            <a:srgbClr val="00C2A8"/>
          </a:solidFill>
          <a:ln/>
        </p:spPr>
        <p:txBody>
          <a:bodyPr/>
          <a:lstStyle/>
          <a:p>
            <a:endParaRPr lang="en-IN"/>
          </a:p>
        </p:txBody>
      </p:sp>
      <p:sp>
        <p:nvSpPr>
          <p:cNvPr id="6" name="Text 4"/>
          <p:cNvSpPr/>
          <p:nvPr/>
        </p:nvSpPr>
        <p:spPr>
          <a:xfrm>
            <a:off x="932688" y="2395728"/>
            <a:ext cx="2834640" cy="320040"/>
          </a:xfrm>
          <a:prstGeom prst="rect">
            <a:avLst/>
          </a:prstGeom>
          <a:noFill/>
          <a:ln/>
        </p:spPr>
        <p:txBody>
          <a:bodyPr wrap="square" lIns="0" tIns="0" rIns="0" bIns="0" rtlCol="0" anchor="ctr"/>
          <a:lstStyle/>
          <a:p>
            <a:pPr marL="0" indent="0">
              <a:buNone/>
            </a:pPr>
            <a:r>
              <a:rPr lang="en-US" sz="1700" b="1" dirty="0">
                <a:solidFill>
                  <a:srgbClr val="0E1524"/>
                </a:solidFill>
                <a:latin typeface="Arial" pitchFamily="34" charset="0"/>
                <a:ea typeface="Arial" pitchFamily="34" charset="-122"/>
                <a:cs typeface="Arial" pitchFamily="34" charset="-120"/>
              </a:rPr>
              <a:t>Early fusion</a:t>
            </a:r>
            <a:endParaRPr lang="en-US" sz="1700" dirty="0"/>
          </a:p>
        </p:txBody>
      </p:sp>
      <p:sp>
        <p:nvSpPr>
          <p:cNvPr id="7" name="Text 5"/>
          <p:cNvSpPr/>
          <p:nvPr/>
        </p:nvSpPr>
        <p:spPr>
          <a:xfrm>
            <a:off x="932688" y="2761488"/>
            <a:ext cx="2834640" cy="59436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Concatenate raw tokens before the model sees them</a:t>
            </a:r>
            <a:endParaRPr lang="en-US" sz="1300" dirty="0"/>
          </a:p>
        </p:txBody>
      </p:sp>
      <p:sp>
        <p:nvSpPr>
          <p:cNvPr id="8" name="Text 6"/>
          <p:cNvSpPr/>
          <p:nvPr/>
        </p:nvSpPr>
        <p:spPr>
          <a:xfrm>
            <a:off x="932688" y="3456432"/>
            <a:ext cx="2834640" cy="201168"/>
          </a:xfrm>
          <a:prstGeom prst="rect">
            <a:avLst/>
          </a:prstGeom>
          <a:noFill/>
          <a:ln/>
        </p:spPr>
        <p:txBody>
          <a:bodyPr wrap="square" lIns="0" tIns="0" rIns="0" bIns="0" rtlCol="0" anchor="ctr"/>
          <a:lstStyle/>
          <a:p>
            <a:pPr marL="0" indent="0">
              <a:buNone/>
            </a:pPr>
            <a:r>
              <a:rPr lang="en-US" sz="950" b="1" kern="0" spc="100" dirty="0">
                <a:solidFill>
                  <a:srgbClr val="00C2A8"/>
                </a:solidFill>
                <a:latin typeface="Arial" pitchFamily="34" charset="0"/>
                <a:ea typeface="Arial" pitchFamily="34" charset="-122"/>
                <a:cs typeface="Arial" pitchFamily="34" charset="-120"/>
              </a:rPr>
              <a:t>STRENGTH</a:t>
            </a:r>
            <a:endParaRPr lang="en-US" sz="950" dirty="0"/>
          </a:p>
        </p:txBody>
      </p:sp>
      <p:sp>
        <p:nvSpPr>
          <p:cNvPr id="9" name="Text 7"/>
          <p:cNvSpPr/>
          <p:nvPr/>
        </p:nvSpPr>
        <p:spPr>
          <a:xfrm>
            <a:off x="932688" y="3675888"/>
            <a:ext cx="2834640" cy="457200"/>
          </a:xfrm>
          <a:prstGeom prst="rect">
            <a:avLst/>
          </a:prstGeom>
          <a:noFill/>
          <a:ln/>
        </p:spPr>
        <p:txBody>
          <a:bodyPr wrap="square" lIns="0" tIns="0" rIns="0" bIns="0" rtlCol="0" anchor="ctr"/>
          <a:lstStyle/>
          <a:p>
            <a:pPr marL="0" indent="0">
              <a:buNone/>
            </a:pPr>
            <a:r>
              <a:rPr lang="en-US" sz="1250" dirty="0">
                <a:solidFill>
                  <a:srgbClr val="0E1524"/>
                </a:solidFill>
                <a:latin typeface="Calibri" pitchFamily="34" charset="0"/>
                <a:ea typeface="Calibri" pitchFamily="34" charset="-122"/>
                <a:cs typeface="Calibri" pitchFamily="34" charset="-120"/>
              </a:rPr>
              <a:t>Richest interaction between modalities</a:t>
            </a:r>
            <a:endParaRPr lang="en-US" sz="1250" dirty="0"/>
          </a:p>
        </p:txBody>
      </p:sp>
      <p:sp>
        <p:nvSpPr>
          <p:cNvPr id="10" name="Text 8"/>
          <p:cNvSpPr/>
          <p:nvPr/>
        </p:nvSpPr>
        <p:spPr>
          <a:xfrm>
            <a:off x="932688" y="4160520"/>
            <a:ext cx="2834640" cy="201168"/>
          </a:xfrm>
          <a:prstGeom prst="rect">
            <a:avLst/>
          </a:prstGeom>
          <a:noFill/>
          <a:ln/>
        </p:spPr>
        <p:txBody>
          <a:bodyPr wrap="square" lIns="0" tIns="0" rIns="0" bIns="0" rtlCol="0" anchor="ctr"/>
          <a:lstStyle/>
          <a:p>
            <a:pPr marL="0" indent="0">
              <a:buNone/>
            </a:pPr>
            <a:r>
              <a:rPr lang="en-US" sz="950" b="1" kern="0" spc="100" dirty="0">
                <a:solidFill>
                  <a:srgbClr val="FF6B4A"/>
                </a:solidFill>
                <a:latin typeface="Arial" pitchFamily="34" charset="0"/>
                <a:ea typeface="Arial" pitchFamily="34" charset="-122"/>
                <a:cs typeface="Arial" pitchFamily="34" charset="-120"/>
              </a:rPr>
              <a:t>COST</a:t>
            </a:r>
            <a:endParaRPr lang="en-US" sz="950" dirty="0"/>
          </a:p>
        </p:txBody>
      </p:sp>
      <p:sp>
        <p:nvSpPr>
          <p:cNvPr id="11" name="Text 9"/>
          <p:cNvSpPr/>
          <p:nvPr/>
        </p:nvSpPr>
        <p:spPr>
          <a:xfrm>
            <a:off x="932688" y="4379976"/>
            <a:ext cx="2834640" cy="457200"/>
          </a:xfrm>
          <a:prstGeom prst="rect">
            <a:avLst/>
          </a:prstGeom>
          <a:noFill/>
          <a:ln/>
        </p:spPr>
        <p:txBody>
          <a:bodyPr wrap="square" lIns="0" tIns="0" rIns="0" bIns="0" rtlCol="0" anchor="ctr"/>
          <a:lstStyle/>
          <a:p>
            <a:pPr marL="0" indent="0">
              <a:buNone/>
            </a:pPr>
            <a:r>
              <a:rPr lang="en-US" sz="1250" dirty="0">
                <a:solidFill>
                  <a:srgbClr val="0E1524"/>
                </a:solidFill>
                <a:latin typeface="Calibri" pitchFamily="34" charset="0"/>
                <a:ea typeface="Calibri" pitchFamily="34" charset="-122"/>
                <a:cs typeface="Calibri" pitchFamily="34" charset="-120"/>
              </a:rPr>
              <a:t>Expensive, needs paired training data</a:t>
            </a:r>
            <a:endParaRPr lang="en-US" sz="1250" dirty="0"/>
          </a:p>
        </p:txBody>
      </p:sp>
      <p:sp>
        <p:nvSpPr>
          <p:cNvPr id="12" name="Shape 10"/>
          <p:cNvSpPr/>
          <p:nvPr/>
        </p:nvSpPr>
        <p:spPr>
          <a:xfrm>
            <a:off x="4343400" y="1691640"/>
            <a:ext cx="3401568" cy="3291840"/>
          </a:xfrm>
          <a:prstGeom prst="roundRect">
            <a:avLst>
              <a:gd name="adj" fmla="val 25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3" name="Shape 11"/>
          <p:cNvSpPr/>
          <p:nvPr/>
        </p:nvSpPr>
        <p:spPr>
          <a:xfrm>
            <a:off x="4636008" y="1965960"/>
            <a:ext cx="310896" cy="310896"/>
          </a:xfrm>
          <a:prstGeom prst="ellipse">
            <a:avLst/>
          </a:prstGeom>
          <a:solidFill>
            <a:srgbClr val="FFC24A"/>
          </a:solidFill>
          <a:ln/>
        </p:spPr>
        <p:txBody>
          <a:bodyPr/>
          <a:lstStyle/>
          <a:p>
            <a:endParaRPr lang="en-IN"/>
          </a:p>
        </p:txBody>
      </p:sp>
      <p:sp>
        <p:nvSpPr>
          <p:cNvPr id="14" name="Text 12"/>
          <p:cNvSpPr/>
          <p:nvPr/>
        </p:nvSpPr>
        <p:spPr>
          <a:xfrm>
            <a:off x="4636008" y="2395728"/>
            <a:ext cx="2834640" cy="320040"/>
          </a:xfrm>
          <a:prstGeom prst="rect">
            <a:avLst/>
          </a:prstGeom>
          <a:noFill/>
          <a:ln/>
        </p:spPr>
        <p:txBody>
          <a:bodyPr wrap="square" lIns="0" tIns="0" rIns="0" bIns="0" rtlCol="0" anchor="ctr"/>
          <a:lstStyle/>
          <a:p>
            <a:pPr marL="0" indent="0">
              <a:buNone/>
            </a:pPr>
            <a:r>
              <a:rPr lang="en-US" sz="1700" b="1" dirty="0">
                <a:solidFill>
                  <a:srgbClr val="0E1524"/>
                </a:solidFill>
                <a:latin typeface="Arial" pitchFamily="34" charset="0"/>
                <a:ea typeface="Arial" pitchFamily="34" charset="-122"/>
                <a:cs typeface="Arial" pitchFamily="34" charset="-120"/>
              </a:rPr>
              <a:t>Late fusion</a:t>
            </a:r>
            <a:endParaRPr lang="en-US" sz="1700" dirty="0"/>
          </a:p>
        </p:txBody>
      </p:sp>
      <p:sp>
        <p:nvSpPr>
          <p:cNvPr id="15" name="Text 13"/>
          <p:cNvSpPr/>
          <p:nvPr/>
        </p:nvSpPr>
        <p:spPr>
          <a:xfrm>
            <a:off x="4636008" y="2761488"/>
            <a:ext cx="2834640" cy="59436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Run separate encoders, merge only the final outputs</a:t>
            </a:r>
            <a:endParaRPr lang="en-US" sz="1300" dirty="0"/>
          </a:p>
        </p:txBody>
      </p:sp>
      <p:sp>
        <p:nvSpPr>
          <p:cNvPr id="16" name="Text 14"/>
          <p:cNvSpPr/>
          <p:nvPr/>
        </p:nvSpPr>
        <p:spPr>
          <a:xfrm>
            <a:off x="4636008" y="3456432"/>
            <a:ext cx="2834640" cy="201168"/>
          </a:xfrm>
          <a:prstGeom prst="rect">
            <a:avLst/>
          </a:prstGeom>
          <a:noFill/>
          <a:ln/>
        </p:spPr>
        <p:txBody>
          <a:bodyPr wrap="square" lIns="0" tIns="0" rIns="0" bIns="0" rtlCol="0" anchor="ctr"/>
          <a:lstStyle/>
          <a:p>
            <a:pPr marL="0" indent="0">
              <a:buNone/>
            </a:pPr>
            <a:r>
              <a:rPr lang="en-US" sz="950" b="1" kern="0" spc="100" dirty="0">
                <a:solidFill>
                  <a:srgbClr val="00C2A8"/>
                </a:solidFill>
                <a:latin typeface="Arial" pitchFamily="34" charset="0"/>
                <a:ea typeface="Arial" pitchFamily="34" charset="-122"/>
                <a:cs typeface="Arial" pitchFamily="34" charset="-120"/>
              </a:rPr>
              <a:t>STRENGTH</a:t>
            </a:r>
            <a:endParaRPr lang="en-US" sz="950" dirty="0"/>
          </a:p>
        </p:txBody>
      </p:sp>
      <p:sp>
        <p:nvSpPr>
          <p:cNvPr id="17" name="Text 15"/>
          <p:cNvSpPr/>
          <p:nvPr/>
        </p:nvSpPr>
        <p:spPr>
          <a:xfrm>
            <a:off x="4636008" y="3675888"/>
            <a:ext cx="2834640" cy="457200"/>
          </a:xfrm>
          <a:prstGeom prst="rect">
            <a:avLst/>
          </a:prstGeom>
          <a:noFill/>
          <a:ln/>
        </p:spPr>
        <p:txBody>
          <a:bodyPr wrap="square" lIns="0" tIns="0" rIns="0" bIns="0" rtlCol="0" anchor="ctr"/>
          <a:lstStyle/>
          <a:p>
            <a:pPr marL="0" indent="0">
              <a:buNone/>
            </a:pPr>
            <a:r>
              <a:rPr lang="en-US" sz="1250" dirty="0">
                <a:solidFill>
                  <a:srgbClr val="0E1524"/>
                </a:solidFill>
                <a:latin typeface="Calibri" pitchFamily="34" charset="0"/>
                <a:ea typeface="Calibri" pitchFamily="34" charset="-122"/>
                <a:cs typeface="Calibri" pitchFamily="34" charset="-120"/>
              </a:rPr>
              <a:t>Cheap, reuses existing models</a:t>
            </a:r>
            <a:endParaRPr lang="en-US" sz="1250" dirty="0"/>
          </a:p>
        </p:txBody>
      </p:sp>
      <p:sp>
        <p:nvSpPr>
          <p:cNvPr id="18" name="Text 16"/>
          <p:cNvSpPr/>
          <p:nvPr/>
        </p:nvSpPr>
        <p:spPr>
          <a:xfrm>
            <a:off x="4636008" y="4160520"/>
            <a:ext cx="2834640" cy="201168"/>
          </a:xfrm>
          <a:prstGeom prst="rect">
            <a:avLst/>
          </a:prstGeom>
          <a:noFill/>
          <a:ln/>
        </p:spPr>
        <p:txBody>
          <a:bodyPr wrap="square" lIns="0" tIns="0" rIns="0" bIns="0" rtlCol="0" anchor="ctr"/>
          <a:lstStyle/>
          <a:p>
            <a:pPr marL="0" indent="0">
              <a:buNone/>
            </a:pPr>
            <a:r>
              <a:rPr lang="en-US" sz="950" b="1" kern="0" spc="100" dirty="0">
                <a:solidFill>
                  <a:srgbClr val="FF6B4A"/>
                </a:solidFill>
                <a:latin typeface="Arial" pitchFamily="34" charset="0"/>
                <a:ea typeface="Arial" pitchFamily="34" charset="-122"/>
                <a:cs typeface="Arial" pitchFamily="34" charset="-120"/>
              </a:rPr>
              <a:t>COST</a:t>
            </a:r>
            <a:endParaRPr lang="en-US" sz="950" dirty="0"/>
          </a:p>
        </p:txBody>
      </p:sp>
      <p:sp>
        <p:nvSpPr>
          <p:cNvPr id="19" name="Text 17"/>
          <p:cNvSpPr/>
          <p:nvPr/>
        </p:nvSpPr>
        <p:spPr>
          <a:xfrm>
            <a:off x="4636008" y="4379976"/>
            <a:ext cx="2834640" cy="457200"/>
          </a:xfrm>
          <a:prstGeom prst="rect">
            <a:avLst/>
          </a:prstGeom>
          <a:noFill/>
          <a:ln/>
        </p:spPr>
        <p:txBody>
          <a:bodyPr wrap="square" lIns="0" tIns="0" rIns="0" bIns="0" rtlCol="0" anchor="ctr"/>
          <a:lstStyle/>
          <a:p>
            <a:pPr marL="0" indent="0">
              <a:buNone/>
            </a:pPr>
            <a:r>
              <a:rPr lang="en-US" sz="1250" dirty="0">
                <a:solidFill>
                  <a:srgbClr val="0E1524"/>
                </a:solidFill>
                <a:latin typeface="Calibri" pitchFamily="34" charset="0"/>
                <a:ea typeface="Calibri" pitchFamily="34" charset="-122"/>
                <a:cs typeface="Calibri" pitchFamily="34" charset="-120"/>
              </a:rPr>
              <a:t>Misses fine cross-modal detail</a:t>
            </a:r>
            <a:endParaRPr lang="en-US" sz="1250" dirty="0"/>
          </a:p>
        </p:txBody>
      </p:sp>
      <p:sp>
        <p:nvSpPr>
          <p:cNvPr id="20" name="Shape 18"/>
          <p:cNvSpPr/>
          <p:nvPr/>
        </p:nvSpPr>
        <p:spPr>
          <a:xfrm>
            <a:off x="8046720" y="1691640"/>
            <a:ext cx="3401568" cy="3291840"/>
          </a:xfrm>
          <a:prstGeom prst="roundRect">
            <a:avLst>
              <a:gd name="adj" fmla="val 25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21" name="Shape 19"/>
          <p:cNvSpPr/>
          <p:nvPr/>
        </p:nvSpPr>
        <p:spPr>
          <a:xfrm>
            <a:off x="8339328" y="1965960"/>
            <a:ext cx="310896" cy="310896"/>
          </a:xfrm>
          <a:prstGeom prst="ellipse">
            <a:avLst/>
          </a:prstGeom>
          <a:solidFill>
            <a:srgbClr val="FF6B4A"/>
          </a:solidFill>
          <a:ln/>
        </p:spPr>
        <p:txBody>
          <a:bodyPr/>
          <a:lstStyle/>
          <a:p>
            <a:endParaRPr lang="en-IN"/>
          </a:p>
        </p:txBody>
      </p:sp>
      <p:sp>
        <p:nvSpPr>
          <p:cNvPr id="22" name="Text 20"/>
          <p:cNvSpPr/>
          <p:nvPr/>
        </p:nvSpPr>
        <p:spPr>
          <a:xfrm>
            <a:off x="8339328" y="2395728"/>
            <a:ext cx="2834640" cy="320040"/>
          </a:xfrm>
          <a:prstGeom prst="rect">
            <a:avLst/>
          </a:prstGeom>
          <a:noFill/>
          <a:ln/>
        </p:spPr>
        <p:txBody>
          <a:bodyPr wrap="square" lIns="0" tIns="0" rIns="0" bIns="0" rtlCol="0" anchor="ctr"/>
          <a:lstStyle/>
          <a:p>
            <a:pPr marL="0" indent="0">
              <a:buNone/>
            </a:pPr>
            <a:r>
              <a:rPr lang="en-US" sz="1700" b="1" dirty="0">
                <a:solidFill>
                  <a:srgbClr val="0E1524"/>
                </a:solidFill>
                <a:latin typeface="Arial" pitchFamily="34" charset="0"/>
                <a:ea typeface="Arial" pitchFamily="34" charset="-122"/>
                <a:cs typeface="Arial" pitchFamily="34" charset="-120"/>
              </a:rPr>
              <a:t>Cross-attention</a:t>
            </a:r>
            <a:endParaRPr lang="en-US" sz="1700" dirty="0"/>
          </a:p>
        </p:txBody>
      </p:sp>
      <p:sp>
        <p:nvSpPr>
          <p:cNvPr id="23" name="Text 21"/>
          <p:cNvSpPr/>
          <p:nvPr/>
        </p:nvSpPr>
        <p:spPr>
          <a:xfrm>
            <a:off x="8339328" y="2761488"/>
            <a:ext cx="2834640" cy="59436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Let one modality query the other mid-network</a:t>
            </a:r>
            <a:endParaRPr lang="en-US" sz="1300" dirty="0"/>
          </a:p>
        </p:txBody>
      </p:sp>
      <p:sp>
        <p:nvSpPr>
          <p:cNvPr id="24" name="Text 22"/>
          <p:cNvSpPr/>
          <p:nvPr/>
        </p:nvSpPr>
        <p:spPr>
          <a:xfrm>
            <a:off x="8339328" y="3456432"/>
            <a:ext cx="2834640" cy="201168"/>
          </a:xfrm>
          <a:prstGeom prst="rect">
            <a:avLst/>
          </a:prstGeom>
          <a:noFill/>
          <a:ln/>
        </p:spPr>
        <p:txBody>
          <a:bodyPr wrap="square" lIns="0" tIns="0" rIns="0" bIns="0" rtlCol="0" anchor="ctr"/>
          <a:lstStyle/>
          <a:p>
            <a:pPr marL="0" indent="0">
              <a:buNone/>
            </a:pPr>
            <a:r>
              <a:rPr lang="en-US" sz="950" b="1" kern="0" spc="100" dirty="0">
                <a:solidFill>
                  <a:srgbClr val="00C2A8"/>
                </a:solidFill>
                <a:latin typeface="Arial" pitchFamily="34" charset="0"/>
                <a:ea typeface="Arial" pitchFamily="34" charset="-122"/>
                <a:cs typeface="Arial" pitchFamily="34" charset="-120"/>
              </a:rPr>
              <a:t>STRENGTH</a:t>
            </a:r>
            <a:endParaRPr lang="en-US" sz="950" dirty="0"/>
          </a:p>
        </p:txBody>
      </p:sp>
      <p:sp>
        <p:nvSpPr>
          <p:cNvPr id="25" name="Text 23"/>
          <p:cNvSpPr/>
          <p:nvPr/>
        </p:nvSpPr>
        <p:spPr>
          <a:xfrm>
            <a:off x="8339328" y="3675888"/>
            <a:ext cx="2834640" cy="457200"/>
          </a:xfrm>
          <a:prstGeom prst="rect">
            <a:avLst/>
          </a:prstGeom>
          <a:noFill/>
          <a:ln/>
        </p:spPr>
        <p:txBody>
          <a:bodyPr wrap="square" lIns="0" tIns="0" rIns="0" bIns="0" rtlCol="0" anchor="ctr"/>
          <a:lstStyle/>
          <a:p>
            <a:pPr marL="0" indent="0">
              <a:buNone/>
            </a:pPr>
            <a:r>
              <a:rPr lang="en-US" sz="1250" dirty="0">
                <a:solidFill>
                  <a:srgbClr val="0E1524"/>
                </a:solidFill>
                <a:latin typeface="Calibri" pitchFamily="34" charset="0"/>
                <a:ea typeface="Calibri" pitchFamily="34" charset="-122"/>
                <a:cs typeface="Calibri" pitchFamily="34" charset="-120"/>
              </a:rPr>
              <a:t>Common today, alongside projected visual tokens</a:t>
            </a:r>
            <a:endParaRPr lang="en-US" sz="1250" dirty="0"/>
          </a:p>
        </p:txBody>
      </p:sp>
      <p:sp>
        <p:nvSpPr>
          <p:cNvPr id="26" name="Text 24"/>
          <p:cNvSpPr/>
          <p:nvPr/>
        </p:nvSpPr>
        <p:spPr>
          <a:xfrm>
            <a:off x="8339328" y="4160520"/>
            <a:ext cx="2834640" cy="201168"/>
          </a:xfrm>
          <a:prstGeom prst="rect">
            <a:avLst/>
          </a:prstGeom>
          <a:noFill/>
          <a:ln/>
        </p:spPr>
        <p:txBody>
          <a:bodyPr wrap="square" lIns="0" tIns="0" rIns="0" bIns="0" rtlCol="0" anchor="ctr"/>
          <a:lstStyle/>
          <a:p>
            <a:pPr marL="0" indent="0">
              <a:buNone/>
            </a:pPr>
            <a:r>
              <a:rPr lang="en-US" sz="950" b="1" kern="0" spc="100" dirty="0">
                <a:solidFill>
                  <a:srgbClr val="FF6B4A"/>
                </a:solidFill>
                <a:latin typeface="Arial" pitchFamily="34" charset="0"/>
                <a:ea typeface="Arial" pitchFamily="34" charset="-122"/>
                <a:cs typeface="Arial" pitchFamily="34" charset="-120"/>
              </a:rPr>
              <a:t>COST</a:t>
            </a:r>
            <a:endParaRPr lang="en-US" sz="950" dirty="0"/>
          </a:p>
        </p:txBody>
      </p:sp>
      <p:sp>
        <p:nvSpPr>
          <p:cNvPr id="27" name="Text 25"/>
          <p:cNvSpPr/>
          <p:nvPr/>
        </p:nvSpPr>
        <p:spPr>
          <a:xfrm>
            <a:off x="8339328" y="4379976"/>
            <a:ext cx="2834640" cy="457200"/>
          </a:xfrm>
          <a:prstGeom prst="rect">
            <a:avLst/>
          </a:prstGeom>
          <a:noFill/>
          <a:ln/>
        </p:spPr>
        <p:txBody>
          <a:bodyPr wrap="square" lIns="0" tIns="0" rIns="0" bIns="0" rtlCol="0" anchor="ctr"/>
          <a:lstStyle/>
          <a:p>
            <a:pPr marL="0" indent="0">
              <a:buNone/>
            </a:pPr>
            <a:r>
              <a:rPr lang="en-US" sz="1250" dirty="0">
                <a:solidFill>
                  <a:srgbClr val="0E1524"/>
                </a:solidFill>
                <a:latin typeface="Calibri" pitchFamily="34" charset="0"/>
                <a:ea typeface="Calibri" pitchFamily="34" charset="-122"/>
                <a:cs typeface="Calibri" pitchFamily="34" charset="-120"/>
              </a:rPr>
              <a:t>Harder to train and to debug</a:t>
            </a:r>
            <a:endParaRPr lang="en-US" sz="1250" dirty="0"/>
          </a:p>
        </p:txBody>
      </p:sp>
      <p:sp>
        <p:nvSpPr>
          <p:cNvPr id="28" name="Text 26"/>
          <p:cNvSpPr/>
          <p:nvPr/>
        </p:nvSpPr>
        <p:spPr>
          <a:xfrm>
            <a:off x="640080" y="5257800"/>
            <a:ext cx="10908792" cy="365760"/>
          </a:xfrm>
          <a:prstGeom prst="rect">
            <a:avLst/>
          </a:prstGeom>
          <a:noFill/>
          <a:ln/>
        </p:spPr>
        <p:txBody>
          <a:bodyPr wrap="square" lIns="0" tIns="0" rIns="0" bIns="0" rtlCol="0" anchor="ctr"/>
          <a:lstStyle/>
          <a:p>
            <a:pPr marL="0" indent="0">
              <a:buNone/>
            </a:pPr>
            <a:r>
              <a:rPr lang="en-US" sz="1500" i="1" dirty="0">
                <a:solidFill>
                  <a:srgbClr val="0E1524"/>
                </a:solidFill>
                <a:latin typeface="Calibri" pitchFamily="34" charset="0"/>
                <a:ea typeface="Calibri" pitchFamily="34" charset="-122"/>
                <a:cs typeface="Calibri" pitchFamily="34" charset="-120"/>
              </a:rPr>
              <a:t>For a first project, late fusion gets you 80 percent of the result for 20 percent of the effort. Start there.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E1524"/>
        </a:solidFill>
        <a:effectLst/>
      </p:bgPr>
    </p:bg>
    <p:spTree>
      <p:nvGrpSpPr>
        <p:cNvPr id="1" name=""/>
        <p:cNvGrpSpPr/>
        <p:nvPr/>
      </p:nvGrpSpPr>
      <p:grpSpPr>
        <a:xfrm>
          <a:off x="0" y="0"/>
          <a:ext cx="0" cy="0"/>
          <a:chOff x="0" y="0"/>
          <a:chExt cx="0" cy="0"/>
        </a:xfrm>
      </p:grpSpPr>
      <p:sp>
        <p:nvSpPr>
          <p:cNvPr id="2" name="Text 0"/>
          <p:cNvSpPr/>
          <p:nvPr/>
        </p:nvSpPr>
        <p:spPr>
          <a:xfrm>
            <a:off x="640080" y="960120"/>
            <a:ext cx="10908792" cy="411480"/>
          </a:xfrm>
          <a:prstGeom prst="rect">
            <a:avLst/>
          </a:prstGeom>
          <a:noFill/>
          <a:ln/>
        </p:spPr>
        <p:txBody>
          <a:bodyPr wrap="square" lIns="0" tIns="0" rIns="0" bIns="0" rtlCol="0" anchor="ctr"/>
          <a:lstStyle/>
          <a:p>
            <a:pPr marL="0" indent="0">
              <a:buNone/>
            </a:pPr>
            <a:r>
              <a:rPr lang="en-US" sz="2200" b="1" dirty="0">
                <a:solidFill>
                  <a:srgbClr val="A8B2C4"/>
                </a:solidFill>
                <a:latin typeface="Arial" pitchFamily="34" charset="0"/>
                <a:ea typeface="Arial" pitchFamily="34" charset="-122"/>
                <a:cs typeface="Arial" pitchFamily="34" charset="-120"/>
              </a:rPr>
              <a:t>The whole of Part One in one line</a:t>
            </a:r>
            <a:endParaRPr lang="en-US" sz="2200" dirty="0"/>
          </a:p>
        </p:txBody>
      </p:sp>
      <p:sp>
        <p:nvSpPr>
          <p:cNvPr id="3" name="Text 1"/>
          <p:cNvSpPr/>
          <p:nvPr/>
        </p:nvSpPr>
        <p:spPr>
          <a:xfrm>
            <a:off x="640080" y="1828800"/>
            <a:ext cx="10515600" cy="1691640"/>
          </a:xfrm>
          <a:prstGeom prst="rect">
            <a:avLst/>
          </a:prstGeom>
          <a:noFill/>
          <a:ln/>
        </p:spPr>
        <p:txBody>
          <a:bodyPr wrap="square" lIns="0" tIns="0" rIns="0" bIns="0" rtlCol="0" anchor="ctr"/>
          <a:lstStyle/>
          <a:p>
            <a:pPr marL="0" indent="0">
              <a:lnSpc>
                <a:spcPts val="5200"/>
              </a:lnSpc>
              <a:buNone/>
            </a:pPr>
            <a:r>
              <a:rPr lang="en-US" sz="4400" b="1" dirty="0">
                <a:solidFill>
                  <a:srgbClr val="FFFFFF"/>
                </a:solidFill>
                <a:latin typeface="Arial" pitchFamily="34" charset="0"/>
                <a:ea typeface="Arial" pitchFamily="34" charset="-122"/>
                <a:cs typeface="Arial" pitchFamily="34" charset="-120"/>
              </a:rPr>
              <a:t>Shared representation</a:t>
            </a:r>
            <a:endParaRPr lang="en-US" sz="4400" dirty="0"/>
          </a:p>
          <a:p>
            <a:pPr marL="0" indent="0">
              <a:lnSpc>
                <a:spcPts val="5200"/>
              </a:lnSpc>
              <a:buNone/>
            </a:pPr>
            <a:r>
              <a:rPr lang="en-US" sz="4400" b="1" dirty="0">
                <a:solidFill>
                  <a:srgbClr val="FFFFFF"/>
                </a:solidFill>
                <a:latin typeface="Arial" pitchFamily="34" charset="0"/>
                <a:ea typeface="Arial" pitchFamily="34" charset="-122"/>
                <a:cs typeface="Arial" pitchFamily="34" charset="-120"/>
              </a:rPr>
              <a:t>beat specialised models.</a:t>
            </a:r>
            <a:endParaRPr lang="en-US" sz="4400" dirty="0"/>
          </a:p>
        </p:txBody>
      </p:sp>
      <p:sp>
        <p:nvSpPr>
          <p:cNvPr id="4" name="Shape 2"/>
          <p:cNvSpPr/>
          <p:nvPr/>
        </p:nvSpPr>
        <p:spPr>
          <a:xfrm>
            <a:off x="640080" y="3931920"/>
            <a:ext cx="10908792" cy="1417320"/>
          </a:xfrm>
          <a:prstGeom prst="roundRect">
            <a:avLst>
              <a:gd name="adj" fmla="val 6452"/>
            </a:avLst>
          </a:prstGeom>
          <a:solidFill>
            <a:srgbClr val="1B2437"/>
          </a:solidFill>
          <a:ln/>
        </p:spPr>
        <p:txBody>
          <a:bodyPr/>
          <a:lstStyle/>
          <a:p>
            <a:endParaRPr lang="en-IN"/>
          </a:p>
        </p:txBody>
      </p:sp>
      <p:sp>
        <p:nvSpPr>
          <p:cNvPr id="5" name="Text 3"/>
          <p:cNvSpPr/>
          <p:nvPr/>
        </p:nvSpPr>
        <p:spPr>
          <a:xfrm>
            <a:off x="1051560" y="3931920"/>
            <a:ext cx="10104120" cy="1417320"/>
          </a:xfrm>
          <a:prstGeom prst="rect">
            <a:avLst/>
          </a:prstGeom>
          <a:noFill/>
          <a:ln/>
        </p:spPr>
        <p:txBody>
          <a:bodyPr wrap="square" lIns="0" tIns="0" rIns="0" bIns="0" rtlCol="0" anchor="ctr"/>
          <a:lstStyle/>
          <a:p>
            <a:pPr marL="0" indent="0">
              <a:lnSpc>
                <a:spcPts val="2400"/>
              </a:lnSpc>
              <a:buNone/>
            </a:pPr>
            <a:r>
              <a:rPr lang="en-US" sz="1550" dirty="0">
                <a:solidFill>
                  <a:srgbClr val="A8B2C4"/>
                </a:solidFill>
                <a:latin typeface="Calibri" pitchFamily="34" charset="0"/>
                <a:ea typeface="Calibri" pitchFamily="34" charset="-122"/>
                <a:cs typeface="Calibri" pitchFamily="34" charset="-120"/>
              </a:rPr>
              <a:t>Not because any single-modality model got worse - a dedicated OCR engine still beats a general model on clean scans. It won because one shared space lets you ask questions that cross the boundaries, and almost every real question does.</a:t>
            </a:r>
            <a:endParaRPr lang="en-US" sz="1550" dirty="0"/>
          </a:p>
        </p:txBody>
      </p:sp>
      <p:sp>
        <p:nvSpPr>
          <p:cNvPr id="6" name="Shape 4"/>
          <p:cNvSpPr/>
          <p:nvPr/>
        </p:nvSpPr>
        <p:spPr>
          <a:xfrm>
            <a:off x="640080" y="5806440"/>
            <a:ext cx="137160" cy="137160"/>
          </a:xfrm>
          <a:prstGeom prst="ellipse">
            <a:avLst/>
          </a:prstGeom>
          <a:solidFill>
            <a:srgbClr val="00C2A8"/>
          </a:solidFill>
          <a:ln/>
        </p:spPr>
        <p:txBody>
          <a:bodyPr/>
          <a:lstStyle/>
          <a:p>
            <a:endParaRPr lang="en-IN"/>
          </a:p>
        </p:txBody>
      </p:sp>
      <p:sp>
        <p:nvSpPr>
          <p:cNvPr id="7" name="Shape 5"/>
          <p:cNvSpPr/>
          <p:nvPr/>
        </p:nvSpPr>
        <p:spPr>
          <a:xfrm>
            <a:off x="880110" y="5806440"/>
            <a:ext cx="137160" cy="137160"/>
          </a:xfrm>
          <a:prstGeom prst="ellipse">
            <a:avLst/>
          </a:prstGeom>
          <a:solidFill>
            <a:srgbClr val="FF6B4A"/>
          </a:solidFill>
          <a:ln/>
        </p:spPr>
        <p:txBody>
          <a:bodyPr/>
          <a:lstStyle/>
          <a:p>
            <a:endParaRPr lang="en-IN"/>
          </a:p>
        </p:txBody>
      </p:sp>
      <p:sp>
        <p:nvSpPr>
          <p:cNvPr id="8" name="Shape 6"/>
          <p:cNvSpPr/>
          <p:nvPr/>
        </p:nvSpPr>
        <p:spPr>
          <a:xfrm>
            <a:off x="1120140" y="5806440"/>
            <a:ext cx="137160" cy="137160"/>
          </a:xfrm>
          <a:prstGeom prst="ellipse">
            <a:avLst/>
          </a:prstGeom>
          <a:solidFill>
            <a:srgbClr val="FFC24A"/>
          </a:solidFill>
          <a:ln/>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E1524"/>
        </a:solidFill>
        <a:effectLst/>
      </p:bgPr>
    </p:bg>
    <p:spTree>
      <p:nvGrpSpPr>
        <p:cNvPr id="1" name=""/>
        <p:cNvGrpSpPr/>
        <p:nvPr/>
      </p:nvGrpSpPr>
      <p:grpSpPr>
        <a:xfrm>
          <a:off x="0" y="0"/>
          <a:ext cx="0" cy="0"/>
          <a:chOff x="0" y="0"/>
          <a:chExt cx="0" cy="0"/>
        </a:xfrm>
      </p:grpSpPr>
      <p:sp>
        <p:nvSpPr>
          <p:cNvPr id="2" name="Shape 0"/>
          <p:cNvSpPr/>
          <p:nvPr/>
        </p:nvSpPr>
        <p:spPr>
          <a:xfrm>
            <a:off x="640080" y="2331720"/>
            <a:ext cx="164592" cy="164592"/>
          </a:xfrm>
          <a:prstGeom prst="ellipse">
            <a:avLst/>
          </a:prstGeom>
          <a:solidFill>
            <a:srgbClr val="00C2A8"/>
          </a:solidFill>
          <a:ln/>
        </p:spPr>
        <p:txBody>
          <a:bodyPr/>
          <a:lstStyle/>
          <a:p>
            <a:endParaRPr lang="en-IN"/>
          </a:p>
        </p:txBody>
      </p:sp>
      <p:sp>
        <p:nvSpPr>
          <p:cNvPr id="3" name="Shape 1"/>
          <p:cNvSpPr/>
          <p:nvPr/>
        </p:nvSpPr>
        <p:spPr>
          <a:xfrm>
            <a:off x="928116" y="2331720"/>
            <a:ext cx="164592" cy="164592"/>
          </a:xfrm>
          <a:prstGeom prst="ellipse">
            <a:avLst/>
          </a:prstGeom>
          <a:solidFill>
            <a:srgbClr val="FF6B4A"/>
          </a:solidFill>
          <a:ln/>
        </p:spPr>
        <p:txBody>
          <a:bodyPr/>
          <a:lstStyle/>
          <a:p>
            <a:endParaRPr lang="en-IN"/>
          </a:p>
        </p:txBody>
      </p:sp>
      <p:sp>
        <p:nvSpPr>
          <p:cNvPr id="4" name="Shape 2"/>
          <p:cNvSpPr/>
          <p:nvPr/>
        </p:nvSpPr>
        <p:spPr>
          <a:xfrm>
            <a:off x="1216152" y="2331720"/>
            <a:ext cx="164592" cy="164592"/>
          </a:xfrm>
          <a:prstGeom prst="ellipse">
            <a:avLst/>
          </a:prstGeom>
          <a:solidFill>
            <a:srgbClr val="FFC24A"/>
          </a:solidFill>
          <a:ln/>
        </p:spPr>
        <p:txBody>
          <a:bodyPr/>
          <a:lstStyle/>
          <a:p>
            <a:endParaRPr lang="en-IN"/>
          </a:p>
        </p:txBody>
      </p:sp>
      <p:sp>
        <p:nvSpPr>
          <p:cNvPr id="5" name="Text 3"/>
          <p:cNvSpPr/>
          <p:nvPr/>
        </p:nvSpPr>
        <p:spPr>
          <a:xfrm>
            <a:off x="640080" y="2788920"/>
            <a:ext cx="5486400" cy="274320"/>
          </a:xfrm>
          <a:prstGeom prst="rect">
            <a:avLst/>
          </a:prstGeom>
          <a:noFill/>
          <a:ln/>
        </p:spPr>
        <p:txBody>
          <a:bodyPr wrap="square" lIns="0" tIns="0" rIns="0" bIns="0" rtlCol="0" anchor="ctr"/>
          <a:lstStyle/>
          <a:p>
            <a:pPr marL="0" indent="0">
              <a:buNone/>
            </a:pPr>
            <a:r>
              <a:rPr lang="en-US" sz="1300" b="1" kern="0" spc="300" dirty="0">
                <a:solidFill>
                  <a:srgbClr val="FFC24A"/>
                </a:solidFill>
                <a:latin typeface="Arial" pitchFamily="34" charset="0"/>
                <a:ea typeface="Arial" pitchFamily="34" charset="-122"/>
                <a:cs typeface="Arial" pitchFamily="34" charset="-120"/>
              </a:rPr>
              <a:t>PART TWO</a:t>
            </a:r>
            <a:endParaRPr lang="en-US" sz="1300" dirty="0"/>
          </a:p>
        </p:txBody>
      </p:sp>
      <p:sp>
        <p:nvSpPr>
          <p:cNvPr id="6" name="Text 4"/>
          <p:cNvSpPr/>
          <p:nvPr/>
        </p:nvSpPr>
        <p:spPr>
          <a:xfrm>
            <a:off x="640080" y="3127248"/>
            <a:ext cx="8229600" cy="914400"/>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Innovation</a:t>
            </a:r>
            <a:endParaRPr lang="en-US" sz="5200" dirty="0"/>
          </a:p>
        </p:txBody>
      </p:sp>
      <p:sp>
        <p:nvSpPr>
          <p:cNvPr id="7" name="Text 5"/>
          <p:cNvSpPr/>
          <p:nvPr/>
        </p:nvSpPr>
        <p:spPr>
          <a:xfrm>
            <a:off x="640080" y="4160520"/>
            <a:ext cx="7863840" cy="731520"/>
          </a:xfrm>
          <a:prstGeom prst="rect">
            <a:avLst/>
          </a:prstGeom>
          <a:noFill/>
          <a:ln/>
        </p:spPr>
        <p:txBody>
          <a:bodyPr wrap="square" lIns="0" tIns="0" rIns="0" bIns="0" rtlCol="0" anchor="ctr"/>
          <a:lstStyle/>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What is newly possible this year - and, just as important,</a:t>
            </a:r>
            <a:endParaRPr lang="en-US" sz="1600" dirty="0"/>
          </a:p>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what still quietly breaks in production.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THE LANDSCAPE</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Six shifts worth watching</a:t>
            </a:r>
            <a:endParaRPr lang="en-US" sz="3400" dirty="0"/>
          </a:p>
        </p:txBody>
      </p:sp>
      <p:sp>
        <p:nvSpPr>
          <p:cNvPr id="4" name="Shape 2"/>
          <p:cNvSpPr/>
          <p:nvPr/>
        </p:nvSpPr>
        <p:spPr>
          <a:xfrm>
            <a:off x="640080" y="1691640"/>
            <a:ext cx="3401568" cy="1572768"/>
          </a:xfrm>
          <a:prstGeom prst="roundRect">
            <a:avLst>
              <a:gd name="adj" fmla="val 5233"/>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5" name="Shape 3"/>
          <p:cNvSpPr/>
          <p:nvPr/>
        </p:nvSpPr>
        <p:spPr>
          <a:xfrm>
            <a:off x="914400" y="1965960"/>
            <a:ext cx="256032" cy="256032"/>
          </a:xfrm>
          <a:prstGeom prst="ellipse">
            <a:avLst/>
          </a:prstGeom>
          <a:solidFill>
            <a:srgbClr val="FF6B4A"/>
          </a:solidFill>
          <a:ln/>
        </p:spPr>
        <p:txBody>
          <a:bodyPr/>
          <a:lstStyle/>
          <a:p>
            <a:endParaRPr lang="en-IN"/>
          </a:p>
        </p:txBody>
      </p:sp>
      <p:sp>
        <p:nvSpPr>
          <p:cNvPr id="6" name="Text 4"/>
          <p:cNvSpPr/>
          <p:nvPr/>
        </p:nvSpPr>
        <p:spPr>
          <a:xfrm>
            <a:off x="1280160" y="1911096"/>
            <a:ext cx="2560320" cy="38404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Document intelligence</a:t>
            </a:r>
            <a:endParaRPr lang="en-US" sz="1450" dirty="0"/>
          </a:p>
        </p:txBody>
      </p:sp>
      <p:sp>
        <p:nvSpPr>
          <p:cNvPr id="7" name="Text 5"/>
          <p:cNvSpPr/>
          <p:nvPr/>
        </p:nvSpPr>
        <p:spPr>
          <a:xfrm>
            <a:off x="914400" y="2441448"/>
            <a:ext cx="2880360" cy="68580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Invoices, forms and reports read as documents, not as pixels</a:t>
            </a:r>
            <a:endParaRPr lang="en-US" sz="1250" dirty="0"/>
          </a:p>
        </p:txBody>
      </p:sp>
      <p:sp>
        <p:nvSpPr>
          <p:cNvPr id="8" name="Shape 6"/>
          <p:cNvSpPr/>
          <p:nvPr/>
        </p:nvSpPr>
        <p:spPr>
          <a:xfrm>
            <a:off x="4343400" y="1691640"/>
            <a:ext cx="3401568" cy="1572768"/>
          </a:xfrm>
          <a:prstGeom prst="roundRect">
            <a:avLst>
              <a:gd name="adj" fmla="val 5233"/>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9" name="Shape 7"/>
          <p:cNvSpPr/>
          <p:nvPr/>
        </p:nvSpPr>
        <p:spPr>
          <a:xfrm>
            <a:off x="4617720" y="1965960"/>
            <a:ext cx="256032" cy="256032"/>
          </a:xfrm>
          <a:prstGeom prst="ellipse">
            <a:avLst/>
          </a:prstGeom>
          <a:solidFill>
            <a:srgbClr val="00C2A8"/>
          </a:solidFill>
          <a:ln/>
        </p:spPr>
        <p:txBody>
          <a:bodyPr/>
          <a:lstStyle/>
          <a:p>
            <a:endParaRPr lang="en-IN"/>
          </a:p>
        </p:txBody>
      </p:sp>
      <p:sp>
        <p:nvSpPr>
          <p:cNvPr id="10" name="Text 8"/>
          <p:cNvSpPr/>
          <p:nvPr/>
        </p:nvSpPr>
        <p:spPr>
          <a:xfrm>
            <a:off x="4983480" y="1911096"/>
            <a:ext cx="2560320" cy="38404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Chart and diagram reasoning</a:t>
            </a:r>
            <a:endParaRPr lang="en-US" sz="1450" dirty="0"/>
          </a:p>
        </p:txBody>
      </p:sp>
      <p:sp>
        <p:nvSpPr>
          <p:cNvPr id="11" name="Text 9"/>
          <p:cNvSpPr/>
          <p:nvPr/>
        </p:nvSpPr>
        <p:spPr>
          <a:xfrm>
            <a:off x="4617720" y="2441448"/>
            <a:ext cx="2880360" cy="68580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The model reads the axes, not just the shape of the line</a:t>
            </a:r>
            <a:endParaRPr lang="en-US" sz="1250" dirty="0"/>
          </a:p>
        </p:txBody>
      </p:sp>
      <p:sp>
        <p:nvSpPr>
          <p:cNvPr id="12" name="Shape 10"/>
          <p:cNvSpPr/>
          <p:nvPr/>
        </p:nvSpPr>
        <p:spPr>
          <a:xfrm>
            <a:off x="8046720" y="1691640"/>
            <a:ext cx="3401568" cy="1572768"/>
          </a:xfrm>
          <a:prstGeom prst="roundRect">
            <a:avLst>
              <a:gd name="adj" fmla="val 5233"/>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3" name="Shape 11"/>
          <p:cNvSpPr/>
          <p:nvPr/>
        </p:nvSpPr>
        <p:spPr>
          <a:xfrm>
            <a:off x="8321040" y="1965960"/>
            <a:ext cx="256032" cy="256032"/>
          </a:xfrm>
          <a:prstGeom prst="ellipse">
            <a:avLst/>
          </a:prstGeom>
          <a:solidFill>
            <a:srgbClr val="FFC24A"/>
          </a:solidFill>
          <a:ln/>
        </p:spPr>
        <p:txBody>
          <a:bodyPr/>
          <a:lstStyle/>
          <a:p>
            <a:endParaRPr lang="en-IN"/>
          </a:p>
        </p:txBody>
      </p:sp>
      <p:sp>
        <p:nvSpPr>
          <p:cNvPr id="14" name="Text 12"/>
          <p:cNvSpPr/>
          <p:nvPr/>
        </p:nvSpPr>
        <p:spPr>
          <a:xfrm>
            <a:off x="8686800" y="1911096"/>
            <a:ext cx="2560320" cy="38404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Speech-native models</a:t>
            </a:r>
            <a:endParaRPr lang="en-US" sz="1450" dirty="0"/>
          </a:p>
        </p:txBody>
      </p:sp>
      <p:sp>
        <p:nvSpPr>
          <p:cNvPr id="15" name="Text 13"/>
          <p:cNvSpPr/>
          <p:nvPr/>
        </p:nvSpPr>
        <p:spPr>
          <a:xfrm>
            <a:off x="8321040" y="2441448"/>
            <a:ext cx="2880360" cy="68580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Audio in, audio out, no transcript in the middle</a:t>
            </a:r>
            <a:endParaRPr lang="en-US" sz="1250" dirty="0"/>
          </a:p>
        </p:txBody>
      </p:sp>
      <p:sp>
        <p:nvSpPr>
          <p:cNvPr id="16" name="Shape 14"/>
          <p:cNvSpPr/>
          <p:nvPr/>
        </p:nvSpPr>
        <p:spPr>
          <a:xfrm>
            <a:off x="640080" y="3520440"/>
            <a:ext cx="3401568" cy="1572768"/>
          </a:xfrm>
          <a:prstGeom prst="roundRect">
            <a:avLst>
              <a:gd name="adj" fmla="val 5233"/>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7" name="Shape 15"/>
          <p:cNvSpPr/>
          <p:nvPr/>
        </p:nvSpPr>
        <p:spPr>
          <a:xfrm>
            <a:off x="914400" y="3794760"/>
            <a:ext cx="256032" cy="256032"/>
          </a:xfrm>
          <a:prstGeom prst="ellipse">
            <a:avLst/>
          </a:prstGeom>
          <a:solidFill>
            <a:srgbClr val="FF6B4A"/>
          </a:solidFill>
          <a:ln/>
        </p:spPr>
        <p:txBody>
          <a:bodyPr/>
          <a:lstStyle/>
          <a:p>
            <a:endParaRPr lang="en-IN"/>
          </a:p>
        </p:txBody>
      </p:sp>
      <p:sp>
        <p:nvSpPr>
          <p:cNvPr id="18" name="Text 16"/>
          <p:cNvSpPr/>
          <p:nvPr/>
        </p:nvSpPr>
        <p:spPr>
          <a:xfrm>
            <a:off x="1280160" y="3739896"/>
            <a:ext cx="2560320" cy="38404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Video understanding</a:t>
            </a:r>
            <a:endParaRPr lang="en-US" sz="1450" dirty="0"/>
          </a:p>
        </p:txBody>
      </p:sp>
      <p:sp>
        <p:nvSpPr>
          <p:cNvPr id="19" name="Text 17"/>
          <p:cNvSpPr/>
          <p:nvPr/>
        </p:nvSpPr>
        <p:spPr>
          <a:xfrm>
            <a:off x="914400" y="4270248"/>
            <a:ext cx="2880360" cy="68580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Temporal questions: what changed, and when</a:t>
            </a:r>
            <a:endParaRPr lang="en-US" sz="1250" dirty="0"/>
          </a:p>
        </p:txBody>
      </p:sp>
      <p:sp>
        <p:nvSpPr>
          <p:cNvPr id="20" name="Shape 18"/>
          <p:cNvSpPr/>
          <p:nvPr/>
        </p:nvSpPr>
        <p:spPr>
          <a:xfrm>
            <a:off x="4343400" y="3520440"/>
            <a:ext cx="3401568" cy="1572768"/>
          </a:xfrm>
          <a:prstGeom prst="roundRect">
            <a:avLst>
              <a:gd name="adj" fmla="val 5233"/>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21" name="Shape 19"/>
          <p:cNvSpPr/>
          <p:nvPr/>
        </p:nvSpPr>
        <p:spPr>
          <a:xfrm>
            <a:off x="4617720" y="3794760"/>
            <a:ext cx="256032" cy="256032"/>
          </a:xfrm>
          <a:prstGeom prst="ellipse">
            <a:avLst/>
          </a:prstGeom>
          <a:solidFill>
            <a:srgbClr val="00C2A8"/>
          </a:solidFill>
          <a:ln/>
        </p:spPr>
        <p:txBody>
          <a:bodyPr/>
          <a:lstStyle/>
          <a:p>
            <a:endParaRPr lang="en-IN"/>
          </a:p>
        </p:txBody>
      </p:sp>
      <p:sp>
        <p:nvSpPr>
          <p:cNvPr id="22" name="Text 20"/>
          <p:cNvSpPr/>
          <p:nvPr/>
        </p:nvSpPr>
        <p:spPr>
          <a:xfrm>
            <a:off x="4983480" y="3739896"/>
            <a:ext cx="2560320" cy="38404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Agentic loops</a:t>
            </a:r>
            <a:endParaRPr lang="en-US" sz="1450" dirty="0"/>
          </a:p>
        </p:txBody>
      </p:sp>
      <p:sp>
        <p:nvSpPr>
          <p:cNvPr id="23" name="Text 21"/>
          <p:cNvSpPr/>
          <p:nvPr/>
        </p:nvSpPr>
        <p:spPr>
          <a:xfrm>
            <a:off x="4617720" y="4270248"/>
            <a:ext cx="2880360" cy="68580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See the screen, decide, act, look again</a:t>
            </a:r>
            <a:endParaRPr lang="en-US" sz="1250" dirty="0"/>
          </a:p>
        </p:txBody>
      </p:sp>
      <p:sp>
        <p:nvSpPr>
          <p:cNvPr id="24" name="Shape 22"/>
          <p:cNvSpPr/>
          <p:nvPr/>
        </p:nvSpPr>
        <p:spPr>
          <a:xfrm>
            <a:off x="8046720" y="3520440"/>
            <a:ext cx="3401568" cy="1572768"/>
          </a:xfrm>
          <a:prstGeom prst="roundRect">
            <a:avLst>
              <a:gd name="adj" fmla="val 5233"/>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25" name="Shape 23"/>
          <p:cNvSpPr/>
          <p:nvPr/>
        </p:nvSpPr>
        <p:spPr>
          <a:xfrm>
            <a:off x="8321040" y="3794760"/>
            <a:ext cx="256032" cy="256032"/>
          </a:xfrm>
          <a:prstGeom prst="ellipse">
            <a:avLst/>
          </a:prstGeom>
          <a:solidFill>
            <a:srgbClr val="FFC24A"/>
          </a:solidFill>
          <a:ln/>
        </p:spPr>
        <p:txBody>
          <a:bodyPr/>
          <a:lstStyle/>
          <a:p>
            <a:endParaRPr lang="en-IN"/>
          </a:p>
        </p:txBody>
      </p:sp>
      <p:sp>
        <p:nvSpPr>
          <p:cNvPr id="26" name="Text 24"/>
          <p:cNvSpPr/>
          <p:nvPr/>
        </p:nvSpPr>
        <p:spPr>
          <a:xfrm>
            <a:off x="8686800" y="3739896"/>
            <a:ext cx="2560320" cy="38404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Small on-device models</a:t>
            </a:r>
            <a:endParaRPr lang="en-US" sz="1450" dirty="0"/>
          </a:p>
        </p:txBody>
      </p:sp>
      <p:sp>
        <p:nvSpPr>
          <p:cNvPr id="27" name="Text 25"/>
          <p:cNvSpPr/>
          <p:nvPr/>
        </p:nvSpPr>
        <p:spPr>
          <a:xfrm>
            <a:off x="8321040" y="4270248"/>
            <a:ext cx="2880360" cy="68580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Multimodal inference on a phone or a factory gateway</a:t>
            </a:r>
            <a:endParaRPr lang="en-US" sz="1250" dirty="0"/>
          </a:p>
        </p:txBody>
      </p:sp>
      <p:sp>
        <p:nvSpPr>
          <p:cNvPr id="28" name="Text 26"/>
          <p:cNvSpPr/>
          <p:nvPr/>
        </p:nvSpPr>
        <p:spPr>
          <a:xfrm>
            <a:off x="640080" y="5486400"/>
            <a:ext cx="10908792" cy="365760"/>
          </a:xfrm>
          <a:prstGeom prst="rect">
            <a:avLst/>
          </a:prstGeom>
          <a:noFill/>
          <a:ln/>
        </p:spPr>
        <p:txBody>
          <a:bodyPr wrap="square" lIns="0" tIns="0" rIns="0" bIns="0" rtlCol="0" anchor="ctr"/>
          <a:lstStyle/>
          <a:p>
            <a:pPr marL="0" indent="0">
              <a:buNone/>
            </a:pPr>
            <a:r>
              <a:rPr lang="en-US" sz="1400" i="1" dirty="0">
                <a:solidFill>
                  <a:srgbClr val="0E1524"/>
                </a:solidFill>
                <a:latin typeface="Calibri" pitchFamily="34" charset="0"/>
                <a:ea typeface="Calibri" pitchFamily="34" charset="-122"/>
                <a:cs typeface="Calibri" pitchFamily="34" charset="-120"/>
              </a:rPr>
              <a:t>Three of these reappear in Part Three. Watch for document intelligence, agentic loops, and small on-device models.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DEEP DIVE 1</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From pixels to structure, in one hop</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This is the single highest-value application in most organisations, and the easiest to demo.</a:t>
            </a:r>
            <a:endParaRPr lang="en-US" sz="1400" dirty="0"/>
          </a:p>
        </p:txBody>
      </p:sp>
      <p:sp>
        <p:nvSpPr>
          <p:cNvPr id="5" name="Shape 3"/>
          <p:cNvSpPr/>
          <p:nvPr/>
        </p:nvSpPr>
        <p:spPr>
          <a:xfrm>
            <a:off x="640080" y="2011680"/>
            <a:ext cx="3200400" cy="2651760"/>
          </a:xfrm>
          <a:prstGeom prst="roundRect">
            <a:avLst>
              <a:gd name="adj" fmla="val 2759"/>
            </a:avLst>
          </a:prstGeom>
          <a:solidFill>
            <a:srgbClr val="F4F6FA"/>
          </a:solidFill>
          <a:ln/>
        </p:spPr>
        <p:txBody>
          <a:bodyPr/>
          <a:lstStyle/>
          <a:p>
            <a:endParaRPr lang="en-IN"/>
          </a:p>
        </p:txBody>
      </p:sp>
      <p:sp>
        <p:nvSpPr>
          <p:cNvPr id="6" name="Text 4"/>
          <p:cNvSpPr/>
          <p:nvPr/>
        </p:nvSpPr>
        <p:spPr>
          <a:xfrm>
            <a:off x="914400" y="2240280"/>
            <a:ext cx="2651760" cy="228600"/>
          </a:xfrm>
          <a:prstGeom prst="rect">
            <a:avLst/>
          </a:prstGeom>
          <a:noFill/>
          <a:ln/>
        </p:spPr>
        <p:txBody>
          <a:bodyPr wrap="square" lIns="0" tIns="0" rIns="0" bIns="0" rtlCol="0" anchor="ctr"/>
          <a:lstStyle/>
          <a:p>
            <a:pPr marL="0" indent="0">
              <a:buNone/>
            </a:pPr>
            <a:r>
              <a:rPr lang="en-US" sz="1000" b="1" kern="0" spc="150" dirty="0">
                <a:solidFill>
                  <a:srgbClr val="6B7689"/>
                </a:solidFill>
                <a:latin typeface="Arial" pitchFamily="34" charset="0"/>
                <a:ea typeface="Arial" pitchFamily="34" charset="-122"/>
                <a:cs typeface="Arial" pitchFamily="34" charset="-120"/>
              </a:rPr>
              <a:t>INPUT</a:t>
            </a:r>
            <a:endParaRPr lang="en-US" sz="1000" dirty="0"/>
          </a:p>
        </p:txBody>
      </p:sp>
      <p:sp>
        <p:nvSpPr>
          <p:cNvPr id="7" name="Text 5"/>
          <p:cNvSpPr/>
          <p:nvPr/>
        </p:nvSpPr>
        <p:spPr>
          <a:xfrm>
            <a:off x="914400" y="2542032"/>
            <a:ext cx="2651760" cy="640080"/>
          </a:xfrm>
          <a:prstGeom prst="rect">
            <a:avLst/>
          </a:prstGeom>
          <a:noFill/>
          <a:ln/>
        </p:spPr>
        <p:txBody>
          <a:bodyPr wrap="square" lIns="0" tIns="0" rIns="0" bIns="0" rtlCol="0" anchor="ctr"/>
          <a:lstStyle/>
          <a:p>
            <a:pPr marL="0" indent="0">
              <a:buNone/>
            </a:pPr>
            <a:r>
              <a:rPr lang="en-US" sz="1700" b="1" dirty="0">
                <a:solidFill>
                  <a:srgbClr val="0E1524"/>
                </a:solidFill>
                <a:latin typeface="Arial" pitchFamily="34" charset="0"/>
                <a:ea typeface="Arial" pitchFamily="34" charset="-122"/>
                <a:cs typeface="Arial" pitchFamily="34" charset="-120"/>
              </a:rPr>
              <a:t>A photographed</a:t>
            </a:r>
            <a:endParaRPr lang="en-US" sz="1700" dirty="0"/>
          </a:p>
          <a:p>
            <a:pPr marL="0" indent="0">
              <a:buNone/>
            </a:pPr>
            <a:r>
              <a:rPr lang="en-US" sz="1700" b="1" dirty="0">
                <a:solidFill>
                  <a:srgbClr val="0E1524"/>
                </a:solidFill>
                <a:latin typeface="Arial" pitchFamily="34" charset="0"/>
                <a:ea typeface="Arial" pitchFamily="34" charset="-122"/>
                <a:cs typeface="Arial" pitchFamily="34" charset="-120"/>
              </a:rPr>
              <a:t>purchase order</a:t>
            </a:r>
            <a:endParaRPr lang="en-US" sz="1700" dirty="0"/>
          </a:p>
        </p:txBody>
      </p:sp>
      <p:sp>
        <p:nvSpPr>
          <p:cNvPr id="8" name="Text 6"/>
          <p:cNvSpPr/>
          <p:nvPr/>
        </p:nvSpPr>
        <p:spPr>
          <a:xfrm>
            <a:off x="914400" y="3291840"/>
            <a:ext cx="2651760" cy="10972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Skewed. Coffee stain. Handwritten note in the margin. Two languages on the same page.</a:t>
            </a:r>
            <a:endParaRPr lang="en-US" sz="1250" dirty="0"/>
          </a:p>
        </p:txBody>
      </p:sp>
      <p:sp>
        <p:nvSpPr>
          <p:cNvPr id="9" name="Shape 7"/>
          <p:cNvSpPr/>
          <p:nvPr/>
        </p:nvSpPr>
        <p:spPr>
          <a:xfrm>
            <a:off x="3977640" y="3291840"/>
            <a:ext cx="594360" cy="0"/>
          </a:xfrm>
          <a:prstGeom prst="line">
            <a:avLst/>
          </a:prstGeom>
          <a:noFill/>
          <a:ln w="25400">
            <a:solidFill>
              <a:srgbClr val="C4CCDA"/>
            </a:solidFill>
            <a:prstDash val="solid"/>
            <a:tailEnd type="triangle"/>
          </a:ln>
        </p:spPr>
        <p:txBody>
          <a:bodyPr/>
          <a:lstStyle/>
          <a:p>
            <a:endParaRPr lang="en-IN"/>
          </a:p>
        </p:txBody>
      </p:sp>
      <p:sp>
        <p:nvSpPr>
          <p:cNvPr id="10" name="Shape 8"/>
          <p:cNvSpPr/>
          <p:nvPr/>
        </p:nvSpPr>
        <p:spPr>
          <a:xfrm>
            <a:off x="4709160" y="2011680"/>
            <a:ext cx="6839712" cy="2651760"/>
          </a:xfrm>
          <a:prstGeom prst="roundRect">
            <a:avLst>
              <a:gd name="adj" fmla="val 2759"/>
            </a:avLst>
          </a:prstGeom>
          <a:solidFill>
            <a:srgbClr val="0E1524"/>
          </a:solidFill>
          <a:ln/>
        </p:spPr>
        <p:txBody>
          <a:bodyPr/>
          <a:lstStyle/>
          <a:p>
            <a:endParaRPr lang="en-IN"/>
          </a:p>
        </p:txBody>
      </p:sp>
      <p:sp>
        <p:nvSpPr>
          <p:cNvPr id="11" name="Text 9"/>
          <p:cNvSpPr/>
          <p:nvPr/>
        </p:nvSpPr>
        <p:spPr>
          <a:xfrm>
            <a:off x="5010912" y="2240280"/>
            <a:ext cx="2743200" cy="228600"/>
          </a:xfrm>
          <a:prstGeom prst="rect">
            <a:avLst/>
          </a:prstGeom>
          <a:noFill/>
          <a:ln/>
        </p:spPr>
        <p:txBody>
          <a:bodyPr wrap="square" lIns="0" tIns="0" rIns="0" bIns="0" rtlCol="0" anchor="ctr"/>
          <a:lstStyle/>
          <a:p>
            <a:pPr marL="0" indent="0">
              <a:buNone/>
            </a:pPr>
            <a:r>
              <a:rPr lang="en-US" sz="1000" b="1" kern="0" spc="150" dirty="0">
                <a:solidFill>
                  <a:srgbClr val="FFC24A"/>
                </a:solidFill>
                <a:latin typeface="Arial" pitchFamily="34" charset="0"/>
                <a:ea typeface="Arial" pitchFamily="34" charset="-122"/>
                <a:cs typeface="Arial" pitchFamily="34" charset="-120"/>
              </a:rPr>
              <a:t>OUTPUT</a:t>
            </a:r>
            <a:endParaRPr lang="en-US" sz="1000" dirty="0"/>
          </a:p>
        </p:txBody>
      </p:sp>
      <p:sp>
        <p:nvSpPr>
          <p:cNvPr id="12" name="Text 10"/>
          <p:cNvSpPr/>
          <p:nvPr/>
        </p:nvSpPr>
        <p:spPr>
          <a:xfrm>
            <a:off x="5010912" y="2542032"/>
            <a:ext cx="6309360" cy="19202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a:t>
            </a:r>
            <a:endParaRPr lang="en-US" sz="1250" dirty="0"/>
          </a:p>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  "po_number": "PN-4471",</a:t>
            </a:r>
            <a:endParaRPr lang="en-US" sz="1250" dirty="0"/>
          </a:p>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  "vendor": "Deccan Steel Works",</a:t>
            </a:r>
            <a:endParaRPr lang="en-US" sz="1250" dirty="0"/>
          </a:p>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  "total": 184500,</a:t>
            </a:r>
            <a:endParaRPr lang="en-US" sz="1250" dirty="0"/>
          </a:p>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  "currency": "INR",</a:t>
            </a:r>
            <a:endParaRPr lang="en-US" sz="1250" dirty="0"/>
          </a:p>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  "margin_note": "confirm delivery date",</a:t>
            </a:r>
            <a:endParaRPr lang="en-US" sz="1250" dirty="0"/>
          </a:p>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  "confidence": 0.94</a:t>
            </a:r>
            <a:endParaRPr lang="en-US" sz="1250" dirty="0"/>
          </a:p>
          <a:p>
            <a:pPr marL="0" indent="0">
              <a:lnSpc>
                <a:spcPts val="1700"/>
              </a:lnSpc>
              <a:buNone/>
            </a:pPr>
            <a:r>
              <a:rPr lang="en-US" sz="1250" dirty="0">
                <a:solidFill>
                  <a:srgbClr val="FFFFFF"/>
                </a:solidFill>
                <a:latin typeface="Courier New" pitchFamily="34" charset="0"/>
                <a:ea typeface="Courier New" pitchFamily="34" charset="-122"/>
                <a:cs typeface="Courier New" pitchFamily="34" charset="-120"/>
              </a:rPr>
              <a:t>}</a:t>
            </a:r>
            <a:endParaRPr lang="en-US" sz="1250" dirty="0"/>
          </a:p>
        </p:txBody>
      </p:sp>
      <p:sp>
        <p:nvSpPr>
          <p:cNvPr id="13" name="Text 11"/>
          <p:cNvSpPr/>
          <p:nvPr/>
        </p:nvSpPr>
        <p:spPr>
          <a:xfrm>
            <a:off x="640080" y="4937760"/>
            <a:ext cx="3383280" cy="256032"/>
          </a:xfrm>
          <a:prstGeom prst="rect">
            <a:avLst/>
          </a:prstGeom>
          <a:noFill/>
          <a:ln/>
        </p:spPr>
        <p:txBody>
          <a:bodyPr wrap="square" lIns="0" tIns="0" rIns="0" bIns="0" rtlCol="0" anchor="ctr"/>
          <a:lstStyle/>
          <a:p>
            <a:pPr marL="0" indent="0">
              <a:buNone/>
            </a:pPr>
            <a:r>
              <a:rPr lang="en-US" sz="1350" b="1" dirty="0">
                <a:solidFill>
                  <a:srgbClr val="FF6B4A"/>
                </a:solidFill>
                <a:latin typeface="Arial" pitchFamily="34" charset="0"/>
                <a:ea typeface="Arial" pitchFamily="34" charset="-122"/>
                <a:cs typeface="Arial" pitchFamily="34" charset="-120"/>
              </a:rPr>
              <a:t>No OCR step</a:t>
            </a:r>
            <a:endParaRPr lang="en-US" sz="1350" dirty="0"/>
          </a:p>
        </p:txBody>
      </p:sp>
      <p:sp>
        <p:nvSpPr>
          <p:cNvPr id="14" name="Text 12"/>
          <p:cNvSpPr/>
          <p:nvPr/>
        </p:nvSpPr>
        <p:spPr>
          <a:xfrm>
            <a:off x="640080" y="5230368"/>
            <a:ext cx="3383280" cy="59436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The model never produces a transcript you have to clean</a:t>
            </a:r>
            <a:endParaRPr lang="en-US" sz="1250" dirty="0"/>
          </a:p>
        </p:txBody>
      </p:sp>
      <p:sp>
        <p:nvSpPr>
          <p:cNvPr id="15" name="Text 13"/>
          <p:cNvSpPr/>
          <p:nvPr/>
        </p:nvSpPr>
        <p:spPr>
          <a:xfrm>
            <a:off x="4343400" y="4937760"/>
            <a:ext cx="3383280" cy="256032"/>
          </a:xfrm>
          <a:prstGeom prst="rect">
            <a:avLst/>
          </a:prstGeom>
          <a:noFill/>
          <a:ln/>
        </p:spPr>
        <p:txBody>
          <a:bodyPr wrap="square" lIns="0" tIns="0" rIns="0" bIns="0" rtlCol="0" anchor="ctr"/>
          <a:lstStyle/>
          <a:p>
            <a:pPr marL="0" indent="0">
              <a:buNone/>
            </a:pPr>
            <a:r>
              <a:rPr lang="en-US" sz="1350" b="1" dirty="0">
                <a:solidFill>
                  <a:srgbClr val="FF6B4A"/>
                </a:solidFill>
                <a:latin typeface="Arial" pitchFamily="34" charset="0"/>
                <a:ea typeface="Arial" pitchFamily="34" charset="-122"/>
                <a:cs typeface="Arial" pitchFamily="34" charset="-120"/>
              </a:rPr>
              <a:t>Schema on demand</a:t>
            </a:r>
            <a:endParaRPr lang="en-US" sz="1350" dirty="0"/>
          </a:p>
        </p:txBody>
      </p:sp>
      <p:sp>
        <p:nvSpPr>
          <p:cNvPr id="16" name="Text 14"/>
          <p:cNvSpPr/>
          <p:nvPr/>
        </p:nvSpPr>
        <p:spPr>
          <a:xfrm>
            <a:off x="4343400" y="5230368"/>
            <a:ext cx="3383280" cy="59436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You define the JSON shape at request time, not at training time</a:t>
            </a:r>
            <a:endParaRPr lang="en-US" sz="1250" dirty="0"/>
          </a:p>
        </p:txBody>
      </p:sp>
      <p:sp>
        <p:nvSpPr>
          <p:cNvPr id="17" name="Text 15"/>
          <p:cNvSpPr/>
          <p:nvPr/>
        </p:nvSpPr>
        <p:spPr>
          <a:xfrm>
            <a:off x="8046720" y="4937760"/>
            <a:ext cx="3383280" cy="256032"/>
          </a:xfrm>
          <a:prstGeom prst="rect">
            <a:avLst/>
          </a:prstGeom>
          <a:noFill/>
          <a:ln/>
        </p:spPr>
        <p:txBody>
          <a:bodyPr wrap="square" lIns="0" tIns="0" rIns="0" bIns="0" rtlCol="0" anchor="ctr"/>
          <a:lstStyle/>
          <a:p>
            <a:pPr marL="0" indent="0">
              <a:buNone/>
            </a:pPr>
            <a:r>
              <a:rPr lang="en-US" sz="1350" b="1" dirty="0">
                <a:solidFill>
                  <a:srgbClr val="FF6B4A"/>
                </a:solidFill>
                <a:latin typeface="Arial" pitchFamily="34" charset="0"/>
                <a:ea typeface="Arial" pitchFamily="34" charset="-122"/>
                <a:cs typeface="Arial" pitchFamily="34" charset="-120"/>
              </a:rPr>
              <a:t>Reads the margin note</a:t>
            </a:r>
            <a:endParaRPr lang="en-US" sz="1350" dirty="0"/>
          </a:p>
        </p:txBody>
      </p:sp>
      <p:sp>
        <p:nvSpPr>
          <p:cNvPr id="18" name="Text 16"/>
          <p:cNvSpPr/>
          <p:nvPr/>
        </p:nvSpPr>
        <p:spPr>
          <a:xfrm>
            <a:off x="8046720" y="5230368"/>
            <a:ext cx="3383280" cy="59436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Handwriting and print in one pass, in two languages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DEEP DIVE 2</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When the model can look and then act</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Vision plus tool use turns a passive model into something that operates a system.</a:t>
            </a:r>
            <a:endParaRPr lang="en-US" sz="1400" dirty="0"/>
          </a:p>
        </p:txBody>
      </p:sp>
      <p:sp>
        <p:nvSpPr>
          <p:cNvPr id="5" name="Shape 3"/>
          <p:cNvSpPr/>
          <p:nvPr/>
        </p:nvSpPr>
        <p:spPr>
          <a:xfrm>
            <a:off x="640080" y="2011680"/>
            <a:ext cx="2514600" cy="2148840"/>
          </a:xfrm>
          <a:prstGeom prst="roundRect">
            <a:avLst>
              <a:gd name="adj" fmla="val 3404"/>
            </a:avLst>
          </a:prstGeom>
          <a:solidFill>
            <a:srgbClr val="F4F6FA"/>
          </a:solidFill>
          <a:ln/>
        </p:spPr>
        <p:txBody>
          <a:bodyPr/>
          <a:lstStyle/>
          <a:p>
            <a:endParaRPr lang="en-IN"/>
          </a:p>
        </p:txBody>
      </p:sp>
      <p:sp>
        <p:nvSpPr>
          <p:cNvPr id="6" name="Shape 4"/>
          <p:cNvSpPr/>
          <p:nvPr/>
        </p:nvSpPr>
        <p:spPr>
          <a:xfrm>
            <a:off x="914400" y="2286000"/>
            <a:ext cx="402336" cy="402336"/>
          </a:xfrm>
          <a:prstGeom prst="ellipse">
            <a:avLst/>
          </a:prstGeom>
          <a:solidFill>
            <a:srgbClr val="FF6B4A"/>
          </a:solidFill>
          <a:ln/>
        </p:spPr>
        <p:txBody>
          <a:bodyPr/>
          <a:lstStyle/>
          <a:p>
            <a:endParaRPr lang="en-IN"/>
          </a:p>
        </p:txBody>
      </p:sp>
      <p:sp>
        <p:nvSpPr>
          <p:cNvPr id="7" name="Text 5"/>
          <p:cNvSpPr/>
          <p:nvPr/>
        </p:nvSpPr>
        <p:spPr>
          <a:xfrm>
            <a:off x="914400" y="2286000"/>
            <a:ext cx="402336" cy="402336"/>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914400" y="2852928"/>
            <a:ext cx="2103120" cy="274320"/>
          </a:xfrm>
          <a:prstGeom prst="rect">
            <a:avLst/>
          </a:prstGeom>
          <a:noFill/>
          <a:ln/>
        </p:spPr>
        <p:txBody>
          <a:bodyPr wrap="square" lIns="0" tIns="0" rIns="0" bIns="0" rtlCol="0" anchor="ctr"/>
          <a:lstStyle/>
          <a:p>
            <a:pPr marL="0" indent="0">
              <a:buNone/>
            </a:pPr>
            <a:r>
              <a:rPr lang="en-US" sz="1450" b="1" kern="0" spc="100" dirty="0">
                <a:solidFill>
                  <a:srgbClr val="0E1524"/>
                </a:solidFill>
                <a:latin typeface="Arial" pitchFamily="34" charset="0"/>
                <a:ea typeface="Arial" pitchFamily="34" charset="-122"/>
                <a:cs typeface="Arial" pitchFamily="34" charset="-120"/>
              </a:rPr>
              <a:t>OBSERVE</a:t>
            </a:r>
            <a:endParaRPr lang="en-US" sz="1450" dirty="0"/>
          </a:p>
        </p:txBody>
      </p:sp>
      <p:sp>
        <p:nvSpPr>
          <p:cNvPr id="9" name="Text 7"/>
          <p:cNvSpPr/>
          <p:nvPr/>
        </p:nvSpPr>
        <p:spPr>
          <a:xfrm>
            <a:off x="914400" y="3200400"/>
            <a:ext cx="2057400" cy="82296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Screenshot, camera frame, or dashboard image</a:t>
            </a:r>
            <a:endParaRPr lang="en-US" sz="1250" dirty="0"/>
          </a:p>
        </p:txBody>
      </p:sp>
      <p:sp>
        <p:nvSpPr>
          <p:cNvPr id="10" name="Shape 8"/>
          <p:cNvSpPr/>
          <p:nvPr/>
        </p:nvSpPr>
        <p:spPr>
          <a:xfrm>
            <a:off x="3227832" y="3063240"/>
            <a:ext cx="118872" cy="0"/>
          </a:xfrm>
          <a:prstGeom prst="line">
            <a:avLst/>
          </a:prstGeom>
          <a:noFill/>
          <a:ln w="25400">
            <a:solidFill>
              <a:srgbClr val="A8B2C4"/>
            </a:solidFill>
            <a:prstDash val="solid"/>
            <a:tailEnd type="triangle"/>
          </a:ln>
        </p:spPr>
        <p:txBody>
          <a:bodyPr/>
          <a:lstStyle/>
          <a:p>
            <a:endParaRPr lang="en-IN"/>
          </a:p>
        </p:txBody>
      </p:sp>
      <p:sp>
        <p:nvSpPr>
          <p:cNvPr id="11" name="Shape 9"/>
          <p:cNvSpPr/>
          <p:nvPr/>
        </p:nvSpPr>
        <p:spPr>
          <a:xfrm>
            <a:off x="3410712" y="2011680"/>
            <a:ext cx="2514600" cy="2148840"/>
          </a:xfrm>
          <a:prstGeom prst="roundRect">
            <a:avLst>
              <a:gd name="adj" fmla="val 3404"/>
            </a:avLst>
          </a:prstGeom>
          <a:solidFill>
            <a:srgbClr val="F4F6FA"/>
          </a:solidFill>
          <a:ln/>
        </p:spPr>
        <p:txBody>
          <a:bodyPr/>
          <a:lstStyle/>
          <a:p>
            <a:endParaRPr lang="en-IN"/>
          </a:p>
        </p:txBody>
      </p:sp>
      <p:sp>
        <p:nvSpPr>
          <p:cNvPr id="12" name="Shape 10"/>
          <p:cNvSpPr/>
          <p:nvPr/>
        </p:nvSpPr>
        <p:spPr>
          <a:xfrm>
            <a:off x="3685032" y="2286000"/>
            <a:ext cx="402336" cy="402336"/>
          </a:xfrm>
          <a:prstGeom prst="ellipse">
            <a:avLst/>
          </a:prstGeom>
          <a:solidFill>
            <a:srgbClr val="FFC24A"/>
          </a:solidFill>
          <a:ln/>
        </p:spPr>
        <p:txBody>
          <a:bodyPr/>
          <a:lstStyle/>
          <a:p>
            <a:endParaRPr lang="en-IN"/>
          </a:p>
        </p:txBody>
      </p:sp>
      <p:sp>
        <p:nvSpPr>
          <p:cNvPr id="13" name="Text 11"/>
          <p:cNvSpPr/>
          <p:nvPr/>
        </p:nvSpPr>
        <p:spPr>
          <a:xfrm>
            <a:off x="3685032" y="2286000"/>
            <a:ext cx="402336" cy="402336"/>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2</a:t>
            </a:r>
            <a:endParaRPr lang="en-US" sz="1500" dirty="0"/>
          </a:p>
        </p:txBody>
      </p:sp>
      <p:sp>
        <p:nvSpPr>
          <p:cNvPr id="14" name="Text 12"/>
          <p:cNvSpPr/>
          <p:nvPr/>
        </p:nvSpPr>
        <p:spPr>
          <a:xfrm>
            <a:off x="3685032" y="2852928"/>
            <a:ext cx="2103120" cy="274320"/>
          </a:xfrm>
          <a:prstGeom prst="rect">
            <a:avLst/>
          </a:prstGeom>
          <a:noFill/>
          <a:ln/>
        </p:spPr>
        <p:txBody>
          <a:bodyPr wrap="square" lIns="0" tIns="0" rIns="0" bIns="0" rtlCol="0" anchor="ctr"/>
          <a:lstStyle/>
          <a:p>
            <a:pPr marL="0" indent="0">
              <a:buNone/>
            </a:pPr>
            <a:r>
              <a:rPr lang="en-US" sz="1450" b="1" kern="0" spc="100" dirty="0">
                <a:solidFill>
                  <a:srgbClr val="0E1524"/>
                </a:solidFill>
                <a:latin typeface="Arial" pitchFamily="34" charset="0"/>
                <a:ea typeface="Arial" pitchFamily="34" charset="-122"/>
                <a:cs typeface="Arial" pitchFamily="34" charset="-120"/>
              </a:rPr>
              <a:t>REASON</a:t>
            </a:r>
            <a:endParaRPr lang="en-US" sz="1450" dirty="0"/>
          </a:p>
        </p:txBody>
      </p:sp>
      <p:sp>
        <p:nvSpPr>
          <p:cNvPr id="15" name="Text 13"/>
          <p:cNvSpPr/>
          <p:nvPr/>
        </p:nvSpPr>
        <p:spPr>
          <a:xfrm>
            <a:off x="3685032" y="3200400"/>
            <a:ext cx="2057400" cy="82296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What state is this in, what should happen next</a:t>
            </a:r>
            <a:endParaRPr lang="en-US" sz="1250" dirty="0"/>
          </a:p>
        </p:txBody>
      </p:sp>
      <p:sp>
        <p:nvSpPr>
          <p:cNvPr id="16" name="Shape 14"/>
          <p:cNvSpPr/>
          <p:nvPr/>
        </p:nvSpPr>
        <p:spPr>
          <a:xfrm>
            <a:off x="5998464" y="3063240"/>
            <a:ext cx="118872" cy="0"/>
          </a:xfrm>
          <a:prstGeom prst="line">
            <a:avLst/>
          </a:prstGeom>
          <a:noFill/>
          <a:ln w="25400">
            <a:solidFill>
              <a:srgbClr val="A8B2C4"/>
            </a:solidFill>
            <a:prstDash val="solid"/>
            <a:tailEnd type="triangle"/>
          </a:ln>
        </p:spPr>
        <p:txBody>
          <a:bodyPr/>
          <a:lstStyle/>
          <a:p>
            <a:endParaRPr lang="en-IN"/>
          </a:p>
        </p:txBody>
      </p:sp>
      <p:sp>
        <p:nvSpPr>
          <p:cNvPr id="17" name="Shape 15"/>
          <p:cNvSpPr/>
          <p:nvPr/>
        </p:nvSpPr>
        <p:spPr>
          <a:xfrm>
            <a:off x="6181344" y="2011680"/>
            <a:ext cx="2514600" cy="2148840"/>
          </a:xfrm>
          <a:prstGeom prst="roundRect">
            <a:avLst>
              <a:gd name="adj" fmla="val 3404"/>
            </a:avLst>
          </a:prstGeom>
          <a:solidFill>
            <a:srgbClr val="F4F6FA"/>
          </a:solidFill>
          <a:ln/>
        </p:spPr>
        <p:txBody>
          <a:bodyPr/>
          <a:lstStyle/>
          <a:p>
            <a:endParaRPr lang="en-IN"/>
          </a:p>
        </p:txBody>
      </p:sp>
      <p:sp>
        <p:nvSpPr>
          <p:cNvPr id="18" name="Shape 16"/>
          <p:cNvSpPr/>
          <p:nvPr/>
        </p:nvSpPr>
        <p:spPr>
          <a:xfrm>
            <a:off x="6455664" y="2286000"/>
            <a:ext cx="402336" cy="402336"/>
          </a:xfrm>
          <a:prstGeom prst="ellipse">
            <a:avLst/>
          </a:prstGeom>
          <a:solidFill>
            <a:srgbClr val="00C2A8"/>
          </a:solidFill>
          <a:ln/>
        </p:spPr>
        <p:txBody>
          <a:bodyPr/>
          <a:lstStyle/>
          <a:p>
            <a:endParaRPr lang="en-IN"/>
          </a:p>
        </p:txBody>
      </p:sp>
      <p:sp>
        <p:nvSpPr>
          <p:cNvPr id="19" name="Text 17"/>
          <p:cNvSpPr/>
          <p:nvPr/>
        </p:nvSpPr>
        <p:spPr>
          <a:xfrm>
            <a:off x="6455664" y="2286000"/>
            <a:ext cx="402336" cy="402336"/>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3</a:t>
            </a:r>
            <a:endParaRPr lang="en-US" sz="1500" dirty="0"/>
          </a:p>
        </p:txBody>
      </p:sp>
      <p:sp>
        <p:nvSpPr>
          <p:cNvPr id="20" name="Text 18"/>
          <p:cNvSpPr/>
          <p:nvPr/>
        </p:nvSpPr>
        <p:spPr>
          <a:xfrm>
            <a:off x="6455664" y="2852928"/>
            <a:ext cx="2103120" cy="274320"/>
          </a:xfrm>
          <a:prstGeom prst="rect">
            <a:avLst/>
          </a:prstGeom>
          <a:noFill/>
          <a:ln/>
        </p:spPr>
        <p:txBody>
          <a:bodyPr wrap="square" lIns="0" tIns="0" rIns="0" bIns="0" rtlCol="0" anchor="ctr"/>
          <a:lstStyle/>
          <a:p>
            <a:pPr marL="0" indent="0">
              <a:buNone/>
            </a:pPr>
            <a:r>
              <a:rPr lang="en-US" sz="1450" b="1" kern="0" spc="100" dirty="0">
                <a:solidFill>
                  <a:srgbClr val="0E1524"/>
                </a:solidFill>
                <a:latin typeface="Arial" pitchFamily="34" charset="0"/>
                <a:ea typeface="Arial" pitchFamily="34" charset="-122"/>
                <a:cs typeface="Arial" pitchFamily="34" charset="-120"/>
              </a:rPr>
              <a:t>ACT</a:t>
            </a:r>
            <a:endParaRPr lang="en-US" sz="1450" dirty="0"/>
          </a:p>
        </p:txBody>
      </p:sp>
      <p:sp>
        <p:nvSpPr>
          <p:cNvPr id="21" name="Text 19"/>
          <p:cNvSpPr/>
          <p:nvPr/>
        </p:nvSpPr>
        <p:spPr>
          <a:xfrm>
            <a:off x="6455664" y="3200400"/>
            <a:ext cx="2057400" cy="82296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Call an API, click, file a ticket, stop a line</a:t>
            </a:r>
            <a:endParaRPr lang="en-US" sz="1250" dirty="0"/>
          </a:p>
        </p:txBody>
      </p:sp>
      <p:sp>
        <p:nvSpPr>
          <p:cNvPr id="22" name="Shape 20"/>
          <p:cNvSpPr/>
          <p:nvPr/>
        </p:nvSpPr>
        <p:spPr>
          <a:xfrm>
            <a:off x="8769096" y="3063240"/>
            <a:ext cx="118872" cy="0"/>
          </a:xfrm>
          <a:prstGeom prst="line">
            <a:avLst/>
          </a:prstGeom>
          <a:noFill/>
          <a:ln w="25400">
            <a:solidFill>
              <a:srgbClr val="A8B2C4"/>
            </a:solidFill>
            <a:prstDash val="solid"/>
            <a:tailEnd type="triangle"/>
          </a:ln>
        </p:spPr>
        <p:txBody>
          <a:bodyPr/>
          <a:lstStyle/>
          <a:p>
            <a:endParaRPr lang="en-IN"/>
          </a:p>
        </p:txBody>
      </p:sp>
      <p:sp>
        <p:nvSpPr>
          <p:cNvPr id="23" name="Shape 21"/>
          <p:cNvSpPr/>
          <p:nvPr/>
        </p:nvSpPr>
        <p:spPr>
          <a:xfrm>
            <a:off x="8951976" y="2011680"/>
            <a:ext cx="2514600" cy="2148840"/>
          </a:xfrm>
          <a:prstGeom prst="roundRect">
            <a:avLst>
              <a:gd name="adj" fmla="val 3404"/>
            </a:avLst>
          </a:prstGeom>
          <a:solidFill>
            <a:srgbClr val="F4F6FA"/>
          </a:solidFill>
          <a:ln/>
        </p:spPr>
        <p:txBody>
          <a:bodyPr/>
          <a:lstStyle/>
          <a:p>
            <a:endParaRPr lang="en-IN"/>
          </a:p>
        </p:txBody>
      </p:sp>
      <p:sp>
        <p:nvSpPr>
          <p:cNvPr id="24" name="Shape 22"/>
          <p:cNvSpPr/>
          <p:nvPr/>
        </p:nvSpPr>
        <p:spPr>
          <a:xfrm>
            <a:off x="9226296" y="2286000"/>
            <a:ext cx="402336" cy="402336"/>
          </a:xfrm>
          <a:prstGeom prst="ellipse">
            <a:avLst/>
          </a:prstGeom>
          <a:solidFill>
            <a:srgbClr val="6B7689"/>
          </a:solidFill>
          <a:ln/>
        </p:spPr>
        <p:txBody>
          <a:bodyPr/>
          <a:lstStyle/>
          <a:p>
            <a:endParaRPr lang="en-IN"/>
          </a:p>
        </p:txBody>
      </p:sp>
      <p:sp>
        <p:nvSpPr>
          <p:cNvPr id="25" name="Text 23"/>
          <p:cNvSpPr/>
          <p:nvPr/>
        </p:nvSpPr>
        <p:spPr>
          <a:xfrm>
            <a:off x="9226296" y="2286000"/>
            <a:ext cx="402336" cy="402336"/>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4</a:t>
            </a:r>
            <a:endParaRPr lang="en-US" sz="1500" dirty="0"/>
          </a:p>
        </p:txBody>
      </p:sp>
      <p:sp>
        <p:nvSpPr>
          <p:cNvPr id="26" name="Text 24"/>
          <p:cNvSpPr/>
          <p:nvPr/>
        </p:nvSpPr>
        <p:spPr>
          <a:xfrm>
            <a:off x="9226296" y="2852928"/>
            <a:ext cx="2103120" cy="274320"/>
          </a:xfrm>
          <a:prstGeom prst="rect">
            <a:avLst/>
          </a:prstGeom>
          <a:noFill/>
          <a:ln/>
        </p:spPr>
        <p:txBody>
          <a:bodyPr wrap="square" lIns="0" tIns="0" rIns="0" bIns="0" rtlCol="0" anchor="ctr"/>
          <a:lstStyle/>
          <a:p>
            <a:pPr marL="0" indent="0">
              <a:buNone/>
            </a:pPr>
            <a:r>
              <a:rPr lang="en-US" sz="1450" b="1" kern="0" spc="100" dirty="0">
                <a:solidFill>
                  <a:srgbClr val="0E1524"/>
                </a:solidFill>
                <a:latin typeface="Arial" pitchFamily="34" charset="0"/>
                <a:ea typeface="Arial" pitchFamily="34" charset="-122"/>
                <a:cs typeface="Arial" pitchFamily="34" charset="-120"/>
              </a:rPr>
              <a:t>VERIFY</a:t>
            </a:r>
            <a:endParaRPr lang="en-US" sz="1450" dirty="0"/>
          </a:p>
        </p:txBody>
      </p:sp>
      <p:sp>
        <p:nvSpPr>
          <p:cNvPr id="27" name="Text 25"/>
          <p:cNvSpPr/>
          <p:nvPr/>
        </p:nvSpPr>
        <p:spPr>
          <a:xfrm>
            <a:off x="9226296" y="3200400"/>
            <a:ext cx="2057400" cy="82296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Look again, confirm the action landed</a:t>
            </a:r>
            <a:endParaRPr lang="en-US" sz="1250" dirty="0"/>
          </a:p>
        </p:txBody>
      </p:sp>
      <p:sp>
        <p:nvSpPr>
          <p:cNvPr id="28" name="Shape 26"/>
          <p:cNvSpPr/>
          <p:nvPr/>
        </p:nvSpPr>
        <p:spPr>
          <a:xfrm>
            <a:off x="640080" y="4526280"/>
            <a:ext cx="10908792" cy="1051560"/>
          </a:xfrm>
          <a:prstGeom prst="roundRect">
            <a:avLst>
              <a:gd name="adj" fmla="val 6957"/>
            </a:avLst>
          </a:prstGeom>
          <a:solidFill>
            <a:srgbClr val="0E1524"/>
          </a:solidFill>
          <a:ln/>
        </p:spPr>
        <p:txBody>
          <a:bodyPr/>
          <a:lstStyle/>
          <a:p>
            <a:endParaRPr lang="en-IN"/>
          </a:p>
        </p:txBody>
      </p:sp>
      <p:sp>
        <p:nvSpPr>
          <p:cNvPr id="29" name="Text 27"/>
          <p:cNvSpPr/>
          <p:nvPr/>
        </p:nvSpPr>
        <p:spPr>
          <a:xfrm>
            <a:off x="1005840" y="4681728"/>
            <a:ext cx="10058400" cy="274320"/>
          </a:xfrm>
          <a:prstGeom prst="rect">
            <a:avLst/>
          </a:prstGeom>
          <a:noFill/>
          <a:ln/>
        </p:spPr>
        <p:txBody>
          <a:bodyPr wrap="square" lIns="0" tIns="0" rIns="0" bIns="0" rtlCol="0" anchor="ctr"/>
          <a:lstStyle/>
          <a:p>
            <a:pPr marL="0" indent="0">
              <a:buNone/>
            </a:pPr>
            <a:r>
              <a:rPr lang="en-US" sz="1500" b="1" dirty="0">
                <a:solidFill>
                  <a:srgbClr val="FFC24A"/>
                </a:solidFill>
                <a:latin typeface="Arial" pitchFamily="34" charset="0"/>
                <a:ea typeface="Arial" pitchFamily="34" charset="-122"/>
                <a:cs typeface="Arial" pitchFamily="34" charset="-120"/>
              </a:rPr>
              <a:t>The failure mode nobody warns you about</a:t>
            </a:r>
            <a:endParaRPr lang="en-US" sz="1500" dirty="0"/>
          </a:p>
        </p:txBody>
      </p:sp>
      <p:sp>
        <p:nvSpPr>
          <p:cNvPr id="30" name="Text 28"/>
          <p:cNvSpPr/>
          <p:nvPr/>
        </p:nvSpPr>
        <p:spPr>
          <a:xfrm>
            <a:off x="1005840" y="5010912"/>
            <a:ext cx="10058400" cy="457200"/>
          </a:xfrm>
          <a:prstGeom prst="rect">
            <a:avLst/>
          </a:prstGeom>
          <a:noFill/>
          <a:ln/>
        </p:spPr>
        <p:txBody>
          <a:bodyPr wrap="square" lIns="0" tIns="0" rIns="0" bIns="0" rtlCol="0" anchor="ctr"/>
          <a:lstStyle/>
          <a:p>
            <a:pPr marL="0" indent="0">
              <a:buNone/>
            </a:pPr>
            <a:r>
              <a:rPr lang="en-US" sz="1350" dirty="0">
                <a:solidFill>
                  <a:srgbClr val="A8B2C4"/>
                </a:solidFill>
                <a:latin typeface="Calibri" pitchFamily="34" charset="0"/>
                <a:ea typeface="Calibri" pitchFamily="34" charset="-122"/>
                <a:cs typeface="Calibri" pitchFamily="34" charset="-120"/>
              </a:rPr>
              <a:t>The loop is only as safe as step 4. A system that acts without verifying will confidently repeat the same wrong action forever. Build the verify step first.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THE HONEST SLIDE</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What still breaks</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Every one of these is also an open research problem. That is not a coincidence - and Part Three comes back to it.</a:t>
            </a:r>
            <a:endParaRPr lang="en-US" sz="1400" dirty="0"/>
          </a:p>
        </p:txBody>
      </p:sp>
      <p:sp>
        <p:nvSpPr>
          <p:cNvPr id="5" name="Shape 3"/>
          <p:cNvSpPr/>
          <p:nvPr/>
        </p:nvSpPr>
        <p:spPr>
          <a:xfrm>
            <a:off x="640080" y="2039112"/>
            <a:ext cx="201168" cy="201168"/>
          </a:xfrm>
          <a:prstGeom prst="ellipse">
            <a:avLst/>
          </a:prstGeom>
          <a:solidFill>
            <a:srgbClr val="FF6B4A"/>
          </a:solidFill>
          <a:ln/>
        </p:spPr>
        <p:txBody>
          <a:bodyPr/>
          <a:lstStyle/>
          <a:p>
            <a:endParaRPr lang="en-IN"/>
          </a:p>
        </p:txBody>
      </p:sp>
      <p:sp>
        <p:nvSpPr>
          <p:cNvPr id="6" name="Text 4"/>
          <p:cNvSpPr/>
          <p:nvPr/>
        </p:nvSpPr>
        <p:spPr>
          <a:xfrm>
            <a:off x="1005840" y="1965960"/>
            <a:ext cx="4937760" cy="29260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Fine spatial detail</a:t>
            </a:r>
            <a:endParaRPr lang="en-US" sz="1500" dirty="0"/>
          </a:p>
        </p:txBody>
      </p:sp>
      <p:sp>
        <p:nvSpPr>
          <p:cNvPr id="7" name="Text 5"/>
          <p:cNvSpPr/>
          <p:nvPr/>
        </p:nvSpPr>
        <p:spPr>
          <a:xfrm>
            <a:off x="1005840" y="2295144"/>
            <a:ext cx="484632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Counting objects, reading a gauge needle, precise measurement from an image</a:t>
            </a:r>
            <a:endParaRPr lang="en-US" sz="1250" dirty="0"/>
          </a:p>
        </p:txBody>
      </p:sp>
      <p:sp>
        <p:nvSpPr>
          <p:cNvPr id="8" name="Shape 6"/>
          <p:cNvSpPr/>
          <p:nvPr/>
        </p:nvSpPr>
        <p:spPr>
          <a:xfrm>
            <a:off x="6217920" y="2039112"/>
            <a:ext cx="201168" cy="201168"/>
          </a:xfrm>
          <a:prstGeom prst="ellipse">
            <a:avLst/>
          </a:prstGeom>
          <a:solidFill>
            <a:srgbClr val="FF6B4A"/>
          </a:solidFill>
          <a:ln/>
        </p:spPr>
        <p:txBody>
          <a:bodyPr/>
          <a:lstStyle/>
          <a:p>
            <a:endParaRPr lang="en-IN"/>
          </a:p>
        </p:txBody>
      </p:sp>
      <p:sp>
        <p:nvSpPr>
          <p:cNvPr id="9" name="Text 7"/>
          <p:cNvSpPr/>
          <p:nvPr/>
        </p:nvSpPr>
        <p:spPr>
          <a:xfrm>
            <a:off x="6583680" y="1965960"/>
            <a:ext cx="4937760" cy="29260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Dense handwriting</a:t>
            </a:r>
            <a:endParaRPr lang="en-US" sz="1500" dirty="0"/>
          </a:p>
        </p:txBody>
      </p:sp>
      <p:sp>
        <p:nvSpPr>
          <p:cNvPr id="10" name="Text 8"/>
          <p:cNvSpPr/>
          <p:nvPr/>
        </p:nvSpPr>
        <p:spPr>
          <a:xfrm>
            <a:off x="6583680" y="2295144"/>
            <a:ext cx="484632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Cursive, medical notes, and multi-language forms remain unreliable</a:t>
            </a:r>
            <a:endParaRPr lang="en-US" sz="1250" dirty="0"/>
          </a:p>
        </p:txBody>
      </p:sp>
      <p:sp>
        <p:nvSpPr>
          <p:cNvPr id="11" name="Shape 9"/>
          <p:cNvSpPr/>
          <p:nvPr/>
        </p:nvSpPr>
        <p:spPr>
          <a:xfrm>
            <a:off x="640080" y="3246120"/>
            <a:ext cx="201168" cy="201168"/>
          </a:xfrm>
          <a:prstGeom prst="ellipse">
            <a:avLst/>
          </a:prstGeom>
          <a:solidFill>
            <a:srgbClr val="FF6B4A"/>
          </a:solidFill>
          <a:ln/>
        </p:spPr>
        <p:txBody>
          <a:bodyPr/>
          <a:lstStyle/>
          <a:p>
            <a:endParaRPr lang="en-IN"/>
          </a:p>
        </p:txBody>
      </p:sp>
      <p:sp>
        <p:nvSpPr>
          <p:cNvPr id="12" name="Text 10"/>
          <p:cNvSpPr/>
          <p:nvPr/>
        </p:nvSpPr>
        <p:spPr>
          <a:xfrm>
            <a:off x="1005840" y="3172968"/>
            <a:ext cx="4937760" cy="29260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Confident wrong answers</a:t>
            </a:r>
            <a:endParaRPr lang="en-US" sz="1500" dirty="0"/>
          </a:p>
        </p:txBody>
      </p:sp>
      <p:sp>
        <p:nvSpPr>
          <p:cNvPr id="13" name="Text 11"/>
          <p:cNvSpPr/>
          <p:nvPr/>
        </p:nvSpPr>
        <p:spPr>
          <a:xfrm>
            <a:off x="1005840" y="3502152"/>
            <a:ext cx="484632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The model rarely says it cannot read something - it guesses fluently</a:t>
            </a:r>
            <a:endParaRPr lang="en-US" sz="1250" dirty="0"/>
          </a:p>
        </p:txBody>
      </p:sp>
      <p:sp>
        <p:nvSpPr>
          <p:cNvPr id="14" name="Shape 12"/>
          <p:cNvSpPr/>
          <p:nvPr/>
        </p:nvSpPr>
        <p:spPr>
          <a:xfrm>
            <a:off x="6217920" y="3246120"/>
            <a:ext cx="201168" cy="201168"/>
          </a:xfrm>
          <a:prstGeom prst="ellipse">
            <a:avLst/>
          </a:prstGeom>
          <a:solidFill>
            <a:srgbClr val="FF6B4A"/>
          </a:solidFill>
          <a:ln/>
        </p:spPr>
        <p:txBody>
          <a:bodyPr/>
          <a:lstStyle/>
          <a:p>
            <a:endParaRPr lang="en-IN"/>
          </a:p>
        </p:txBody>
      </p:sp>
      <p:sp>
        <p:nvSpPr>
          <p:cNvPr id="15" name="Text 13"/>
          <p:cNvSpPr/>
          <p:nvPr/>
        </p:nvSpPr>
        <p:spPr>
          <a:xfrm>
            <a:off x="6583680" y="3172968"/>
            <a:ext cx="4937760" cy="29260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Long video</a:t>
            </a:r>
            <a:endParaRPr lang="en-US" sz="1500" dirty="0"/>
          </a:p>
        </p:txBody>
      </p:sp>
      <p:sp>
        <p:nvSpPr>
          <p:cNvPr id="16" name="Text 14"/>
          <p:cNvSpPr/>
          <p:nvPr/>
        </p:nvSpPr>
        <p:spPr>
          <a:xfrm>
            <a:off x="6583680" y="3502152"/>
            <a:ext cx="484632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Context cost grows fast, and most systems sample frames and miss events</a:t>
            </a:r>
            <a:endParaRPr lang="en-US" sz="1250" dirty="0"/>
          </a:p>
        </p:txBody>
      </p:sp>
      <p:sp>
        <p:nvSpPr>
          <p:cNvPr id="17" name="Shape 15"/>
          <p:cNvSpPr/>
          <p:nvPr/>
        </p:nvSpPr>
        <p:spPr>
          <a:xfrm>
            <a:off x="640080" y="4453128"/>
            <a:ext cx="201168" cy="201168"/>
          </a:xfrm>
          <a:prstGeom prst="ellipse">
            <a:avLst/>
          </a:prstGeom>
          <a:solidFill>
            <a:srgbClr val="FF6B4A"/>
          </a:solidFill>
          <a:ln/>
        </p:spPr>
        <p:txBody>
          <a:bodyPr/>
          <a:lstStyle/>
          <a:p>
            <a:endParaRPr lang="en-IN"/>
          </a:p>
        </p:txBody>
      </p:sp>
      <p:sp>
        <p:nvSpPr>
          <p:cNvPr id="18" name="Text 16"/>
          <p:cNvSpPr/>
          <p:nvPr/>
        </p:nvSpPr>
        <p:spPr>
          <a:xfrm>
            <a:off x="1005840" y="4379976"/>
            <a:ext cx="4937760" cy="29260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Cost and latency</a:t>
            </a:r>
            <a:endParaRPr lang="en-US" sz="1500" dirty="0"/>
          </a:p>
        </p:txBody>
      </p:sp>
      <p:sp>
        <p:nvSpPr>
          <p:cNvPr id="19" name="Text 17"/>
          <p:cNvSpPr/>
          <p:nvPr/>
        </p:nvSpPr>
        <p:spPr>
          <a:xfrm>
            <a:off x="1005840" y="4709160"/>
            <a:ext cx="484632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An image can cost as much as a thousand words of text, per call</a:t>
            </a:r>
            <a:endParaRPr lang="en-US" sz="1250" dirty="0"/>
          </a:p>
        </p:txBody>
      </p:sp>
      <p:sp>
        <p:nvSpPr>
          <p:cNvPr id="20" name="Shape 18"/>
          <p:cNvSpPr/>
          <p:nvPr/>
        </p:nvSpPr>
        <p:spPr>
          <a:xfrm>
            <a:off x="6217920" y="4453128"/>
            <a:ext cx="201168" cy="201168"/>
          </a:xfrm>
          <a:prstGeom prst="ellipse">
            <a:avLst/>
          </a:prstGeom>
          <a:solidFill>
            <a:srgbClr val="FF6B4A"/>
          </a:solidFill>
          <a:ln/>
        </p:spPr>
        <p:txBody>
          <a:bodyPr/>
          <a:lstStyle/>
          <a:p>
            <a:endParaRPr lang="en-IN"/>
          </a:p>
        </p:txBody>
      </p:sp>
      <p:sp>
        <p:nvSpPr>
          <p:cNvPr id="21" name="Text 19"/>
          <p:cNvSpPr/>
          <p:nvPr/>
        </p:nvSpPr>
        <p:spPr>
          <a:xfrm>
            <a:off x="6583680" y="4379976"/>
            <a:ext cx="4937760" cy="292608"/>
          </a:xfrm>
          <a:prstGeom prst="rect">
            <a:avLst/>
          </a:prstGeom>
          <a:noFill/>
          <a:ln/>
        </p:spPr>
        <p:txBody>
          <a:bodyPr wrap="square" lIns="0" tIns="0" rIns="0" bIns="0" rtlCol="0" anchor="ctr"/>
          <a:lstStyle/>
          <a:p>
            <a:pPr marL="0" indent="0">
              <a:buNone/>
            </a:pPr>
            <a:r>
              <a:rPr lang="en-US" sz="1500" b="1" dirty="0">
                <a:solidFill>
                  <a:srgbClr val="0E1524"/>
                </a:solidFill>
                <a:latin typeface="Arial" pitchFamily="34" charset="0"/>
                <a:ea typeface="Arial" pitchFamily="34" charset="-122"/>
                <a:cs typeface="Arial" pitchFamily="34" charset="-120"/>
              </a:rPr>
              <a:t>Evaluation itself</a:t>
            </a:r>
            <a:endParaRPr lang="en-US" sz="1500" dirty="0"/>
          </a:p>
        </p:txBody>
      </p:sp>
      <p:sp>
        <p:nvSpPr>
          <p:cNvPr id="22" name="Text 20"/>
          <p:cNvSpPr/>
          <p:nvPr/>
        </p:nvSpPr>
        <p:spPr>
          <a:xfrm>
            <a:off x="6583680" y="4709160"/>
            <a:ext cx="4846320" cy="64008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We do not have good benchmarks for cross-modal reasoning quality</a:t>
            </a:r>
            <a:endParaRPr lang="en-US" sz="1250" dirty="0"/>
          </a:p>
        </p:txBody>
      </p:sp>
      <p:sp>
        <p:nvSpPr>
          <p:cNvPr id="23" name="Text 21"/>
          <p:cNvSpPr/>
          <p:nvPr/>
        </p:nvSpPr>
        <p:spPr>
          <a:xfrm>
            <a:off x="640080" y="5623560"/>
            <a:ext cx="10908792" cy="365760"/>
          </a:xfrm>
          <a:prstGeom prst="rect">
            <a:avLst/>
          </a:prstGeom>
          <a:noFill/>
          <a:ln/>
        </p:spPr>
        <p:txBody>
          <a:bodyPr wrap="square" lIns="0" tIns="0" rIns="0" bIns="0" rtlCol="0" anchor="ctr"/>
          <a:lstStyle/>
          <a:p>
            <a:pPr marL="0" indent="0">
              <a:buNone/>
            </a:pPr>
            <a:r>
              <a:rPr lang="en-US" sz="1450" i="1" dirty="0">
                <a:solidFill>
                  <a:srgbClr val="0E1524"/>
                </a:solidFill>
                <a:latin typeface="Calibri" pitchFamily="34" charset="0"/>
                <a:ea typeface="Calibri" pitchFamily="34" charset="-122"/>
                <a:cs typeface="Calibri" pitchFamily="34" charset="-120"/>
              </a:rPr>
              <a:t>If you are picking a research problem, pick one of these six. They are unsolved, they are measurable, and reviewers already agree they matter. Which one is yours? Name it in the chat.</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524"/>
        </a:solidFill>
        <a:effectLst/>
      </p:bgPr>
    </p:bg>
    <p:spTree>
      <p:nvGrpSpPr>
        <p:cNvPr id="1" name=""/>
        <p:cNvGrpSpPr/>
        <p:nvPr/>
      </p:nvGrpSpPr>
      <p:grpSpPr>
        <a:xfrm>
          <a:off x="0" y="0"/>
          <a:ext cx="0" cy="0"/>
          <a:chOff x="0" y="0"/>
          <a:chExt cx="0" cy="0"/>
        </a:xfrm>
      </p:grpSpPr>
      <p:sp>
        <p:nvSpPr>
          <p:cNvPr id="2" name="Text 0"/>
          <p:cNvSpPr/>
          <p:nvPr/>
        </p:nvSpPr>
        <p:spPr>
          <a:xfrm>
            <a:off x="640080" y="960120"/>
            <a:ext cx="10908792" cy="411480"/>
          </a:xfrm>
          <a:prstGeom prst="rect">
            <a:avLst/>
          </a:prstGeom>
          <a:noFill/>
          <a:ln/>
        </p:spPr>
        <p:txBody>
          <a:bodyPr wrap="square" lIns="0" tIns="0" rIns="0" bIns="0" rtlCol="0" anchor="ctr"/>
          <a:lstStyle/>
          <a:p>
            <a:pPr marL="0" indent="0">
              <a:buNone/>
            </a:pPr>
            <a:r>
              <a:rPr lang="en-US" sz="2200" b="1" dirty="0">
                <a:solidFill>
                  <a:srgbClr val="A8B2C4"/>
                </a:solidFill>
                <a:latin typeface="Arial" pitchFamily="34" charset="0"/>
                <a:ea typeface="Arial" pitchFamily="34" charset="-122"/>
                <a:cs typeface="Arial" pitchFamily="34" charset="-120"/>
              </a:rPr>
              <a:t>The whole of Part Two in one line</a:t>
            </a:r>
            <a:endParaRPr lang="en-US" sz="2200" dirty="0"/>
          </a:p>
        </p:txBody>
      </p:sp>
      <p:sp>
        <p:nvSpPr>
          <p:cNvPr id="3" name="Text 1"/>
          <p:cNvSpPr/>
          <p:nvPr/>
        </p:nvSpPr>
        <p:spPr>
          <a:xfrm>
            <a:off x="640080" y="1828800"/>
            <a:ext cx="10515600" cy="1691640"/>
          </a:xfrm>
          <a:prstGeom prst="rect">
            <a:avLst/>
          </a:prstGeom>
          <a:noFill/>
          <a:ln/>
        </p:spPr>
        <p:txBody>
          <a:bodyPr wrap="square" lIns="0" tIns="0" rIns="0" bIns="0" rtlCol="0" anchor="ctr"/>
          <a:lstStyle/>
          <a:p>
            <a:pPr marL="0" indent="0">
              <a:lnSpc>
                <a:spcPts val="5200"/>
              </a:lnSpc>
              <a:buNone/>
            </a:pPr>
            <a:r>
              <a:rPr lang="en-US" sz="4400" b="1" dirty="0">
                <a:solidFill>
                  <a:srgbClr val="FFFFFF"/>
                </a:solidFill>
                <a:latin typeface="Arial" pitchFamily="34" charset="0"/>
                <a:ea typeface="Arial" pitchFamily="34" charset="-122"/>
                <a:cs typeface="Arial" pitchFamily="34" charset="-120"/>
              </a:rPr>
              <a:t>What breaks is more useful</a:t>
            </a:r>
            <a:endParaRPr lang="en-US" sz="4400" dirty="0"/>
          </a:p>
          <a:p>
            <a:pPr marL="0" indent="0">
              <a:lnSpc>
                <a:spcPts val="5200"/>
              </a:lnSpc>
              <a:buNone/>
            </a:pPr>
            <a:r>
              <a:rPr lang="en-US" sz="4400" b="1" dirty="0">
                <a:solidFill>
                  <a:srgbClr val="FFFFFF"/>
                </a:solidFill>
                <a:latin typeface="Arial" pitchFamily="34" charset="0"/>
                <a:ea typeface="Arial" pitchFamily="34" charset="-122"/>
                <a:cs typeface="Arial" pitchFamily="34" charset="-120"/>
              </a:rPr>
              <a:t>to you than what works.</a:t>
            </a:r>
            <a:endParaRPr lang="en-US" sz="4400" dirty="0"/>
          </a:p>
        </p:txBody>
      </p:sp>
      <p:sp>
        <p:nvSpPr>
          <p:cNvPr id="4" name="Shape 2"/>
          <p:cNvSpPr/>
          <p:nvPr/>
        </p:nvSpPr>
        <p:spPr>
          <a:xfrm>
            <a:off x="640080" y="3931920"/>
            <a:ext cx="10908792" cy="1417320"/>
          </a:xfrm>
          <a:prstGeom prst="roundRect">
            <a:avLst>
              <a:gd name="adj" fmla="val 6452"/>
            </a:avLst>
          </a:prstGeom>
          <a:solidFill>
            <a:srgbClr val="1B2437"/>
          </a:solidFill>
          <a:ln/>
        </p:spPr>
        <p:txBody>
          <a:bodyPr/>
          <a:lstStyle/>
          <a:p>
            <a:endParaRPr lang="en-IN"/>
          </a:p>
        </p:txBody>
      </p:sp>
      <p:sp>
        <p:nvSpPr>
          <p:cNvPr id="5" name="Text 3"/>
          <p:cNvSpPr/>
          <p:nvPr/>
        </p:nvSpPr>
        <p:spPr>
          <a:xfrm>
            <a:off x="1051560" y="3931920"/>
            <a:ext cx="10104120" cy="1417320"/>
          </a:xfrm>
          <a:prstGeom prst="rect">
            <a:avLst/>
          </a:prstGeom>
          <a:noFill/>
          <a:ln/>
        </p:spPr>
        <p:txBody>
          <a:bodyPr wrap="square" lIns="0" tIns="0" rIns="0" bIns="0" rtlCol="0" anchor="ctr"/>
          <a:lstStyle/>
          <a:p>
            <a:pPr marL="0" indent="0">
              <a:lnSpc>
                <a:spcPts val="2400"/>
              </a:lnSpc>
              <a:buNone/>
            </a:pPr>
            <a:r>
              <a:rPr lang="en-US" sz="1550" dirty="0">
                <a:solidFill>
                  <a:srgbClr val="A8B2C4"/>
                </a:solidFill>
                <a:latin typeface="Calibri" pitchFamily="34" charset="0"/>
                <a:ea typeface="Calibri" pitchFamily="34" charset="-122"/>
                <a:cs typeface="Calibri" pitchFamily="34" charset="-120"/>
              </a:rPr>
              <a:t>The working half is a product demo anyone can give. The broken half - fine spatial detail, dense handwriting, long video, confident wrong answers, cost, and evaluation itself - is a list of six problems that are unsolved, measurable, and already agreed to matter. That is the half with your name on it.</a:t>
            </a:r>
            <a:endParaRPr lang="en-US" sz="1550" dirty="0"/>
          </a:p>
        </p:txBody>
      </p:sp>
      <p:sp>
        <p:nvSpPr>
          <p:cNvPr id="6" name="Shape 4"/>
          <p:cNvSpPr/>
          <p:nvPr/>
        </p:nvSpPr>
        <p:spPr>
          <a:xfrm>
            <a:off x="640080" y="5806440"/>
            <a:ext cx="137160" cy="137160"/>
          </a:xfrm>
          <a:prstGeom prst="ellipse">
            <a:avLst/>
          </a:prstGeom>
          <a:solidFill>
            <a:srgbClr val="00C2A8"/>
          </a:solidFill>
          <a:ln/>
        </p:spPr>
        <p:txBody>
          <a:bodyPr/>
          <a:lstStyle/>
          <a:p>
            <a:endParaRPr lang="en-IN"/>
          </a:p>
        </p:txBody>
      </p:sp>
      <p:sp>
        <p:nvSpPr>
          <p:cNvPr id="7" name="Shape 5"/>
          <p:cNvSpPr/>
          <p:nvPr/>
        </p:nvSpPr>
        <p:spPr>
          <a:xfrm>
            <a:off x="880110" y="5806440"/>
            <a:ext cx="137160" cy="137160"/>
          </a:xfrm>
          <a:prstGeom prst="ellipse">
            <a:avLst/>
          </a:prstGeom>
          <a:solidFill>
            <a:srgbClr val="FF6B4A"/>
          </a:solidFill>
          <a:ln/>
        </p:spPr>
        <p:txBody>
          <a:bodyPr/>
          <a:lstStyle/>
          <a:p>
            <a:endParaRPr lang="en-IN"/>
          </a:p>
        </p:txBody>
      </p:sp>
      <p:sp>
        <p:nvSpPr>
          <p:cNvPr id="8" name="Shape 6"/>
          <p:cNvSpPr/>
          <p:nvPr/>
        </p:nvSpPr>
        <p:spPr>
          <a:xfrm>
            <a:off x="1120140" y="5806440"/>
            <a:ext cx="137160" cy="137160"/>
          </a:xfrm>
          <a:prstGeom prst="ellipse">
            <a:avLst/>
          </a:prstGeom>
          <a:solidFill>
            <a:srgbClr val="FFC24A"/>
          </a:solidFill>
          <a:ln/>
        </p:spPr>
        <p:txBody>
          <a:bodyPr/>
          <a:lstStyle/>
          <a:p>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524"/>
        </a:solidFill>
        <a:effectLst/>
      </p:bgPr>
    </p:bg>
    <p:spTree>
      <p:nvGrpSpPr>
        <p:cNvPr id="1" name=""/>
        <p:cNvGrpSpPr/>
        <p:nvPr/>
      </p:nvGrpSpPr>
      <p:grpSpPr>
        <a:xfrm>
          <a:off x="0" y="0"/>
          <a:ext cx="0" cy="0"/>
          <a:chOff x="0" y="0"/>
          <a:chExt cx="0" cy="0"/>
        </a:xfrm>
      </p:grpSpPr>
      <p:sp>
        <p:nvSpPr>
          <p:cNvPr id="2" name="Shape 0"/>
          <p:cNvSpPr/>
          <p:nvPr/>
        </p:nvSpPr>
        <p:spPr>
          <a:xfrm>
            <a:off x="640080" y="2331720"/>
            <a:ext cx="164592" cy="164592"/>
          </a:xfrm>
          <a:prstGeom prst="ellipse">
            <a:avLst/>
          </a:prstGeom>
          <a:solidFill>
            <a:srgbClr val="00C2A8"/>
          </a:solidFill>
          <a:ln/>
        </p:spPr>
        <p:txBody>
          <a:bodyPr/>
          <a:lstStyle/>
          <a:p>
            <a:endParaRPr lang="en-IN"/>
          </a:p>
        </p:txBody>
      </p:sp>
      <p:sp>
        <p:nvSpPr>
          <p:cNvPr id="3" name="Shape 1"/>
          <p:cNvSpPr/>
          <p:nvPr/>
        </p:nvSpPr>
        <p:spPr>
          <a:xfrm>
            <a:off x="928116" y="2331720"/>
            <a:ext cx="164592" cy="164592"/>
          </a:xfrm>
          <a:prstGeom prst="ellipse">
            <a:avLst/>
          </a:prstGeom>
          <a:solidFill>
            <a:srgbClr val="FF6B4A"/>
          </a:solidFill>
          <a:ln/>
        </p:spPr>
        <p:txBody>
          <a:bodyPr/>
          <a:lstStyle/>
          <a:p>
            <a:endParaRPr lang="en-IN"/>
          </a:p>
        </p:txBody>
      </p:sp>
      <p:sp>
        <p:nvSpPr>
          <p:cNvPr id="4" name="Shape 2"/>
          <p:cNvSpPr/>
          <p:nvPr/>
        </p:nvSpPr>
        <p:spPr>
          <a:xfrm>
            <a:off x="1216152" y="2331720"/>
            <a:ext cx="164592" cy="164592"/>
          </a:xfrm>
          <a:prstGeom prst="ellipse">
            <a:avLst/>
          </a:prstGeom>
          <a:solidFill>
            <a:srgbClr val="FFC24A"/>
          </a:solidFill>
          <a:ln/>
        </p:spPr>
        <p:txBody>
          <a:bodyPr/>
          <a:lstStyle/>
          <a:p>
            <a:endParaRPr lang="en-IN"/>
          </a:p>
        </p:txBody>
      </p:sp>
      <p:sp>
        <p:nvSpPr>
          <p:cNvPr id="5" name="Text 3"/>
          <p:cNvSpPr/>
          <p:nvPr/>
        </p:nvSpPr>
        <p:spPr>
          <a:xfrm>
            <a:off x="640080" y="2788920"/>
            <a:ext cx="5486400" cy="274320"/>
          </a:xfrm>
          <a:prstGeom prst="rect">
            <a:avLst/>
          </a:prstGeom>
          <a:noFill/>
          <a:ln/>
        </p:spPr>
        <p:txBody>
          <a:bodyPr wrap="square" lIns="0" tIns="0" rIns="0" bIns="0" rtlCol="0" anchor="ctr"/>
          <a:lstStyle/>
          <a:p>
            <a:pPr marL="0" indent="0">
              <a:buNone/>
            </a:pPr>
            <a:r>
              <a:rPr lang="en-US" sz="1300" b="1" kern="0" spc="300" dirty="0">
                <a:solidFill>
                  <a:srgbClr val="00C2A8"/>
                </a:solidFill>
                <a:latin typeface="Arial" pitchFamily="34" charset="0"/>
                <a:ea typeface="Arial" pitchFamily="34" charset="-122"/>
                <a:cs typeface="Arial" pitchFamily="34" charset="-120"/>
              </a:rPr>
              <a:t>PART THREE</a:t>
            </a:r>
            <a:endParaRPr lang="en-US" sz="1300" dirty="0"/>
          </a:p>
        </p:txBody>
      </p:sp>
      <p:sp>
        <p:nvSpPr>
          <p:cNvPr id="6" name="Text 4"/>
          <p:cNvSpPr/>
          <p:nvPr/>
        </p:nvSpPr>
        <p:spPr>
          <a:xfrm>
            <a:off x="640080" y="3127248"/>
            <a:ext cx="8229600" cy="914400"/>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Architecture</a:t>
            </a:r>
            <a:endParaRPr lang="en-US" sz="5200" dirty="0"/>
          </a:p>
        </p:txBody>
      </p:sp>
      <p:sp>
        <p:nvSpPr>
          <p:cNvPr id="7" name="Text 5"/>
          <p:cNvSpPr/>
          <p:nvPr/>
        </p:nvSpPr>
        <p:spPr>
          <a:xfrm>
            <a:off x="640080" y="4160520"/>
            <a:ext cx="8412480" cy="731520"/>
          </a:xfrm>
          <a:prstGeom prst="rect">
            <a:avLst/>
          </a:prstGeom>
          <a:noFill/>
          <a:ln/>
        </p:spPr>
        <p:txBody>
          <a:bodyPr wrap="square" lIns="0" tIns="0" rIns="0" bIns="0" rtlCol="0" anchor="ctr"/>
          <a:lstStyle/>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How one of these is actually assembled - drawn the way a solution architect</a:t>
            </a:r>
            <a:endParaRPr lang="en-US" sz="1600" dirty="0"/>
          </a:p>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would draw it, not the way a paper describes it.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 101"/>
          <p:cNvSpPr/>
          <p:nvPr/>
        </p:nvSpPr>
        <p:spPr>
          <a:xfrm>
            <a:off x="640080" y="384048"/>
            <a:ext cx="10908792" cy="237744"/>
          </a:xfrm>
          <a:prstGeom prst="rect">
            <a:avLst/>
          </a:prstGeom>
          <a:noFill/>
          <a:ln/>
        </p:spPr>
        <p:txBody>
          <a:bodyPr wrap="square" lIns="0" tIns="0" rIns="0" bIns="0" rtlCol="0" anchor="ctr"/>
          <a:lstStyle/>
          <a:p>
            <a:pPr marL="0" indent="0" algn="l">
              <a:buNone/>
            </a:pPr>
            <a:r>
              <a:rPr lang="en-US" sz="1100" b="1" kern="0" spc="200" dirty="0">
                <a:solidFill>
                  <a:srgbClr val="FF6B4A"/>
                </a:solidFill>
                <a:latin typeface="Arial" pitchFamily="34" charset="0"/>
                <a:ea typeface="Arial" pitchFamily="34" charset="-122"/>
                <a:cs typeface="Arial" pitchFamily="34" charset="-120"/>
              </a:rPr>
              <a:t>REFERENCE ARCHITECTURE</a:t>
            </a:r>
            <a:endParaRPr lang="en-US" sz="1100" dirty="0"/>
          </a:p>
        </p:txBody>
      </p:sp>
      <p:sp>
        <p:nvSpPr>
          <p:cNvPr id="102" name="Text 102"/>
          <p:cNvSpPr/>
          <p:nvPr/>
        </p:nvSpPr>
        <p:spPr>
          <a:xfrm>
            <a:off x="640080" y="658368"/>
            <a:ext cx="10908792" cy="658368"/>
          </a:xfrm>
          <a:prstGeom prst="rect">
            <a:avLst/>
          </a:prstGeom>
          <a:noFill/>
          <a:ln/>
        </p:spPr>
        <p:txBody>
          <a:bodyPr wrap="square" lIns="0" tIns="0" rIns="0" bIns="0" rtlCol="0" anchor="t"/>
          <a:lstStyle/>
          <a:p>
            <a:pPr marL="0" indent="0" algn="l">
              <a:buNone/>
            </a:pPr>
            <a:r>
              <a:rPr lang="en-US" sz="3400" b="1" dirty="0">
                <a:solidFill>
                  <a:srgbClr val="0E1524"/>
                </a:solidFill>
                <a:latin typeface="Arial" pitchFamily="34" charset="0"/>
                <a:ea typeface="Arial" pitchFamily="34" charset="-122"/>
                <a:cs typeface="Arial" pitchFamily="34" charset="-120"/>
              </a:rPr>
              <a:t>How you would actually build one</a:t>
            </a:r>
            <a:endParaRPr lang="en-US" sz="3400" dirty="0"/>
          </a:p>
        </p:txBody>
      </p:sp>
      <p:sp>
        <p:nvSpPr>
          <p:cNvPr id="103" name="Text 103"/>
          <p:cNvSpPr/>
          <p:nvPr/>
        </p:nvSpPr>
        <p:spPr>
          <a:xfrm>
            <a:off x="640080" y="1481328"/>
            <a:ext cx="10241280" cy="274320"/>
          </a:xfrm>
          <a:prstGeom prst="rect">
            <a:avLst/>
          </a:prstGeom>
          <a:noFill/>
          <a:ln/>
        </p:spPr>
        <p:txBody>
          <a:bodyPr wrap="square" lIns="0" tIns="0" rIns="0" bIns="0" rtlCol="0" anchor="ctr"/>
          <a:lstStyle/>
          <a:p>
            <a:pPr marL="0" indent="0" algn="l">
              <a:buNone/>
            </a:pPr>
            <a:r>
              <a:rPr lang="en-US" sz="1400" dirty="0">
                <a:solidFill>
                  <a:srgbClr val="6B7689"/>
                </a:solidFill>
                <a:latin typeface="Calibri" pitchFamily="34" charset="0"/>
                <a:ea typeface="Calibri" pitchFamily="34" charset="-122"/>
                <a:cs typeface="Calibri" pitchFamily="34" charset="-120"/>
              </a:rPr>
              <a:t>Five stages and two cross-cutting concerns. Every multimodal system in production looks like this.</a:t>
            </a:r>
            <a:endParaRPr lang="en-US" sz="1400" dirty="0"/>
          </a:p>
        </p:txBody>
      </p:sp>
      <p:sp>
        <p:nvSpPr>
          <p:cNvPr id="104" name="Shape 104"/>
          <p:cNvSpPr/>
          <p:nvPr/>
        </p:nvSpPr>
        <p:spPr>
          <a:xfrm>
            <a:off x="640080" y="1880000"/>
            <a:ext cx="1874520" cy="1950000"/>
          </a:xfrm>
          <a:prstGeom prst="roundRect">
            <a:avLst>
              <a:gd name="adj" fmla="val 10526"/>
            </a:avLst>
          </a:prstGeom>
          <a:solidFill>
            <a:srgbClr val="F4F6FA"/>
          </a:solidFill>
          <a:ln/>
        </p:spPr>
        <p:txBody>
          <a:bodyPr/>
          <a:lstStyle/>
          <a:p>
            <a:endParaRPr/>
          </a:p>
        </p:txBody>
      </p:sp>
      <p:sp>
        <p:nvSpPr>
          <p:cNvPr id="105" name="Shape 105"/>
          <p:cNvSpPr/>
          <p:nvPr/>
        </p:nvSpPr>
        <p:spPr>
          <a:xfrm>
            <a:off x="868680" y="2085740"/>
            <a:ext cx="320040" cy="320040"/>
          </a:xfrm>
          <a:prstGeom prst="ellipse">
            <a:avLst/>
          </a:prstGeom>
          <a:solidFill>
            <a:srgbClr val="6B7689"/>
          </a:solidFill>
          <a:ln/>
        </p:spPr>
        <p:txBody>
          <a:bodyPr/>
          <a:lstStyle/>
          <a:p>
            <a:endParaRPr/>
          </a:p>
        </p:txBody>
      </p:sp>
      <p:sp>
        <p:nvSpPr>
          <p:cNvPr id="106" name="Text 106"/>
          <p:cNvSpPr/>
          <p:nvPr/>
        </p:nvSpPr>
        <p:spPr>
          <a:xfrm>
            <a:off x="868680" y="208574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7" name="Text 107"/>
          <p:cNvSpPr/>
          <p:nvPr/>
        </p:nvSpPr>
        <p:spPr>
          <a:xfrm>
            <a:off x="868680" y="2542940"/>
            <a:ext cx="1417320" cy="274320"/>
          </a:xfrm>
          <a:prstGeom prst="rect">
            <a:avLst/>
          </a:prstGeom>
          <a:noFill/>
          <a:ln/>
        </p:spPr>
        <p:txBody>
          <a:bodyPr wrap="square" lIns="0" tIns="0" rIns="0" bIns="0" rtlCol="0" anchor="ctr"/>
          <a:lstStyle/>
          <a:p>
            <a:pPr marL="0" indent="0" algn="l">
              <a:buNone/>
            </a:pPr>
            <a:r>
              <a:rPr lang="en-US" sz="1250" b="1" dirty="0">
                <a:solidFill>
                  <a:srgbClr val="0E1524"/>
                </a:solidFill>
                <a:latin typeface="Arial" pitchFamily="34" charset="0"/>
                <a:ea typeface="Arial" pitchFamily="34" charset="-122"/>
                <a:cs typeface="Arial" pitchFamily="34" charset="-120"/>
              </a:rPr>
              <a:t>INGEST</a:t>
            </a:r>
            <a:endParaRPr lang="en-US" sz="1250" dirty="0"/>
          </a:p>
        </p:txBody>
      </p:sp>
      <p:sp>
        <p:nvSpPr>
          <p:cNvPr id="108" name="Text 108"/>
          <p:cNvSpPr/>
          <p:nvPr/>
        </p:nvSpPr>
        <p:spPr>
          <a:xfrm>
            <a:off x="868680" y="2885840"/>
            <a:ext cx="1417320" cy="1005840"/>
          </a:xfrm>
          <a:prstGeom prst="rect">
            <a:avLst/>
          </a:prstGeom>
          <a:noFill/>
          <a:ln/>
        </p:spPr>
        <p:txBody>
          <a:bodyPr wrap="square" lIns="0" tIns="0" rIns="0" bIns="0" rtlCol="0" anchor="t"/>
          <a:lstStyle/>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Photo, video, audio, tables</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Normalise and chunk</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Keep the raw file</a:t>
            </a:r>
            <a:endParaRPr lang="en-US" sz="950" dirty="0"/>
          </a:p>
        </p:txBody>
      </p:sp>
      <p:sp>
        <p:nvSpPr>
          <p:cNvPr id="109" name="Shape 109"/>
          <p:cNvSpPr/>
          <p:nvPr/>
        </p:nvSpPr>
        <p:spPr>
          <a:xfrm>
            <a:off x="2615184" y="2911420"/>
            <a:ext cx="182880" cy="137160"/>
          </a:xfrm>
          <a:prstGeom prst="rightArrow">
            <a:avLst/>
          </a:prstGeom>
          <a:solidFill>
            <a:srgbClr val="C4CCDA"/>
          </a:solidFill>
          <a:ln/>
        </p:spPr>
        <p:txBody>
          <a:bodyPr/>
          <a:lstStyle/>
          <a:p>
            <a:endParaRPr/>
          </a:p>
        </p:txBody>
      </p:sp>
      <p:sp>
        <p:nvSpPr>
          <p:cNvPr id="110" name="Shape 110"/>
          <p:cNvSpPr/>
          <p:nvPr/>
        </p:nvSpPr>
        <p:spPr>
          <a:xfrm>
            <a:off x="2898648" y="1880000"/>
            <a:ext cx="1874520" cy="1950000"/>
          </a:xfrm>
          <a:prstGeom prst="roundRect">
            <a:avLst>
              <a:gd name="adj" fmla="val 10526"/>
            </a:avLst>
          </a:prstGeom>
          <a:solidFill>
            <a:srgbClr val="F4F6FA"/>
          </a:solidFill>
          <a:ln/>
        </p:spPr>
        <p:txBody>
          <a:bodyPr/>
          <a:lstStyle/>
          <a:p>
            <a:endParaRPr/>
          </a:p>
        </p:txBody>
      </p:sp>
      <p:sp>
        <p:nvSpPr>
          <p:cNvPr id="111" name="Shape 111"/>
          <p:cNvSpPr/>
          <p:nvPr/>
        </p:nvSpPr>
        <p:spPr>
          <a:xfrm>
            <a:off x="3127248" y="2085740"/>
            <a:ext cx="320040" cy="320040"/>
          </a:xfrm>
          <a:prstGeom prst="ellipse">
            <a:avLst/>
          </a:prstGeom>
          <a:solidFill>
            <a:srgbClr val="6B7689"/>
          </a:solidFill>
          <a:ln/>
        </p:spPr>
        <p:txBody>
          <a:bodyPr/>
          <a:lstStyle/>
          <a:p>
            <a:endParaRPr/>
          </a:p>
        </p:txBody>
      </p:sp>
      <p:sp>
        <p:nvSpPr>
          <p:cNvPr id="112" name="Text 112"/>
          <p:cNvSpPr/>
          <p:nvPr/>
        </p:nvSpPr>
        <p:spPr>
          <a:xfrm>
            <a:off x="3127248" y="208574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3" name="Text 113"/>
          <p:cNvSpPr/>
          <p:nvPr/>
        </p:nvSpPr>
        <p:spPr>
          <a:xfrm>
            <a:off x="3127248" y="2542940"/>
            <a:ext cx="1417320" cy="274320"/>
          </a:xfrm>
          <a:prstGeom prst="rect">
            <a:avLst/>
          </a:prstGeom>
          <a:noFill/>
          <a:ln/>
        </p:spPr>
        <p:txBody>
          <a:bodyPr wrap="square" lIns="0" tIns="0" rIns="0" bIns="0" rtlCol="0" anchor="ctr"/>
          <a:lstStyle/>
          <a:p>
            <a:pPr marL="0" indent="0" algn="l">
              <a:buNone/>
            </a:pPr>
            <a:r>
              <a:rPr lang="en-US" sz="1250" b="1" dirty="0">
                <a:solidFill>
                  <a:srgbClr val="0E1524"/>
                </a:solidFill>
                <a:latin typeface="Arial" pitchFamily="34" charset="0"/>
                <a:ea typeface="Arial" pitchFamily="34" charset="-122"/>
                <a:cs typeface="Arial" pitchFamily="34" charset="-120"/>
              </a:rPr>
              <a:t>ENCODE</a:t>
            </a:r>
            <a:endParaRPr lang="en-US" sz="1250" dirty="0"/>
          </a:p>
        </p:txBody>
      </p:sp>
      <p:sp>
        <p:nvSpPr>
          <p:cNvPr id="114" name="Text 114"/>
          <p:cNvSpPr/>
          <p:nvPr/>
        </p:nvSpPr>
        <p:spPr>
          <a:xfrm>
            <a:off x="3127248" y="2885840"/>
            <a:ext cx="1417320" cy="1005840"/>
          </a:xfrm>
          <a:prstGeom prst="rect">
            <a:avLst/>
          </a:prstGeom>
          <a:noFill/>
          <a:ln/>
        </p:spPr>
        <p:txBody>
          <a:bodyPr wrap="square" lIns="0" tIns="0" rIns="0" bIns="0" rtlCol="0" anchor="t"/>
          <a:lstStyle/>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Image to patches</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Audio to spectrogram</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Text to tokens</a:t>
            </a:r>
            <a:endParaRPr lang="en-US" sz="950" dirty="0"/>
          </a:p>
        </p:txBody>
      </p:sp>
      <p:sp>
        <p:nvSpPr>
          <p:cNvPr id="115" name="Shape 115"/>
          <p:cNvSpPr/>
          <p:nvPr/>
        </p:nvSpPr>
        <p:spPr>
          <a:xfrm>
            <a:off x="4873752" y="2911420"/>
            <a:ext cx="182880" cy="137160"/>
          </a:xfrm>
          <a:prstGeom prst="rightArrow">
            <a:avLst/>
          </a:prstGeom>
          <a:solidFill>
            <a:srgbClr val="C4CCDA"/>
          </a:solidFill>
          <a:ln/>
        </p:spPr>
        <p:txBody>
          <a:bodyPr/>
          <a:lstStyle/>
          <a:p>
            <a:endParaRPr/>
          </a:p>
        </p:txBody>
      </p:sp>
      <p:sp>
        <p:nvSpPr>
          <p:cNvPr id="116" name="Shape 116"/>
          <p:cNvSpPr/>
          <p:nvPr/>
        </p:nvSpPr>
        <p:spPr>
          <a:xfrm>
            <a:off x="5157216" y="1880000"/>
            <a:ext cx="1874520" cy="1950000"/>
          </a:xfrm>
          <a:prstGeom prst="roundRect">
            <a:avLst>
              <a:gd name="adj" fmla="val 10526"/>
            </a:avLst>
          </a:prstGeom>
          <a:solidFill>
            <a:srgbClr val="F4F6FA"/>
          </a:solidFill>
          <a:ln/>
        </p:spPr>
        <p:txBody>
          <a:bodyPr/>
          <a:lstStyle/>
          <a:p>
            <a:endParaRPr/>
          </a:p>
        </p:txBody>
      </p:sp>
      <p:sp>
        <p:nvSpPr>
          <p:cNvPr id="117" name="Shape 117"/>
          <p:cNvSpPr/>
          <p:nvPr/>
        </p:nvSpPr>
        <p:spPr>
          <a:xfrm>
            <a:off x="5385816" y="2085740"/>
            <a:ext cx="320040" cy="320040"/>
          </a:xfrm>
          <a:prstGeom prst="ellipse">
            <a:avLst/>
          </a:prstGeom>
          <a:solidFill>
            <a:srgbClr val="FF6B4A"/>
          </a:solidFill>
          <a:ln/>
        </p:spPr>
        <p:txBody>
          <a:bodyPr/>
          <a:lstStyle/>
          <a:p>
            <a:endParaRPr/>
          </a:p>
        </p:txBody>
      </p:sp>
      <p:sp>
        <p:nvSpPr>
          <p:cNvPr id="118" name="Text 118"/>
          <p:cNvSpPr/>
          <p:nvPr/>
        </p:nvSpPr>
        <p:spPr>
          <a:xfrm>
            <a:off x="5385816" y="208574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19" name="Text 119"/>
          <p:cNvSpPr/>
          <p:nvPr/>
        </p:nvSpPr>
        <p:spPr>
          <a:xfrm>
            <a:off x="5385816" y="2542940"/>
            <a:ext cx="1417320" cy="274320"/>
          </a:xfrm>
          <a:prstGeom prst="rect">
            <a:avLst/>
          </a:prstGeom>
          <a:noFill/>
          <a:ln/>
        </p:spPr>
        <p:txBody>
          <a:bodyPr wrap="square" lIns="0" tIns="0" rIns="0" bIns="0" rtlCol="0" anchor="ctr"/>
          <a:lstStyle/>
          <a:p>
            <a:pPr marL="0" indent="0" algn="l">
              <a:buNone/>
            </a:pPr>
            <a:r>
              <a:rPr lang="en-US" sz="1250" b="1" dirty="0">
                <a:solidFill>
                  <a:srgbClr val="FF6B4A"/>
                </a:solidFill>
                <a:latin typeface="Arial" pitchFamily="34" charset="0"/>
                <a:ea typeface="Arial" pitchFamily="34" charset="-122"/>
                <a:cs typeface="Arial" pitchFamily="34" charset="-120"/>
              </a:rPr>
              <a:t>REASON</a:t>
            </a:r>
            <a:endParaRPr lang="en-US" sz="1250" dirty="0"/>
          </a:p>
        </p:txBody>
      </p:sp>
      <p:sp>
        <p:nvSpPr>
          <p:cNvPr id="120" name="Text 120"/>
          <p:cNvSpPr/>
          <p:nvPr/>
        </p:nvSpPr>
        <p:spPr>
          <a:xfrm>
            <a:off x="5385816" y="2885840"/>
            <a:ext cx="1417320" cy="1005840"/>
          </a:xfrm>
          <a:prstGeom prst="rect">
            <a:avLst/>
          </a:prstGeom>
          <a:noFill/>
          <a:ln/>
        </p:spPr>
        <p:txBody>
          <a:bodyPr wrap="square" lIns="0" tIns="0" rIns="0" bIns="0" rtlCol="0" anchor="t"/>
          <a:lstStyle/>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One prompt, all modalities</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Vision-language model</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Fusion happens here</a:t>
            </a:r>
            <a:endParaRPr lang="en-US" sz="950" dirty="0"/>
          </a:p>
        </p:txBody>
      </p:sp>
      <p:sp>
        <p:nvSpPr>
          <p:cNvPr id="121" name="Shape 121"/>
          <p:cNvSpPr/>
          <p:nvPr/>
        </p:nvSpPr>
        <p:spPr>
          <a:xfrm>
            <a:off x="7132320" y="2911420"/>
            <a:ext cx="182880" cy="137160"/>
          </a:xfrm>
          <a:prstGeom prst="rightArrow">
            <a:avLst/>
          </a:prstGeom>
          <a:solidFill>
            <a:srgbClr val="C4CCDA"/>
          </a:solidFill>
          <a:ln/>
        </p:spPr>
        <p:txBody>
          <a:bodyPr/>
          <a:lstStyle/>
          <a:p>
            <a:endParaRPr/>
          </a:p>
        </p:txBody>
      </p:sp>
      <p:sp>
        <p:nvSpPr>
          <p:cNvPr id="122" name="Shape 122"/>
          <p:cNvSpPr/>
          <p:nvPr/>
        </p:nvSpPr>
        <p:spPr>
          <a:xfrm>
            <a:off x="7415784" y="1880000"/>
            <a:ext cx="1874520" cy="1950000"/>
          </a:xfrm>
          <a:prstGeom prst="roundRect">
            <a:avLst>
              <a:gd name="adj" fmla="val 10526"/>
            </a:avLst>
          </a:prstGeom>
          <a:solidFill>
            <a:srgbClr val="F4F6FA"/>
          </a:solidFill>
          <a:ln/>
        </p:spPr>
        <p:txBody>
          <a:bodyPr/>
          <a:lstStyle/>
          <a:p>
            <a:endParaRPr/>
          </a:p>
        </p:txBody>
      </p:sp>
      <p:sp>
        <p:nvSpPr>
          <p:cNvPr id="123" name="Shape 123"/>
          <p:cNvSpPr/>
          <p:nvPr/>
        </p:nvSpPr>
        <p:spPr>
          <a:xfrm>
            <a:off x="7644384" y="2085740"/>
            <a:ext cx="320040" cy="320040"/>
          </a:xfrm>
          <a:prstGeom prst="ellipse">
            <a:avLst/>
          </a:prstGeom>
          <a:solidFill>
            <a:srgbClr val="6B7689"/>
          </a:solidFill>
          <a:ln/>
        </p:spPr>
        <p:txBody>
          <a:bodyPr/>
          <a:lstStyle/>
          <a:p>
            <a:endParaRPr/>
          </a:p>
        </p:txBody>
      </p:sp>
      <p:sp>
        <p:nvSpPr>
          <p:cNvPr id="124" name="Text 124"/>
          <p:cNvSpPr/>
          <p:nvPr/>
        </p:nvSpPr>
        <p:spPr>
          <a:xfrm>
            <a:off x="7644384" y="208574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25" name="Text 125"/>
          <p:cNvSpPr/>
          <p:nvPr/>
        </p:nvSpPr>
        <p:spPr>
          <a:xfrm>
            <a:off x="7644384" y="2542940"/>
            <a:ext cx="1417320" cy="274320"/>
          </a:xfrm>
          <a:prstGeom prst="rect">
            <a:avLst/>
          </a:prstGeom>
          <a:noFill/>
          <a:ln/>
        </p:spPr>
        <p:txBody>
          <a:bodyPr wrap="square" lIns="0" tIns="0" rIns="0" bIns="0" rtlCol="0" anchor="ctr"/>
          <a:lstStyle/>
          <a:p>
            <a:pPr marL="0" indent="0" algn="l">
              <a:buNone/>
            </a:pPr>
            <a:r>
              <a:rPr lang="en-US" sz="1250" b="1" dirty="0">
                <a:solidFill>
                  <a:srgbClr val="0E1524"/>
                </a:solidFill>
                <a:latin typeface="Arial" pitchFamily="34" charset="0"/>
                <a:ea typeface="Arial" pitchFamily="34" charset="-122"/>
                <a:cs typeface="Arial" pitchFamily="34" charset="-120"/>
              </a:rPr>
              <a:t>STRUCTURE</a:t>
            </a:r>
            <a:endParaRPr lang="en-US" sz="1250" dirty="0"/>
          </a:p>
        </p:txBody>
      </p:sp>
      <p:sp>
        <p:nvSpPr>
          <p:cNvPr id="126" name="Text 126"/>
          <p:cNvSpPr/>
          <p:nvPr/>
        </p:nvSpPr>
        <p:spPr>
          <a:xfrm>
            <a:off x="7644384" y="2885840"/>
            <a:ext cx="1417320" cy="1005840"/>
          </a:xfrm>
          <a:prstGeom prst="rect">
            <a:avLst/>
          </a:prstGeom>
          <a:noFill/>
          <a:ln/>
        </p:spPr>
        <p:txBody>
          <a:bodyPr wrap="square" lIns="0" tIns="0" rIns="0" bIns="0" rtlCol="0" anchor="t"/>
          <a:lstStyle/>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JSON schema per request</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Parse and validate</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Confidence per field</a:t>
            </a:r>
            <a:endParaRPr lang="en-US" sz="950" dirty="0"/>
          </a:p>
        </p:txBody>
      </p:sp>
      <p:sp>
        <p:nvSpPr>
          <p:cNvPr id="127" name="Shape 127"/>
          <p:cNvSpPr/>
          <p:nvPr/>
        </p:nvSpPr>
        <p:spPr>
          <a:xfrm>
            <a:off x="9390888" y="2911420"/>
            <a:ext cx="182880" cy="137160"/>
          </a:xfrm>
          <a:prstGeom prst="rightArrow">
            <a:avLst/>
          </a:prstGeom>
          <a:solidFill>
            <a:srgbClr val="C4CCDA"/>
          </a:solidFill>
          <a:ln/>
        </p:spPr>
        <p:txBody>
          <a:bodyPr/>
          <a:lstStyle/>
          <a:p>
            <a:endParaRPr/>
          </a:p>
        </p:txBody>
      </p:sp>
      <p:sp>
        <p:nvSpPr>
          <p:cNvPr id="128" name="Shape 128"/>
          <p:cNvSpPr/>
          <p:nvPr/>
        </p:nvSpPr>
        <p:spPr>
          <a:xfrm>
            <a:off x="9674352" y="1880000"/>
            <a:ext cx="1874520" cy="1950000"/>
          </a:xfrm>
          <a:prstGeom prst="roundRect">
            <a:avLst>
              <a:gd name="adj" fmla="val 10526"/>
            </a:avLst>
          </a:prstGeom>
          <a:solidFill>
            <a:srgbClr val="F4F6FA"/>
          </a:solidFill>
          <a:ln/>
        </p:spPr>
        <p:txBody>
          <a:bodyPr/>
          <a:lstStyle/>
          <a:p>
            <a:endParaRPr/>
          </a:p>
        </p:txBody>
      </p:sp>
      <p:sp>
        <p:nvSpPr>
          <p:cNvPr id="129" name="Shape 129"/>
          <p:cNvSpPr/>
          <p:nvPr/>
        </p:nvSpPr>
        <p:spPr>
          <a:xfrm>
            <a:off x="9902952" y="2085740"/>
            <a:ext cx="320040" cy="320040"/>
          </a:xfrm>
          <a:prstGeom prst="ellipse">
            <a:avLst/>
          </a:prstGeom>
          <a:solidFill>
            <a:srgbClr val="6B7689"/>
          </a:solidFill>
          <a:ln/>
        </p:spPr>
        <p:txBody>
          <a:bodyPr/>
          <a:lstStyle/>
          <a:p>
            <a:endParaRPr/>
          </a:p>
        </p:txBody>
      </p:sp>
      <p:sp>
        <p:nvSpPr>
          <p:cNvPr id="130" name="Text 130"/>
          <p:cNvSpPr/>
          <p:nvPr/>
        </p:nvSpPr>
        <p:spPr>
          <a:xfrm>
            <a:off x="9902952" y="208574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31" name="Text 131"/>
          <p:cNvSpPr/>
          <p:nvPr/>
        </p:nvSpPr>
        <p:spPr>
          <a:xfrm>
            <a:off x="9902952" y="2542940"/>
            <a:ext cx="1417320" cy="274320"/>
          </a:xfrm>
          <a:prstGeom prst="rect">
            <a:avLst/>
          </a:prstGeom>
          <a:noFill/>
          <a:ln/>
        </p:spPr>
        <p:txBody>
          <a:bodyPr wrap="square" lIns="0" tIns="0" rIns="0" bIns="0" rtlCol="0" anchor="ctr"/>
          <a:lstStyle/>
          <a:p>
            <a:pPr marL="0" indent="0" algn="l">
              <a:buNone/>
            </a:pPr>
            <a:r>
              <a:rPr lang="en-US" sz="1250" b="1" dirty="0">
                <a:solidFill>
                  <a:srgbClr val="0E1524"/>
                </a:solidFill>
                <a:latin typeface="Arial" pitchFamily="34" charset="0"/>
                <a:ea typeface="Arial" pitchFamily="34" charset="-122"/>
                <a:cs typeface="Arial" pitchFamily="34" charset="-120"/>
              </a:rPr>
              <a:t>VERIFY</a:t>
            </a:r>
            <a:endParaRPr lang="en-US" sz="1250" dirty="0"/>
          </a:p>
        </p:txBody>
      </p:sp>
      <p:sp>
        <p:nvSpPr>
          <p:cNvPr id="132" name="Text 132"/>
          <p:cNvSpPr/>
          <p:nvPr/>
        </p:nvSpPr>
        <p:spPr>
          <a:xfrm>
            <a:off x="9902952" y="2885840"/>
            <a:ext cx="1417320" cy="1005840"/>
          </a:xfrm>
          <a:prstGeom prst="rect">
            <a:avLst/>
          </a:prstGeom>
          <a:noFill/>
          <a:ln/>
        </p:spPr>
        <p:txBody>
          <a:bodyPr wrap="square" lIns="0" tIns="0" rIns="0" bIns="0" rtlCol="0" anchor="t"/>
          <a:lstStyle/>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Thresholds and rules</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Human review queue</a:t>
            </a:r>
            <a:endParaRPr lang="en-US" sz="950" dirty="0"/>
          </a:p>
          <a:p>
            <a:pPr marL="0" indent="0" algn="l">
              <a:spcAft>
                <a:spcPts val="600"/>
              </a:spcAft>
              <a:buNone/>
            </a:pPr>
            <a:r>
              <a:rPr lang="en-US" sz="950" dirty="0">
                <a:solidFill>
                  <a:srgbClr val="6B7689"/>
                </a:solidFill>
                <a:latin typeface="Calibri" pitchFamily="34" charset="0"/>
                <a:ea typeface="Calibri" pitchFamily="34" charset="-122"/>
                <a:cs typeface="Calibri" pitchFamily="34" charset="-120"/>
              </a:rPr>
              <a:t>Log every case</a:t>
            </a:r>
            <a:endParaRPr lang="en-US" sz="950" dirty="0"/>
          </a:p>
        </p:txBody>
      </p:sp>
      <p:sp>
        <p:nvSpPr>
          <p:cNvPr id="133" name="Shape 133"/>
          <p:cNvSpPr/>
          <p:nvPr/>
        </p:nvSpPr>
        <p:spPr>
          <a:xfrm>
            <a:off x="640080" y="4380000"/>
            <a:ext cx="10908792" cy="838200"/>
          </a:xfrm>
          <a:prstGeom prst="roundRect">
            <a:avLst>
              <a:gd name="adj" fmla="val 10526"/>
            </a:avLst>
          </a:prstGeom>
          <a:solidFill>
            <a:srgbClr val="0E1524"/>
          </a:solidFill>
          <a:ln/>
        </p:spPr>
        <p:txBody>
          <a:bodyPr/>
          <a:lstStyle/>
          <a:p>
            <a:endParaRPr/>
          </a:p>
        </p:txBody>
      </p:sp>
      <p:sp>
        <p:nvSpPr>
          <p:cNvPr id="134" name="Text 134"/>
          <p:cNvSpPr/>
          <p:nvPr/>
        </p:nvSpPr>
        <p:spPr>
          <a:xfrm>
            <a:off x="914400" y="4517160"/>
            <a:ext cx="3200400" cy="210000"/>
          </a:xfrm>
          <a:prstGeom prst="rect">
            <a:avLst/>
          </a:prstGeom>
          <a:noFill/>
          <a:ln/>
        </p:spPr>
        <p:txBody>
          <a:bodyPr wrap="square" lIns="0" tIns="0" rIns="0" bIns="0" rtlCol="0" anchor="ctr"/>
          <a:lstStyle/>
          <a:p>
            <a:pPr marL="0" indent="0" algn="l">
              <a:buNone/>
            </a:pPr>
            <a:r>
              <a:rPr lang="en-US" sz="950" b="1" kern="0" spc="200" dirty="0">
                <a:solidFill>
                  <a:srgbClr val="00C2A8"/>
                </a:solidFill>
                <a:latin typeface="Arial" pitchFamily="34" charset="0"/>
                <a:ea typeface="Arial" pitchFamily="34" charset="-122"/>
                <a:cs typeface="Arial" pitchFamily="34" charset="-120"/>
              </a:rPr>
              <a:t>ACROSS ALL FIVE STAGES</a:t>
            </a:r>
            <a:endParaRPr lang="en-US" sz="950" dirty="0"/>
          </a:p>
        </p:txBody>
      </p:sp>
      <p:sp>
        <p:nvSpPr>
          <p:cNvPr id="135" name="Text 135"/>
          <p:cNvSpPr/>
          <p:nvPr/>
        </p:nvSpPr>
        <p:spPr>
          <a:xfrm>
            <a:off x="914400" y="4791480"/>
            <a:ext cx="2407158" cy="210000"/>
          </a:xfrm>
          <a:prstGeom prst="rect">
            <a:avLst/>
          </a:prstGeom>
          <a:noFill/>
          <a:ln/>
        </p:spPr>
        <p:txBody>
          <a:bodyPr wrap="square" lIns="0" tIns="0" rIns="0" bIns="0" rtlCol="0" anchor="ctr"/>
          <a:lstStyle/>
          <a:p>
            <a:pPr marL="0" indent="0" algn="l">
              <a:buNone/>
            </a:pPr>
            <a:r>
              <a:rPr lang="en-US" sz="1050" b="1" dirty="0">
                <a:solidFill>
                  <a:srgbClr val="FFFFFF"/>
                </a:solidFill>
                <a:latin typeface="Arial" pitchFamily="34" charset="0"/>
                <a:ea typeface="Arial" pitchFamily="34" charset="-122"/>
                <a:cs typeface="Arial" pitchFamily="34" charset="-120"/>
              </a:rPr>
              <a:t>Evaluation set</a:t>
            </a:r>
            <a:endParaRPr lang="en-US" sz="1050" dirty="0"/>
          </a:p>
        </p:txBody>
      </p:sp>
      <p:sp>
        <p:nvSpPr>
          <p:cNvPr id="136" name="Text 136"/>
          <p:cNvSpPr/>
          <p:nvPr/>
        </p:nvSpPr>
        <p:spPr>
          <a:xfrm>
            <a:off x="914400" y="4997220"/>
            <a:ext cx="2407158" cy="182880"/>
          </a:xfrm>
          <a:prstGeom prst="rect">
            <a:avLst/>
          </a:prstGeom>
          <a:noFill/>
          <a:ln/>
        </p:spPr>
        <p:txBody>
          <a:bodyPr wrap="square" lIns="0" tIns="0" rIns="0" bIns="0" rtlCol="0" anchor="ctr"/>
          <a:lstStyle/>
          <a:p>
            <a:pPr marL="0" indent="0" algn="l">
              <a:buNone/>
            </a:pPr>
            <a:r>
              <a:rPr lang="en-US" sz="900" dirty="0">
                <a:solidFill>
                  <a:srgbClr val="A8B2C4"/>
                </a:solidFill>
                <a:latin typeface="Calibri" pitchFamily="34" charset="0"/>
                <a:ea typeface="Calibri" pitchFamily="34" charset="-122"/>
                <a:cs typeface="Calibri" pitchFamily="34" charset="-120"/>
              </a:rPr>
              <a:t>Built before the system, not after</a:t>
            </a:r>
            <a:endParaRPr lang="en-US" sz="900" dirty="0"/>
          </a:p>
        </p:txBody>
      </p:sp>
      <p:sp>
        <p:nvSpPr>
          <p:cNvPr id="137" name="Text 137"/>
          <p:cNvSpPr/>
          <p:nvPr/>
        </p:nvSpPr>
        <p:spPr>
          <a:xfrm>
            <a:off x="3504438" y="4791480"/>
            <a:ext cx="2407158" cy="210000"/>
          </a:xfrm>
          <a:prstGeom prst="rect">
            <a:avLst/>
          </a:prstGeom>
          <a:noFill/>
          <a:ln/>
        </p:spPr>
        <p:txBody>
          <a:bodyPr wrap="square" lIns="0" tIns="0" rIns="0" bIns="0" rtlCol="0" anchor="ctr"/>
          <a:lstStyle/>
          <a:p>
            <a:pPr marL="0" indent="0" algn="l">
              <a:buNone/>
            </a:pPr>
            <a:r>
              <a:rPr lang="en-US" sz="1050" b="1" dirty="0">
                <a:solidFill>
                  <a:srgbClr val="FFFFFF"/>
                </a:solidFill>
                <a:latin typeface="Arial" pitchFamily="34" charset="0"/>
                <a:ea typeface="Arial" pitchFamily="34" charset="-122"/>
                <a:cs typeface="Arial" pitchFamily="34" charset="-120"/>
              </a:rPr>
              <a:t>Cost and latency budget</a:t>
            </a:r>
            <a:endParaRPr lang="en-US" sz="1050" dirty="0"/>
          </a:p>
        </p:txBody>
      </p:sp>
      <p:sp>
        <p:nvSpPr>
          <p:cNvPr id="138" name="Text 138"/>
          <p:cNvSpPr/>
          <p:nvPr/>
        </p:nvSpPr>
        <p:spPr>
          <a:xfrm>
            <a:off x="3504438" y="4997220"/>
            <a:ext cx="2407158" cy="182880"/>
          </a:xfrm>
          <a:prstGeom prst="rect">
            <a:avLst/>
          </a:prstGeom>
          <a:noFill/>
          <a:ln/>
        </p:spPr>
        <p:txBody>
          <a:bodyPr wrap="square" lIns="0" tIns="0" rIns="0" bIns="0" rtlCol="0" anchor="ctr"/>
          <a:lstStyle/>
          <a:p>
            <a:pPr marL="0" indent="0" algn="l">
              <a:buNone/>
            </a:pPr>
            <a:r>
              <a:rPr lang="en-US" sz="900" dirty="0">
                <a:solidFill>
                  <a:srgbClr val="A8B2C4"/>
                </a:solidFill>
                <a:latin typeface="Calibri" pitchFamily="34" charset="0"/>
                <a:ea typeface="Calibri" pitchFamily="34" charset="-122"/>
                <a:cs typeface="Calibri" pitchFamily="34" charset="-120"/>
              </a:rPr>
              <a:t>An image can cost 1,000 words per call</a:t>
            </a:r>
            <a:endParaRPr lang="en-US" sz="900" dirty="0"/>
          </a:p>
        </p:txBody>
      </p:sp>
      <p:sp>
        <p:nvSpPr>
          <p:cNvPr id="139" name="Text 139"/>
          <p:cNvSpPr/>
          <p:nvPr/>
        </p:nvSpPr>
        <p:spPr>
          <a:xfrm>
            <a:off x="6094476" y="4791480"/>
            <a:ext cx="2407158" cy="210000"/>
          </a:xfrm>
          <a:prstGeom prst="rect">
            <a:avLst/>
          </a:prstGeom>
          <a:noFill/>
          <a:ln/>
        </p:spPr>
        <p:txBody>
          <a:bodyPr wrap="square" lIns="0" tIns="0" rIns="0" bIns="0" rtlCol="0" anchor="ctr"/>
          <a:lstStyle/>
          <a:p>
            <a:pPr marL="0" indent="0" algn="l">
              <a:buNone/>
            </a:pPr>
            <a:r>
              <a:rPr lang="en-US" sz="1050" b="1" dirty="0">
                <a:solidFill>
                  <a:srgbClr val="FFFFFF"/>
                </a:solidFill>
                <a:latin typeface="Arial" pitchFamily="34" charset="0"/>
                <a:ea typeface="Arial" pitchFamily="34" charset="-122"/>
                <a:cs typeface="Arial" pitchFamily="34" charset="-120"/>
              </a:rPr>
              <a:t>Data governance</a:t>
            </a:r>
            <a:endParaRPr lang="en-US" sz="1050" dirty="0"/>
          </a:p>
        </p:txBody>
      </p:sp>
      <p:sp>
        <p:nvSpPr>
          <p:cNvPr id="140" name="Text 140"/>
          <p:cNvSpPr/>
          <p:nvPr/>
        </p:nvSpPr>
        <p:spPr>
          <a:xfrm>
            <a:off x="6094476" y="4997220"/>
            <a:ext cx="2407158" cy="182880"/>
          </a:xfrm>
          <a:prstGeom prst="rect">
            <a:avLst/>
          </a:prstGeom>
          <a:noFill/>
          <a:ln/>
        </p:spPr>
        <p:txBody>
          <a:bodyPr wrap="square" lIns="0" tIns="0" rIns="0" bIns="0" rtlCol="0" anchor="ctr"/>
          <a:lstStyle/>
          <a:p>
            <a:pPr marL="0" indent="0" algn="l">
              <a:buNone/>
            </a:pPr>
            <a:r>
              <a:rPr lang="en-US" sz="900" dirty="0">
                <a:solidFill>
                  <a:srgbClr val="A8B2C4"/>
                </a:solidFill>
                <a:latin typeface="Calibri" pitchFamily="34" charset="0"/>
                <a:ea typeface="Calibri" pitchFamily="34" charset="-122"/>
                <a:cs typeface="Calibri" pitchFamily="34" charset="-120"/>
              </a:rPr>
              <a:t>Consent, PII, DPDP duties, and where the file travels</a:t>
            </a:r>
            <a:endParaRPr lang="en-US" sz="900" dirty="0"/>
          </a:p>
        </p:txBody>
      </p:sp>
      <p:sp>
        <p:nvSpPr>
          <p:cNvPr id="141" name="Text 141"/>
          <p:cNvSpPr/>
          <p:nvPr/>
        </p:nvSpPr>
        <p:spPr>
          <a:xfrm>
            <a:off x="8684514" y="4791480"/>
            <a:ext cx="2407158" cy="210000"/>
          </a:xfrm>
          <a:prstGeom prst="rect">
            <a:avLst/>
          </a:prstGeom>
          <a:noFill/>
          <a:ln/>
        </p:spPr>
        <p:txBody>
          <a:bodyPr wrap="square" lIns="0" tIns="0" rIns="0" bIns="0" rtlCol="0" anchor="ctr"/>
          <a:lstStyle/>
          <a:p>
            <a:pPr marL="0" indent="0" algn="l">
              <a:buNone/>
            </a:pPr>
            <a:r>
              <a:rPr lang="en-US" sz="1050" b="1" dirty="0">
                <a:solidFill>
                  <a:srgbClr val="FFFFFF"/>
                </a:solidFill>
                <a:latin typeface="Arial" pitchFamily="34" charset="0"/>
                <a:ea typeface="Arial" pitchFamily="34" charset="-122"/>
                <a:cs typeface="Arial" pitchFamily="34" charset="-120"/>
              </a:rPr>
              <a:t>Fallback path</a:t>
            </a:r>
            <a:endParaRPr lang="en-US" sz="1050" dirty="0"/>
          </a:p>
        </p:txBody>
      </p:sp>
      <p:sp>
        <p:nvSpPr>
          <p:cNvPr id="142" name="Text 142"/>
          <p:cNvSpPr/>
          <p:nvPr/>
        </p:nvSpPr>
        <p:spPr>
          <a:xfrm>
            <a:off x="8684514" y="4997220"/>
            <a:ext cx="2407158" cy="182880"/>
          </a:xfrm>
          <a:prstGeom prst="rect">
            <a:avLst/>
          </a:prstGeom>
          <a:noFill/>
          <a:ln/>
        </p:spPr>
        <p:txBody>
          <a:bodyPr wrap="square" lIns="0" tIns="0" rIns="0" bIns="0" rtlCol="0" anchor="ctr"/>
          <a:lstStyle/>
          <a:p>
            <a:pPr marL="0" indent="0" algn="l">
              <a:buNone/>
            </a:pPr>
            <a:r>
              <a:rPr lang="en-US" sz="900" dirty="0">
                <a:solidFill>
                  <a:srgbClr val="A8B2C4"/>
                </a:solidFill>
                <a:latin typeface="Calibri" pitchFamily="34" charset="0"/>
                <a:ea typeface="Calibri" pitchFamily="34" charset="-122"/>
                <a:cs typeface="Calibri" pitchFamily="34" charset="-120"/>
              </a:rPr>
              <a:t>What happens when the model abstains</a:t>
            </a:r>
            <a:endParaRPr lang="en-US" sz="900" dirty="0"/>
          </a:p>
        </p:txBody>
      </p:sp>
      <p:sp>
        <p:nvSpPr>
          <p:cNvPr id="143" name="Text 143"/>
          <p:cNvSpPr/>
          <p:nvPr/>
        </p:nvSpPr>
        <p:spPr>
          <a:xfrm>
            <a:off x="640080" y="5532120"/>
            <a:ext cx="10908792" cy="365760"/>
          </a:xfrm>
          <a:prstGeom prst="rect">
            <a:avLst/>
          </a:prstGeom>
          <a:noFill/>
          <a:ln/>
        </p:spPr>
        <p:txBody>
          <a:bodyPr wrap="square" lIns="0" tIns="0" rIns="0" bIns="0" rtlCol="0" anchor="ctr"/>
          <a:lstStyle/>
          <a:p>
            <a:pPr marL="0" indent="0" algn="l">
              <a:buNone/>
            </a:pPr>
            <a:r>
              <a:rPr lang="en-US" sz="1600" b="1" dirty="0">
                <a:solidFill>
                  <a:srgbClr val="0E1524"/>
                </a:solidFill>
                <a:latin typeface="Arial" pitchFamily="34" charset="0"/>
                <a:ea typeface="Arial" pitchFamily="34" charset="-122"/>
                <a:cs typeface="Arial" pitchFamily="34" charset="-120"/>
              </a:rPr>
              <a:t>Stages 1, 2, 4 and 5 are ordinary engineering. Only stage 3 is new - and most projects fail on the other four.</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 name="Text 144"/>
          <p:cNvSpPr/>
          <p:nvPr/>
        </p:nvSpPr>
        <p:spPr>
          <a:xfrm>
            <a:off x="640080" y="384048"/>
            <a:ext cx="10908792" cy="237744"/>
          </a:xfrm>
          <a:prstGeom prst="rect">
            <a:avLst/>
          </a:prstGeom>
          <a:noFill/>
          <a:ln/>
        </p:spPr>
        <p:txBody>
          <a:bodyPr wrap="square" lIns="0" tIns="0" rIns="0" bIns="0" rtlCol="0" anchor="ctr"/>
          <a:lstStyle/>
          <a:p>
            <a:pPr marL="0" indent="0" algn="l">
              <a:buNone/>
            </a:pPr>
            <a:r>
              <a:rPr lang="en-US" sz="1100" b="1" kern="0" spc="200" dirty="0">
                <a:solidFill>
                  <a:srgbClr val="FF6B4A"/>
                </a:solidFill>
                <a:latin typeface="Arial" pitchFamily="34" charset="0"/>
                <a:ea typeface="Arial" pitchFamily="34" charset="-122"/>
                <a:cs typeface="Arial" pitchFamily="34" charset="-120"/>
              </a:rPr>
              <a:t>WORKED EXAMPLE</a:t>
            </a:r>
            <a:endParaRPr lang="en-US" sz="1100" dirty="0"/>
          </a:p>
        </p:txBody>
      </p:sp>
      <p:sp>
        <p:nvSpPr>
          <p:cNvPr id="145" name="Text 145"/>
          <p:cNvSpPr/>
          <p:nvPr/>
        </p:nvSpPr>
        <p:spPr>
          <a:xfrm>
            <a:off x="640080" y="658368"/>
            <a:ext cx="10908792" cy="658368"/>
          </a:xfrm>
          <a:prstGeom prst="rect">
            <a:avLst/>
          </a:prstGeom>
          <a:noFill/>
          <a:ln/>
        </p:spPr>
        <p:txBody>
          <a:bodyPr wrap="square" lIns="0" tIns="0" rIns="0" bIns="0" rtlCol="0" anchor="t"/>
          <a:lstStyle/>
          <a:p>
            <a:pPr marL="0" indent="0" algn="l">
              <a:buNone/>
            </a:pPr>
            <a:r>
              <a:rPr lang="en-US" sz="3400" b="1" dirty="0">
                <a:solidFill>
                  <a:srgbClr val="0E1524"/>
                </a:solidFill>
                <a:latin typeface="Arial" pitchFamily="34" charset="0"/>
                <a:ea typeface="Arial" pitchFamily="34" charset="-122"/>
                <a:cs typeface="Arial" pitchFamily="34" charset="-120"/>
              </a:rPr>
              <a:t>The cracked weld, traced end to end</a:t>
            </a:r>
            <a:endParaRPr lang="en-US" sz="3400" dirty="0"/>
          </a:p>
        </p:txBody>
      </p:sp>
      <p:sp>
        <p:nvSpPr>
          <p:cNvPr id="146" name="Text 146"/>
          <p:cNvSpPr/>
          <p:nvPr/>
        </p:nvSpPr>
        <p:spPr>
          <a:xfrm>
            <a:off x="640080" y="1481328"/>
            <a:ext cx="10241280" cy="274320"/>
          </a:xfrm>
          <a:prstGeom prst="rect">
            <a:avLst/>
          </a:prstGeom>
          <a:noFill/>
          <a:ln/>
        </p:spPr>
        <p:txBody>
          <a:bodyPr wrap="square" lIns="0" tIns="0" rIns="0" bIns="0" rtlCol="0" anchor="ctr"/>
          <a:lstStyle/>
          <a:p>
            <a:pPr marL="0" indent="0" algn="l">
              <a:buNone/>
            </a:pPr>
            <a:r>
              <a:rPr lang="en-US" sz="1400" dirty="0">
                <a:solidFill>
                  <a:srgbClr val="6B7689"/>
                </a:solidFill>
                <a:latin typeface="Calibri" pitchFamily="34" charset="0"/>
                <a:ea typeface="Calibri" pitchFamily="34" charset="-122"/>
                <a:cs typeface="Calibri" pitchFamily="34" charset="-120"/>
              </a:rPr>
              <a:t>The question from slide 2, run through the five stages you just saw.</a:t>
            </a:r>
            <a:endParaRPr lang="en-US" sz="1400" dirty="0"/>
          </a:p>
        </p:txBody>
      </p:sp>
      <p:sp>
        <p:nvSpPr>
          <p:cNvPr id="147" name="Text 147"/>
          <p:cNvSpPr/>
          <p:nvPr/>
        </p:nvSpPr>
        <p:spPr>
          <a:xfrm>
            <a:off x="640080" y="1930000"/>
            <a:ext cx="2743200" cy="210000"/>
          </a:xfrm>
          <a:prstGeom prst="rect">
            <a:avLst/>
          </a:prstGeom>
          <a:noFill/>
          <a:ln/>
        </p:spPr>
        <p:txBody>
          <a:bodyPr wrap="square" lIns="0" tIns="0" rIns="0" bIns="0" rtlCol="0" anchor="ctr"/>
          <a:lstStyle/>
          <a:p>
            <a:pPr marL="0" indent="0" algn="l">
              <a:buNone/>
            </a:pPr>
            <a:r>
              <a:rPr lang="en-US" sz="950" b="1" kern="0" spc="200" dirty="0">
                <a:solidFill>
                  <a:srgbClr val="6B7689"/>
                </a:solidFill>
                <a:latin typeface="Arial" pitchFamily="34" charset="0"/>
                <a:ea typeface="Arial" pitchFamily="34" charset="-122"/>
                <a:cs typeface="Arial" pitchFamily="34" charset="-120"/>
              </a:rPr>
              <a:t>INPUTS</a:t>
            </a:r>
            <a:endParaRPr lang="en-US" sz="950" dirty="0"/>
          </a:p>
        </p:txBody>
      </p:sp>
      <p:sp>
        <p:nvSpPr>
          <p:cNvPr id="148" name="Text 148"/>
          <p:cNvSpPr/>
          <p:nvPr/>
        </p:nvSpPr>
        <p:spPr>
          <a:xfrm>
            <a:off x="3931920" y="1930000"/>
            <a:ext cx="3474720" cy="210000"/>
          </a:xfrm>
          <a:prstGeom prst="rect">
            <a:avLst/>
          </a:prstGeom>
          <a:noFill/>
          <a:ln/>
        </p:spPr>
        <p:txBody>
          <a:bodyPr wrap="square" lIns="0" tIns="0" rIns="0" bIns="0" rtlCol="0" anchor="ctr"/>
          <a:lstStyle/>
          <a:p>
            <a:pPr marL="0" indent="0" algn="l">
              <a:buNone/>
            </a:pPr>
            <a:r>
              <a:rPr lang="en-US" sz="950" b="1" kern="0" spc="200" dirty="0">
                <a:solidFill>
                  <a:srgbClr val="6B7689"/>
                </a:solidFill>
                <a:latin typeface="Arial" pitchFamily="34" charset="0"/>
                <a:ea typeface="Arial" pitchFamily="34" charset="-122"/>
                <a:cs typeface="Arial" pitchFamily="34" charset="-120"/>
              </a:rPr>
              <a:t>ASSEMBLY</a:t>
            </a:r>
            <a:endParaRPr lang="en-US" sz="950" dirty="0"/>
          </a:p>
        </p:txBody>
      </p:sp>
      <p:sp>
        <p:nvSpPr>
          <p:cNvPr id="149" name="Text 149"/>
          <p:cNvSpPr/>
          <p:nvPr/>
        </p:nvSpPr>
        <p:spPr>
          <a:xfrm>
            <a:off x="7955280" y="1930000"/>
            <a:ext cx="3593592" cy="210000"/>
          </a:xfrm>
          <a:prstGeom prst="rect">
            <a:avLst/>
          </a:prstGeom>
          <a:noFill/>
          <a:ln/>
        </p:spPr>
        <p:txBody>
          <a:bodyPr wrap="square" lIns="0" tIns="0" rIns="0" bIns="0" rtlCol="0" anchor="ctr"/>
          <a:lstStyle/>
          <a:p>
            <a:pPr marL="0" indent="0" algn="l">
              <a:buNone/>
            </a:pPr>
            <a:r>
              <a:rPr lang="en-US" sz="950" b="1" kern="0" spc="200" dirty="0">
                <a:solidFill>
                  <a:srgbClr val="6B7689"/>
                </a:solidFill>
                <a:latin typeface="Arial" pitchFamily="34" charset="0"/>
                <a:ea typeface="Arial" pitchFamily="34" charset="-122"/>
                <a:cs typeface="Arial" pitchFamily="34" charset="-120"/>
              </a:rPr>
              <a:t>OUTPUT</a:t>
            </a:r>
            <a:endParaRPr lang="en-US" sz="950" dirty="0"/>
          </a:p>
        </p:txBody>
      </p:sp>
      <p:sp>
        <p:nvSpPr>
          <p:cNvPr id="162" name="Shape 162"/>
          <p:cNvSpPr/>
          <p:nvPr/>
        </p:nvSpPr>
        <p:spPr>
          <a:xfrm>
            <a:off x="3931920" y="2250000"/>
            <a:ext cx="3474720" cy="2450000"/>
          </a:xfrm>
          <a:prstGeom prst="roundRect">
            <a:avLst>
              <a:gd name="adj" fmla="val 10526"/>
            </a:avLst>
          </a:prstGeom>
          <a:solidFill>
            <a:srgbClr val="F4F6FA"/>
          </a:solidFill>
          <a:ln/>
        </p:spPr>
        <p:txBody>
          <a:bodyPr/>
          <a:lstStyle/>
          <a:p>
            <a:endParaRPr/>
          </a:p>
        </p:txBody>
      </p:sp>
      <p:sp>
        <p:nvSpPr>
          <p:cNvPr id="163" name="Shape 163"/>
          <p:cNvSpPr/>
          <p:nvPr/>
        </p:nvSpPr>
        <p:spPr>
          <a:xfrm>
            <a:off x="4206240" y="2524320"/>
            <a:ext cx="274320" cy="274320"/>
          </a:xfrm>
          <a:prstGeom prst="ellipse">
            <a:avLst/>
          </a:prstGeom>
          <a:solidFill>
            <a:srgbClr val="0E1524"/>
          </a:solidFill>
          <a:ln/>
        </p:spPr>
        <p:txBody>
          <a:bodyPr/>
          <a:lstStyle/>
          <a:p>
            <a:endParaRPr/>
          </a:p>
        </p:txBody>
      </p:sp>
      <p:sp>
        <p:nvSpPr>
          <p:cNvPr id="164" name="Text 164"/>
          <p:cNvSpPr/>
          <p:nvPr/>
        </p:nvSpPr>
        <p:spPr>
          <a:xfrm>
            <a:off x="4206240" y="25243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5" name="Text 165"/>
          <p:cNvSpPr/>
          <p:nvPr/>
        </p:nvSpPr>
        <p:spPr>
          <a:xfrm>
            <a:off x="4572000" y="2506032"/>
            <a:ext cx="2560320" cy="210000"/>
          </a:xfrm>
          <a:prstGeom prst="rect">
            <a:avLst/>
          </a:prstGeom>
          <a:noFill/>
          <a:ln/>
        </p:spPr>
        <p:txBody>
          <a:bodyPr wrap="square" lIns="0" tIns="0" rIns="0" bIns="0" rtlCol="0" anchor="ctr"/>
          <a:lstStyle/>
          <a:p>
            <a:pPr marL="0" indent="0" algn="l">
              <a:buNone/>
            </a:pPr>
            <a:r>
              <a:rPr lang="en-US" sz="1150" b="1" dirty="0">
                <a:solidFill>
                  <a:srgbClr val="0E1524"/>
                </a:solidFill>
                <a:latin typeface="Arial" pitchFamily="34" charset="0"/>
                <a:ea typeface="Arial" pitchFamily="34" charset="-122"/>
                <a:cs typeface="Arial" pitchFamily="34" charset="-120"/>
              </a:rPr>
              <a:t>Encode</a:t>
            </a:r>
            <a:endParaRPr lang="en-US" sz="1150" dirty="0"/>
          </a:p>
        </p:txBody>
      </p:sp>
      <p:sp>
        <p:nvSpPr>
          <p:cNvPr id="166" name="Text 166"/>
          <p:cNvSpPr/>
          <p:nvPr/>
        </p:nvSpPr>
        <p:spPr>
          <a:xfrm>
            <a:off x="4572000" y="2730060"/>
            <a:ext cx="2560320" cy="320040"/>
          </a:xfrm>
          <a:prstGeom prst="rect">
            <a:avLst/>
          </a:prstGeom>
          <a:noFill/>
          <a:ln/>
        </p:spPr>
        <p:txBody>
          <a:bodyPr wrap="square" lIns="0" tIns="0" rIns="0" bIns="0" rtlCol="0" anchor="t"/>
          <a:lstStyle/>
          <a:p>
            <a:pPr marL="0" indent="0" algn="l">
              <a:buNone/>
            </a:pPr>
            <a:r>
              <a:rPr lang="en-US" sz="900" dirty="0">
                <a:solidFill>
                  <a:srgbClr val="6B7689"/>
                </a:solidFill>
                <a:latin typeface="Calibri" pitchFamily="34" charset="0"/>
                <a:ea typeface="Calibri" pitchFamily="34" charset="-122"/>
                <a:cs typeface="Calibri" pitchFamily="34" charset="-120"/>
              </a:rPr>
              <a:t>Photo and sampled frames as image input, audio as audio or transcript, CSV as a table</a:t>
            </a:r>
            <a:endParaRPr lang="en-US" sz="900" dirty="0"/>
          </a:p>
        </p:txBody>
      </p:sp>
      <p:sp>
        <p:nvSpPr>
          <p:cNvPr id="167" name="Shape 167"/>
          <p:cNvSpPr/>
          <p:nvPr/>
        </p:nvSpPr>
        <p:spPr>
          <a:xfrm>
            <a:off x="4206240" y="3224400"/>
            <a:ext cx="274320" cy="274320"/>
          </a:xfrm>
          <a:prstGeom prst="ellipse">
            <a:avLst/>
          </a:prstGeom>
          <a:solidFill>
            <a:srgbClr val="0E1524"/>
          </a:solidFill>
          <a:ln/>
        </p:spPr>
        <p:txBody>
          <a:bodyPr/>
          <a:lstStyle/>
          <a:p>
            <a:endParaRPr/>
          </a:p>
        </p:txBody>
      </p:sp>
      <p:sp>
        <p:nvSpPr>
          <p:cNvPr id="168" name="Text 168"/>
          <p:cNvSpPr/>
          <p:nvPr/>
        </p:nvSpPr>
        <p:spPr>
          <a:xfrm>
            <a:off x="4206240" y="322440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69" name="Text 169"/>
          <p:cNvSpPr/>
          <p:nvPr/>
        </p:nvSpPr>
        <p:spPr>
          <a:xfrm>
            <a:off x="4572000" y="3206112"/>
            <a:ext cx="2560320" cy="210000"/>
          </a:xfrm>
          <a:prstGeom prst="rect">
            <a:avLst/>
          </a:prstGeom>
          <a:noFill/>
          <a:ln/>
        </p:spPr>
        <p:txBody>
          <a:bodyPr wrap="square" lIns="0" tIns="0" rIns="0" bIns="0" rtlCol="0" anchor="ctr"/>
          <a:lstStyle/>
          <a:p>
            <a:pPr marL="0" indent="0" algn="l">
              <a:buNone/>
            </a:pPr>
            <a:r>
              <a:rPr lang="en-US" sz="1150" b="1" dirty="0">
                <a:solidFill>
                  <a:srgbClr val="0E1524"/>
                </a:solidFill>
                <a:latin typeface="Arial" pitchFamily="34" charset="0"/>
                <a:ea typeface="Arial" pitchFamily="34" charset="-122"/>
                <a:cs typeface="Arial" pitchFamily="34" charset="-120"/>
              </a:rPr>
              <a:t>Compose</a:t>
            </a:r>
            <a:endParaRPr lang="en-US" sz="1150" dirty="0"/>
          </a:p>
        </p:txBody>
      </p:sp>
      <p:sp>
        <p:nvSpPr>
          <p:cNvPr id="170" name="Text 170"/>
          <p:cNvSpPr/>
          <p:nvPr/>
        </p:nvSpPr>
        <p:spPr>
          <a:xfrm>
            <a:off x="4572000" y="3430140"/>
            <a:ext cx="2560320" cy="320040"/>
          </a:xfrm>
          <a:prstGeom prst="rect">
            <a:avLst/>
          </a:prstGeom>
          <a:noFill/>
          <a:ln/>
        </p:spPr>
        <p:txBody>
          <a:bodyPr wrap="square" lIns="0" tIns="0" rIns="0" bIns="0" rtlCol="0" anchor="t"/>
          <a:lstStyle/>
          <a:p>
            <a:pPr marL="0" indent="0" algn="l">
              <a:buNone/>
            </a:pPr>
            <a:r>
              <a:rPr lang="en-US" sz="900" dirty="0">
                <a:solidFill>
                  <a:srgbClr val="6B7689"/>
                </a:solidFill>
                <a:latin typeface="Calibri" pitchFamily="34" charset="0"/>
                <a:ea typeface="Calibri" pitchFamily="34" charset="-122"/>
                <a:cs typeface="Calibri" pitchFamily="34" charset="-120"/>
              </a:rPr>
              <a:t>One message carrying all four, plus the engineer's question</a:t>
            </a:r>
            <a:endParaRPr lang="en-US" sz="900" dirty="0"/>
          </a:p>
        </p:txBody>
      </p:sp>
      <p:sp>
        <p:nvSpPr>
          <p:cNvPr id="171" name="Shape 171"/>
          <p:cNvSpPr/>
          <p:nvPr/>
        </p:nvSpPr>
        <p:spPr>
          <a:xfrm>
            <a:off x="4206240" y="3924320"/>
            <a:ext cx="274320" cy="274320"/>
          </a:xfrm>
          <a:prstGeom prst="ellipse">
            <a:avLst/>
          </a:prstGeom>
          <a:solidFill>
            <a:srgbClr val="0E1524"/>
          </a:solidFill>
          <a:ln/>
        </p:spPr>
        <p:txBody>
          <a:bodyPr/>
          <a:lstStyle/>
          <a:p>
            <a:endParaRPr/>
          </a:p>
        </p:txBody>
      </p:sp>
      <p:sp>
        <p:nvSpPr>
          <p:cNvPr id="172" name="Text 172"/>
          <p:cNvSpPr/>
          <p:nvPr/>
        </p:nvSpPr>
        <p:spPr>
          <a:xfrm>
            <a:off x="4206240" y="39243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73" name="Text 173"/>
          <p:cNvSpPr/>
          <p:nvPr/>
        </p:nvSpPr>
        <p:spPr>
          <a:xfrm>
            <a:off x="4572000" y="3906032"/>
            <a:ext cx="2560320" cy="210000"/>
          </a:xfrm>
          <a:prstGeom prst="rect">
            <a:avLst/>
          </a:prstGeom>
          <a:noFill/>
          <a:ln/>
        </p:spPr>
        <p:txBody>
          <a:bodyPr wrap="square" lIns="0" tIns="0" rIns="0" bIns="0" rtlCol="0" anchor="ctr"/>
          <a:lstStyle/>
          <a:p>
            <a:pPr marL="0" indent="0" algn="l">
              <a:buNone/>
            </a:pPr>
            <a:r>
              <a:rPr lang="en-US" sz="1150" b="1" dirty="0">
                <a:solidFill>
                  <a:srgbClr val="0E1524"/>
                </a:solidFill>
                <a:latin typeface="Arial" pitchFamily="34" charset="0"/>
                <a:ea typeface="Arial" pitchFamily="34" charset="-122"/>
                <a:cs typeface="Arial" pitchFamily="34" charset="-120"/>
              </a:rPr>
              <a:t>Model call</a:t>
            </a:r>
            <a:endParaRPr lang="en-US" sz="1150" dirty="0"/>
          </a:p>
        </p:txBody>
      </p:sp>
      <p:sp>
        <p:nvSpPr>
          <p:cNvPr id="174" name="Text 174"/>
          <p:cNvSpPr/>
          <p:nvPr/>
        </p:nvSpPr>
        <p:spPr>
          <a:xfrm>
            <a:off x="4572000" y="4130060"/>
            <a:ext cx="2560320" cy="320040"/>
          </a:xfrm>
          <a:prstGeom prst="rect">
            <a:avLst/>
          </a:prstGeom>
          <a:noFill/>
          <a:ln/>
        </p:spPr>
        <p:txBody>
          <a:bodyPr wrap="square" lIns="0" tIns="0" rIns="0" bIns="0" rtlCol="0" anchor="t"/>
          <a:lstStyle/>
          <a:p>
            <a:pPr marL="0" indent="0" algn="l">
              <a:buNone/>
            </a:pPr>
            <a:r>
              <a:rPr lang="en-US" sz="900" dirty="0">
                <a:solidFill>
                  <a:srgbClr val="6B7689"/>
                </a:solidFill>
                <a:latin typeface="Calibri" pitchFamily="34" charset="0"/>
                <a:ea typeface="Calibri" pitchFamily="34" charset="-122"/>
                <a:cs typeface="Calibri" pitchFamily="34" charset="-120"/>
              </a:rPr>
              <a:t>A single vision-language request. No orchestration layer</a:t>
            </a:r>
            <a:endParaRPr lang="en-US" sz="900" dirty="0"/>
          </a:p>
        </p:txBody>
      </p:sp>
      <p:sp>
        <p:nvSpPr>
          <p:cNvPr id="175" name="Shape 175"/>
          <p:cNvSpPr/>
          <p:nvPr/>
        </p:nvSpPr>
        <p:spPr>
          <a:xfrm>
            <a:off x="7955280" y="2250000"/>
            <a:ext cx="3593592" cy="1400000"/>
          </a:xfrm>
          <a:prstGeom prst="roundRect">
            <a:avLst>
              <a:gd name="adj" fmla="val 10526"/>
            </a:avLst>
          </a:prstGeom>
          <a:solidFill>
            <a:srgbClr val="F4F6FA"/>
          </a:solidFill>
          <a:ln/>
        </p:spPr>
        <p:txBody>
          <a:bodyPr/>
          <a:lstStyle/>
          <a:p>
            <a:endParaRPr/>
          </a:p>
        </p:txBody>
      </p:sp>
      <p:sp>
        <p:nvSpPr>
          <p:cNvPr id="176" name="Text 176"/>
          <p:cNvSpPr/>
          <p:nvPr/>
        </p:nvSpPr>
        <p:spPr>
          <a:xfrm>
            <a:off x="8183880" y="2432880"/>
            <a:ext cx="3136392" cy="1150000"/>
          </a:xfrm>
          <a:prstGeom prst="rect">
            <a:avLst/>
          </a:prstGeom>
          <a:noFill/>
          <a:ln/>
        </p:spPr>
        <p:txBody>
          <a:bodyPr wrap="square" lIns="0" tIns="0" rIns="0" bIns="0" rtlCol="0" anchor="t"/>
          <a:lstStyle/>
          <a:p>
            <a:pPr marL="0" indent="0" algn="l">
              <a:buNone/>
            </a:pPr>
            <a:r>
              <a:rPr lang="en-US" sz="850" dirty="0">
                <a:solidFill>
                  <a:srgbClr val="0E1524"/>
                </a:solidFill>
                <a:latin typeface="Courier New" pitchFamily="34" charset="0"/>
                <a:ea typeface="Courier New" pitchFamily="34" charset="-122"/>
                <a:cs typeface="Courier New" pitchFamily="34" charset="-120"/>
              </a:rPr>
              <a:t>{</a:t>
            </a:r>
            <a:endParaRPr lang="en-US" sz="850" dirty="0"/>
          </a:p>
          <a:p>
            <a:pPr marL="0" indent="0" algn="l">
              <a:buNone/>
            </a:pPr>
            <a:r>
              <a:rPr lang="en-US" sz="850" dirty="0">
                <a:solidFill>
                  <a:srgbClr val="0E1524"/>
                </a:solidFill>
                <a:latin typeface="Courier New" pitchFamily="34" charset="0"/>
                <a:ea typeface="Courier New" pitchFamily="34" charset="-122"/>
                <a:cs typeface="Courier New" pitchFamily="34" charset="-120"/>
              </a:rPr>
              <a:t>  "defect": "transverse crack",</a:t>
            </a:r>
            <a:endParaRPr lang="en-US" sz="850" dirty="0"/>
          </a:p>
          <a:p>
            <a:pPr marL="0" indent="0" algn="l">
              <a:buNone/>
            </a:pPr>
            <a:r>
              <a:rPr lang="en-US" sz="850" dirty="0">
                <a:solidFill>
                  <a:srgbClr val="0E1524"/>
                </a:solidFill>
                <a:latin typeface="Courier New" pitchFamily="34" charset="0"/>
                <a:ea typeface="Courier New" pitchFamily="34" charset="-122"/>
                <a:cs typeface="Courier New" pitchFamily="34" charset="-120"/>
              </a:rPr>
              <a:t>  "severity": "high",</a:t>
            </a:r>
            <a:endParaRPr lang="en-US" sz="850" dirty="0"/>
          </a:p>
          <a:p>
            <a:pPr marL="0" indent="0" algn="l">
              <a:buNone/>
            </a:pPr>
            <a:r>
              <a:rPr lang="en-US" sz="850" dirty="0">
                <a:solidFill>
                  <a:srgbClr val="0E1524"/>
                </a:solidFill>
                <a:latin typeface="Courier New" pitchFamily="34" charset="0"/>
                <a:ea typeface="Courier New" pitchFamily="34" charset="-122"/>
                <a:cs typeface="Courier New" pitchFamily="34" charset="-120"/>
              </a:rPr>
              <a:t>  "monsoon_safe": false,</a:t>
            </a:r>
            <a:endParaRPr lang="en-US" sz="850" dirty="0"/>
          </a:p>
          <a:p>
            <a:pPr marL="0" indent="0" algn="l">
              <a:buNone/>
            </a:pPr>
            <a:r>
              <a:rPr lang="en-US" sz="850" dirty="0">
                <a:solidFill>
                  <a:srgbClr val="0E1524"/>
                </a:solidFill>
                <a:latin typeface="Courier New" pitchFamily="34" charset="0"/>
                <a:ea typeface="Courier New" pitchFamily="34" charset="-122"/>
                <a:cs typeface="Courier New" pitchFamily="34" charset="-120"/>
              </a:rPr>
              <a:t>  "evidence": ["image","video",</a:t>
            </a:r>
            <a:endParaRPr lang="en-US" sz="850" dirty="0"/>
          </a:p>
          <a:p>
            <a:pPr marL="0" indent="0" algn="l">
              <a:buNone/>
            </a:pPr>
            <a:r>
              <a:rPr lang="en-US" sz="850" dirty="0">
                <a:solidFill>
                  <a:srgbClr val="0E1524"/>
                </a:solidFill>
                <a:latin typeface="Courier New" pitchFamily="34" charset="0"/>
                <a:ea typeface="Courier New" pitchFamily="34" charset="-122"/>
                <a:cs typeface="Courier New" pitchFamily="34" charset="-120"/>
              </a:rPr>
              <a:t>               "audio","sensors"],</a:t>
            </a:r>
            <a:endParaRPr lang="en-US" sz="850" dirty="0"/>
          </a:p>
          <a:p>
            <a:pPr marL="0" indent="0" algn="l">
              <a:buNone/>
            </a:pPr>
            <a:r>
              <a:rPr lang="en-US" sz="850" dirty="0">
                <a:solidFill>
                  <a:srgbClr val="0E1524"/>
                </a:solidFill>
                <a:latin typeface="Courier New" pitchFamily="34" charset="0"/>
                <a:ea typeface="Courier New" pitchFamily="34" charset="-122"/>
                <a:cs typeface="Courier New" pitchFamily="34" charset="-120"/>
              </a:rPr>
              <a:t>  "confidence": 0.81</a:t>
            </a:r>
            <a:endParaRPr lang="en-US" sz="850" dirty="0"/>
          </a:p>
          <a:p>
            <a:pPr marL="0" indent="0" algn="l">
              <a:buNone/>
            </a:pPr>
            <a:r>
              <a:rPr lang="en-US" sz="850" dirty="0">
                <a:solidFill>
                  <a:srgbClr val="0E1524"/>
                </a:solidFill>
                <a:latin typeface="Courier New" pitchFamily="34" charset="0"/>
                <a:ea typeface="Courier New" pitchFamily="34" charset="-122"/>
                <a:cs typeface="Courier New" pitchFamily="34" charset="-120"/>
              </a:rPr>
              <a:t>}</a:t>
            </a:r>
            <a:endParaRPr lang="en-US" sz="850" dirty="0"/>
          </a:p>
        </p:txBody>
      </p:sp>
      <p:sp>
        <p:nvSpPr>
          <p:cNvPr id="177" name="Shape 177"/>
          <p:cNvSpPr/>
          <p:nvPr/>
        </p:nvSpPr>
        <p:spPr>
          <a:xfrm>
            <a:off x="7955280" y="3900000"/>
            <a:ext cx="3593592" cy="800000"/>
          </a:xfrm>
          <a:prstGeom prst="roundRect">
            <a:avLst>
              <a:gd name="adj" fmla="val 10526"/>
            </a:avLst>
          </a:prstGeom>
          <a:solidFill>
            <a:srgbClr val="0E1524"/>
          </a:solidFill>
          <a:ln/>
        </p:spPr>
        <p:txBody>
          <a:bodyPr/>
          <a:lstStyle/>
          <a:p>
            <a:endParaRPr/>
          </a:p>
        </p:txBody>
      </p:sp>
      <p:sp>
        <p:nvSpPr>
          <p:cNvPr id="178" name="Text 178"/>
          <p:cNvSpPr/>
          <p:nvPr/>
        </p:nvSpPr>
        <p:spPr>
          <a:xfrm>
            <a:off x="8183880" y="4090000"/>
            <a:ext cx="3136392" cy="182880"/>
          </a:xfrm>
          <a:prstGeom prst="rect">
            <a:avLst/>
          </a:prstGeom>
          <a:noFill/>
          <a:ln/>
        </p:spPr>
        <p:txBody>
          <a:bodyPr wrap="square" lIns="0" tIns="0" rIns="0" bIns="0" rtlCol="0" anchor="ctr"/>
          <a:lstStyle/>
          <a:p>
            <a:pPr marL="0" indent="0" algn="l">
              <a:buNone/>
            </a:pPr>
            <a:r>
              <a:rPr lang="en-US" sz="1050" b="1" dirty="0">
                <a:solidFill>
                  <a:srgbClr val="FFC24A"/>
                </a:solidFill>
                <a:latin typeface="Arial" pitchFamily="34" charset="0"/>
                <a:ea typeface="Arial" pitchFamily="34" charset="-122"/>
                <a:cs typeface="Arial" pitchFamily="34" charset="-120"/>
              </a:rPr>
              <a:t>Routed to human review</a:t>
            </a:r>
            <a:endParaRPr lang="en-US" sz="1050" dirty="0"/>
          </a:p>
        </p:txBody>
      </p:sp>
      <p:sp>
        <p:nvSpPr>
          <p:cNvPr id="179" name="Text 179"/>
          <p:cNvSpPr/>
          <p:nvPr/>
        </p:nvSpPr>
        <p:spPr>
          <a:xfrm>
            <a:off x="8183880" y="4310000"/>
            <a:ext cx="3136392" cy="182880"/>
          </a:xfrm>
          <a:prstGeom prst="rect">
            <a:avLst/>
          </a:prstGeom>
          <a:noFill/>
          <a:ln/>
        </p:spPr>
        <p:txBody>
          <a:bodyPr wrap="square" lIns="0" tIns="0" rIns="0" bIns="0" rtlCol="0" anchor="ctr"/>
          <a:lstStyle/>
          <a:p>
            <a:pPr marL="0" indent="0" algn="l">
              <a:buNone/>
            </a:pPr>
            <a:r>
              <a:rPr lang="en-US" sz="900" dirty="0">
                <a:solidFill>
                  <a:srgbClr val="A8B2C4"/>
                </a:solidFill>
                <a:latin typeface="Calibri" pitchFamily="34" charset="0"/>
                <a:ea typeface="Calibri" pitchFamily="34" charset="-122"/>
                <a:cs typeface="Calibri" pitchFamily="34" charset="-120"/>
              </a:rPr>
              <a:t>Confidence is below the 0.9 stage-5 threshold</a:t>
            </a:r>
            <a:endParaRPr lang="en-US" sz="900" dirty="0"/>
          </a:p>
        </p:txBody>
      </p:sp>
      <p:sp>
        <p:nvSpPr>
          <p:cNvPr id="180" name="Shape 180"/>
          <p:cNvSpPr/>
          <p:nvPr/>
        </p:nvSpPr>
        <p:spPr>
          <a:xfrm>
            <a:off x="3480000" y="3360700"/>
            <a:ext cx="320040" cy="228600"/>
          </a:xfrm>
          <a:prstGeom prst="rightArrow">
            <a:avLst/>
          </a:prstGeom>
          <a:solidFill>
            <a:srgbClr val="C4CCDA"/>
          </a:solidFill>
          <a:ln/>
        </p:spPr>
        <p:txBody>
          <a:bodyPr/>
          <a:lstStyle/>
          <a:p>
            <a:endParaRPr/>
          </a:p>
        </p:txBody>
      </p:sp>
      <p:sp>
        <p:nvSpPr>
          <p:cNvPr id="181" name="Shape 181"/>
          <p:cNvSpPr/>
          <p:nvPr/>
        </p:nvSpPr>
        <p:spPr>
          <a:xfrm>
            <a:off x="7500000" y="3360700"/>
            <a:ext cx="320040" cy="228600"/>
          </a:xfrm>
          <a:prstGeom prst="rightArrow">
            <a:avLst/>
          </a:prstGeom>
          <a:solidFill>
            <a:srgbClr val="C4CCDA"/>
          </a:solidFill>
          <a:ln/>
        </p:spPr>
        <p:txBody>
          <a:bodyPr/>
          <a:lstStyle/>
          <a:p>
            <a:endParaRPr/>
          </a:p>
        </p:txBody>
      </p:sp>
      <p:sp>
        <p:nvSpPr>
          <p:cNvPr id="182" name="Shape 182"/>
          <p:cNvSpPr/>
          <p:nvPr/>
        </p:nvSpPr>
        <p:spPr>
          <a:xfrm>
            <a:off x="640080" y="4980000"/>
            <a:ext cx="10908792" cy="620100"/>
          </a:xfrm>
          <a:prstGeom prst="roundRect">
            <a:avLst>
              <a:gd name="adj" fmla="val 10526"/>
            </a:avLst>
          </a:prstGeom>
          <a:solidFill>
            <a:srgbClr val="0E1524"/>
          </a:solidFill>
          <a:ln/>
        </p:spPr>
        <p:txBody>
          <a:bodyPr/>
          <a:lstStyle/>
          <a:p>
            <a:endParaRPr/>
          </a:p>
        </p:txBody>
      </p:sp>
      <p:sp>
        <p:nvSpPr>
          <p:cNvPr id="183" name="Text 183"/>
          <p:cNvSpPr/>
          <p:nvPr/>
        </p:nvSpPr>
        <p:spPr>
          <a:xfrm>
            <a:off x="1051560" y="4980000"/>
            <a:ext cx="10085832" cy="620100"/>
          </a:xfrm>
          <a:prstGeom prst="rect">
            <a:avLst/>
          </a:prstGeom>
          <a:noFill/>
          <a:ln/>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No OCR engine. No video classifier. No four pipelines to stitch together. One request where the 2019 pipeline needed eleven components.</a:t>
            </a:r>
            <a:endParaRPr lang="en-US" sz="1400" dirty="0"/>
          </a:p>
        </p:txBody>
      </p:sp>
      <p:sp>
        <p:nvSpPr>
          <p:cNvPr id="101" name="Shape 101"/>
          <p:cNvSpPr/>
          <p:nvPr/>
        </p:nvSpPr>
        <p:spPr>
          <a:xfrm>
            <a:off x="640080" y="2250000"/>
            <a:ext cx="2743200" cy="507500"/>
          </a:xfrm>
          <a:prstGeom prst="roundRect">
            <a:avLst>
              <a:gd name="adj" fmla="val 10526"/>
            </a:avLst>
          </a:prstGeom>
          <a:solidFill>
            <a:srgbClr val="F4F6FA"/>
          </a:solidFill>
          <a:ln/>
        </p:spPr>
        <p:txBody>
          <a:bodyPr/>
          <a:lstStyle/>
          <a:p>
            <a:endParaRPr/>
          </a:p>
        </p:txBody>
      </p:sp>
      <p:sp>
        <p:nvSpPr>
          <p:cNvPr id="102" name="Shape 102"/>
          <p:cNvSpPr/>
          <p:nvPr/>
        </p:nvSpPr>
        <p:spPr>
          <a:xfrm>
            <a:off x="868680" y="2423736"/>
            <a:ext cx="146304" cy="146304"/>
          </a:xfrm>
          <a:prstGeom prst="ellipse">
            <a:avLst/>
          </a:prstGeom>
          <a:solidFill>
            <a:srgbClr val="FF6B4A"/>
          </a:solidFill>
          <a:ln/>
        </p:spPr>
        <p:txBody>
          <a:bodyPr/>
          <a:lstStyle/>
          <a:p>
            <a:endParaRPr/>
          </a:p>
        </p:txBody>
      </p:sp>
      <p:sp>
        <p:nvSpPr>
          <p:cNvPr id="103" name="Text 103"/>
          <p:cNvSpPr/>
          <p:nvPr/>
        </p:nvSpPr>
        <p:spPr>
          <a:xfrm>
            <a:off x="1097280" y="2350584"/>
            <a:ext cx="2057400" cy="182880"/>
          </a:xfrm>
          <a:prstGeom prst="rect">
            <a:avLst/>
          </a:prstGeom>
          <a:noFill/>
          <a:ln/>
        </p:spPr>
        <p:txBody>
          <a:bodyPr wrap="square" lIns="0" tIns="0" rIns="0" bIns="0" rtlCol="0" anchor="ctr"/>
          <a:lstStyle/>
          <a:p>
            <a:pPr marL="0" indent="0" algn="l">
              <a:buNone/>
            </a:pPr>
            <a:r>
              <a:rPr lang="en-US" sz="1100" b="1" dirty="0">
                <a:solidFill>
                  <a:srgbClr val="0E1524"/>
                </a:solidFill>
                <a:latin typeface="Arial" pitchFamily="34" charset="0"/>
                <a:ea typeface="Arial" pitchFamily="34" charset="-122"/>
                <a:cs typeface="Arial" pitchFamily="34" charset="-120"/>
              </a:rPr>
              <a:t>Photograph</a:t>
            </a:r>
            <a:endParaRPr lang="en-US" sz="1100" dirty="0"/>
          </a:p>
        </p:txBody>
      </p:sp>
      <p:sp>
        <p:nvSpPr>
          <p:cNvPr id="104" name="Text 104"/>
          <p:cNvSpPr/>
          <p:nvPr/>
        </p:nvSpPr>
        <p:spPr>
          <a:xfrm>
            <a:off x="1097280" y="2542608"/>
            <a:ext cx="2057400" cy="155448"/>
          </a:xfrm>
          <a:prstGeom prst="rect">
            <a:avLst/>
          </a:prstGeom>
          <a:noFill/>
          <a:ln/>
        </p:spPr>
        <p:txBody>
          <a:bodyPr wrap="square" lIns="0" tIns="0" rIns="0" bIns="0" rtlCol="0" anchor="ctr"/>
          <a:lstStyle/>
          <a:p>
            <a:pPr marL="0" indent="0" algn="l">
              <a:buNone/>
            </a:pPr>
            <a:r>
              <a:rPr lang="en-US" sz="880" dirty="0">
                <a:solidFill>
                  <a:srgbClr val="6B7689"/>
                </a:solidFill>
                <a:latin typeface="Calibri" pitchFamily="34" charset="0"/>
                <a:ea typeface="Calibri" pitchFamily="34" charset="-122"/>
                <a:cs typeface="Calibri" pitchFamily="34" charset="-120"/>
              </a:rPr>
              <a:t>Cracked weld joint, 4 MB JPEG</a:t>
            </a:r>
            <a:endParaRPr lang="en-US" sz="880" dirty="0"/>
          </a:p>
        </p:txBody>
      </p:sp>
      <p:sp>
        <p:nvSpPr>
          <p:cNvPr id="105" name="Shape 105"/>
          <p:cNvSpPr/>
          <p:nvPr/>
        </p:nvSpPr>
        <p:spPr>
          <a:xfrm>
            <a:off x="640080" y="2897500"/>
            <a:ext cx="2743200" cy="507500"/>
          </a:xfrm>
          <a:prstGeom prst="roundRect">
            <a:avLst>
              <a:gd name="adj" fmla="val 10526"/>
            </a:avLst>
          </a:prstGeom>
          <a:solidFill>
            <a:srgbClr val="F4F6FA"/>
          </a:solidFill>
          <a:ln/>
        </p:spPr>
        <p:txBody>
          <a:bodyPr/>
          <a:lstStyle/>
          <a:p>
            <a:endParaRPr/>
          </a:p>
        </p:txBody>
      </p:sp>
      <p:sp>
        <p:nvSpPr>
          <p:cNvPr id="106" name="Shape 106"/>
          <p:cNvSpPr/>
          <p:nvPr/>
        </p:nvSpPr>
        <p:spPr>
          <a:xfrm>
            <a:off x="868680" y="3071236"/>
            <a:ext cx="146304" cy="146304"/>
          </a:xfrm>
          <a:prstGeom prst="ellipse">
            <a:avLst/>
          </a:prstGeom>
          <a:solidFill>
            <a:srgbClr val="FFC24A"/>
          </a:solidFill>
          <a:ln/>
        </p:spPr>
        <p:txBody>
          <a:bodyPr/>
          <a:lstStyle/>
          <a:p>
            <a:endParaRPr/>
          </a:p>
        </p:txBody>
      </p:sp>
      <p:sp>
        <p:nvSpPr>
          <p:cNvPr id="107" name="Text 107"/>
          <p:cNvSpPr/>
          <p:nvPr/>
        </p:nvSpPr>
        <p:spPr>
          <a:xfrm>
            <a:off x="1097280" y="2998084"/>
            <a:ext cx="2057400" cy="182880"/>
          </a:xfrm>
          <a:prstGeom prst="rect">
            <a:avLst/>
          </a:prstGeom>
          <a:noFill/>
          <a:ln/>
        </p:spPr>
        <p:txBody>
          <a:bodyPr wrap="square" lIns="0" tIns="0" rIns="0" bIns="0" rtlCol="0" anchor="ctr"/>
          <a:lstStyle/>
          <a:p>
            <a:pPr marL="0" indent="0" algn="l">
              <a:buNone/>
            </a:pPr>
            <a:r>
              <a:rPr lang="en-US" sz="1100" b="1" dirty="0">
                <a:solidFill>
                  <a:srgbClr val="0E1524"/>
                </a:solidFill>
                <a:latin typeface="Arial" pitchFamily="34" charset="0"/>
                <a:ea typeface="Arial" pitchFamily="34" charset="-122"/>
                <a:cs typeface="Arial" pitchFamily="34" charset="-120"/>
              </a:rPr>
              <a:t>Drone clip</a:t>
            </a:r>
            <a:endParaRPr lang="en-US" sz="1100" dirty="0"/>
          </a:p>
        </p:txBody>
      </p:sp>
      <p:sp>
        <p:nvSpPr>
          <p:cNvPr id="108" name="Text 108"/>
          <p:cNvSpPr/>
          <p:nvPr/>
        </p:nvSpPr>
        <p:spPr>
          <a:xfrm>
            <a:off x="1097280" y="3190108"/>
            <a:ext cx="2057400" cy="155448"/>
          </a:xfrm>
          <a:prstGeom prst="rect">
            <a:avLst/>
          </a:prstGeom>
          <a:noFill/>
          <a:ln/>
        </p:spPr>
        <p:txBody>
          <a:bodyPr wrap="square" lIns="0" tIns="0" rIns="0" bIns="0" rtlCol="0" anchor="ctr"/>
          <a:lstStyle/>
          <a:p>
            <a:pPr marL="0" indent="0" algn="l">
              <a:buNone/>
            </a:pPr>
            <a:r>
              <a:rPr lang="en-US" sz="880" dirty="0">
                <a:solidFill>
                  <a:srgbClr val="6B7689"/>
                </a:solidFill>
                <a:latin typeface="Calibri" pitchFamily="34" charset="0"/>
                <a:ea typeface="Calibri" pitchFamily="34" charset="-122"/>
                <a:cs typeface="Calibri" pitchFamily="34" charset="-120"/>
              </a:rPr>
              <a:t>90 seconds, sampled to 12 frames</a:t>
            </a:r>
            <a:endParaRPr lang="en-US" sz="880" dirty="0"/>
          </a:p>
        </p:txBody>
      </p:sp>
      <p:sp>
        <p:nvSpPr>
          <p:cNvPr id="109" name="Shape 109"/>
          <p:cNvSpPr/>
          <p:nvPr/>
        </p:nvSpPr>
        <p:spPr>
          <a:xfrm>
            <a:off x="640080" y="3545000"/>
            <a:ext cx="2743200" cy="507500"/>
          </a:xfrm>
          <a:prstGeom prst="roundRect">
            <a:avLst>
              <a:gd name="adj" fmla="val 10526"/>
            </a:avLst>
          </a:prstGeom>
          <a:solidFill>
            <a:srgbClr val="F4F6FA"/>
          </a:solidFill>
          <a:ln/>
        </p:spPr>
        <p:txBody>
          <a:bodyPr/>
          <a:lstStyle/>
          <a:p>
            <a:endParaRPr/>
          </a:p>
        </p:txBody>
      </p:sp>
      <p:sp>
        <p:nvSpPr>
          <p:cNvPr id="110" name="Shape 110"/>
          <p:cNvSpPr/>
          <p:nvPr/>
        </p:nvSpPr>
        <p:spPr>
          <a:xfrm>
            <a:off x="868680" y="3718736"/>
            <a:ext cx="146304" cy="146304"/>
          </a:xfrm>
          <a:prstGeom prst="ellipse">
            <a:avLst/>
          </a:prstGeom>
          <a:solidFill>
            <a:srgbClr val="00C2A8"/>
          </a:solidFill>
          <a:ln/>
        </p:spPr>
        <p:txBody>
          <a:bodyPr/>
          <a:lstStyle/>
          <a:p>
            <a:endParaRPr/>
          </a:p>
        </p:txBody>
      </p:sp>
      <p:sp>
        <p:nvSpPr>
          <p:cNvPr id="111" name="Text 111"/>
          <p:cNvSpPr/>
          <p:nvPr/>
        </p:nvSpPr>
        <p:spPr>
          <a:xfrm>
            <a:off x="1097280" y="3645584"/>
            <a:ext cx="2057400" cy="182880"/>
          </a:xfrm>
          <a:prstGeom prst="rect">
            <a:avLst/>
          </a:prstGeom>
          <a:noFill/>
          <a:ln/>
        </p:spPr>
        <p:txBody>
          <a:bodyPr wrap="square" lIns="0" tIns="0" rIns="0" bIns="0" rtlCol="0" anchor="ctr"/>
          <a:lstStyle/>
          <a:p>
            <a:pPr marL="0" indent="0" algn="l">
              <a:buNone/>
            </a:pPr>
            <a:r>
              <a:rPr lang="en-US" sz="1100" b="1" dirty="0">
                <a:solidFill>
                  <a:srgbClr val="0E1524"/>
                </a:solidFill>
                <a:latin typeface="Arial" pitchFamily="34" charset="0"/>
                <a:ea typeface="Arial" pitchFamily="34" charset="-122"/>
                <a:cs typeface="Arial" pitchFamily="34" charset="-120"/>
              </a:rPr>
              <a:t>Voice note</a:t>
            </a:r>
            <a:endParaRPr lang="en-US" sz="1100" dirty="0"/>
          </a:p>
        </p:txBody>
      </p:sp>
      <p:sp>
        <p:nvSpPr>
          <p:cNvPr id="112" name="Text 112"/>
          <p:cNvSpPr/>
          <p:nvPr/>
        </p:nvSpPr>
        <p:spPr>
          <a:xfrm>
            <a:off x="1097280" y="3837608"/>
            <a:ext cx="2057400" cy="155448"/>
          </a:xfrm>
          <a:prstGeom prst="rect">
            <a:avLst/>
          </a:prstGeom>
          <a:noFill/>
          <a:ln/>
        </p:spPr>
        <p:txBody>
          <a:bodyPr wrap="square" lIns="0" tIns="0" rIns="0" bIns="0" rtlCol="0" anchor="ctr"/>
          <a:lstStyle/>
          <a:p>
            <a:pPr marL="0" indent="0" algn="l">
              <a:buNone/>
            </a:pPr>
            <a:r>
              <a:rPr lang="en-US" sz="880" dirty="0">
                <a:solidFill>
                  <a:srgbClr val="6B7689"/>
                </a:solidFill>
                <a:latin typeface="Calibri" pitchFamily="34" charset="0"/>
                <a:ea typeface="Calibri" pitchFamily="34" charset="-122"/>
                <a:cs typeface="Calibri" pitchFamily="34" charset="-120"/>
              </a:rPr>
              <a:t>Site engineer, 40 seconds</a:t>
            </a:r>
            <a:endParaRPr lang="en-US" sz="880" dirty="0"/>
          </a:p>
        </p:txBody>
      </p:sp>
      <p:sp>
        <p:nvSpPr>
          <p:cNvPr id="113" name="Shape 113"/>
          <p:cNvSpPr/>
          <p:nvPr/>
        </p:nvSpPr>
        <p:spPr>
          <a:xfrm>
            <a:off x="640080" y="4192500"/>
            <a:ext cx="2743200" cy="507500"/>
          </a:xfrm>
          <a:prstGeom prst="roundRect">
            <a:avLst>
              <a:gd name="adj" fmla="val 10526"/>
            </a:avLst>
          </a:prstGeom>
          <a:solidFill>
            <a:srgbClr val="F4F6FA"/>
          </a:solidFill>
          <a:ln/>
        </p:spPr>
        <p:txBody>
          <a:bodyPr/>
          <a:lstStyle/>
          <a:p>
            <a:endParaRPr/>
          </a:p>
        </p:txBody>
      </p:sp>
      <p:sp>
        <p:nvSpPr>
          <p:cNvPr id="114" name="Shape 114"/>
          <p:cNvSpPr/>
          <p:nvPr/>
        </p:nvSpPr>
        <p:spPr>
          <a:xfrm>
            <a:off x="868680" y="4366236"/>
            <a:ext cx="146304" cy="146304"/>
          </a:xfrm>
          <a:prstGeom prst="ellipse">
            <a:avLst/>
          </a:prstGeom>
          <a:solidFill>
            <a:srgbClr val="6B7689"/>
          </a:solidFill>
          <a:ln/>
        </p:spPr>
        <p:txBody>
          <a:bodyPr/>
          <a:lstStyle/>
          <a:p>
            <a:endParaRPr/>
          </a:p>
        </p:txBody>
      </p:sp>
      <p:sp>
        <p:nvSpPr>
          <p:cNvPr id="115" name="Text 115"/>
          <p:cNvSpPr/>
          <p:nvPr/>
        </p:nvSpPr>
        <p:spPr>
          <a:xfrm>
            <a:off x="1097280" y="4293084"/>
            <a:ext cx="2057400" cy="182880"/>
          </a:xfrm>
          <a:prstGeom prst="rect">
            <a:avLst/>
          </a:prstGeom>
          <a:noFill/>
          <a:ln/>
        </p:spPr>
        <p:txBody>
          <a:bodyPr wrap="square" lIns="0" tIns="0" rIns="0" bIns="0" rtlCol="0" anchor="ctr"/>
          <a:lstStyle/>
          <a:p>
            <a:pPr marL="0" indent="0" algn="l">
              <a:buNone/>
            </a:pPr>
            <a:r>
              <a:rPr lang="en-US" sz="1100" b="1" dirty="0">
                <a:solidFill>
                  <a:srgbClr val="0E1524"/>
                </a:solidFill>
                <a:latin typeface="Arial" pitchFamily="34" charset="0"/>
                <a:ea typeface="Arial" pitchFamily="34" charset="-122"/>
                <a:cs typeface="Arial" pitchFamily="34" charset="-120"/>
              </a:rPr>
              <a:t>Sensor table</a:t>
            </a:r>
            <a:endParaRPr lang="en-US" sz="1100" dirty="0"/>
          </a:p>
        </p:txBody>
      </p:sp>
      <p:sp>
        <p:nvSpPr>
          <p:cNvPr id="116" name="Text 116"/>
          <p:cNvSpPr/>
          <p:nvPr/>
        </p:nvSpPr>
        <p:spPr>
          <a:xfrm>
            <a:off x="1097280" y="4485108"/>
            <a:ext cx="2057400" cy="155448"/>
          </a:xfrm>
          <a:prstGeom prst="rect">
            <a:avLst/>
          </a:prstGeom>
          <a:noFill/>
          <a:ln/>
        </p:spPr>
        <p:txBody>
          <a:bodyPr wrap="square" lIns="0" tIns="0" rIns="0" bIns="0" rtlCol="0" anchor="ctr"/>
          <a:lstStyle/>
          <a:p>
            <a:pPr marL="0" indent="0" algn="l">
              <a:buNone/>
            </a:pPr>
            <a:r>
              <a:rPr lang="en-US" sz="880" dirty="0">
                <a:solidFill>
                  <a:srgbClr val="6B7689"/>
                </a:solidFill>
                <a:latin typeface="Calibri" pitchFamily="34" charset="0"/>
                <a:ea typeface="Calibri" pitchFamily="34" charset="-122"/>
                <a:cs typeface="Calibri" pitchFamily="34" charset="-120"/>
              </a:rPr>
              <a:t>Six months of pressure readings</a:t>
            </a:r>
            <a:endParaRPr lang="en-US" sz="880" dirty="0"/>
          </a:p>
        </p:txBody>
      </p:sp>
      <p:sp>
        <p:nvSpPr>
          <p:cNvPr id="178" name="Text 178"/>
          <p:cNvSpPr/>
          <p:nvPr/>
        </p:nvSpPr>
        <p:spPr>
          <a:xfrm>
            <a:off x="7955280" y="4740000"/>
            <a:ext cx="3593592" cy="200000"/>
          </a:xfrm>
          <a:prstGeom prst="rect">
            <a:avLst/>
          </a:prstGeom>
          <a:noFill/>
          <a:ln/>
        </p:spPr>
        <p:txBody>
          <a:bodyPr wrap="square" lIns="0" tIns="0" rIns="0" bIns="0" rtlCol="0" anchor="ctr"/>
          <a:lstStyle/>
          <a:p>
            <a:pPr marL="0" indent="0" algn="l">
              <a:buNone/>
            </a:pPr>
            <a:r>
              <a:rPr lang="en-US" sz="900" b="0" dirty="0">
                <a:solidFill>
                  <a:srgbClr val="6B7689"/>
                </a:solidFill>
                <a:latin typeface="Arial" pitchFamily="34" charset="0"/>
                <a:ea typeface="Arial" pitchFamily="34" charset="-122"/>
                <a:cs typeface="Arial" pitchFamily="34" charset="-120"/>
              </a:rPr>
              <a:t>Self-reported, not calibrated - see research problem 03</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 name="Text 184"/>
          <p:cNvSpPr/>
          <p:nvPr/>
        </p:nvSpPr>
        <p:spPr>
          <a:xfrm>
            <a:off x="640080" y="384048"/>
            <a:ext cx="10908792" cy="237744"/>
          </a:xfrm>
          <a:prstGeom prst="rect">
            <a:avLst/>
          </a:prstGeom>
          <a:noFill/>
          <a:ln/>
        </p:spPr>
        <p:txBody>
          <a:bodyPr wrap="square" lIns="0" tIns="0" rIns="0" bIns="0" rtlCol="0" anchor="ctr"/>
          <a:lstStyle/>
          <a:p>
            <a:pPr marL="0" indent="0" algn="l">
              <a:buNone/>
            </a:pPr>
            <a:r>
              <a:rPr lang="en-US" sz="1100" b="1" kern="0" spc="200" dirty="0">
                <a:solidFill>
                  <a:srgbClr val="FF6B4A"/>
                </a:solidFill>
                <a:latin typeface="Arial" pitchFamily="34" charset="0"/>
                <a:ea typeface="Arial" pitchFamily="34" charset="-122"/>
                <a:cs typeface="Arial" pitchFamily="34" charset="-120"/>
              </a:rPr>
              <a:t>DEPLOYMENT CHOICE</a:t>
            </a:r>
            <a:endParaRPr lang="en-US" sz="1100" dirty="0"/>
          </a:p>
        </p:txBody>
      </p:sp>
      <p:sp>
        <p:nvSpPr>
          <p:cNvPr id="185" name="Text 185"/>
          <p:cNvSpPr/>
          <p:nvPr/>
        </p:nvSpPr>
        <p:spPr>
          <a:xfrm>
            <a:off x="640080" y="658368"/>
            <a:ext cx="10908792" cy="658368"/>
          </a:xfrm>
          <a:prstGeom prst="rect">
            <a:avLst/>
          </a:prstGeom>
          <a:noFill/>
          <a:ln/>
        </p:spPr>
        <p:txBody>
          <a:bodyPr wrap="square" lIns="0" tIns="0" rIns="0" bIns="0" rtlCol="0" anchor="t"/>
          <a:lstStyle/>
          <a:p>
            <a:pPr marL="0" indent="0" algn="l">
              <a:buNone/>
            </a:pPr>
            <a:r>
              <a:rPr lang="en-US" sz="3400" b="1" dirty="0">
                <a:solidFill>
                  <a:srgbClr val="0E1524"/>
                </a:solidFill>
                <a:latin typeface="Arial" pitchFamily="34" charset="0"/>
                <a:ea typeface="Arial" pitchFamily="34" charset="-122"/>
                <a:cs typeface="Arial" pitchFamily="34" charset="-120"/>
              </a:rPr>
              <a:t>Three places stage 3 can run</a:t>
            </a:r>
            <a:endParaRPr lang="en-US" sz="3400" dirty="0"/>
          </a:p>
        </p:txBody>
      </p:sp>
      <p:sp>
        <p:nvSpPr>
          <p:cNvPr id="186" name="Text 186"/>
          <p:cNvSpPr/>
          <p:nvPr/>
        </p:nvSpPr>
        <p:spPr>
          <a:xfrm>
            <a:off x="640080" y="1481328"/>
            <a:ext cx="10241280" cy="274320"/>
          </a:xfrm>
          <a:prstGeom prst="rect">
            <a:avLst/>
          </a:prstGeom>
          <a:noFill/>
          <a:ln/>
        </p:spPr>
        <p:txBody>
          <a:bodyPr wrap="square" lIns="0" tIns="0" rIns="0" bIns="0" rtlCol="0" anchor="ctr"/>
          <a:lstStyle/>
          <a:p>
            <a:pPr marL="0" indent="0" algn="l">
              <a:buNone/>
            </a:pPr>
            <a:r>
              <a:rPr lang="en-US" sz="1400" dirty="0">
                <a:solidFill>
                  <a:srgbClr val="6B7689"/>
                </a:solidFill>
                <a:latin typeface="Calibri" pitchFamily="34" charset="0"/>
                <a:ea typeface="Calibri" pitchFamily="34" charset="-122"/>
                <a:cs typeface="Calibri" pitchFamily="34" charset="-120"/>
              </a:rPr>
              <a:t>The architecture does not change. Where the model executes changes everything else.</a:t>
            </a:r>
            <a:endParaRPr lang="en-US" sz="1400" dirty="0"/>
          </a:p>
        </p:txBody>
      </p:sp>
      <p:sp>
        <p:nvSpPr>
          <p:cNvPr id="187" name="Shape 187"/>
          <p:cNvSpPr/>
          <p:nvPr/>
        </p:nvSpPr>
        <p:spPr>
          <a:xfrm>
            <a:off x="640080" y="1950000"/>
            <a:ext cx="3400000" cy="3108960"/>
          </a:xfrm>
          <a:prstGeom prst="roundRect">
            <a:avLst>
              <a:gd name="adj" fmla="val 10526"/>
            </a:avLst>
          </a:prstGeom>
          <a:solidFill>
            <a:srgbClr val="F4F6FA"/>
          </a:solidFill>
          <a:ln/>
        </p:spPr>
        <p:txBody>
          <a:bodyPr/>
          <a:lstStyle/>
          <a:p>
            <a:endParaRPr lang="en-IN"/>
          </a:p>
        </p:txBody>
      </p:sp>
      <p:sp>
        <p:nvSpPr>
          <p:cNvPr id="188" name="Shape 188"/>
          <p:cNvSpPr/>
          <p:nvPr/>
        </p:nvSpPr>
        <p:spPr>
          <a:xfrm>
            <a:off x="914400" y="2224320"/>
            <a:ext cx="182880" cy="182880"/>
          </a:xfrm>
          <a:prstGeom prst="ellipse">
            <a:avLst/>
          </a:prstGeom>
          <a:solidFill>
            <a:srgbClr val="FF6B4A"/>
          </a:solidFill>
          <a:ln/>
        </p:spPr>
        <p:txBody>
          <a:bodyPr/>
          <a:lstStyle/>
          <a:p>
            <a:endParaRPr lang="en-IN"/>
          </a:p>
        </p:txBody>
      </p:sp>
      <p:sp>
        <p:nvSpPr>
          <p:cNvPr id="189" name="Text 189"/>
          <p:cNvSpPr/>
          <p:nvPr/>
        </p:nvSpPr>
        <p:spPr>
          <a:xfrm>
            <a:off x="914400" y="2498640"/>
            <a:ext cx="2851360" cy="274320"/>
          </a:xfrm>
          <a:prstGeom prst="rect">
            <a:avLst/>
          </a:prstGeom>
          <a:noFill/>
          <a:ln/>
        </p:spPr>
        <p:txBody>
          <a:bodyPr wrap="square" lIns="0" tIns="0" rIns="0" bIns="0" rtlCol="0" anchor="ctr"/>
          <a:lstStyle/>
          <a:p>
            <a:pPr marL="0" indent="0" algn="l">
              <a:buNone/>
            </a:pPr>
            <a:r>
              <a:rPr lang="en-US" sz="1500" b="1" dirty="0">
                <a:solidFill>
                  <a:srgbClr val="0E1524"/>
                </a:solidFill>
                <a:latin typeface="Arial" pitchFamily="34" charset="0"/>
                <a:ea typeface="Arial" pitchFamily="34" charset="-122"/>
                <a:cs typeface="Arial" pitchFamily="34" charset="-120"/>
              </a:rPr>
              <a:t>Hosted API</a:t>
            </a:r>
            <a:endParaRPr lang="en-US" sz="1500" dirty="0"/>
          </a:p>
        </p:txBody>
      </p:sp>
      <p:sp>
        <p:nvSpPr>
          <p:cNvPr id="190" name="Text 190"/>
          <p:cNvSpPr/>
          <p:nvPr/>
        </p:nvSpPr>
        <p:spPr>
          <a:xfrm>
            <a:off x="914400" y="2772960"/>
            <a:ext cx="2851360" cy="320040"/>
          </a:xfrm>
          <a:prstGeom prst="rect">
            <a:avLst/>
          </a:prstGeom>
          <a:noFill/>
          <a:ln/>
        </p:spPr>
        <p:txBody>
          <a:bodyPr wrap="square" lIns="0" tIns="0" rIns="0" bIns="0" rtlCol="0" anchor="t"/>
          <a:lstStyle/>
          <a:p>
            <a:pPr marL="0" indent="0" algn="l">
              <a:buNone/>
            </a:pPr>
            <a:r>
              <a:rPr lang="en-US" sz="1000" dirty="0">
                <a:solidFill>
                  <a:srgbClr val="6B7689"/>
                </a:solidFill>
                <a:latin typeface="Calibri" pitchFamily="34" charset="0"/>
                <a:ea typeface="Calibri" pitchFamily="34" charset="-122"/>
                <a:cs typeface="Calibri" pitchFamily="34" charset="-120"/>
              </a:rPr>
              <a:t>Somebody else's GPU, called over HTTPS</a:t>
            </a:r>
            <a:endParaRPr lang="en-US" sz="1000" dirty="0"/>
          </a:p>
        </p:txBody>
      </p:sp>
      <p:sp>
        <p:nvSpPr>
          <p:cNvPr id="191" name="Text 191"/>
          <p:cNvSpPr/>
          <p:nvPr/>
        </p:nvSpPr>
        <p:spPr>
          <a:xfrm>
            <a:off x="914400" y="3184440"/>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LATENCY</a:t>
            </a:r>
            <a:endParaRPr lang="en-US" sz="800" dirty="0"/>
          </a:p>
        </p:txBody>
      </p:sp>
      <p:sp>
        <p:nvSpPr>
          <p:cNvPr id="192" name="Text 192"/>
          <p:cNvSpPr/>
          <p:nvPr/>
        </p:nvSpPr>
        <p:spPr>
          <a:xfrm>
            <a:off x="914400" y="3358176"/>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1 to 4 seconds per image</a:t>
            </a:r>
            <a:endParaRPr lang="en-US" sz="1000" dirty="0"/>
          </a:p>
        </p:txBody>
      </p:sp>
      <p:sp>
        <p:nvSpPr>
          <p:cNvPr id="193" name="Text 193"/>
          <p:cNvSpPr/>
          <p:nvPr/>
        </p:nvSpPr>
        <p:spPr>
          <a:xfrm>
            <a:off x="914400" y="3577632"/>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COST SHAPE</a:t>
            </a:r>
            <a:endParaRPr lang="en-US" sz="800" dirty="0"/>
          </a:p>
        </p:txBody>
      </p:sp>
      <p:sp>
        <p:nvSpPr>
          <p:cNvPr id="194" name="Text 194"/>
          <p:cNvSpPr/>
          <p:nvPr/>
        </p:nvSpPr>
        <p:spPr>
          <a:xfrm>
            <a:off x="914400" y="3751368"/>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Per call, nothing upfront</a:t>
            </a:r>
            <a:endParaRPr lang="en-US" sz="1000" dirty="0"/>
          </a:p>
        </p:txBody>
      </p:sp>
      <p:sp>
        <p:nvSpPr>
          <p:cNvPr id="195" name="Text 195"/>
          <p:cNvSpPr/>
          <p:nvPr/>
        </p:nvSpPr>
        <p:spPr>
          <a:xfrm>
            <a:off x="914400" y="3970824"/>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DATA LEAVES CAMPUS</a:t>
            </a:r>
            <a:endParaRPr lang="en-US" sz="800" dirty="0"/>
          </a:p>
        </p:txBody>
      </p:sp>
      <p:sp>
        <p:nvSpPr>
          <p:cNvPr id="196" name="Text 196"/>
          <p:cNvSpPr/>
          <p:nvPr/>
        </p:nvSpPr>
        <p:spPr>
          <a:xfrm>
            <a:off x="914400" y="4144560"/>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Yes - clear it with your ethics committee</a:t>
            </a:r>
            <a:endParaRPr lang="en-US" sz="1000" dirty="0"/>
          </a:p>
        </p:txBody>
      </p:sp>
      <p:sp>
        <p:nvSpPr>
          <p:cNvPr id="197" name="Text 197"/>
          <p:cNvSpPr/>
          <p:nvPr/>
        </p:nvSpPr>
        <p:spPr>
          <a:xfrm>
            <a:off x="914400" y="4364016"/>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BEST FOR</a:t>
            </a:r>
            <a:endParaRPr lang="en-US" sz="800" dirty="0"/>
          </a:p>
        </p:txBody>
      </p:sp>
      <p:sp>
        <p:nvSpPr>
          <p:cNvPr id="198" name="Text 198"/>
          <p:cNvSpPr/>
          <p:nvPr/>
        </p:nvSpPr>
        <p:spPr>
          <a:xfrm>
            <a:off x="914400" y="4537752"/>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First projects, papers, pilots</a:t>
            </a:r>
            <a:endParaRPr lang="en-US" sz="1000" dirty="0"/>
          </a:p>
        </p:txBody>
      </p:sp>
      <p:sp>
        <p:nvSpPr>
          <p:cNvPr id="199" name="Shape 199"/>
          <p:cNvSpPr/>
          <p:nvPr/>
        </p:nvSpPr>
        <p:spPr>
          <a:xfrm>
            <a:off x="4394476" y="1950000"/>
            <a:ext cx="3400000" cy="3108960"/>
          </a:xfrm>
          <a:prstGeom prst="roundRect">
            <a:avLst>
              <a:gd name="adj" fmla="val 10526"/>
            </a:avLst>
          </a:prstGeom>
          <a:solidFill>
            <a:srgbClr val="F4F6FA"/>
          </a:solidFill>
          <a:ln/>
        </p:spPr>
        <p:txBody>
          <a:bodyPr/>
          <a:lstStyle/>
          <a:p>
            <a:endParaRPr lang="en-IN"/>
          </a:p>
        </p:txBody>
      </p:sp>
      <p:sp>
        <p:nvSpPr>
          <p:cNvPr id="200" name="Shape 200"/>
          <p:cNvSpPr/>
          <p:nvPr/>
        </p:nvSpPr>
        <p:spPr>
          <a:xfrm>
            <a:off x="4668796" y="2224320"/>
            <a:ext cx="182880" cy="182880"/>
          </a:xfrm>
          <a:prstGeom prst="ellipse">
            <a:avLst/>
          </a:prstGeom>
          <a:solidFill>
            <a:srgbClr val="00C2A8"/>
          </a:solidFill>
          <a:ln/>
        </p:spPr>
        <p:txBody>
          <a:bodyPr/>
          <a:lstStyle/>
          <a:p>
            <a:endParaRPr lang="en-IN"/>
          </a:p>
        </p:txBody>
      </p:sp>
      <p:sp>
        <p:nvSpPr>
          <p:cNvPr id="201" name="Text 201"/>
          <p:cNvSpPr/>
          <p:nvPr/>
        </p:nvSpPr>
        <p:spPr>
          <a:xfrm>
            <a:off x="4668796" y="2498640"/>
            <a:ext cx="2851360" cy="274320"/>
          </a:xfrm>
          <a:prstGeom prst="rect">
            <a:avLst/>
          </a:prstGeom>
          <a:noFill/>
          <a:ln/>
        </p:spPr>
        <p:txBody>
          <a:bodyPr wrap="square" lIns="0" tIns="0" rIns="0" bIns="0" rtlCol="0" anchor="ctr"/>
          <a:lstStyle/>
          <a:p>
            <a:pPr marL="0" indent="0" algn="l">
              <a:buNone/>
            </a:pPr>
            <a:r>
              <a:rPr lang="en-US" sz="1500" b="1" dirty="0">
                <a:solidFill>
                  <a:srgbClr val="0E1524"/>
                </a:solidFill>
                <a:latin typeface="Arial" pitchFamily="34" charset="0"/>
                <a:ea typeface="Arial" pitchFamily="34" charset="-122"/>
                <a:cs typeface="Arial" pitchFamily="34" charset="-120"/>
              </a:rPr>
              <a:t>Self-hosted open model</a:t>
            </a:r>
            <a:endParaRPr lang="en-US" sz="1500" dirty="0"/>
          </a:p>
        </p:txBody>
      </p:sp>
      <p:sp>
        <p:nvSpPr>
          <p:cNvPr id="202" name="Text 202"/>
          <p:cNvSpPr/>
          <p:nvPr/>
        </p:nvSpPr>
        <p:spPr>
          <a:xfrm>
            <a:off x="4668796" y="2772960"/>
            <a:ext cx="2851360" cy="320040"/>
          </a:xfrm>
          <a:prstGeom prst="rect">
            <a:avLst/>
          </a:prstGeom>
          <a:noFill/>
          <a:ln/>
        </p:spPr>
        <p:txBody>
          <a:bodyPr wrap="square" lIns="0" tIns="0" rIns="0" bIns="0" rtlCol="0" anchor="t"/>
          <a:lstStyle/>
          <a:p>
            <a:pPr marL="0" indent="0" algn="l">
              <a:buNone/>
            </a:pPr>
            <a:r>
              <a:rPr lang="en-US" sz="1000" dirty="0">
                <a:solidFill>
                  <a:srgbClr val="6B7689"/>
                </a:solidFill>
                <a:latin typeface="Calibri" pitchFamily="34" charset="0"/>
                <a:ea typeface="Calibri" pitchFamily="34" charset="-122"/>
                <a:cs typeface="Calibri" pitchFamily="34" charset="-120"/>
              </a:rPr>
              <a:t>An open VLM on your own or a rented GPU</a:t>
            </a:r>
            <a:endParaRPr lang="en-US" sz="1000" dirty="0"/>
          </a:p>
        </p:txBody>
      </p:sp>
      <p:sp>
        <p:nvSpPr>
          <p:cNvPr id="203" name="Text 203"/>
          <p:cNvSpPr/>
          <p:nvPr/>
        </p:nvSpPr>
        <p:spPr>
          <a:xfrm>
            <a:off x="4668796" y="3184440"/>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LATENCY</a:t>
            </a:r>
            <a:endParaRPr lang="en-US" sz="800" dirty="0"/>
          </a:p>
        </p:txBody>
      </p:sp>
      <p:sp>
        <p:nvSpPr>
          <p:cNvPr id="204" name="Text 204"/>
          <p:cNvSpPr/>
          <p:nvPr/>
        </p:nvSpPr>
        <p:spPr>
          <a:xfrm>
            <a:off x="4668796" y="3358176"/>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0.5 to 3 seconds, depends on the card</a:t>
            </a:r>
            <a:endParaRPr lang="en-US" sz="1000" dirty="0"/>
          </a:p>
        </p:txBody>
      </p:sp>
      <p:sp>
        <p:nvSpPr>
          <p:cNvPr id="205" name="Text 205"/>
          <p:cNvSpPr/>
          <p:nvPr/>
        </p:nvSpPr>
        <p:spPr>
          <a:xfrm>
            <a:off x="4668796" y="3577632"/>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COST SHAPE</a:t>
            </a:r>
            <a:endParaRPr lang="en-US" sz="800" dirty="0"/>
          </a:p>
        </p:txBody>
      </p:sp>
      <p:sp>
        <p:nvSpPr>
          <p:cNvPr id="206" name="Text 206"/>
          <p:cNvSpPr/>
          <p:nvPr/>
        </p:nvSpPr>
        <p:spPr>
          <a:xfrm>
            <a:off x="4668796" y="3751368"/>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Fixed GPU cost, free per call</a:t>
            </a:r>
            <a:endParaRPr lang="en-US" sz="1000" dirty="0"/>
          </a:p>
        </p:txBody>
      </p:sp>
      <p:sp>
        <p:nvSpPr>
          <p:cNvPr id="207" name="Text 207"/>
          <p:cNvSpPr/>
          <p:nvPr/>
        </p:nvSpPr>
        <p:spPr>
          <a:xfrm>
            <a:off x="4668796" y="3970824"/>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DATA LEAVES CAMPUS</a:t>
            </a:r>
            <a:endParaRPr lang="en-US" sz="800" dirty="0"/>
          </a:p>
        </p:txBody>
      </p:sp>
      <p:sp>
        <p:nvSpPr>
          <p:cNvPr id="208" name="Text 208"/>
          <p:cNvSpPr/>
          <p:nvPr/>
        </p:nvSpPr>
        <p:spPr>
          <a:xfrm>
            <a:off x="4668796" y="4144560"/>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No - stays on your network</a:t>
            </a:r>
            <a:endParaRPr lang="en-US" sz="1000" dirty="0"/>
          </a:p>
        </p:txBody>
      </p:sp>
      <p:sp>
        <p:nvSpPr>
          <p:cNvPr id="209" name="Text 209"/>
          <p:cNvSpPr/>
          <p:nvPr/>
        </p:nvSpPr>
        <p:spPr>
          <a:xfrm>
            <a:off x="4668796" y="4364016"/>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BEST FOR</a:t>
            </a:r>
            <a:endParaRPr lang="en-US" sz="800" dirty="0"/>
          </a:p>
        </p:txBody>
      </p:sp>
      <p:sp>
        <p:nvSpPr>
          <p:cNvPr id="210" name="Text 210"/>
          <p:cNvSpPr/>
          <p:nvPr/>
        </p:nvSpPr>
        <p:spPr>
          <a:xfrm>
            <a:off x="4668796" y="4537752"/>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Sensitive data, high volume, IndiaAI compute</a:t>
            </a:r>
            <a:endParaRPr lang="en-US" sz="1000" dirty="0"/>
          </a:p>
        </p:txBody>
      </p:sp>
      <p:sp>
        <p:nvSpPr>
          <p:cNvPr id="211" name="Shape 211"/>
          <p:cNvSpPr/>
          <p:nvPr/>
        </p:nvSpPr>
        <p:spPr>
          <a:xfrm>
            <a:off x="8148872" y="1950000"/>
            <a:ext cx="3400000" cy="3108960"/>
          </a:xfrm>
          <a:prstGeom prst="roundRect">
            <a:avLst>
              <a:gd name="adj" fmla="val 10526"/>
            </a:avLst>
          </a:prstGeom>
          <a:solidFill>
            <a:srgbClr val="F4F6FA"/>
          </a:solidFill>
          <a:ln/>
        </p:spPr>
        <p:txBody>
          <a:bodyPr/>
          <a:lstStyle/>
          <a:p>
            <a:endParaRPr lang="en-IN"/>
          </a:p>
        </p:txBody>
      </p:sp>
      <p:sp>
        <p:nvSpPr>
          <p:cNvPr id="212" name="Shape 212"/>
          <p:cNvSpPr/>
          <p:nvPr/>
        </p:nvSpPr>
        <p:spPr>
          <a:xfrm>
            <a:off x="8423192" y="2224320"/>
            <a:ext cx="182880" cy="182880"/>
          </a:xfrm>
          <a:prstGeom prst="ellipse">
            <a:avLst/>
          </a:prstGeom>
          <a:solidFill>
            <a:srgbClr val="FFC24A"/>
          </a:solidFill>
          <a:ln/>
        </p:spPr>
        <p:txBody>
          <a:bodyPr/>
          <a:lstStyle/>
          <a:p>
            <a:endParaRPr lang="en-IN"/>
          </a:p>
        </p:txBody>
      </p:sp>
      <p:sp>
        <p:nvSpPr>
          <p:cNvPr id="213" name="Text 213"/>
          <p:cNvSpPr/>
          <p:nvPr/>
        </p:nvSpPr>
        <p:spPr>
          <a:xfrm>
            <a:off x="8423192" y="2498640"/>
            <a:ext cx="2851360" cy="274320"/>
          </a:xfrm>
          <a:prstGeom prst="rect">
            <a:avLst/>
          </a:prstGeom>
          <a:noFill/>
          <a:ln/>
        </p:spPr>
        <p:txBody>
          <a:bodyPr wrap="square" lIns="0" tIns="0" rIns="0" bIns="0" rtlCol="0" anchor="ctr"/>
          <a:lstStyle/>
          <a:p>
            <a:pPr marL="0" indent="0" algn="l">
              <a:buNone/>
            </a:pPr>
            <a:r>
              <a:rPr lang="en-US" sz="1500" b="1" dirty="0">
                <a:solidFill>
                  <a:srgbClr val="0E1524"/>
                </a:solidFill>
                <a:latin typeface="Arial" pitchFamily="34" charset="0"/>
                <a:ea typeface="Arial" pitchFamily="34" charset="-122"/>
                <a:cs typeface="Arial" pitchFamily="34" charset="-120"/>
              </a:rPr>
              <a:t>On-device edge</a:t>
            </a:r>
            <a:endParaRPr lang="en-US" sz="1500" dirty="0"/>
          </a:p>
        </p:txBody>
      </p:sp>
      <p:sp>
        <p:nvSpPr>
          <p:cNvPr id="214" name="Text 214"/>
          <p:cNvSpPr/>
          <p:nvPr/>
        </p:nvSpPr>
        <p:spPr>
          <a:xfrm>
            <a:off x="8423192" y="2772960"/>
            <a:ext cx="2851360" cy="320040"/>
          </a:xfrm>
          <a:prstGeom prst="rect">
            <a:avLst/>
          </a:prstGeom>
          <a:noFill/>
          <a:ln/>
        </p:spPr>
        <p:txBody>
          <a:bodyPr wrap="square" lIns="0" tIns="0" rIns="0" bIns="0" rtlCol="0" anchor="t"/>
          <a:lstStyle/>
          <a:p>
            <a:pPr marL="0" indent="0" algn="l">
              <a:buNone/>
            </a:pPr>
            <a:r>
              <a:rPr lang="en-US" sz="1000" dirty="0">
                <a:solidFill>
                  <a:srgbClr val="6B7689"/>
                </a:solidFill>
                <a:latin typeface="Calibri" pitchFamily="34" charset="0"/>
                <a:ea typeface="Calibri" pitchFamily="34" charset="-122"/>
                <a:cs typeface="Calibri" pitchFamily="34" charset="-120"/>
              </a:rPr>
              <a:t>A small model on a phone or a gateway</a:t>
            </a:r>
            <a:endParaRPr lang="en-US" sz="1000" dirty="0"/>
          </a:p>
        </p:txBody>
      </p:sp>
      <p:sp>
        <p:nvSpPr>
          <p:cNvPr id="215" name="Text 215"/>
          <p:cNvSpPr/>
          <p:nvPr/>
        </p:nvSpPr>
        <p:spPr>
          <a:xfrm>
            <a:off x="8423192" y="3184440"/>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LATENCY</a:t>
            </a:r>
            <a:endParaRPr lang="en-US" sz="800" dirty="0"/>
          </a:p>
        </p:txBody>
      </p:sp>
      <p:sp>
        <p:nvSpPr>
          <p:cNvPr id="216" name="Text 216"/>
          <p:cNvSpPr/>
          <p:nvPr/>
        </p:nvSpPr>
        <p:spPr>
          <a:xfrm>
            <a:off x="8423192" y="3358176"/>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Under a second, works offline</a:t>
            </a:r>
            <a:endParaRPr lang="en-US" sz="1000" dirty="0"/>
          </a:p>
        </p:txBody>
      </p:sp>
      <p:sp>
        <p:nvSpPr>
          <p:cNvPr id="217" name="Text 217"/>
          <p:cNvSpPr/>
          <p:nvPr/>
        </p:nvSpPr>
        <p:spPr>
          <a:xfrm>
            <a:off x="8423192" y="3577632"/>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COST SHAPE</a:t>
            </a:r>
            <a:endParaRPr lang="en-US" sz="800" dirty="0"/>
          </a:p>
        </p:txBody>
      </p:sp>
      <p:sp>
        <p:nvSpPr>
          <p:cNvPr id="218" name="Text 218"/>
          <p:cNvSpPr/>
          <p:nvPr/>
        </p:nvSpPr>
        <p:spPr>
          <a:xfrm>
            <a:off x="8423192" y="3751368"/>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Hardware only, no recurring bill</a:t>
            </a:r>
            <a:endParaRPr lang="en-US" sz="1000" dirty="0"/>
          </a:p>
        </p:txBody>
      </p:sp>
      <p:sp>
        <p:nvSpPr>
          <p:cNvPr id="219" name="Text 219"/>
          <p:cNvSpPr/>
          <p:nvPr/>
        </p:nvSpPr>
        <p:spPr>
          <a:xfrm>
            <a:off x="8423192" y="3970824"/>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DATA LEAVES CAMPUS</a:t>
            </a:r>
            <a:endParaRPr lang="en-US" sz="800" dirty="0"/>
          </a:p>
        </p:txBody>
      </p:sp>
      <p:sp>
        <p:nvSpPr>
          <p:cNvPr id="220" name="Text 220"/>
          <p:cNvSpPr/>
          <p:nvPr/>
        </p:nvSpPr>
        <p:spPr>
          <a:xfrm>
            <a:off x="8423192" y="4144560"/>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No - never leaves the device</a:t>
            </a:r>
            <a:endParaRPr lang="en-US" sz="1000" dirty="0"/>
          </a:p>
        </p:txBody>
      </p:sp>
      <p:sp>
        <p:nvSpPr>
          <p:cNvPr id="221" name="Text 221"/>
          <p:cNvSpPr/>
          <p:nvPr/>
        </p:nvSpPr>
        <p:spPr>
          <a:xfrm>
            <a:off x="8423192" y="4364016"/>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BEST FOR</a:t>
            </a:r>
            <a:endParaRPr lang="en-US" sz="800" dirty="0"/>
          </a:p>
        </p:txBody>
      </p:sp>
      <p:sp>
        <p:nvSpPr>
          <p:cNvPr id="222" name="Text 222"/>
          <p:cNvSpPr/>
          <p:nvPr/>
        </p:nvSpPr>
        <p:spPr>
          <a:xfrm>
            <a:off x="8423192" y="4537752"/>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Field work, plants, poor connectivity</a:t>
            </a:r>
            <a:endParaRPr lang="en-US" sz="1000" dirty="0"/>
          </a:p>
        </p:txBody>
      </p:sp>
      <p:sp>
        <p:nvSpPr>
          <p:cNvPr id="223" name="Text 223"/>
          <p:cNvSpPr/>
          <p:nvPr/>
        </p:nvSpPr>
        <p:spPr>
          <a:xfrm>
            <a:off x="640080" y="5532120"/>
            <a:ext cx="10908792" cy="365760"/>
          </a:xfrm>
          <a:prstGeom prst="rect">
            <a:avLst/>
          </a:prstGeom>
          <a:noFill/>
          <a:ln/>
        </p:spPr>
        <p:txBody>
          <a:bodyPr wrap="square" lIns="0" tIns="0" rIns="0" bIns="0" rtlCol="0" anchor="ctr"/>
          <a:lstStyle/>
          <a:p>
            <a:pPr marL="0" indent="0" algn="l">
              <a:buNone/>
            </a:pPr>
            <a:r>
              <a:rPr lang="en-US" sz="1600" b="1" dirty="0">
                <a:solidFill>
                  <a:srgbClr val="0E1524"/>
                </a:solidFill>
                <a:latin typeface="Arial" pitchFamily="34" charset="0"/>
                <a:ea typeface="Arial" pitchFamily="34" charset="-122"/>
                <a:cs typeface="Arial" pitchFamily="34" charset="-120"/>
              </a:rPr>
              <a:t>Start hosted. Move to self-hosted only when a 200-example test set says the open model is close enough.</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524"/>
        </a:solidFill>
        <a:effectLst/>
      </p:bgPr>
    </p:bg>
    <p:spTree>
      <p:nvGrpSpPr>
        <p:cNvPr id="1" name=""/>
        <p:cNvGrpSpPr/>
        <p:nvPr/>
      </p:nvGrpSpPr>
      <p:grpSpPr>
        <a:xfrm>
          <a:off x="0" y="0"/>
          <a:ext cx="0" cy="0"/>
          <a:chOff x="0" y="0"/>
          <a:chExt cx="0" cy="0"/>
        </a:xfrm>
      </p:grpSpPr>
      <p:sp>
        <p:nvSpPr>
          <p:cNvPr id="2" name="Text 0"/>
          <p:cNvSpPr/>
          <p:nvPr/>
        </p:nvSpPr>
        <p:spPr>
          <a:xfrm>
            <a:off x="640080" y="960120"/>
            <a:ext cx="10908792" cy="411480"/>
          </a:xfrm>
          <a:prstGeom prst="rect">
            <a:avLst/>
          </a:prstGeom>
          <a:noFill/>
          <a:ln/>
        </p:spPr>
        <p:txBody>
          <a:bodyPr wrap="square" lIns="0" tIns="0" rIns="0" bIns="0" rtlCol="0" anchor="ctr"/>
          <a:lstStyle/>
          <a:p>
            <a:pPr marL="0" indent="0">
              <a:buNone/>
            </a:pPr>
            <a:r>
              <a:rPr lang="en-US" sz="2200" b="1" dirty="0">
                <a:solidFill>
                  <a:srgbClr val="A8B2C4"/>
                </a:solidFill>
                <a:latin typeface="Arial" pitchFamily="34" charset="0"/>
                <a:ea typeface="Arial" pitchFamily="34" charset="-122"/>
                <a:cs typeface="Arial" pitchFamily="34" charset="-120"/>
              </a:rPr>
              <a:t>The whole of Part Three in one line</a:t>
            </a:r>
            <a:endParaRPr lang="en-US" sz="2200" dirty="0"/>
          </a:p>
        </p:txBody>
      </p:sp>
      <p:sp>
        <p:nvSpPr>
          <p:cNvPr id="3" name="Text 1"/>
          <p:cNvSpPr/>
          <p:nvPr/>
        </p:nvSpPr>
        <p:spPr>
          <a:xfrm>
            <a:off x="640080" y="1828800"/>
            <a:ext cx="10515600" cy="1691640"/>
          </a:xfrm>
          <a:prstGeom prst="rect">
            <a:avLst/>
          </a:prstGeom>
          <a:noFill/>
          <a:ln/>
        </p:spPr>
        <p:txBody>
          <a:bodyPr wrap="square" lIns="0" tIns="0" rIns="0" bIns="0" rtlCol="0" anchor="ctr"/>
          <a:lstStyle/>
          <a:p>
            <a:pPr marL="0" indent="0">
              <a:lnSpc>
                <a:spcPts val="5200"/>
              </a:lnSpc>
              <a:buNone/>
            </a:pPr>
            <a:r>
              <a:rPr lang="en-US" sz="4400" b="1" dirty="0">
                <a:solidFill>
                  <a:srgbClr val="FFFFFF"/>
                </a:solidFill>
                <a:latin typeface="Arial" pitchFamily="34" charset="0"/>
                <a:ea typeface="Arial" pitchFamily="34" charset="-122"/>
                <a:cs typeface="Arial" pitchFamily="34" charset="-120"/>
              </a:rPr>
              <a:t>One stage is new. The other</a:t>
            </a:r>
            <a:endParaRPr lang="en-US" sz="4400" dirty="0"/>
          </a:p>
          <a:p>
            <a:pPr marL="0" indent="0">
              <a:lnSpc>
                <a:spcPts val="5200"/>
              </a:lnSpc>
              <a:buNone/>
            </a:pPr>
            <a:r>
              <a:rPr lang="en-US" sz="4400" b="1" dirty="0">
                <a:solidFill>
                  <a:srgbClr val="FFFFFF"/>
                </a:solidFill>
                <a:latin typeface="Arial" pitchFamily="34" charset="0"/>
                <a:ea typeface="Arial" pitchFamily="34" charset="-122"/>
                <a:cs typeface="Arial" pitchFamily="34" charset="-120"/>
              </a:rPr>
              <a:t>four decide whether it ships.</a:t>
            </a:r>
            <a:endParaRPr lang="en-US" sz="4400" dirty="0"/>
          </a:p>
        </p:txBody>
      </p:sp>
      <p:sp>
        <p:nvSpPr>
          <p:cNvPr id="4" name="Shape 2"/>
          <p:cNvSpPr/>
          <p:nvPr/>
        </p:nvSpPr>
        <p:spPr>
          <a:xfrm>
            <a:off x="640080" y="3931920"/>
            <a:ext cx="10908792" cy="1417320"/>
          </a:xfrm>
          <a:prstGeom prst="roundRect">
            <a:avLst>
              <a:gd name="adj" fmla="val 6452"/>
            </a:avLst>
          </a:prstGeom>
          <a:solidFill>
            <a:srgbClr val="1B2437"/>
          </a:solidFill>
          <a:ln/>
        </p:spPr>
        <p:txBody>
          <a:bodyPr/>
          <a:lstStyle/>
          <a:p>
            <a:endParaRPr lang="en-IN"/>
          </a:p>
        </p:txBody>
      </p:sp>
      <p:sp>
        <p:nvSpPr>
          <p:cNvPr id="5" name="Text 3"/>
          <p:cNvSpPr/>
          <p:nvPr/>
        </p:nvSpPr>
        <p:spPr>
          <a:xfrm>
            <a:off x="1051560" y="3931920"/>
            <a:ext cx="10104120" cy="1417320"/>
          </a:xfrm>
          <a:prstGeom prst="rect">
            <a:avLst/>
          </a:prstGeom>
          <a:noFill/>
          <a:ln/>
        </p:spPr>
        <p:txBody>
          <a:bodyPr wrap="square" lIns="0" tIns="0" rIns="0" bIns="0" rtlCol="0" anchor="ctr"/>
          <a:lstStyle/>
          <a:p>
            <a:pPr marL="0" indent="0">
              <a:lnSpc>
                <a:spcPts val="2400"/>
              </a:lnSpc>
              <a:buNone/>
            </a:pPr>
            <a:r>
              <a:rPr lang="en-US" sz="1550" dirty="0">
                <a:solidFill>
                  <a:srgbClr val="A8B2C4"/>
                </a:solidFill>
                <a:latin typeface="Calibri" pitchFamily="34" charset="0"/>
                <a:ea typeface="Calibri" pitchFamily="34" charset="-122"/>
                <a:cs typeface="Calibri" pitchFamily="34" charset="-120"/>
              </a:rPr>
              <a:t>Ingest, encode, structure and verify are ordinary software engineering - and they are where multimodal projects actually die: on dirty inputs, on a missing evaluation set, on no fallback when the model abstains, and on cost nobody budgeted. Decide where the model runs before you write the proposal, not after.</a:t>
            </a:r>
            <a:endParaRPr lang="en-US" sz="1550" dirty="0"/>
          </a:p>
        </p:txBody>
      </p:sp>
      <p:sp>
        <p:nvSpPr>
          <p:cNvPr id="6" name="Shape 4"/>
          <p:cNvSpPr/>
          <p:nvPr/>
        </p:nvSpPr>
        <p:spPr>
          <a:xfrm>
            <a:off x="640080" y="5806440"/>
            <a:ext cx="137160" cy="137160"/>
          </a:xfrm>
          <a:prstGeom prst="ellipse">
            <a:avLst/>
          </a:prstGeom>
          <a:solidFill>
            <a:srgbClr val="00C2A8"/>
          </a:solidFill>
          <a:ln/>
        </p:spPr>
        <p:txBody>
          <a:bodyPr/>
          <a:lstStyle/>
          <a:p>
            <a:endParaRPr lang="en-IN"/>
          </a:p>
        </p:txBody>
      </p:sp>
      <p:sp>
        <p:nvSpPr>
          <p:cNvPr id="7" name="Shape 5"/>
          <p:cNvSpPr/>
          <p:nvPr/>
        </p:nvSpPr>
        <p:spPr>
          <a:xfrm>
            <a:off x="880110" y="5806440"/>
            <a:ext cx="137160" cy="137160"/>
          </a:xfrm>
          <a:prstGeom prst="ellipse">
            <a:avLst/>
          </a:prstGeom>
          <a:solidFill>
            <a:srgbClr val="FF6B4A"/>
          </a:solidFill>
          <a:ln/>
        </p:spPr>
        <p:txBody>
          <a:bodyPr/>
          <a:lstStyle/>
          <a:p>
            <a:endParaRPr lang="en-IN"/>
          </a:p>
        </p:txBody>
      </p:sp>
      <p:sp>
        <p:nvSpPr>
          <p:cNvPr id="8" name="Shape 6"/>
          <p:cNvSpPr/>
          <p:nvPr/>
        </p:nvSpPr>
        <p:spPr>
          <a:xfrm>
            <a:off x="1120140" y="5806440"/>
            <a:ext cx="137160" cy="137160"/>
          </a:xfrm>
          <a:prstGeom prst="ellipse">
            <a:avLst/>
          </a:prstGeom>
          <a:solidFill>
            <a:srgbClr val="FFC24A"/>
          </a:solidFill>
          <a:ln/>
        </p:spPr>
        <p:txBody>
          <a:bodyPr/>
          <a:lstStyle/>
          <a:p>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0E1524"/>
        </a:solidFill>
        <a:effectLst/>
      </p:bgPr>
    </p:bg>
    <p:spTree>
      <p:nvGrpSpPr>
        <p:cNvPr id="1" name=""/>
        <p:cNvGrpSpPr/>
        <p:nvPr/>
      </p:nvGrpSpPr>
      <p:grpSpPr>
        <a:xfrm>
          <a:off x="0" y="0"/>
          <a:ext cx="0" cy="0"/>
          <a:chOff x="0" y="0"/>
          <a:chExt cx="0" cy="0"/>
        </a:xfrm>
      </p:grpSpPr>
      <p:sp>
        <p:nvSpPr>
          <p:cNvPr id="2" name="Shape 0"/>
          <p:cNvSpPr/>
          <p:nvPr/>
        </p:nvSpPr>
        <p:spPr>
          <a:xfrm>
            <a:off x="640080" y="2331720"/>
            <a:ext cx="164592" cy="164592"/>
          </a:xfrm>
          <a:prstGeom prst="ellipse">
            <a:avLst/>
          </a:prstGeom>
          <a:solidFill>
            <a:srgbClr val="00C2A8"/>
          </a:solidFill>
          <a:ln/>
        </p:spPr>
        <p:txBody>
          <a:bodyPr/>
          <a:lstStyle/>
          <a:p>
            <a:endParaRPr lang="en-IN"/>
          </a:p>
        </p:txBody>
      </p:sp>
      <p:sp>
        <p:nvSpPr>
          <p:cNvPr id="3" name="Shape 1"/>
          <p:cNvSpPr/>
          <p:nvPr/>
        </p:nvSpPr>
        <p:spPr>
          <a:xfrm>
            <a:off x="928116" y="2331720"/>
            <a:ext cx="164592" cy="164592"/>
          </a:xfrm>
          <a:prstGeom prst="ellipse">
            <a:avLst/>
          </a:prstGeom>
          <a:solidFill>
            <a:srgbClr val="FF6B4A"/>
          </a:solidFill>
          <a:ln/>
        </p:spPr>
        <p:txBody>
          <a:bodyPr/>
          <a:lstStyle/>
          <a:p>
            <a:endParaRPr lang="en-IN"/>
          </a:p>
        </p:txBody>
      </p:sp>
      <p:sp>
        <p:nvSpPr>
          <p:cNvPr id="4" name="Shape 2"/>
          <p:cNvSpPr/>
          <p:nvPr/>
        </p:nvSpPr>
        <p:spPr>
          <a:xfrm>
            <a:off x="1216152" y="2331720"/>
            <a:ext cx="164592" cy="164592"/>
          </a:xfrm>
          <a:prstGeom prst="ellipse">
            <a:avLst/>
          </a:prstGeom>
          <a:solidFill>
            <a:srgbClr val="FFC24A"/>
          </a:solidFill>
          <a:ln/>
        </p:spPr>
        <p:txBody>
          <a:bodyPr/>
          <a:lstStyle/>
          <a:p>
            <a:endParaRPr lang="en-IN"/>
          </a:p>
        </p:txBody>
      </p:sp>
      <p:sp>
        <p:nvSpPr>
          <p:cNvPr id="5" name="Text 3"/>
          <p:cNvSpPr/>
          <p:nvPr/>
        </p:nvSpPr>
        <p:spPr>
          <a:xfrm>
            <a:off x="640080" y="2788920"/>
            <a:ext cx="5486400" cy="274320"/>
          </a:xfrm>
          <a:prstGeom prst="rect">
            <a:avLst/>
          </a:prstGeom>
          <a:noFill/>
          <a:ln/>
        </p:spPr>
        <p:txBody>
          <a:bodyPr wrap="square" lIns="0" tIns="0" rIns="0" bIns="0" rtlCol="0" anchor="ctr"/>
          <a:lstStyle/>
          <a:p>
            <a:pPr marL="0" indent="0">
              <a:buNone/>
            </a:pPr>
            <a:r>
              <a:rPr lang="en-US" sz="1300" b="1" kern="0" spc="300" dirty="0">
                <a:solidFill>
                  <a:srgbClr val="00C2A8"/>
                </a:solidFill>
                <a:latin typeface="Arial" pitchFamily="34" charset="0"/>
                <a:ea typeface="Arial" pitchFamily="34" charset="-122"/>
                <a:cs typeface="Arial" pitchFamily="34" charset="-120"/>
              </a:rPr>
              <a:t>PART FOUR</a:t>
            </a:r>
            <a:endParaRPr lang="en-US" sz="1300" dirty="0"/>
          </a:p>
        </p:txBody>
      </p:sp>
      <p:sp>
        <p:nvSpPr>
          <p:cNvPr id="6" name="Text 4"/>
          <p:cNvSpPr/>
          <p:nvPr/>
        </p:nvSpPr>
        <p:spPr>
          <a:xfrm>
            <a:off x="640080" y="3127248"/>
            <a:ext cx="8229600" cy="914400"/>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Research and Teaching</a:t>
            </a:r>
            <a:endParaRPr lang="en-US" sz="5200" dirty="0"/>
          </a:p>
        </p:txBody>
      </p:sp>
      <p:sp>
        <p:nvSpPr>
          <p:cNvPr id="7" name="Text 5"/>
          <p:cNvSpPr/>
          <p:nvPr/>
        </p:nvSpPr>
        <p:spPr>
          <a:xfrm>
            <a:off x="640080" y="4160520"/>
            <a:ext cx="8412480" cy="731520"/>
          </a:xfrm>
          <a:prstGeom prst="rect">
            <a:avLst/>
          </a:prstGeom>
          <a:noFill/>
          <a:ln/>
        </p:spPr>
        <p:txBody>
          <a:bodyPr wrap="square" lIns="0" tIns="0" rIns="0" bIns="0" rtlCol="0" anchor="ctr"/>
          <a:lstStyle/>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Turning the architecture you just saw into a paper, a funded proposal,</a:t>
            </a:r>
            <a:endParaRPr lang="en-US" sz="1600" dirty="0"/>
          </a:p>
          <a:p>
            <a:pPr marL="0" indent="0">
              <a:lnSpc>
                <a:spcPts val="2400"/>
              </a:lnSpc>
              <a:buNone/>
            </a:pPr>
            <a:r>
              <a:rPr lang="en-US" sz="1600" dirty="0">
                <a:solidFill>
                  <a:srgbClr val="A8B2C4"/>
                </a:solidFill>
                <a:latin typeface="Calibri" pitchFamily="34" charset="0"/>
                <a:ea typeface="Calibri" pitchFamily="34" charset="-122"/>
                <a:cs typeface="Calibri" pitchFamily="34" charset="-120"/>
              </a:rPr>
              <a:t>or next semester's lab exercise - which is what this FDP is actually for.</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FOR THE RESEARCHERS</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Where the open problems are</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Ranked roughly by how easy it is to publish something real without a large compute budget.</a:t>
            </a:r>
            <a:endParaRPr lang="en-US" sz="1400" dirty="0"/>
          </a:p>
        </p:txBody>
      </p:sp>
      <p:sp>
        <p:nvSpPr>
          <p:cNvPr id="5" name="Shape 3"/>
          <p:cNvSpPr/>
          <p:nvPr/>
        </p:nvSpPr>
        <p:spPr>
          <a:xfrm>
            <a:off x="640080" y="1965960"/>
            <a:ext cx="10908792" cy="658368"/>
          </a:xfrm>
          <a:prstGeom prst="roundRect">
            <a:avLst>
              <a:gd name="adj" fmla="val 11111"/>
            </a:avLst>
          </a:prstGeom>
          <a:solidFill>
            <a:srgbClr val="F4F6FA"/>
          </a:solidFill>
          <a:ln/>
        </p:spPr>
        <p:txBody>
          <a:bodyPr/>
          <a:lstStyle/>
          <a:p>
            <a:endParaRPr lang="en-IN"/>
          </a:p>
        </p:txBody>
      </p:sp>
      <p:sp>
        <p:nvSpPr>
          <p:cNvPr id="6" name="Text 4"/>
          <p:cNvSpPr/>
          <p:nvPr/>
        </p:nvSpPr>
        <p:spPr>
          <a:xfrm>
            <a:off x="914400" y="1965960"/>
            <a:ext cx="548640" cy="658368"/>
          </a:xfrm>
          <a:prstGeom prst="rect">
            <a:avLst/>
          </a:prstGeom>
          <a:noFill/>
          <a:ln/>
        </p:spPr>
        <p:txBody>
          <a:bodyPr wrap="square" lIns="0" tIns="0" rIns="0" bIns="0" rtlCol="0" anchor="ctr"/>
          <a:lstStyle/>
          <a:p>
            <a:pPr marL="0" indent="0">
              <a:buNone/>
            </a:pPr>
            <a:r>
              <a:rPr lang="en-US" sz="1600" b="1" dirty="0">
                <a:solidFill>
                  <a:srgbClr val="00C2A8"/>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600200" y="196596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Evaluation and benchmarks</a:t>
            </a:r>
            <a:endParaRPr lang="en-US" sz="1400" dirty="0"/>
          </a:p>
        </p:txBody>
      </p:sp>
      <p:sp>
        <p:nvSpPr>
          <p:cNvPr id="8" name="Text 6"/>
          <p:cNvSpPr/>
          <p:nvPr/>
        </p:nvSpPr>
        <p:spPr>
          <a:xfrm>
            <a:off x="4937760" y="1965960"/>
            <a:ext cx="438912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Build a hard, well-documented test set for a domain nobody has covered. Check DocVQA, ChartQA and MMMU first.</a:t>
            </a:r>
            <a:endParaRPr lang="en-US" sz="1250" dirty="0"/>
          </a:p>
        </p:txBody>
      </p:sp>
      <p:sp>
        <p:nvSpPr>
          <p:cNvPr id="9" name="Shape 7"/>
          <p:cNvSpPr/>
          <p:nvPr/>
        </p:nvSpPr>
        <p:spPr>
          <a:xfrm>
            <a:off x="640080" y="2743200"/>
            <a:ext cx="10908792" cy="658368"/>
          </a:xfrm>
          <a:prstGeom prst="roundRect">
            <a:avLst>
              <a:gd name="adj" fmla="val 11111"/>
            </a:avLst>
          </a:prstGeom>
          <a:solidFill>
            <a:srgbClr val="F4F6FA"/>
          </a:solidFill>
          <a:ln/>
        </p:spPr>
        <p:txBody>
          <a:bodyPr/>
          <a:lstStyle/>
          <a:p>
            <a:endParaRPr lang="en-IN"/>
          </a:p>
        </p:txBody>
      </p:sp>
      <p:sp>
        <p:nvSpPr>
          <p:cNvPr id="10" name="Text 8"/>
          <p:cNvSpPr/>
          <p:nvPr/>
        </p:nvSpPr>
        <p:spPr>
          <a:xfrm>
            <a:off x="914400" y="2743200"/>
            <a:ext cx="548640" cy="658368"/>
          </a:xfrm>
          <a:prstGeom prst="rect">
            <a:avLst/>
          </a:prstGeom>
          <a:noFill/>
          <a:ln/>
        </p:spPr>
        <p:txBody>
          <a:bodyPr wrap="square" lIns="0" tIns="0" rIns="0" bIns="0" rtlCol="0" anchor="ctr"/>
          <a:lstStyle/>
          <a:p>
            <a:pPr marL="0" indent="0">
              <a:buNone/>
            </a:pPr>
            <a:r>
              <a:rPr lang="en-US" sz="1600" b="1" dirty="0">
                <a:solidFill>
                  <a:srgbClr val="00C2A8"/>
                </a:solidFill>
                <a:latin typeface="Arial" pitchFamily="34" charset="0"/>
                <a:ea typeface="Arial" pitchFamily="34" charset="-122"/>
                <a:cs typeface="Arial" pitchFamily="34" charset="-120"/>
              </a:rPr>
              <a:t>02</a:t>
            </a:r>
            <a:endParaRPr lang="en-US" sz="1600" dirty="0"/>
          </a:p>
        </p:txBody>
      </p:sp>
      <p:sp>
        <p:nvSpPr>
          <p:cNvPr id="11" name="Text 9"/>
          <p:cNvSpPr/>
          <p:nvPr/>
        </p:nvSpPr>
        <p:spPr>
          <a:xfrm>
            <a:off x="1600200" y="274320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Low-resource language and script</a:t>
            </a:r>
            <a:endParaRPr lang="en-US" sz="1400" dirty="0"/>
          </a:p>
        </p:txBody>
      </p:sp>
      <p:sp>
        <p:nvSpPr>
          <p:cNvPr id="12" name="Text 10"/>
          <p:cNvSpPr/>
          <p:nvPr/>
        </p:nvSpPr>
        <p:spPr>
          <a:xfrm>
            <a:off x="4937760" y="2743200"/>
            <a:ext cx="438912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Devanagari forms, regional handwriting, code-mixed text in images. Underserved and locally relevant.</a:t>
            </a:r>
            <a:endParaRPr lang="en-US" sz="1250" dirty="0"/>
          </a:p>
        </p:txBody>
      </p:sp>
      <p:sp>
        <p:nvSpPr>
          <p:cNvPr id="13" name="Shape 11"/>
          <p:cNvSpPr/>
          <p:nvPr/>
        </p:nvSpPr>
        <p:spPr>
          <a:xfrm>
            <a:off x="640080" y="3520440"/>
            <a:ext cx="10908792" cy="658368"/>
          </a:xfrm>
          <a:prstGeom prst="roundRect">
            <a:avLst>
              <a:gd name="adj" fmla="val 11111"/>
            </a:avLst>
          </a:prstGeom>
          <a:solidFill>
            <a:srgbClr val="F4F6FA"/>
          </a:solidFill>
          <a:ln/>
        </p:spPr>
        <p:txBody>
          <a:bodyPr/>
          <a:lstStyle/>
          <a:p>
            <a:endParaRPr lang="en-IN"/>
          </a:p>
        </p:txBody>
      </p:sp>
      <p:sp>
        <p:nvSpPr>
          <p:cNvPr id="14" name="Text 12"/>
          <p:cNvSpPr/>
          <p:nvPr/>
        </p:nvSpPr>
        <p:spPr>
          <a:xfrm>
            <a:off x="914400" y="3520440"/>
            <a:ext cx="548640" cy="658368"/>
          </a:xfrm>
          <a:prstGeom prst="rect">
            <a:avLst/>
          </a:prstGeom>
          <a:noFill/>
          <a:ln/>
        </p:spPr>
        <p:txBody>
          <a:bodyPr wrap="square" lIns="0" tIns="0" rIns="0" bIns="0" rtlCol="0" anchor="ctr"/>
          <a:lstStyle/>
          <a:p>
            <a:pPr marL="0" indent="0">
              <a:buNone/>
            </a:pPr>
            <a:r>
              <a:rPr lang="en-US" sz="1600" b="1" dirty="0">
                <a:solidFill>
                  <a:srgbClr val="FFC24A"/>
                </a:solidFill>
                <a:latin typeface="Arial" pitchFamily="34" charset="0"/>
                <a:ea typeface="Arial" pitchFamily="34" charset="-122"/>
                <a:cs typeface="Arial" pitchFamily="34" charset="-120"/>
              </a:rPr>
              <a:t>03</a:t>
            </a:r>
            <a:endParaRPr lang="en-US" sz="1600" dirty="0"/>
          </a:p>
        </p:txBody>
      </p:sp>
      <p:sp>
        <p:nvSpPr>
          <p:cNvPr id="15" name="Text 13"/>
          <p:cNvSpPr/>
          <p:nvPr/>
        </p:nvSpPr>
        <p:spPr>
          <a:xfrm>
            <a:off x="1600200" y="352044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Calibration and abstention</a:t>
            </a:r>
            <a:endParaRPr lang="en-US" sz="1400" dirty="0"/>
          </a:p>
        </p:txBody>
      </p:sp>
      <p:sp>
        <p:nvSpPr>
          <p:cNvPr id="16" name="Text 14"/>
          <p:cNvSpPr/>
          <p:nvPr/>
        </p:nvSpPr>
        <p:spPr>
          <a:xfrm>
            <a:off x="4937760" y="3520440"/>
            <a:ext cx="438912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Teaching a model to say it cannot read something. Measurable, and everyone needs it.</a:t>
            </a:r>
            <a:endParaRPr lang="en-US" sz="1250" dirty="0"/>
          </a:p>
        </p:txBody>
      </p:sp>
      <p:sp>
        <p:nvSpPr>
          <p:cNvPr id="17" name="Shape 15"/>
          <p:cNvSpPr/>
          <p:nvPr/>
        </p:nvSpPr>
        <p:spPr>
          <a:xfrm>
            <a:off x="640080" y="4297680"/>
            <a:ext cx="10908792" cy="658368"/>
          </a:xfrm>
          <a:prstGeom prst="roundRect">
            <a:avLst>
              <a:gd name="adj" fmla="val 11111"/>
            </a:avLst>
          </a:prstGeom>
          <a:solidFill>
            <a:srgbClr val="F4F6FA"/>
          </a:solidFill>
          <a:ln/>
        </p:spPr>
        <p:txBody>
          <a:bodyPr/>
          <a:lstStyle/>
          <a:p>
            <a:endParaRPr lang="en-IN"/>
          </a:p>
        </p:txBody>
      </p:sp>
      <p:sp>
        <p:nvSpPr>
          <p:cNvPr id="18" name="Text 16"/>
          <p:cNvSpPr/>
          <p:nvPr/>
        </p:nvSpPr>
        <p:spPr>
          <a:xfrm>
            <a:off x="914400" y="4297680"/>
            <a:ext cx="548640" cy="658368"/>
          </a:xfrm>
          <a:prstGeom prst="rect">
            <a:avLst/>
          </a:prstGeom>
          <a:noFill/>
          <a:ln/>
        </p:spPr>
        <p:txBody>
          <a:bodyPr wrap="square" lIns="0" tIns="0" rIns="0" bIns="0" rtlCol="0" anchor="ctr"/>
          <a:lstStyle/>
          <a:p>
            <a:pPr marL="0" indent="0">
              <a:buNone/>
            </a:pPr>
            <a:r>
              <a:rPr lang="en-US" sz="1600" b="1" dirty="0">
                <a:solidFill>
                  <a:srgbClr val="FFC24A"/>
                </a:solidFill>
                <a:latin typeface="Arial" pitchFamily="34" charset="0"/>
                <a:ea typeface="Arial" pitchFamily="34" charset="-122"/>
                <a:cs typeface="Arial" pitchFamily="34" charset="-120"/>
              </a:rPr>
              <a:t>04</a:t>
            </a:r>
            <a:endParaRPr lang="en-US" sz="1600" dirty="0"/>
          </a:p>
        </p:txBody>
      </p:sp>
      <p:sp>
        <p:nvSpPr>
          <p:cNvPr id="19" name="Text 17"/>
          <p:cNvSpPr/>
          <p:nvPr/>
        </p:nvSpPr>
        <p:spPr>
          <a:xfrm>
            <a:off x="1600200" y="429768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Efficient fusion</a:t>
            </a:r>
            <a:endParaRPr lang="en-US" sz="1400" dirty="0"/>
          </a:p>
        </p:txBody>
      </p:sp>
      <p:sp>
        <p:nvSpPr>
          <p:cNvPr id="20" name="Text 18"/>
          <p:cNvSpPr/>
          <p:nvPr/>
        </p:nvSpPr>
        <p:spPr>
          <a:xfrm>
            <a:off x="4937760" y="4297680"/>
            <a:ext cx="438912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Same accuracy at a fraction of the tokens, and the way into long video. Fits a compute-constrained lab.</a:t>
            </a:r>
            <a:endParaRPr lang="en-US" sz="1250" dirty="0"/>
          </a:p>
        </p:txBody>
      </p:sp>
      <p:sp>
        <p:nvSpPr>
          <p:cNvPr id="21" name="Shape 19"/>
          <p:cNvSpPr/>
          <p:nvPr/>
        </p:nvSpPr>
        <p:spPr>
          <a:xfrm>
            <a:off x="640080" y="5074920"/>
            <a:ext cx="10908792" cy="658368"/>
          </a:xfrm>
          <a:prstGeom prst="roundRect">
            <a:avLst>
              <a:gd name="adj" fmla="val 11111"/>
            </a:avLst>
          </a:prstGeom>
          <a:solidFill>
            <a:srgbClr val="F4F6FA"/>
          </a:solidFill>
          <a:ln/>
        </p:spPr>
        <p:txBody>
          <a:bodyPr/>
          <a:lstStyle/>
          <a:p>
            <a:endParaRPr lang="en-IN"/>
          </a:p>
        </p:txBody>
      </p:sp>
      <p:sp>
        <p:nvSpPr>
          <p:cNvPr id="22" name="Text 20"/>
          <p:cNvSpPr/>
          <p:nvPr/>
        </p:nvSpPr>
        <p:spPr>
          <a:xfrm>
            <a:off x="914400" y="5074920"/>
            <a:ext cx="548640" cy="658368"/>
          </a:xfrm>
          <a:prstGeom prst="rect">
            <a:avLst/>
          </a:prstGeom>
          <a:noFill/>
          <a:ln/>
        </p:spPr>
        <p:txBody>
          <a:bodyPr wrap="square" lIns="0" tIns="0" rIns="0" bIns="0" rtlCol="0" anchor="ctr"/>
          <a:lstStyle/>
          <a:p>
            <a:pPr marL="0" indent="0">
              <a:buNone/>
            </a:pPr>
            <a:r>
              <a:rPr lang="en-US" sz="1600" b="1" dirty="0">
                <a:solidFill>
                  <a:srgbClr val="FF6B4A"/>
                </a:solidFill>
                <a:latin typeface="Arial" pitchFamily="34" charset="0"/>
                <a:ea typeface="Arial" pitchFamily="34" charset="-122"/>
                <a:cs typeface="Arial" pitchFamily="34" charset="-120"/>
              </a:rPr>
              <a:t>05</a:t>
            </a:r>
            <a:endParaRPr lang="en-US" sz="1600" dirty="0"/>
          </a:p>
        </p:txBody>
      </p:sp>
      <p:sp>
        <p:nvSpPr>
          <p:cNvPr id="23" name="Text 21"/>
          <p:cNvSpPr/>
          <p:nvPr/>
        </p:nvSpPr>
        <p:spPr>
          <a:xfrm>
            <a:off x="1600200" y="507492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Domain grounding</a:t>
            </a:r>
            <a:endParaRPr lang="en-US" sz="1400" dirty="0"/>
          </a:p>
        </p:txBody>
      </p:sp>
      <p:sp>
        <p:nvSpPr>
          <p:cNvPr id="24" name="Text 22"/>
          <p:cNvSpPr/>
          <p:nvPr/>
        </p:nvSpPr>
        <p:spPr>
          <a:xfrm>
            <a:off x="4937760" y="5074920"/>
            <a:ext cx="438912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Medical, agricultural or industrial imagery with expert-verified labels, where fine spatial detail decides the answer.</a:t>
            </a:r>
            <a:endParaRPr lang="en-US" sz="1250" dirty="0"/>
          </a:p>
        </p:txBody>
      </p:sp>
      <p:sp>
        <p:nvSpPr>
          <p:cNvPr id="25" name="Text 23"/>
          <p:cNvSpPr/>
          <p:nvPr/>
        </p:nvSpPr>
        <p:spPr>
          <a:xfrm>
            <a:off x="640080" y="5943600"/>
            <a:ext cx="10908792" cy="320040"/>
          </a:xfrm>
          <a:prstGeom prst="rect">
            <a:avLst/>
          </a:prstGeom>
          <a:noFill/>
          <a:ln/>
        </p:spPr>
        <p:txBody>
          <a:bodyPr wrap="square" lIns="0" tIns="0" rIns="0" bIns="0" rtlCol="0" anchor="ctr"/>
          <a:lstStyle/>
          <a:p>
            <a:pPr marL="0" indent="0">
              <a:buNone/>
            </a:pPr>
            <a:r>
              <a:rPr lang="en-US" sz="1400" i="1" dirty="0">
                <a:solidFill>
                  <a:srgbClr val="0E1524"/>
                </a:solidFill>
                <a:latin typeface="Calibri" pitchFamily="34" charset="0"/>
                <a:ea typeface="Calibri" pitchFamily="34" charset="-122"/>
                <a:cs typeface="Calibri" pitchFamily="34" charset="-120"/>
              </a:rPr>
              <a:t>Notice that the top two need almost no GPU. A good dataset paper outlives most model papers.</a:t>
            </a:r>
            <a:endParaRPr lang="en-US" sz="1400" dirty="0"/>
          </a:p>
        </p:txBody>
      </p:sp>
      <p:sp>
        <p:nvSpPr>
          <p:cNvPr id="8" name="Text 6"/>
          <p:cNvSpPr/>
          <p:nvPr/>
        </p:nvSpPr>
        <p:spPr>
          <a:xfrm>
            <a:off x="9540240" y="1965960"/>
            <a:ext cx="1706880" cy="658368"/>
          </a:xfrm>
          <a:prstGeom prst="rect">
            <a:avLst/>
          </a:prstGeom>
          <a:noFill/>
          <a:ln/>
        </p:spPr>
        <p:txBody>
          <a:bodyPr wrap="square" lIns="0" tIns="0" rIns="0" bIns="0" rtlCol="0" anchor="ctr"/>
          <a:lstStyle/>
          <a:p>
            <a:pPr marL="0" indent="0">
              <a:buNone/>
            </a:pPr>
            <a:r>
              <a:rPr lang="en-US" sz="1000" dirty="0">
                <a:solidFill>
                  <a:srgbClr val="0E1524"/>
                </a:solidFill>
                <a:latin typeface="Calibri" pitchFamily="34" charset="0"/>
                <a:ea typeface="Calibri" pitchFamily="34" charset="-122"/>
                <a:cs typeface="Calibri" pitchFamily="34" charset="-120"/>
              </a:rPr>
              <a:t>Coverage, difficulty, agreement</a:t>
            </a:r>
            <a:endParaRPr lang="en-US" sz="1250" dirty="0"/>
          </a:p>
        </p:txBody>
      </p:sp>
      <p:sp>
        <p:nvSpPr>
          <p:cNvPr id="12" name="Text 10"/>
          <p:cNvSpPr/>
          <p:nvPr/>
        </p:nvSpPr>
        <p:spPr>
          <a:xfrm>
            <a:off x="9540240" y="2743200"/>
            <a:ext cx="1706880" cy="658368"/>
          </a:xfrm>
          <a:prstGeom prst="rect">
            <a:avLst/>
          </a:prstGeom>
          <a:noFill/>
          <a:ln/>
        </p:spPr>
        <p:txBody>
          <a:bodyPr wrap="square" lIns="0" tIns="0" rIns="0" bIns="0" rtlCol="0" anchor="ctr"/>
          <a:lstStyle/>
          <a:p>
            <a:pPr marL="0" indent="0">
              <a:buNone/>
            </a:pPr>
            <a:r>
              <a:rPr lang="en-US" sz="1000" dirty="0">
                <a:solidFill>
                  <a:srgbClr val="0E1524"/>
                </a:solidFill>
                <a:latin typeface="Calibri" pitchFamily="34" charset="0"/>
                <a:ea typeface="Calibri" pitchFamily="34" charset="-122"/>
                <a:cs typeface="Calibri" pitchFamily="34" charset="-120"/>
              </a:rPr>
              <a:t>Field-level F1 by script</a:t>
            </a:r>
            <a:endParaRPr lang="en-US" sz="1250" dirty="0"/>
          </a:p>
        </p:txBody>
      </p:sp>
      <p:sp>
        <p:nvSpPr>
          <p:cNvPr id="16" name="Text 14"/>
          <p:cNvSpPr/>
          <p:nvPr/>
        </p:nvSpPr>
        <p:spPr>
          <a:xfrm>
            <a:off x="9540240" y="3520440"/>
            <a:ext cx="1706880" cy="658368"/>
          </a:xfrm>
          <a:prstGeom prst="rect">
            <a:avLst/>
          </a:prstGeom>
          <a:noFill/>
          <a:ln/>
        </p:spPr>
        <p:txBody>
          <a:bodyPr wrap="square" lIns="0" tIns="0" rIns="0" bIns="0" rtlCol="0" anchor="ctr"/>
          <a:lstStyle/>
          <a:p>
            <a:pPr marL="0" indent="0">
              <a:buNone/>
            </a:pPr>
            <a:r>
              <a:rPr lang="en-US" sz="1000" dirty="0">
                <a:solidFill>
                  <a:srgbClr val="0E1524"/>
                </a:solidFill>
                <a:latin typeface="Calibri" pitchFamily="34" charset="0"/>
                <a:ea typeface="Calibri" pitchFamily="34" charset="-122"/>
                <a:cs typeface="Calibri" pitchFamily="34" charset="-120"/>
              </a:rPr>
              <a:t>ECE and selective risk</a:t>
            </a:r>
            <a:endParaRPr lang="en-US" sz="1250" dirty="0"/>
          </a:p>
        </p:txBody>
      </p:sp>
      <p:sp>
        <p:nvSpPr>
          <p:cNvPr id="20" name="Text 18"/>
          <p:cNvSpPr/>
          <p:nvPr/>
        </p:nvSpPr>
        <p:spPr>
          <a:xfrm>
            <a:off x="9540240" y="4297680"/>
            <a:ext cx="1706880" cy="658368"/>
          </a:xfrm>
          <a:prstGeom prst="rect">
            <a:avLst/>
          </a:prstGeom>
          <a:noFill/>
          <a:ln/>
        </p:spPr>
        <p:txBody>
          <a:bodyPr wrap="square" lIns="0" tIns="0" rIns="0" bIns="0" rtlCol="0" anchor="ctr"/>
          <a:lstStyle/>
          <a:p>
            <a:pPr marL="0" indent="0">
              <a:buNone/>
            </a:pPr>
            <a:r>
              <a:rPr lang="en-US" sz="1000" dirty="0">
                <a:solidFill>
                  <a:srgbClr val="0E1524"/>
                </a:solidFill>
                <a:latin typeface="Calibri" pitchFamily="34" charset="0"/>
                <a:ea typeface="Calibri" pitchFamily="34" charset="-122"/>
                <a:cs typeface="Calibri" pitchFamily="34" charset="-120"/>
              </a:rPr>
              <a:t>Accuracy per token and rupee</a:t>
            </a:r>
            <a:endParaRPr lang="en-US" sz="1250" dirty="0"/>
          </a:p>
        </p:txBody>
      </p:sp>
      <p:sp>
        <p:nvSpPr>
          <p:cNvPr id="24" name="Text 22"/>
          <p:cNvSpPr/>
          <p:nvPr/>
        </p:nvSpPr>
        <p:spPr>
          <a:xfrm>
            <a:off x="9540240" y="5074920"/>
            <a:ext cx="1706880" cy="658368"/>
          </a:xfrm>
          <a:prstGeom prst="rect">
            <a:avLst/>
          </a:prstGeom>
          <a:noFill/>
          <a:ln/>
        </p:spPr>
        <p:txBody>
          <a:bodyPr wrap="square" lIns="0" tIns="0" rIns="0" bIns="0" rtlCol="0" anchor="ctr"/>
          <a:lstStyle/>
          <a:p>
            <a:pPr marL="0" indent="0">
              <a:buNone/>
            </a:pPr>
            <a:r>
              <a:rPr lang="en-US" sz="1000" dirty="0">
                <a:solidFill>
                  <a:srgbClr val="0E1524"/>
                </a:solidFill>
                <a:latin typeface="Calibri" pitchFamily="34" charset="0"/>
                <a:ea typeface="Calibri" pitchFamily="34" charset="-122"/>
                <a:cs typeface="Calibri" pitchFamily="34" charset="-120"/>
              </a:rPr>
              <a:t>Expert agreement, localisation error</a:t>
            </a:r>
            <a:endParaRPr lang="en-US" sz="1250" dirty="0"/>
          </a:p>
        </p:txBody>
      </p:sp>
      <p:sp>
        <p:nvSpPr>
          <p:cNvPr id="2" name="Text 0"/>
          <p:cNvSpPr/>
          <p:nvPr/>
        </p:nvSpPr>
        <p:spPr>
          <a:xfrm>
            <a:off x="9540240" y="1755648"/>
            <a:ext cx="1706880" cy="190000"/>
          </a:xfrm>
          <a:prstGeom prst="rect">
            <a:avLst/>
          </a:prstGeom>
          <a:noFill/>
          <a:ln/>
        </p:spPr>
        <p:txBody>
          <a:bodyPr wrap="square" lIns="0" tIns="0" rIns="0" bIns="0" rtlCol="0" anchor="ctr"/>
          <a:lstStyle/>
          <a:p>
            <a:pPr marL="0" indent="0">
              <a:buNone/>
            </a:pPr>
            <a:r>
              <a:rPr lang="en-US" sz="900" b="1" kern="0" spc="200" dirty="0">
                <a:solidFill>
                  <a:srgbClr val="FF6B4A"/>
                </a:solidFill>
                <a:latin typeface="Arial" pitchFamily="34" charset="0"/>
                <a:ea typeface="Arial" pitchFamily="34" charset="-122"/>
                <a:cs typeface="Arial" pitchFamily="34" charset="-120"/>
              </a:rPr>
              <a:t>HOW TO MEASURE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FOR THE RESEARCHERS</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What to cite, and what will date</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Two that will still be right in five years. Three that need re-checking before you submit.</a:t>
            </a:r>
            <a:endParaRPr lang="en-US" sz="1400" dirty="0"/>
          </a:p>
        </p:txBody>
      </p:sp>
      <p:sp>
        <p:nvSpPr>
          <p:cNvPr id="5" name="Shape 3"/>
          <p:cNvSpPr/>
          <p:nvPr/>
        </p:nvSpPr>
        <p:spPr>
          <a:xfrm>
            <a:off x="640080" y="1965960"/>
            <a:ext cx="10908792" cy="658368"/>
          </a:xfrm>
          <a:prstGeom prst="roundRect">
            <a:avLst>
              <a:gd name="adj" fmla="val 11111"/>
            </a:avLst>
          </a:prstGeom>
          <a:solidFill>
            <a:srgbClr val="F4F6FA"/>
          </a:solidFill>
          <a:ln/>
        </p:spPr>
        <p:txBody>
          <a:bodyPr/>
          <a:lstStyle/>
          <a:p>
            <a:endParaRPr lang="en-IN"/>
          </a:p>
        </p:txBody>
      </p:sp>
      <p:sp>
        <p:nvSpPr>
          <p:cNvPr id="6" name="Text 4"/>
          <p:cNvSpPr/>
          <p:nvPr/>
        </p:nvSpPr>
        <p:spPr>
          <a:xfrm>
            <a:off x="914400" y="1965960"/>
            <a:ext cx="548640" cy="658368"/>
          </a:xfrm>
          <a:prstGeom prst="rect">
            <a:avLst/>
          </a:prstGeom>
          <a:noFill/>
          <a:ln/>
        </p:spPr>
        <p:txBody>
          <a:bodyPr wrap="square" lIns="0" tIns="0" rIns="0" bIns="0" rtlCol="0" anchor="ctr"/>
          <a:lstStyle/>
          <a:p>
            <a:pPr marL="0" indent="0">
              <a:buNone/>
            </a:pPr>
            <a:r>
              <a:rPr lang="en-US" sz="1600" b="1" dirty="0">
                <a:solidFill>
                  <a:srgbClr val="00C2A8"/>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600200" y="196596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CLIP - Radford et al., 2021</a:t>
            </a:r>
            <a:endParaRPr lang="en-US" sz="1400" dirty="0"/>
          </a:p>
        </p:txBody>
      </p:sp>
      <p:sp>
        <p:nvSpPr>
          <p:cNvPr id="8" name="Text 6"/>
          <p:cNvSpPr/>
          <p:nvPr/>
        </p:nvSpPr>
        <p:spPr>
          <a:xfrm>
            <a:off x="4937760" y="1965960"/>
            <a:ext cx="630936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Contrastive image-text pretraining. The shared space on slide 9 begins here.</a:t>
            </a:r>
            <a:endParaRPr lang="en-US" sz="1250" dirty="0"/>
          </a:p>
        </p:txBody>
      </p:sp>
      <p:sp>
        <p:nvSpPr>
          <p:cNvPr id="9" name="Shape 7"/>
          <p:cNvSpPr/>
          <p:nvPr/>
        </p:nvSpPr>
        <p:spPr>
          <a:xfrm>
            <a:off x="640080" y="2743200"/>
            <a:ext cx="10908792" cy="658368"/>
          </a:xfrm>
          <a:prstGeom prst="roundRect">
            <a:avLst>
              <a:gd name="adj" fmla="val 11111"/>
            </a:avLst>
          </a:prstGeom>
          <a:solidFill>
            <a:srgbClr val="F4F6FA"/>
          </a:solidFill>
          <a:ln/>
        </p:spPr>
        <p:txBody>
          <a:bodyPr/>
          <a:lstStyle/>
          <a:p>
            <a:endParaRPr lang="en-IN"/>
          </a:p>
        </p:txBody>
      </p:sp>
      <p:sp>
        <p:nvSpPr>
          <p:cNvPr id="10" name="Text 8"/>
          <p:cNvSpPr/>
          <p:nvPr/>
        </p:nvSpPr>
        <p:spPr>
          <a:xfrm>
            <a:off x="914400" y="2743200"/>
            <a:ext cx="548640" cy="658368"/>
          </a:xfrm>
          <a:prstGeom prst="rect">
            <a:avLst/>
          </a:prstGeom>
          <a:noFill/>
          <a:ln/>
        </p:spPr>
        <p:txBody>
          <a:bodyPr wrap="square" lIns="0" tIns="0" rIns="0" bIns="0" rtlCol="0" anchor="ctr"/>
          <a:lstStyle/>
          <a:p>
            <a:pPr marL="0" indent="0">
              <a:buNone/>
            </a:pPr>
            <a:r>
              <a:rPr lang="en-US" sz="1600" b="1" dirty="0">
                <a:solidFill>
                  <a:srgbClr val="00C2A8"/>
                </a:solidFill>
                <a:latin typeface="Arial" pitchFamily="34" charset="0"/>
                <a:ea typeface="Arial" pitchFamily="34" charset="-122"/>
                <a:cs typeface="Arial" pitchFamily="34" charset="-120"/>
              </a:rPr>
              <a:t>02</a:t>
            </a:r>
            <a:endParaRPr lang="en-US" sz="1600" dirty="0"/>
          </a:p>
        </p:txBody>
      </p:sp>
      <p:sp>
        <p:nvSpPr>
          <p:cNvPr id="11" name="Text 9"/>
          <p:cNvSpPr/>
          <p:nvPr/>
        </p:nvSpPr>
        <p:spPr>
          <a:xfrm>
            <a:off x="1600200" y="274320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Liang et al., 2022 (CMU survey)</a:t>
            </a:r>
            <a:endParaRPr lang="en-US" sz="1400" dirty="0"/>
          </a:p>
        </p:txBody>
      </p:sp>
      <p:sp>
        <p:nvSpPr>
          <p:cNvPr id="12" name="Text 10"/>
          <p:cNvSpPr/>
          <p:nvPr/>
        </p:nvSpPr>
        <p:spPr>
          <a:xfrm>
            <a:off x="4937760" y="2743200"/>
            <a:ext cx="630936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arXiv 2209.03430. Representation, alignment, reasoning, generation, transference, quantification.</a:t>
            </a:r>
            <a:endParaRPr lang="en-US" sz="1250" dirty="0"/>
          </a:p>
        </p:txBody>
      </p:sp>
      <p:sp>
        <p:nvSpPr>
          <p:cNvPr id="13" name="Shape 11"/>
          <p:cNvSpPr/>
          <p:nvPr/>
        </p:nvSpPr>
        <p:spPr>
          <a:xfrm>
            <a:off x="640080" y="3520440"/>
            <a:ext cx="10908792" cy="658368"/>
          </a:xfrm>
          <a:prstGeom prst="roundRect">
            <a:avLst>
              <a:gd name="adj" fmla="val 11111"/>
            </a:avLst>
          </a:prstGeom>
          <a:solidFill>
            <a:srgbClr val="F4F6FA"/>
          </a:solidFill>
          <a:ln/>
        </p:spPr>
        <p:txBody>
          <a:bodyPr/>
          <a:lstStyle/>
          <a:p>
            <a:endParaRPr lang="en-IN"/>
          </a:p>
        </p:txBody>
      </p:sp>
      <p:sp>
        <p:nvSpPr>
          <p:cNvPr id="14" name="Text 12"/>
          <p:cNvSpPr/>
          <p:nvPr/>
        </p:nvSpPr>
        <p:spPr>
          <a:xfrm>
            <a:off x="914400" y="3520440"/>
            <a:ext cx="548640" cy="658368"/>
          </a:xfrm>
          <a:prstGeom prst="rect">
            <a:avLst/>
          </a:prstGeom>
          <a:noFill/>
          <a:ln/>
        </p:spPr>
        <p:txBody>
          <a:bodyPr wrap="square" lIns="0" tIns="0" rIns="0" bIns="0" rtlCol="0" anchor="ctr"/>
          <a:lstStyle/>
          <a:p>
            <a:pPr marL="0" indent="0">
              <a:buNone/>
            </a:pPr>
            <a:r>
              <a:rPr lang="en-US" sz="1600" b="1" dirty="0">
                <a:solidFill>
                  <a:srgbClr val="FFC24A"/>
                </a:solidFill>
                <a:latin typeface="Arial" pitchFamily="34" charset="0"/>
                <a:ea typeface="Arial" pitchFamily="34" charset="-122"/>
                <a:cs typeface="Arial" pitchFamily="34" charset="-120"/>
              </a:rPr>
              <a:t>03</a:t>
            </a:r>
            <a:endParaRPr lang="en-US" sz="1600" dirty="0"/>
          </a:p>
        </p:txBody>
      </p:sp>
      <p:sp>
        <p:nvSpPr>
          <p:cNvPr id="15" name="Text 13"/>
          <p:cNvSpPr/>
          <p:nvPr/>
        </p:nvSpPr>
        <p:spPr>
          <a:xfrm>
            <a:off x="1600200" y="352044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Yin et al., 2023 (MLLM survey)</a:t>
            </a:r>
            <a:endParaRPr lang="en-US" sz="1400" dirty="0"/>
          </a:p>
        </p:txBody>
      </p:sp>
      <p:sp>
        <p:nvSpPr>
          <p:cNvPr id="16" name="Text 14"/>
          <p:cNvSpPr/>
          <p:nvPr/>
        </p:nvSpPr>
        <p:spPr>
          <a:xfrm>
            <a:off x="4937760" y="3520440"/>
            <a:ext cx="630936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arXiv 2306.13549. The standard MLLM survey; also in National Science Review, 2024.</a:t>
            </a:r>
            <a:endParaRPr lang="en-US" sz="1250" dirty="0"/>
          </a:p>
        </p:txBody>
      </p:sp>
      <p:sp>
        <p:nvSpPr>
          <p:cNvPr id="17" name="Shape 15"/>
          <p:cNvSpPr/>
          <p:nvPr/>
        </p:nvSpPr>
        <p:spPr>
          <a:xfrm>
            <a:off x="640080" y="4297680"/>
            <a:ext cx="10908792" cy="658368"/>
          </a:xfrm>
          <a:prstGeom prst="roundRect">
            <a:avLst>
              <a:gd name="adj" fmla="val 11111"/>
            </a:avLst>
          </a:prstGeom>
          <a:solidFill>
            <a:srgbClr val="F4F6FA"/>
          </a:solidFill>
          <a:ln/>
        </p:spPr>
        <p:txBody>
          <a:bodyPr/>
          <a:lstStyle/>
          <a:p>
            <a:endParaRPr lang="en-IN"/>
          </a:p>
        </p:txBody>
      </p:sp>
      <p:sp>
        <p:nvSpPr>
          <p:cNvPr id="18" name="Text 16"/>
          <p:cNvSpPr/>
          <p:nvPr/>
        </p:nvSpPr>
        <p:spPr>
          <a:xfrm>
            <a:off x="914400" y="4297680"/>
            <a:ext cx="548640" cy="658368"/>
          </a:xfrm>
          <a:prstGeom prst="rect">
            <a:avLst/>
          </a:prstGeom>
          <a:noFill/>
          <a:ln/>
        </p:spPr>
        <p:txBody>
          <a:bodyPr wrap="square" lIns="0" tIns="0" rIns="0" bIns="0" rtlCol="0" anchor="ctr"/>
          <a:lstStyle/>
          <a:p>
            <a:pPr marL="0" indent="0">
              <a:buNone/>
            </a:pPr>
            <a:r>
              <a:rPr lang="en-US" sz="1600" b="1" dirty="0">
                <a:solidFill>
                  <a:srgbClr val="FFC24A"/>
                </a:solidFill>
                <a:latin typeface="Arial" pitchFamily="34" charset="0"/>
                <a:ea typeface="Arial" pitchFamily="34" charset="-122"/>
                <a:cs typeface="Arial" pitchFamily="34" charset="-120"/>
              </a:rPr>
              <a:t>04</a:t>
            </a:r>
            <a:endParaRPr lang="en-US" sz="1600" dirty="0"/>
          </a:p>
        </p:txBody>
      </p:sp>
      <p:sp>
        <p:nvSpPr>
          <p:cNvPr id="19" name="Text 17"/>
          <p:cNvSpPr/>
          <p:nvPr/>
        </p:nvSpPr>
        <p:spPr>
          <a:xfrm>
            <a:off x="1600200" y="429768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Li and Lu, 2024 (benchmarks)</a:t>
            </a:r>
            <a:endParaRPr lang="en-US" sz="1400" dirty="0"/>
          </a:p>
        </p:txBody>
      </p:sp>
      <p:sp>
        <p:nvSpPr>
          <p:cNvPr id="20" name="Text 18"/>
          <p:cNvSpPr/>
          <p:nvPr/>
        </p:nvSpPr>
        <p:spPr>
          <a:xfrm>
            <a:off x="4937760" y="4297680"/>
            <a:ext cx="630936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arXiv 2408.08632. The paper reviews 200 benchmarks and the index keeps growing. Check before claiming novelty.</a:t>
            </a:r>
            <a:endParaRPr lang="en-US" sz="1250" dirty="0"/>
          </a:p>
        </p:txBody>
      </p:sp>
      <p:sp>
        <p:nvSpPr>
          <p:cNvPr id="21" name="Shape 19"/>
          <p:cNvSpPr/>
          <p:nvPr/>
        </p:nvSpPr>
        <p:spPr>
          <a:xfrm>
            <a:off x="640080" y="5074920"/>
            <a:ext cx="10908792" cy="658368"/>
          </a:xfrm>
          <a:prstGeom prst="roundRect">
            <a:avLst>
              <a:gd name="adj" fmla="val 11111"/>
            </a:avLst>
          </a:prstGeom>
          <a:solidFill>
            <a:srgbClr val="F4F6FA"/>
          </a:solidFill>
          <a:ln/>
        </p:spPr>
        <p:txBody>
          <a:bodyPr/>
          <a:lstStyle/>
          <a:p>
            <a:endParaRPr lang="en-IN"/>
          </a:p>
        </p:txBody>
      </p:sp>
      <p:sp>
        <p:nvSpPr>
          <p:cNvPr id="22" name="Text 20"/>
          <p:cNvSpPr/>
          <p:nvPr/>
        </p:nvSpPr>
        <p:spPr>
          <a:xfrm>
            <a:off x="914400" y="5074920"/>
            <a:ext cx="548640" cy="658368"/>
          </a:xfrm>
          <a:prstGeom prst="rect">
            <a:avLst/>
          </a:prstGeom>
          <a:noFill/>
          <a:ln/>
        </p:spPr>
        <p:txBody>
          <a:bodyPr wrap="square" lIns="0" tIns="0" rIns="0" bIns="0" rtlCol="0" anchor="ctr"/>
          <a:lstStyle/>
          <a:p>
            <a:pPr marL="0" indent="0">
              <a:buNone/>
            </a:pPr>
            <a:r>
              <a:rPr lang="en-US" sz="1600" b="1" dirty="0">
                <a:solidFill>
                  <a:srgbClr val="FF6B4A"/>
                </a:solidFill>
                <a:latin typeface="Arial" pitchFamily="34" charset="0"/>
                <a:ea typeface="Arial" pitchFamily="34" charset="-122"/>
                <a:cs typeface="Arial" pitchFamily="34" charset="-120"/>
              </a:rPr>
              <a:t>05</a:t>
            </a:r>
            <a:endParaRPr lang="en-US" sz="1600" dirty="0"/>
          </a:p>
        </p:txBody>
      </p:sp>
      <p:sp>
        <p:nvSpPr>
          <p:cNvPr id="23" name="Text 21"/>
          <p:cNvSpPr/>
          <p:nvPr/>
        </p:nvSpPr>
        <p:spPr>
          <a:xfrm>
            <a:off x="1600200" y="5074920"/>
            <a:ext cx="3200400" cy="658368"/>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Qwen3-VL - Bai et al., 2025</a:t>
            </a:r>
            <a:endParaRPr lang="en-US" sz="1400" dirty="0"/>
          </a:p>
        </p:txBody>
      </p:sp>
      <p:sp>
        <p:nvSpPr>
          <p:cNvPr id="24" name="Text 22"/>
          <p:cNvSpPr/>
          <p:nvPr/>
        </p:nvSpPr>
        <p:spPr>
          <a:xfrm>
            <a:off x="4937760" y="5074920"/>
            <a:ext cx="6309360" cy="65836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arXiv 2511.21631. Current open reference. Gemma 3 is 2503.19786. Both will date fast.</a:t>
            </a:r>
            <a:endParaRPr lang="en-US" sz="1250" dirty="0"/>
          </a:p>
        </p:txBody>
      </p:sp>
      <p:sp>
        <p:nvSpPr>
          <p:cNvPr id="25" name="Text 23"/>
          <p:cNvSpPr/>
          <p:nvPr/>
        </p:nvSpPr>
        <p:spPr>
          <a:xfrm>
            <a:off x="640080" y="5943600"/>
            <a:ext cx="10908792" cy="320040"/>
          </a:xfrm>
          <a:prstGeom prst="rect">
            <a:avLst/>
          </a:prstGeom>
          <a:noFill/>
          <a:ln/>
        </p:spPr>
        <p:txBody>
          <a:bodyPr wrap="square" lIns="0" tIns="0" rIns="0" bIns="0" rtlCol="0" anchor="ctr"/>
          <a:lstStyle/>
          <a:p>
            <a:pPr marL="0" indent="0">
              <a:buNone/>
            </a:pPr>
            <a:r>
              <a:rPr lang="en-US" sz="1400" i="1" dirty="0">
                <a:solidFill>
                  <a:srgbClr val="0E1524"/>
                </a:solidFill>
                <a:latin typeface="Calibri" pitchFamily="34" charset="0"/>
                <a:ea typeface="Calibri" pitchFamily="34" charset="-122"/>
                <a:cs typeface="Calibri" pitchFamily="34" charset="-120"/>
              </a:rPr>
              <a:t>Rows 1 and 2 anchor your framing. Rows 3 to 5 date fast - re-check them the month you submit.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FOR THE RESEARCHERS</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From a working prototype to a submitted paper</a:t>
            </a:r>
            <a:endParaRPr lang="en-US" sz="3400" dirty="0"/>
          </a:p>
        </p:txBody>
      </p:sp>
      <p:sp>
        <p:nvSpPr>
          <p:cNvPr id="4" name="Shape 2"/>
          <p:cNvSpPr/>
          <p:nvPr/>
        </p:nvSpPr>
        <p:spPr>
          <a:xfrm>
            <a:off x="640080" y="1719072"/>
            <a:ext cx="384048" cy="384048"/>
          </a:xfrm>
          <a:prstGeom prst="ellipse">
            <a:avLst/>
          </a:prstGeom>
          <a:solidFill>
            <a:srgbClr val="00C2A8"/>
          </a:solidFill>
          <a:ln/>
        </p:spPr>
        <p:txBody>
          <a:bodyPr/>
          <a:lstStyle/>
          <a:p>
            <a:endParaRPr/>
          </a:p>
        </p:txBody>
      </p:sp>
      <p:sp>
        <p:nvSpPr>
          <p:cNvPr id="5" name="Text 3"/>
          <p:cNvSpPr/>
          <p:nvPr/>
        </p:nvSpPr>
        <p:spPr>
          <a:xfrm>
            <a:off x="640080" y="1719072"/>
            <a:ext cx="384048" cy="384048"/>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1234440" y="1645920"/>
            <a:ext cx="3108960" cy="320040"/>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Narrow the claim</a:t>
            </a:r>
            <a:endParaRPr lang="en-US" sz="1550" dirty="0"/>
          </a:p>
        </p:txBody>
      </p:sp>
      <p:sp>
        <p:nvSpPr>
          <p:cNvPr id="7" name="Text 5"/>
          <p:cNvSpPr/>
          <p:nvPr/>
        </p:nvSpPr>
        <p:spPr>
          <a:xfrm>
            <a:off x="1234440" y="1975104"/>
            <a:ext cx="10241280" cy="45720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Not "multimodal AI for healthcare". Instead: "reading handwritten dosage fields on three hospital forms".</a:t>
            </a:r>
            <a:endParaRPr lang="en-US" sz="1300" dirty="0"/>
          </a:p>
        </p:txBody>
      </p:sp>
      <p:sp>
        <p:nvSpPr>
          <p:cNvPr id="8" name="Shape 6"/>
          <p:cNvSpPr/>
          <p:nvPr/>
        </p:nvSpPr>
        <p:spPr>
          <a:xfrm>
            <a:off x="640080" y="2615184"/>
            <a:ext cx="384048" cy="384048"/>
          </a:xfrm>
          <a:prstGeom prst="ellipse">
            <a:avLst/>
          </a:prstGeom>
          <a:solidFill>
            <a:srgbClr val="00C2A8"/>
          </a:solidFill>
          <a:ln/>
        </p:spPr>
        <p:txBody>
          <a:bodyPr/>
          <a:lstStyle/>
          <a:p>
            <a:endParaRPr/>
          </a:p>
        </p:txBody>
      </p:sp>
      <p:sp>
        <p:nvSpPr>
          <p:cNvPr id="9" name="Text 7"/>
          <p:cNvSpPr/>
          <p:nvPr/>
        </p:nvSpPr>
        <p:spPr>
          <a:xfrm>
            <a:off x="640080" y="2615184"/>
            <a:ext cx="384048" cy="384048"/>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1234440" y="2542032"/>
            <a:ext cx="3108960" cy="320040"/>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Build the test set</a:t>
            </a:r>
            <a:endParaRPr lang="en-US" sz="1550" dirty="0"/>
          </a:p>
        </p:txBody>
      </p:sp>
      <p:sp>
        <p:nvSpPr>
          <p:cNvPr id="11" name="Text 9"/>
          <p:cNvSpPr/>
          <p:nvPr/>
        </p:nvSpPr>
        <p:spPr>
          <a:xfrm>
            <a:off x="1234440" y="2871216"/>
            <a:ext cx="10241280" cy="45720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300 to 500 hard examples, expert-labelled, with the disagreements documented.</a:t>
            </a:r>
            <a:endParaRPr lang="en-US" sz="1300" dirty="0"/>
          </a:p>
        </p:txBody>
      </p:sp>
      <p:sp>
        <p:nvSpPr>
          <p:cNvPr id="12" name="Shape 10"/>
          <p:cNvSpPr/>
          <p:nvPr/>
        </p:nvSpPr>
        <p:spPr>
          <a:xfrm>
            <a:off x="640080" y="3511296"/>
            <a:ext cx="384048" cy="384048"/>
          </a:xfrm>
          <a:prstGeom prst="ellipse">
            <a:avLst/>
          </a:prstGeom>
          <a:solidFill>
            <a:srgbClr val="FFC24A"/>
          </a:solidFill>
          <a:ln/>
        </p:spPr>
        <p:txBody>
          <a:bodyPr/>
          <a:lstStyle/>
          <a:p>
            <a:endParaRPr/>
          </a:p>
        </p:txBody>
      </p:sp>
      <p:sp>
        <p:nvSpPr>
          <p:cNvPr id="13" name="Text 11"/>
          <p:cNvSpPr/>
          <p:nvPr/>
        </p:nvSpPr>
        <p:spPr>
          <a:xfrm>
            <a:off x="640080" y="3511296"/>
            <a:ext cx="384048" cy="384048"/>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1234440" y="3438144"/>
            <a:ext cx="3108960" cy="320040"/>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Beat a real baseline</a:t>
            </a:r>
            <a:endParaRPr lang="en-US" sz="1550" dirty="0"/>
          </a:p>
        </p:txBody>
      </p:sp>
      <p:sp>
        <p:nvSpPr>
          <p:cNvPr id="15" name="Text 13"/>
          <p:cNvSpPr/>
          <p:nvPr/>
        </p:nvSpPr>
        <p:spPr>
          <a:xfrm>
            <a:off x="1234440" y="3767328"/>
            <a:ext cx="10241280" cy="45720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Compare against the obvious pipeline. If you do not beat it, report that - negative results on a good benchmark still publish.</a:t>
            </a:r>
            <a:endParaRPr lang="en-US" sz="1300" dirty="0"/>
          </a:p>
        </p:txBody>
      </p:sp>
      <p:sp>
        <p:nvSpPr>
          <p:cNvPr id="16" name="Shape 14"/>
          <p:cNvSpPr/>
          <p:nvPr/>
        </p:nvSpPr>
        <p:spPr>
          <a:xfrm>
            <a:off x="640080" y="4407408"/>
            <a:ext cx="384048" cy="384048"/>
          </a:xfrm>
          <a:prstGeom prst="ellipse">
            <a:avLst/>
          </a:prstGeom>
          <a:solidFill>
            <a:srgbClr val="FFC24A"/>
          </a:solidFill>
          <a:ln/>
        </p:spPr>
        <p:txBody>
          <a:bodyPr/>
          <a:lstStyle/>
          <a:p>
            <a:endParaRPr/>
          </a:p>
        </p:txBody>
      </p:sp>
      <p:sp>
        <p:nvSpPr>
          <p:cNvPr id="17" name="Text 15"/>
          <p:cNvSpPr/>
          <p:nvPr/>
        </p:nvSpPr>
        <p:spPr>
          <a:xfrm>
            <a:off x="640080" y="4407408"/>
            <a:ext cx="384048" cy="384048"/>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4</a:t>
            </a:r>
            <a:endParaRPr lang="en-US" sz="1500" dirty="0"/>
          </a:p>
        </p:txBody>
      </p:sp>
      <p:sp>
        <p:nvSpPr>
          <p:cNvPr id="18" name="Text 16"/>
          <p:cNvSpPr/>
          <p:nvPr/>
        </p:nvSpPr>
        <p:spPr>
          <a:xfrm>
            <a:off x="1234440" y="4334256"/>
            <a:ext cx="3108960" cy="320040"/>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Report the failures</a:t>
            </a:r>
            <a:endParaRPr lang="en-US" sz="1550" dirty="0"/>
          </a:p>
        </p:txBody>
      </p:sp>
      <p:sp>
        <p:nvSpPr>
          <p:cNvPr id="19" name="Text 17"/>
          <p:cNvSpPr/>
          <p:nvPr/>
        </p:nvSpPr>
        <p:spPr>
          <a:xfrm>
            <a:off x="1234440" y="4663440"/>
            <a:ext cx="10241280" cy="45720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A confusion analysis of where it breaks is what reviewers actually read.</a:t>
            </a:r>
            <a:endParaRPr lang="en-US" sz="1300" dirty="0"/>
          </a:p>
        </p:txBody>
      </p:sp>
      <p:sp>
        <p:nvSpPr>
          <p:cNvPr id="20" name="Shape 18"/>
          <p:cNvSpPr/>
          <p:nvPr/>
        </p:nvSpPr>
        <p:spPr>
          <a:xfrm>
            <a:off x="640080" y="5303520"/>
            <a:ext cx="384048" cy="384048"/>
          </a:xfrm>
          <a:prstGeom prst="ellipse">
            <a:avLst/>
          </a:prstGeom>
          <a:solidFill>
            <a:srgbClr val="FF6B4A"/>
          </a:solidFill>
          <a:ln/>
        </p:spPr>
        <p:txBody>
          <a:bodyPr/>
          <a:lstStyle/>
          <a:p>
            <a:endParaRPr/>
          </a:p>
        </p:txBody>
      </p:sp>
      <p:sp>
        <p:nvSpPr>
          <p:cNvPr id="21" name="Text 19"/>
          <p:cNvSpPr/>
          <p:nvPr/>
        </p:nvSpPr>
        <p:spPr>
          <a:xfrm>
            <a:off x="640080" y="5303520"/>
            <a:ext cx="384048" cy="384048"/>
          </a:xfrm>
          <a:prstGeom prst="rect">
            <a:avLst/>
          </a:prstGeom>
          <a:noFill/>
          <a:ln/>
        </p:spPr>
        <p:txBody>
          <a:bodyPr wrap="square" lIns="0" tIns="0" rIns="0" bIns="0" rtlCol="0" anchor="ctr"/>
          <a:lstStyle/>
          <a:p>
            <a:pPr marL="0" indent="0" algn="ctr">
              <a:buNone/>
            </a:pPr>
            <a:r>
              <a:rPr lang="en-US" sz="1500" b="1" dirty="0">
                <a:solidFill>
                  <a:srgbClr val="0E1524"/>
                </a:solidFill>
                <a:latin typeface="Arial" pitchFamily="34" charset="0"/>
                <a:ea typeface="Arial" pitchFamily="34" charset="-122"/>
                <a:cs typeface="Arial" pitchFamily="34" charset="-120"/>
              </a:rPr>
              <a:t>5</a:t>
            </a:r>
            <a:endParaRPr lang="en-US" sz="1500" dirty="0"/>
          </a:p>
        </p:txBody>
      </p:sp>
      <p:sp>
        <p:nvSpPr>
          <p:cNvPr id="22" name="Text 20"/>
          <p:cNvSpPr/>
          <p:nvPr/>
        </p:nvSpPr>
        <p:spPr>
          <a:xfrm>
            <a:off x="1234440" y="5230368"/>
            <a:ext cx="3108960" cy="320040"/>
          </a:xfrm>
          <a:prstGeom prst="rect">
            <a:avLst/>
          </a:prstGeom>
          <a:noFill/>
          <a:ln/>
        </p:spPr>
        <p:txBody>
          <a:bodyPr wrap="square" lIns="0" tIns="0" rIns="0" bIns="0" rtlCol="0" anchor="ctr"/>
          <a:lstStyle/>
          <a:p>
            <a:pPr marL="0" indent="0">
              <a:buNone/>
            </a:pPr>
            <a:r>
              <a:rPr lang="en-US" sz="1550" b="1" dirty="0">
                <a:solidFill>
                  <a:srgbClr val="0E1524"/>
                </a:solidFill>
                <a:latin typeface="Arial" pitchFamily="34" charset="0"/>
                <a:ea typeface="Arial" pitchFamily="34" charset="-122"/>
                <a:cs typeface="Arial" pitchFamily="34" charset="-120"/>
              </a:rPr>
              <a:t>Release the data</a:t>
            </a:r>
            <a:endParaRPr lang="en-US" sz="1550" dirty="0"/>
          </a:p>
        </p:txBody>
      </p:sp>
      <p:sp>
        <p:nvSpPr>
          <p:cNvPr id="23" name="Text 21"/>
          <p:cNvSpPr/>
          <p:nvPr/>
        </p:nvSpPr>
        <p:spPr>
          <a:xfrm>
            <a:off x="1234440" y="5559552"/>
            <a:ext cx="10241280" cy="457200"/>
          </a:xfrm>
          <a:prstGeom prst="rect">
            <a:avLst/>
          </a:prstGeom>
          <a:noFill/>
          <a:ln/>
        </p:spPr>
        <p:txBody>
          <a:bodyPr wrap="square" lIns="0" tIns="0" rIns="0" bIns="0" rtlCol="0" anchor="ctr"/>
          <a:lstStyle/>
          <a:p>
            <a:pPr marL="0" indent="0">
              <a:buNone/>
            </a:pPr>
            <a:r>
              <a:rPr lang="en-US" sz="1300" dirty="0">
                <a:solidFill>
                  <a:srgbClr val="6B7689"/>
                </a:solidFill>
                <a:latin typeface="Calibri" pitchFamily="34" charset="0"/>
                <a:ea typeface="Calibri" pitchFamily="34" charset="-122"/>
                <a:cs typeface="Calibri" pitchFamily="34" charset="-120"/>
              </a:rPr>
              <a:t>The dataset is what gets cited five years later, not the model.</a:t>
            </a:r>
            <a:endParaRPr lang="en-US" sz="1300" dirty="0"/>
          </a:p>
        </p:txBody>
      </p:sp>
      <p:sp>
        <p:nvSpPr>
          <p:cNvPr id="24" name="Text 22"/>
          <p:cNvSpPr/>
          <p:nvPr/>
        </p:nvSpPr>
        <p:spPr>
          <a:xfrm>
            <a:off x="640080" y="6172200"/>
            <a:ext cx="10908792" cy="365760"/>
          </a:xfrm>
          <a:prstGeom prst="rect">
            <a:avLst/>
          </a:prstGeom>
          <a:noFill/>
          <a:ln/>
        </p:spPr>
        <p:txBody>
          <a:bodyPr wrap="square" lIns="0" tIns="0" rIns="0" bIns="0" rtlCol="0" anchor="ctr"/>
          <a:lstStyle/>
          <a:p>
            <a:pPr marL="0" indent="0">
              <a:buNone/>
            </a:pPr>
            <a:r>
              <a:rPr lang="en-US" sz="1250" i="1" dirty="0">
                <a:solidFill>
                  <a:srgbClr val="6B7689"/>
                </a:solidFill>
                <a:latin typeface="Calibri" pitchFamily="34" charset="0"/>
                <a:ea typeface="Calibri" pitchFamily="34" charset="-122"/>
                <a:cs typeface="Calibri" pitchFamily="34" charset="-120"/>
              </a:rPr>
              <a:t>Venues that take this work: ACL, EMNLP, CVPR, ICCV, NeurIPS Datasets and Benchmarks, plus domain journals where a well-evaluated applied system is welcome.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FOR EVERYONE</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The money is allocated. Very little is being claimed.</a:t>
            </a:r>
            <a:endParaRPr lang="en-US" sz="3400" dirty="0"/>
          </a:p>
        </p:txBody>
      </p:sp>
      <p:sp>
        <p:nvSpPr>
          <p:cNvPr id="4" name="Text 2"/>
          <p:cNvSpPr/>
          <p:nvPr/>
        </p:nvSpPr>
        <p:spPr>
          <a:xfrm>
            <a:off x="640080" y="1481328"/>
            <a:ext cx="1024128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IndiaAI Mission: budget estimate against funds actually released, in crore rupees.</a:t>
            </a:r>
            <a:endParaRPr lang="en-US" sz="1400" dirty="0"/>
          </a:p>
        </p:txBody>
      </p:sp>
      <p:graphicFrame>
        <p:nvGraphicFramePr>
          <p:cNvPr id="5" name="Chart 0"/>
          <p:cNvGraphicFramePr/>
          <p:nvPr/>
        </p:nvGraphicFramePr>
        <p:xfrm>
          <a:off x="640080" y="1965960"/>
          <a:ext cx="685800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18120" y="1965960"/>
            <a:ext cx="3730752" cy="3246120"/>
          </a:xfrm>
          <a:prstGeom prst="roundRect">
            <a:avLst>
              <a:gd name="adj" fmla="val 2535"/>
            </a:avLst>
          </a:prstGeom>
          <a:solidFill>
            <a:srgbClr val="0E1524"/>
          </a:solidFill>
          <a:ln/>
          <a:effectLst>
            <a:outerShdw blurRad="101600" dist="12700" dir="5400000" algn="bl" rotWithShape="0">
              <a:srgbClr val="9AA6B8">
                <a:alpha val="18000"/>
              </a:srgbClr>
            </a:outerShdw>
          </a:effectLst>
        </p:spPr>
        <p:txBody>
          <a:bodyPr/>
          <a:lstStyle/>
          <a:p>
            <a:endParaRPr lang="en-IN"/>
          </a:p>
        </p:txBody>
      </p:sp>
      <p:sp>
        <p:nvSpPr>
          <p:cNvPr id="7" name="Text 4"/>
          <p:cNvSpPr/>
          <p:nvPr/>
        </p:nvSpPr>
        <p:spPr>
          <a:xfrm>
            <a:off x="8092440" y="2240280"/>
            <a:ext cx="3200400" cy="320040"/>
          </a:xfrm>
          <a:prstGeom prst="rect">
            <a:avLst/>
          </a:prstGeom>
          <a:noFill/>
          <a:ln/>
        </p:spPr>
        <p:txBody>
          <a:bodyPr wrap="square" lIns="0" tIns="0" rIns="0" bIns="0" rtlCol="0" anchor="ctr"/>
          <a:lstStyle/>
          <a:p>
            <a:pPr marL="0" indent="0">
              <a:buNone/>
            </a:pPr>
            <a:r>
              <a:rPr lang="en-US" sz="1600" b="1" dirty="0">
                <a:solidFill>
                  <a:srgbClr val="FFC24A"/>
                </a:solidFill>
                <a:latin typeface="Arial" pitchFamily="34" charset="0"/>
                <a:ea typeface="Arial" pitchFamily="34" charset="-122"/>
                <a:cs typeface="Arial" pitchFamily="34" charset="-120"/>
              </a:rPr>
              <a:t>Why this gap exists</a:t>
            </a:r>
            <a:endParaRPr lang="en-US" sz="1600" dirty="0"/>
          </a:p>
        </p:txBody>
      </p:sp>
      <p:sp>
        <p:nvSpPr>
          <p:cNvPr id="8" name="Text 5"/>
          <p:cNvSpPr/>
          <p:nvPr/>
        </p:nvSpPr>
        <p:spPr>
          <a:xfrm>
            <a:off x="8092440" y="2697480"/>
            <a:ext cx="3200400" cy="15544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A8B2C4"/>
                </a:solidFill>
                <a:latin typeface="Calibri" pitchFamily="34" charset="0"/>
                <a:ea typeface="Calibri" pitchFamily="34" charset="-122"/>
                <a:cs typeface="Calibri" pitchFamily="34" charset="-120"/>
              </a:rPr>
              <a:t>Few proposals arrive from outside the top institutes</a:t>
            </a:r>
            <a:endParaRPr lang="en-US" sz="1250" dirty="0"/>
          </a:p>
          <a:p>
            <a:pPr marL="342900" indent="-342900">
              <a:spcAft>
                <a:spcPts val="1000"/>
              </a:spcAft>
              <a:buSzPct val="100000"/>
              <a:buChar char="•"/>
            </a:pPr>
            <a:r>
              <a:rPr lang="en-US" sz="1250" dirty="0">
                <a:solidFill>
                  <a:srgbClr val="A8B2C4"/>
                </a:solidFill>
                <a:latin typeface="Calibri" pitchFamily="34" charset="0"/>
                <a:ea typeface="Calibri" pitchFamily="34" charset="-122"/>
                <a:cs typeface="Calibri" pitchFamily="34" charset="-120"/>
              </a:rPr>
              <a:t>Applicants aim too broad, so reviewers cannot score impact</a:t>
            </a:r>
            <a:endParaRPr lang="en-US" sz="1250" dirty="0"/>
          </a:p>
          <a:p>
            <a:pPr marL="342900" indent="-342900">
              <a:spcAft>
                <a:spcPts val="1000"/>
              </a:spcAft>
              <a:buSzPct val="100000"/>
              <a:buChar char="•"/>
            </a:pPr>
            <a:r>
              <a:rPr lang="en-US" sz="1250" dirty="0">
                <a:solidFill>
                  <a:srgbClr val="A8B2C4"/>
                </a:solidFill>
                <a:latin typeface="Calibri" pitchFamily="34" charset="0"/>
                <a:ea typeface="Calibri" pitchFamily="34" charset="-122"/>
                <a:cs typeface="Calibri" pitchFamily="34" charset="-120"/>
              </a:rPr>
              <a:t>Most teams do not know the compute subsidy exists</a:t>
            </a:r>
            <a:endParaRPr lang="en-US" sz="1250" dirty="0"/>
          </a:p>
        </p:txBody>
      </p:sp>
      <p:sp>
        <p:nvSpPr>
          <p:cNvPr id="9" name="Text 6"/>
          <p:cNvSpPr/>
          <p:nvPr/>
        </p:nvSpPr>
        <p:spPr>
          <a:xfrm>
            <a:off x="8092440" y="4343400"/>
            <a:ext cx="3200400" cy="77724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A modest, specific, well-scoped multimodal proposal faces less competition right now than it will in three years.</a:t>
            </a:r>
            <a:endParaRPr lang="en-US" sz="1250" dirty="0"/>
          </a:p>
        </p:txBody>
      </p:sp>
      <p:sp>
        <p:nvSpPr>
          <p:cNvPr id="10" name="Text 7"/>
          <p:cNvSpPr/>
          <p:nvPr/>
        </p:nvSpPr>
        <p:spPr>
          <a:xfrm>
            <a:off x="640080" y="6248400"/>
            <a:ext cx="10908792" cy="400000"/>
          </a:xfrm>
          <a:prstGeom prst="rect">
            <a:avLst/>
          </a:prstGeom>
          <a:noFill/>
          <a:ln/>
        </p:spPr>
        <p:txBody>
          <a:bodyPr wrap="square" lIns="0" tIns="0" rIns="0" bIns="0" rtlCol="0" anchor="ctr"/>
          <a:lstStyle/>
          <a:p>
            <a:pPr marL="0" indent="0">
              <a:buNone/>
            </a:pPr>
            <a:r>
              <a:rPr lang="en-US" sz="950" dirty="0">
                <a:solidFill>
                  <a:srgbClr val="6B7689"/>
                </a:solidFill>
                <a:latin typeface="Calibri" pitchFamily="34" charset="0"/>
                <a:ea typeface="Calibri" pitchFamily="34" charset="-122"/>
                <a:cs typeface="Calibri" pitchFamily="34" charset="-120"/>
              </a:rPr>
              <a:t>Figures current as of August 2026 - verify allocations and live call windows before presenting. Sources: MeitY Rajya Sabha reply, 9 Feb 2026; Union Budget 2026-27. Revised estimates were lower than the budget estimates shown (Rs 173 cr for FY25 and Rs 800 cr for FY26). Total mission outlay is Rs 10,371.92 crore over five years.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FOR EVERYONE</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Where to actually apply</a:t>
            </a:r>
            <a:endParaRPr lang="en-US" sz="3400" dirty="0"/>
          </a:p>
        </p:txBody>
      </p:sp>
      <p:sp>
        <p:nvSpPr>
          <p:cNvPr id="4" name="Shape 2"/>
          <p:cNvSpPr/>
          <p:nvPr/>
        </p:nvSpPr>
        <p:spPr>
          <a:xfrm>
            <a:off x="640080" y="1645920"/>
            <a:ext cx="10908792" cy="749808"/>
          </a:xfrm>
          <a:prstGeom prst="roundRect">
            <a:avLst>
              <a:gd name="adj" fmla="val 9756"/>
            </a:avLst>
          </a:prstGeom>
          <a:solidFill>
            <a:srgbClr val="F4F6FA"/>
          </a:solidFill>
          <a:ln/>
        </p:spPr>
        <p:txBody>
          <a:bodyPr/>
          <a:lstStyle/>
          <a:p>
            <a:endParaRPr lang="en-IN"/>
          </a:p>
        </p:txBody>
      </p:sp>
      <p:sp>
        <p:nvSpPr>
          <p:cNvPr id="5" name="Shape 3"/>
          <p:cNvSpPr/>
          <p:nvPr/>
        </p:nvSpPr>
        <p:spPr>
          <a:xfrm>
            <a:off x="896112" y="1911096"/>
            <a:ext cx="219456" cy="219456"/>
          </a:xfrm>
          <a:prstGeom prst="ellipse">
            <a:avLst/>
          </a:prstGeom>
          <a:solidFill>
            <a:srgbClr val="00C2A8"/>
          </a:solidFill>
          <a:ln/>
        </p:spPr>
        <p:txBody>
          <a:bodyPr/>
          <a:lstStyle/>
          <a:p>
            <a:endParaRPr lang="en-IN"/>
          </a:p>
        </p:txBody>
      </p:sp>
      <p:sp>
        <p:nvSpPr>
          <p:cNvPr id="6" name="Text 4"/>
          <p:cNvSpPr/>
          <p:nvPr/>
        </p:nvSpPr>
        <p:spPr>
          <a:xfrm>
            <a:off x="1261872" y="1719072"/>
            <a:ext cx="192024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ANRF</a:t>
            </a:r>
            <a:endParaRPr lang="en-US" sz="1450" dirty="0"/>
          </a:p>
        </p:txBody>
      </p:sp>
      <p:sp>
        <p:nvSpPr>
          <p:cNvPr id="7" name="Text 5"/>
          <p:cNvSpPr/>
          <p:nvPr/>
        </p:nvSpPr>
        <p:spPr>
          <a:xfrm>
            <a:off x="1261872" y="2029968"/>
            <a:ext cx="2377440" cy="274320"/>
          </a:xfrm>
          <a:prstGeom prst="rect">
            <a:avLst/>
          </a:prstGeom>
          <a:noFill/>
          <a:ln/>
        </p:spPr>
        <p:txBody>
          <a:bodyPr wrap="square" lIns="0" tIns="0" rIns="0" bIns="0" rtlCol="0" anchor="ctr"/>
          <a:lstStyle/>
          <a:p>
            <a:pPr marL="0" indent="0">
              <a:buNone/>
            </a:pPr>
            <a:r>
              <a:rPr lang="en-US" sz="1150" dirty="0">
                <a:solidFill>
                  <a:srgbClr val="00C2A8"/>
                </a:solidFill>
                <a:latin typeface="Calibri" pitchFamily="34" charset="0"/>
                <a:ea typeface="Calibri" pitchFamily="34" charset="-122"/>
                <a:cs typeface="Calibri" pitchFamily="34" charset="-120"/>
              </a:rPr>
              <a:t>Advanced Research Grant</a:t>
            </a:r>
            <a:endParaRPr lang="en-US" sz="1150" dirty="0"/>
          </a:p>
        </p:txBody>
      </p:sp>
      <p:sp>
        <p:nvSpPr>
          <p:cNvPr id="8" name="Text 6"/>
          <p:cNvSpPr/>
          <p:nvPr/>
        </p:nvSpPr>
        <p:spPr>
          <a:xfrm>
            <a:off x="3840480" y="1645920"/>
            <a:ext cx="7406640" cy="74980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Replaced SERB under the ANRF Act 2023. ARG subsumes the old Core Research Grant, covers TRL 1 to 6 and funds up to Rs 5 crore. The 2026 pre-proposal window closed on 10 June; the next opens around May.</a:t>
            </a:r>
            <a:endParaRPr lang="en-US" sz="1250" dirty="0"/>
          </a:p>
        </p:txBody>
      </p:sp>
      <p:sp>
        <p:nvSpPr>
          <p:cNvPr id="9" name="Shape 7"/>
          <p:cNvSpPr/>
          <p:nvPr/>
        </p:nvSpPr>
        <p:spPr>
          <a:xfrm>
            <a:off x="640080" y="2514600"/>
            <a:ext cx="10908792" cy="749808"/>
          </a:xfrm>
          <a:prstGeom prst="roundRect">
            <a:avLst>
              <a:gd name="adj" fmla="val 9756"/>
            </a:avLst>
          </a:prstGeom>
          <a:solidFill>
            <a:srgbClr val="F4F6FA"/>
          </a:solidFill>
          <a:ln/>
        </p:spPr>
        <p:txBody>
          <a:bodyPr/>
          <a:lstStyle/>
          <a:p>
            <a:endParaRPr lang="en-IN"/>
          </a:p>
        </p:txBody>
      </p:sp>
      <p:sp>
        <p:nvSpPr>
          <p:cNvPr id="10" name="Shape 8"/>
          <p:cNvSpPr/>
          <p:nvPr/>
        </p:nvSpPr>
        <p:spPr>
          <a:xfrm>
            <a:off x="896112" y="2779776"/>
            <a:ext cx="219456" cy="219456"/>
          </a:xfrm>
          <a:prstGeom prst="ellipse">
            <a:avLst/>
          </a:prstGeom>
          <a:solidFill>
            <a:srgbClr val="00C2A8"/>
          </a:solidFill>
          <a:ln/>
        </p:spPr>
        <p:txBody>
          <a:bodyPr/>
          <a:lstStyle/>
          <a:p>
            <a:endParaRPr lang="en-IN"/>
          </a:p>
        </p:txBody>
      </p:sp>
      <p:sp>
        <p:nvSpPr>
          <p:cNvPr id="11" name="Text 9"/>
          <p:cNvSpPr/>
          <p:nvPr/>
        </p:nvSpPr>
        <p:spPr>
          <a:xfrm>
            <a:off x="1261872" y="2587752"/>
            <a:ext cx="192024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ANRF</a:t>
            </a:r>
            <a:endParaRPr lang="en-US" sz="1450" dirty="0"/>
          </a:p>
        </p:txBody>
      </p:sp>
      <p:sp>
        <p:nvSpPr>
          <p:cNvPr id="12" name="Text 10"/>
          <p:cNvSpPr/>
          <p:nvPr/>
        </p:nvSpPr>
        <p:spPr>
          <a:xfrm>
            <a:off x="1261872" y="2898648"/>
            <a:ext cx="2377440" cy="274320"/>
          </a:xfrm>
          <a:prstGeom prst="rect">
            <a:avLst/>
          </a:prstGeom>
          <a:noFill/>
          <a:ln/>
        </p:spPr>
        <p:txBody>
          <a:bodyPr wrap="square" lIns="0" tIns="0" rIns="0" bIns="0" rtlCol="0" anchor="ctr"/>
          <a:lstStyle/>
          <a:p>
            <a:pPr marL="0" indent="0">
              <a:buNone/>
            </a:pPr>
            <a:r>
              <a:rPr lang="en-US" sz="1150" dirty="0">
                <a:solidFill>
                  <a:srgbClr val="00C2A8"/>
                </a:solidFill>
                <a:latin typeface="Calibri" pitchFamily="34" charset="0"/>
                <a:ea typeface="Calibri" pitchFamily="34" charset="-122"/>
                <a:cs typeface="Calibri" pitchFamily="34" charset="-120"/>
              </a:rPr>
              <a:t>Catalytic and partnership programs</a:t>
            </a:r>
            <a:endParaRPr lang="en-US" sz="1150" dirty="0"/>
          </a:p>
        </p:txBody>
      </p:sp>
      <p:sp>
        <p:nvSpPr>
          <p:cNvPr id="13" name="Text 11"/>
          <p:cNvSpPr/>
          <p:nvPr/>
        </p:nvSpPr>
        <p:spPr>
          <a:xfrm>
            <a:off x="3840480" y="2514600"/>
            <a:ext cx="7406640" cy="74980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Built for industry-academia pairs. ANRF’s corpus is designed to be majority non-government funded, so a company partner fits the model and strengthens your case.</a:t>
            </a:r>
            <a:endParaRPr lang="en-US" sz="1250" dirty="0"/>
          </a:p>
        </p:txBody>
      </p:sp>
      <p:sp>
        <p:nvSpPr>
          <p:cNvPr id="14" name="Shape 12"/>
          <p:cNvSpPr/>
          <p:nvPr/>
        </p:nvSpPr>
        <p:spPr>
          <a:xfrm>
            <a:off x="640080" y="3383280"/>
            <a:ext cx="10908792" cy="749808"/>
          </a:xfrm>
          <a:prstGeom prst="roundRect">
            <a:avLst>
              <a:gd name="adj" fmla="val 9756"/>
            </a:avLst>
          </a:prstGeom>
          <a:solidFill>
            <a:srgbClr val="F4F6FA"/>
          </a:solidFill>
          <a:ln/>
        </p:spPr>
        <p:txBody>
          <a:bodyPr/>
          <a:lstStyle/>
          <a:p>
            <a:endParaRPr lang="en-IN"/>
          </a:p>
        </p:txBody>
      </p:sp>
      <p:sp>
        <p:nvSpPr>
          <p:cNvPr id="15" name="Shape 13"/>
          <p:cNvSpPr/>
          <p:nvPr/>
        </p:nvSpPr>
        <p:spPr>
          <a:xfrm>
            <a:off x="896112" y="3648456"/>
            <a:ext cx="219456" cy="219456"/>
          </a:xfrm>
          <a:prstGeom prst="ellipse">
            <a:avLst/>
          </a:prstGeom>
          <a:solidFill>
            <a:srgbClr val="FFC24A"/>
          </a:solidFill>
          <a:ln/>
        </p:spPr>
        <p:txBody>
          <a:bodyPr/>
          <a:lstStyle/>
          <a:p>
            <a:endParaRPr lang="en-IN"/>
          </a:p>
        </p:txBody>
      </p:sp>
      <p:sp>
        <p:nvSpPr>
          <p:cNvPr id="16" name="Text 14"/>
          <p:cNvSpPr/>
          <p:nvPr/>
        </p:nvSpPr>
        <p:spPr>
          <a:xfrm>
            <a:off x="1261872" y="3456432"/>
            <a:ext cx="192024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IndiaAI Mission</a:t>
            </a:r>
            <a:endParaRPr lang="en-US" sz="1450" dirty="0"/>
          </a:p>
        </p:txBody>
      </p:sp>
      <p:sp>
        <p:nvSpPr>
          <p:cNvPr id="17" name="Text 15"/>
          <p:cNvSpPr/>
          <p:nvPr/>
        </p:nvSpPr>
        <p:spPr>
          <a:xfrm>
            <a:off x="1261872" y="3767328"/>
            <a:ext cx="2377440" cy="274320"/>
          </a:xfrm>
          <a:prstGeom prst="rect">
            <a:avLst/>
          </a:prstGeom>
          <a:noFill/>
          <a:ln/>
        </p:spPr>
        <p:txBody>
          <a:bodyPr wrap="square" lIns="0" tIns="0" rIns="0" bIns="0" rtlCol="0" anchor="ctr"/>
          <a:lstStyle/>
          <a:p>
            <a:pPr marL="0" indent="0">
              <a:buNone/>
            </a:pPr>
            <a:r>
              <a:rPr lang="en-US" sz="1150" dirty="0">
                <a:solidFill>
                  <a:srgbClr val="FFC24A"/>
                </a:solidFill>
                <a:latin typeface="Calibri" pitchFamily="34" charset="0"/>
                <a:ea typeface="Calibri" pitchFamily="34" charset="-122"/>
                <a:cs typeface="Calibri" pitchFamily="34" charset="-120"/>
              </a:rPr>
              <a:t>Compute and application pillars</a:t>
            </a:r>
            <a:endParaRPr lang="en-US" sz="1150" dirty="0"/>
          </a:p>
        </p:txBody>
      </p:sp>
      <p:sp>
        <p:nvSpPr>
          <p:cNvPr id="18" name="Text 16"/>
          <p:cNvSpPr/>
          <p:nvPr/>
        </p:nvSpPr>
        <p:spPr>
          <a:xfrm>
            <a:off x="3840480" y="3383280"/>
            <a:ext cx="7406640" cy="74980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About 38,000 GPUs onboarded from 14 empanelled providers, roughly Rs 65 per GPU-hour on average and Rs 92 for H100 class, with a further 20,000 announced under Mission 2.0. Academic institutions are explicitly eligible - register before you need it.</a:t>
            </a:r>
            <a:endParaRPr lang="en-US" sz="1250" dirty="0"/>
          </a:p>
        </p:txBody>
      </p:sp>
      <p:sp>
        <p:nvSpPr>
          <p:cNvPr id="19" name="Shape 17"/>
          <p:cNvSpPr/>
          <p:nvPr/>
        </p:nvSpPr>
        <p:spPr>
          <a:xfrm>
            <a:off x="640080" y="4251960"/>
            <a:ext cx="10908792" cy="749808"/>
          </a:xfrm>
          <a:prstGeom prst="roundRect">
            <a:avLst>
              <a:gd name="adj" fmla="val 9756"/>
            </a:avLst>
          </a:prstGeom>
          <a:solidFill>
            <a:srgbClr val="F4F6FA"/>
          </a:solidFill>
          <a:ln/>
        </p:spPr>
        <p:txBody>
          <a:bodyPr/>
          <a:lstStyle/>
          <a:p>
            <a:endParaRPr lang="en-IN"/>
          </a:p>
        </p:txBody>
      </p:sp>
      <p:sp>
        <p:nvSpPr>
          <p:cNvPr id="20" name="Shape 18"/>
          <p:cNvSpPr/>
          <p:nvPr/>
        </p:nvSpPr>
        <p:spPr>
          <a:xfrm>
            <a:off x="896112" y="4517136"/>
            <a:ext cx="219456" cy="219456"/>
          </a:xfrm>
          <a:prstGeom prst="ellipse">
            <a:avLst/>
          </a:prstGeom>
          <a:solidFill>
            <a:srgbClr val="FF6B4A"/>
          </a:solidFill>
          <a:ln/>
        </p:spPr>
        <p:txBody>
          <a:bodyPr/>
          <a:lstStyle/>
          <a:p>
            <a:endParaRPr lang="en-IN"/>
          </a:p>
        </p:txBody>
      </p:sp>
      <p:sp>
        <p:nvSpPr>
          <p:cNvPr id="21" name="Text 19"/>
          <p:cNvSpPr/>
          <p:nvPr/>
        </p:nvSpPr>
        <p:spPr>
          <a:xfrm>
            <a:off x="1261872" y="4325112"/>
            <a:ext cx="192024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RDI Fund</a:t>
            </a:r>
            <a:endParaRPr lang="en-US" sz="1450" dirty="0"/>
          </a:p>
        </p:txBody>
      </p:sp>
      <p:sp>
        <p:nvSpPr>
          <p:cNvPr id="22" name="Text 20"/>
          <p:cNvSpPr/>
          <p:nvPr/>
        </p:nvSpPr>
        <p:spPr>
          <a:xfrm>
            <a:off x="1261872" y="4636008"/>
            <a:ext cx="2377440" cy="274320"/>
          </a:xfrm>
          <a:prstGeom prst="rect">
            <a:avLst/>
          </a:prstGeom>
          <a:noFill/>
          <a:ln/>
        </p:spPr>
        <p:txBody>
          <a:bodyPr wrap="square" lIns="0" tIns="0" rIns="0" bIns="0" rtlCol="0" anchor="ctr"/>
          <a:lstStyle/>
          <a:p>
            <a:pPr marL="0" indent="0">
              <a:buNone/>
            </a:pPr>
            <a:r>
              <a:rPr lang="en-US" sz="1150" dirty="0">
                <a:solidFill>
                  <a:srgbClr val="FF6B4A"/>
                </a:solidFill>
                <a:latin typeface="Calibri" pitchFamily="34" charset="0"/>
                <a:ea typeface="Calibri" pitchFamily="34" charset="-122"/>
                <a:cs typeface="Calibri" pitchFamily="34" charset="-120"/>
              </a:rPr>
              <a:t>Deep-tech fund of funds</a:t>
            </a:r>
            <a:endParaRPr lang="en-US" sz="1150" dirty="0"/>
          </a:p>
        </p:txBody>
      </p:sp>
      <p:sp>
        <p:nvSpPr>
          <p:cNvPr id="23" name="Text 21"/>
          <p:cNvSpPr/>
          <p:nvPr/>
        </p:nvSpPr>
        <p:spPr>
          <a:xfrm>
            <a:off x="3840480" y="4251960"/>
            <a:ext cx="7406640" cy="74980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The new research, development and innovation corpus, aimed at translating lab work toward deployment.</a:t>
            </a:r>
            <a:endParaRPr lang="en-US" sz="1250" dirty="0"/>
          </a:p>
        </p:txBody>
      </p:sp>
      <p:sp>
        <p:nvSpPr>
          <p:cNvPr id="24" name="Shape 22"/>
          <p:cNvSpPr/>
          <p:nvPr/>
        </p:nvSpPr>
        <p:spPr>
          <a:xfrm>
            <a:off x="640080" y="5120640"/>
            <a:ext cx="10908792" cy="749808"/>
          </a:xfrm>
          <a:prstGeom prst="roundRect">
            <a:avLst>
              <a:gd name="adj" fmla="val 9756"/>
            </a:avLst>
          </a:prstGeom>
          <a:solidFill>
            <a:srgbClr val="F4F6FA"/>
          </a:solidFill>
          <a:ln/>
        </p:spPr>
        <p:txBody>
          <a:bodyPr/>
          <a:lstStyle/>
          <a:p>
            <a:endParaRPr lang="en-IN"/>
          </a:p>
        </p:txBody>
      </p:sp>
      <p:sp>
        <p:nvSpPr>
          <p:cNvPr id="25" name="Shape 23"/>
          <p:cNvSpPr/>
          <p:nvPr/>
        </p:nvSpPr>
        <p:spPr>
          <a:xfrm>
            <a:off x="896112" y="5385816"/>
            <a:ext cx="219456" cy="219456"/>
          </a:xfrm>
          <a:prstGeom prst="ellipse">
            <a:avLst/>
          </a:prstGeom>
          <a:solidFill>
            <a:srgbClr val="6B7689"/>
          </a:solidFill>
          <a:ln/>
        </p:spPr>
        <p:txBody>
          <a:bodyPr/>
          <a:lstStyle/>
          <a:p>
            <a:endParaRPr lang="en-IN"/>
          </a:p>
        </p:txBody>
      </p:sp>
      <p:sp>
        <p:nvSpPr>
          <p:cNvPr id="26" name="Text 24"/>
          <p:cNvSpPr/>
          <p:nvPr/>
        </p:nvSpPr>
        <p:spPr>
          <a:xfrm>
            <a:off x="1261872" y="5193792"/>
            <a:ext cx="1920240" cy="292608"/>
          </a:xfrm>
          <a:prstGeom prst="rect">
            <a:avLst/>
          </a:prstGeom>
          <a:noFill/>
          <a:ln/>
        </p:spPr>
        <p:txBody>
          <a:bodyPr wrap="square" lIns="0" tIns="0" rIns="0" bIns="0" rtlCol="0" anchor="ctr"/>
          <a:lstStyle/>
          <a:p>
            <a:pPr marL="0" indent="0">
              <a:buNone/>
            </a:pPr>
            <a:r>
              <a:rPr lang="en-US" sz="1450" b="1" dirty="0">
                <a:solidFill>
                  <a:srgbClr val="0E1524"/>
                </a:solidFill>
                <a:latin typeface="Arial" pitchFamily="34" charset="0"/>
                <a:ea typeface="Arial" pitchFamily="34" charset="-122"/>
                <a:cs typeface="Arial" pitchFamily="34" charset="-120"/>
              </a:rPr>
              <a:t>Industry</a:t>
            </a:r>
            <a:endParaRPr lang="en-US" sz="1450" dirty="0"/>
          </a:p>
        </p:txBody>
      </p:sp>
      <p:sp>
        <p:nvSpPr>
          <p:cNvPr id="27" name="Text 25"/>
          <p:cNvSpPr/>
          <p:nvPr/>
        </p:nvSpPr>
        <p:spPr>
          <a:xfrm>
            <a:off x="1261872" y="5504688"/>
            <a:ext cx="2377440" cy="274320"/>
          </a:xfrm>
          <a:prstGeom prst="rect">
            <a:avLst/>
          </a:prstGeom>
          <a:noFill/>
          <a:ln/>
        </p:spPr>
        <p:txBody>
          <a:bodyPr wrap="square" lIns="0" tIns="0" rIns="0" bIns="0" rtlCol="0" anchor="ctr"/>
          <a:lstStyle/>
          <a:p>
            <a:pPr marL="0" indent="0">
              <a:buNone/>
            </a:pPr>
            <a:r>
              <a:rPr lang="en-US" sz="1150" dirty="0">
                <a:solidFill>
                  <a:srgbClr val="6B7689"/>
                </a:solidFill>
                <a:latin typeface="Calibri" pitchFamily="34" charset="0"/>
                <a:ea typeface="Calibri" pitchFamily="34" charset="-122"/>
                <a:cs typeface="Calibri" pitchFamily="34" charset="-120"/>
              </a:rPr>
              <a:t>Sponsored problem statements</a:t>
            </a:r>
            <a:endParaRPr lang="en-US" sz="1150" dirty="0"/>
          </a:p>
        </p:txBody>
      </p:sp>
      <p:sp>
        <p:nvSpPr>
          <p:cNvPr id="28" name="Text 26"/>
          <p:cNvSpPr/>
          <p:nvPr/>
        </p:nvSpPr>
        <p:spPr>
          <a:xfrm>
            <a:off x="3840480" y="5120640"/>
            <a:ext cx="7406640" cy="749808"/>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Often faster than a grant cycle, and comes with the domain data you cannot otherwise get.</a:t>
            </a:r>
            <a:endParaRPr lang="en-US" sz="1250" dirty="0"/>
          </a:p>
        </p:txBody>
      </p:sp>
      <p:sp>
        <p:nvSpPr>
          <p:cNvPr id="29" name="Text 27"/>
          <p:cNvSpPr/>
          <p:nvPr/>
        </p:nvSpPr>
        <p:spPr>
          <a:xfrm>
            <a:off x="640080" y="6080760"/>
            <a:ext cx="10908792" cy="320040"/>
          </a:xfrm>
          <a:prstGeom prst="rect">
            <a:avLst/>
          </a:prstGeom>
          <a:noFill/>
          <a:ln/>
        </p:spPr>
        <p:txBody>
          <a:bodyPr wrap="square" lIns="0" tIns="0" rIns="0" bIns="0" rtlCol="0" anchor="ctr"/>
          <a:lstStyle/>
          <a:p>
            <a:pPr marL="0" indent="0">
              <a:buNone/>
            </a:pPr>
            <a:r>
              <a:rPr lang="en-US" sz="1300" i="1" dirty="0">
                <a:solidFill>
                  <a:srgbClr val="0E1524"/>
                </a:solidFill>
                <a:latin typeface="Calibri" pitchFamily="34" charset="0"/>
                <a:ea typeface="Calibri" pitchFamily="34" charset="-122"/>
                <a:cs typeface="Calibri" pitchFamily="34" charset="-120"/>
              </a:rPr>
              <a:t>Check anrfonline.in and indiaai.gov.in for live call windows - they open and close on short notice. Scheme details and compute figures current as of August 2026.</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FOR YOUR DEPARTMENT</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From one lecture to a funded project</a:t>
            </a:r>
            <a:endParaRPr lang="en-US" sz="3400" dirty="0"/>
          </a:p>
        </p:txBody>
      </p:sp>
      <p:sp>
        <p:nvSpPr>
          <p:cNvPr id="4" name="Shape 2"/>
          <p:cNvSpPr/>
          <p:nvPr/>
        </p:nvSpPr>
        <p:spPr>
          <a:xfrm>
            <a:off x="640080" y="5394960"/>
            <a:ext cx="10908792" cy="713232"/>
          </a:xfrm>
          <a:prstGeom prst="roundRect">
            <a:avLst>
              <a:gd name="adj" fmla="val 10256"/>
            </a:avLst>
          </a:prstGeom>
          <a:solidFill>
            <a:srgbClr val="F4F6FA"/>
          </a:solidFill>
          <a:ln/>
        </p:spPr>
        <p:txBody>
          <a:bodyPr/>
          <a:lstStyle/>
          <a:p>
            <a:endParaRPr lang="en-IN"/>
          </a:p>
        </p:txBody>
      </p:sp>
      <p:sp>
        <p:nvSpPr>
          <p:cNvPr id="5" name="Shape 3"/>
          <p:cNvSpPr/>
          <p:nvPr/>
        </p:nvSpPr>
        <p:spPr>
          <a:xfrm>
            <a:off x="877824" y="5641848"/>
            <a:ext cx="219456" cy="219456"/>
          </a:xfrm>
          <a:prstGeom prst="ellipse">
            <a:avLst/>
          </a:prstGeom>
          <a:solidFill>
            <a:srgbClr val="6B7689"/>
          </a:solidFill>
          <a:ln/>
        </p:spPr>
        <p:txBody>
          <a:bodyPr/>
          <a:lstStyle/>
          <a:p>
            <a:endParaRPr lang="en-IN"/>
          </a:p>
        </p:txBody>
      </p:sp>
      <p:sp>
        <p:nvSpPr>
          <p:cNvPr id="6" name="Text 4"/>
          <p:cNvSpPr/>
          <p:nvPr/>
        </p:nvSpPr>
        <p:spPr>
          <a:xfrm>
            <a:off x="1243584" y="5394960"/>
            <a:ext cx="3657600" cy="713232"/>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One lecture</a:t>
            </a:r>
            <a:endParaRPr lang="en-US" sz="1400" dirty="0"/>
          </a:p>
        </p:txBody>
      </p:sp>
      <p:sp>
        <p:nvSpPr>
          <p:cNvPr id="7" name="Text 5"/>
          <p:cNvSpPr/>
          <p:nvPr/>
        </p:nvSpPr>
        <p:spPr>
          <a:xfrm>
            <a:off x="5029200" y="5394960"/>
            <a:ext cx="6245352" cy="713232"/>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Slides 6 to 12 of this deck, unchanged. Fits any existing AI or image processing course.</a:t>
            </a:r>
            <a:endParaRPr lang="en-US" sz="1200" dirty="0"/>
          </a:p>
        </p:txBody>
      </p:sp>
      <p:sp>
        <p:nvSpPr>
          <p:cNvPr id="8" name="Shape 6"/>
          <p:cNvSpPr/>
          <p:nvPr/>
        </p:nvSpPr>
        <p:spPr>
          <a:xfrm>
            <a:off x="1024128" y="4572000"/>
            <a:ext cx="10524744" cy="713232"/>
          </a:xfrm>
          <a:prstGeom prst="roundRect">
            <a:avLst>
              <a:gd name="adj" fmla="val 10256"/>
            </a:avLst>
          </a:prstGeom>
          <a:solidFill>
            <a:srgbClr val="F4F6FA"/>
          </a:solidFill>
          <a:ln/>
        </p:spPr>
        <p:txBody>
          <a:bodyPr/>
          <a:lstStyle/>
          <a:p>
            <a:endParaRPr lang="en-IN"/>
          </a:p>
        </p:txBody>
      </p:sp>
      <p:sp>
        <p:nvSpPr>
          <p:cNvPr id="9" name="Shape 7"/>
          <p:cNvSpPr/>
          <p:nvPr/>
        </p:nvSpPr>
        <p:spPr>
          <a:xfrm>
            <a:off x="1261872" y="4818888"/>
            <a:ext cx="219456" cy="219456"/>
          </a:xfrm>
          <a:prstGeom prst="ellipse">
            <a:avLst/>
          </a:prstGeom>
          <a:solidFill>
            <a:srgbClr val="FFC24A"/>
          </a:solidFill>
          <a:ln/>
        </p:spPr>
        <p:txBody>
          <a:bodyPr/>
          <a:lstStyle/>
          <a:p>
            <a:endParaRPr lang="en-IN"/>
          </a:p>
        </p:txBody>
      </p:sp>
      <p:sp>
        <p:nvSpPr>
          <p:cNvPr id="10" name="Text 8"/>
          <p:cNvSpPr/>
          <p:nvPr/>
        </p:nvSpPr>
        <p:spPr>
          <a:xfrm>
            <a:off x="1627632" y="4572000"/>
            <a:ext cx="3657600" cy="713232"/>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A lab exercise</a:t>
            </a:r>
            <a:endParaRPr lang="en-US" sz="1400" dirty="0"/>
          </a:p>
        </p:txBody>
      </p:sp>
      <p:sp>
        <p:nvSpPr>
          <p:cNvPr id="11" name="Text 9"/>
          <p:cNvSpPr/>
          <p:nvPr/>
        </p:nvSpPr>
        <p:spPr>
          <a:xfrm>
            <a:off x="5413248" y="4572000"/>
            <a:ext cx="5861304" cy="713232"/>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Students rebuild the five-stage architecture on free tiers. No GPU, no install requests to IT.</a:t>
            </a:r>
            <a:endParaRPr lang="en-US" sz="1200" dirty="0"/>
          </a:p>
        </p:txBody>
      </p:sp>
      <p:sp>
        <p:nvSpPr>
          <p:cNvPr id="12" name="Shape 10"/>
          <p:cNvSpPr/>
          <p:nvPr/>
        </p:nvSpPr>
        <p:spPr>
          <a:xfrm>
            <a:off x="1408176" y="3749040"/>
            <a:ext cx="10140696" cy="713232"/>
          </a:xfrm>
          <a:prstGeom prst="roundRect">
            <a:avLst>
              <a:gd name="adj" fmla="val 10256"/>
            </a:avLst>
          </a:prstGeom>
          <a:solidFill>
            <a:srgbClr val="F4F6FA"/>
          </a:solidFill>
          <a:ln/>
        </p:spPr>
        <p:txBody>
          <a:bodyPr/>
          <a:lstStyle/>
          <a:p>
            <a:endParaRPr lang="en-IN"/>
          </a:p>
        </p:txBody>
      </p:sp>
      <p:sp>
        <p:nvSpPr>
          <p:cNvPr id="13" name="Shape 11"/>
          <p:cNvSpPr/>
          <p:nvPr/>
        </p:nvSpPr>
        <p:spPr>
          <a:xfrm>
            <a:off x="1645920" y="3995928"/>
            <a:ext cx="219456" cy="219456"/>
          </a:xfrm>
          <a:prstGeom prst="ellipse">
            <a:avLst/>
          </a:prstGeom>
          <a:solidFill>
            <a:srgbClr val="FFC24A"/>
          </a:solidFill>
          <a:ln/>
        </p:spPr>
        <p:txBody>
          <a:bodyPr/>
          <a:lstStyle/>
          <a:p>
            <a:endParaRPr lang="en-IN"/>
          </a:p>
        </p:txBody>
      </p:sp>
      <p:sp>
        <p:nvSpPr>
          <p:cNvPr id="14" name="Text 12"/>
          <p:cNvSpPr/>
          <p:nvPr/>
        </p:nvSpPr>
        <p:spPr>
          <a:xfrm>
            <a:off x="2011680" y="3749040"/>
            <a:ext cx="3657600" cy="713232"/>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A mini-project on campus data</a:t>
            </a:r>
            <a:endParaRPr lang="en-US" sz="1400" dirty="0"/>
          </a:p>
        </p:txBody>
      </p:sp>
      <p:sp>
        <p:nvSpPr>
          <p:cNvPr id="15" name="Text 13"/>
          <p:cNvSpPr/>
          <p:nvPr/>
        </p:nvSpPr>
        <p:spPr>
          <a:xfrm>
            <a:off x="5797296" y="3749040"/>
            <a:ext cx="5477256" cy="713232"/>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Your own admission forms, lab records or field photographs. Data no one else has - clear consent and anonymise first.</a:t>
            </a:r>
            <a:endParaRPr lang="en-US" sz="1200" dirty="0"/>
          </a:p>
        </p:txBody>
      </p:sp>
      <p:sp>
        <p:nvSpPr>
          <p:cNvPr id="16" name="Shape 14"/>
          <p:cNvSpPr/>
          <p:nvPr/>
        </p:nvSpPr>
        <p:spPr>
          <a:xfrm>
            <a:off x="1792224" y="2926080"/>
            <a:ext cx="9756648" cy="713232"/>
          </a:xfrm>
          <a:prstGeom prst="roundRect">
            <a:avLst>
              <a:gd name="adj" fmla="val 10256"/>
            </a:avLst>
          </a:prstGeom>
          <a:solidFill>
            <a:srgbClr val="F4F6FA"/>
          </a:solidFill>
          <a:ln/>
        </p:spPr>
        <p:txBody>
          <a:bodyPr/>
          <a:lstStyle/>
          <a:p>
            <a:endParaRPr lang="en-IN"/>
          </a:p>
        </p:txBody>
      </p:sp>
      <p:sp>
        <p:nvSpPr>
          <p:cNvPr id="17" name="Shape 15"/>
          <p:cNvSpPr/>
          <p:nvPr/>
        </p:nvSpPr>
        <p:spPr>
          <a:xfrm>
            <a:off x="2029968" y="3172968"/>
            <a:ext cx="219456" cy="219456"/>
          </a:xfrm>
          <a:prstGeom prst="ellipse">
            <a:avLst/>
          </a:prstGeom>
          <a:solidFill>
            <a:srgbClr val="00C2A8"/>
          </a:solidFill>
          <a:ln/>
        </p:spPr>
        <p:txBody>
          <a:bodyPr/>
          <a:lstStyle/>
          <a:p>
            <a:endParaRPr lang="en-IN"/>
          </a:p>
        </p:txBody>
      </p:sp>
      <p:sp>
        <p:nvSpPr>
          <p:cNvPr id="18" name="Text 16"/>
          <p:cNvSpPr/>
          <p:nvPr/>
        </p:nvSpPr>
        <p:spPr>
          <a:xfrm>
            <a:off x="2395728" y="2926080"/>
            <a:ext cx="3657600" cy="713232"/>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A student paper or dataset</a:t>
            </a:r>
            <a:endParaRPr lang="en-US" sz="1400" dirty="0"/>
          </a:p>
        </p:txBody>
      </p:sp>
      <p:sp>
        <p:nvSpPr>
          <p:cNvPr id="19" name="Text 17"/>
          <p:cNvSpPr/>
          <p:nvPr/>
        </p:nvSpPr>
        <p:spPr>
          <a:xfrm>
            <a:off x="6181344" y="2926080"/>
            <a:ext cx="5093208" cy="713232"/>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A narrow, well-evaluated benchmark. Publishable, and it outlives the model it tested.</a:t>
            </a:r>
            <a:endParaRPr lang="en-US" sz="1200" dirty="0"/>
          </a:p>
        </p:txBody>
      </p:sp>
      <p:sp>
        <p:nvSpPr>
          <p:cNvPr id="20" name="Shape 18"/>
          <p:cNvSpPr/>
          <p:nvPr/>
        </p:nvSpPr>
        <p:spPr>
          <a:xfrm>
            <a:off x="2176272" y="2103120"/>
            <a:ext cx="9372600" cy="713232"/>
          </a:xfrm>
          <a:prstGeom prst="roundRect">
            <a:avLst>
              <a:gd name="adj" fmla="val 10256"/>
            </a:avLst>
          </a:prstGeom>
          <a:solidFill>
            <a:srgbClr val="F4F6FA"/>
          </a:solidFill>
          <a:ln/>
        </p:spPr>
        <p:txBody>
          <a:bodyPr/>
          <a:lstStyle/>
          <a:p>
            <a:endParaRPr lang="en-IN"/>
          </a:p>
        </p:txBody>
      </p:sp>
      <p:sp>
        <p:nvSpPr>
          <p:cNvPr id="21" name="Shape 19"/>
          <p:cNvSpPr/>
          <p:nvPr/>
        </p:nvSpPr>
        <p:spPr>
          <a:xfrm>
            <a:off x="2414016" y="2350008"/>
            <a:ext cx="219456" cy="219456"/>
          </a:xfrm>
          <a:prstGeom prst="ellipse">
            <a:avLst/>
          </a:prstGeom>
          <a:solidFill>
            <a:srgbClr val="FF6B4A"/>
          </a:solidFill>
          <a:ln/>
        </p:spPr>
        <p:txBody>
          <a:bodyPr/>
          <a:lstStyle/>
          <a:p>
            <a:endParaRPr lang="en-IN"/>
          </a:p>
        </p:txBody>
      </p:sp>
      <p:sp>
        <p:nvSpPr>
          <p:cNvPr id="22" name="Text 20"/>
          <p:cNvSpPr/>
          <p:nvPr/>
        </p:nvSpPr>
        <p:spPr>
          <a:xfrm>
            <a:off x="2779776" y="2103120"/>
            <a:ext cx="3657600" cy="713232"/>
          </a:xfrm>
          <a:prstGeom prst="rect">
            <a:avLst/>
          </a:prstGeom>
          <a:noFill/>
          <a:ln/>
        </p:spPr>
        <p:txBody>
          <a:bodyPr wrap="square" lIns="0" tIns="0" rIns="0" bIns="0" rtlCol="0" anchor="ctr"/>
          <a:lstStyle/>
          <a:p>
            <a:pPr marL="0" indent="0">
              <a:buNone/>
            </a:pPr>
            <a:r>
              <a:rPr lang="en-US" sz="1400" b="1" dirty="0">
                <a:solidFill>
                  <a:srgbClr val="0E1524"/>
                </a:solidFill>
                <a:latin typeface="Arial" pitchFamily="34" charset="0"/>
                <a:ea typeface="Arial" pitchFamily="34" charset="-122"/>
                <a:cs typeface="Arial" pitchFamily="34" charset="-120"/>
              </a:rPr>
              <a:t>A funded proposal</a:t>
            </a:r>
            <a:endParaRPr lang="en-US" sz="1400" dirty="0"/>
          </a:p>
        </p:txBody>
      </p:sp>
      <p:sp>
        <p:nvSpPr>
          <p:cNvPr id="23" name="Text 21"/>
          <p:cNvSpPr/>
          <p:nvPr/>
        </p:nvSpPr>
        <p:spPr>
          <a:xfrm>
            <a:off x="6565392" y="2103120"/>
            <a:ext cx="4709160" cy="713232"/>
          </a:xfrm>
          <a:prstGeom prst="rect">
            <a:avLst/>
          </a:prstGeom>
          <a:noFill/>
          <a:ln/>
        </p:spPr>
        <p:txBody>
          <a:bodyPr wrap="square" lIns="0" tIns="0" rIns="0" bIns="0" rtlCol="0" anchor="ctr"/>
          <a:lstStyle/>
          <a:p>
            <a:pPr marL="0" indent="0">
              <a:buNone/>
            </a:pPr>
            <a:r>
              <a:rPr lang="en-US" sz="1200" dirty="0">
                <a:solidFill>
                  <a:srgbClr val="6B7689"/>
                </a:solidFill>
                <a:latin typeface="Calibri" pitchFamily="34" charset="0"/>
                <a:ea typeface="Calibri" pitchFamily="34" charset="-122"/>
                <a:cs typeface="Calibri" pitchFamily="34" charset="-120"/>
              </a:rPr>
              <a:t>ANRF or IndiaAI, with pilot results already in hand.</a:t>
            </a:r>
            <a:endParaRPr lang="en-US" sz="1200" dirty="0"/>
          </a:p>
        </p:txBody>
      </p:sp>
      <p:sp>
        <p:nvSpPr>
          <p:cNvPr id="24" name="Text 22"/>
          <p:cNvSpPr/>
          <p:nvPr/>
        </p:nvSpPr>
        <p:spPr>
          <a:xfrm>
            <a:off x="640080" y="1536192"/>
            <a:ext cx="10908792" cy="457200"/>
          </a:xfrm>
          <a:prstGeom prst="rect">
            <a:avLst/>
          </a:prstGeom>
          <a:noFill/>
          <a:ln/>
        </p:spPr>
        <p:txBody>
          <a:bodyPr wrap="square" lIns="0" tIns="0" rIns="0" bIns="0" rtlCol="0" anchor="ctr"/>
          <a:lstStyle/>
          <a:p>
            <a:pPr marL="0" indent="0">
              <a:buNone/>
            </a:pPr>
            <a:r>
              <a:rPr lang="en-US" sz="1600" b="1" dirty="0">
                <a:solidFill>
                  <a:srgbClr val="0E1524"/>
                </a:solidFill>
                <a:latin typeface="Arial" pitchFamily="34" charset="0"/>
                <a:ea typeface="Arial" pitchFamily="34" charset="-122"/>
                <a:cs typeface="Arial" pitchFamily="34" charset="-120"/>
              </a:rPr>
              <a:t>You have something no AI startup has: a captive cohort of students, and decades of campus records nobody has ever digitised.</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E1524"/>
        </a:solidFill>
        <a:effectLst/>
      </p:bgPr>
    </p:bg>
    <p:spTree>
      <p:nvGrpSpPr>
        <p:cNvPr id="1" name=""/>
        <p:cNvGrpSpPr/>
        <p:nvPr/>
      </p:nvGrpSpPr>
      <p:grpSpPr>
        <a:xfrm>
          <a:off x="0" y="0"/>
          <a:ext cx="0" cy="0"/>
          <a:chOff x="0" y="0"/>
          <a:chExt cx="0" cy="0"/>
        </a:xfrm>
      </p:grpSpPr>
      <p:sp>
        <p:nvSpPr>
          <p:cNvPr id="2" name="Text 0"/>
          <p:cNvSpPr/>
          <p:nvPr/>
        </p:nvSpPr>
        <p:spPr>
          <a:xfrm>
            <a:off x="640080" y="960120"/>
            <a:ext cx="10908792" cy="411480"/>
          </a:xfrm>
          <a:prstGeom prst="rect">
            <a:avLst/>
          </a:prstGeom>
          <a:noFill/>
          <a:ln/>
        </p:spPr>
        <p:txBody>
          <a:bodyPr wrap="square" lIns="0" tIns="0" rIns="0" bIns="0" rtlCol="0" anchor="ctr"/>
          <a:lstStyle/>
          <a:p>
            <a:pPr marL="0" indent="0">
              <a:buNone/>
            </a:pPr>
            <a:r>
              <a:rPr lang="en-US" sz="2200" b="1" dirty="0">
                <a:solidFill>
                  <a:srgbClr val="A8B2C4"/>
                </a:solidFill>
                <a:latin typeface="Arial" pitchFamily="34" charset="0"/>
                <a:ea typeface="Arial" pitchFamily="34" charset="-122"/>
                <a:cs typeface="Arial" pitchFamily="34" charset="-120"/>
              </a:rPr>
              <a:t>The whole of Part Four in one line</a:t>
            </a:r>
            <a:endParaRPr lang="en-US" sz="2200" dirty="0"/>
          </a:p>
        </p:txBody>
      </p:sp>
      <p:sp>
        <p:nvSpPr>
          <p:cNvPr id="3" name="Text 1"/>
          <p:cNvSpPr/>
          <p:nvPr/>
        </p:nvSpPr>
        <p:spPr>
          <a:xfrm>
            <a:off x="640080" y="1828800"/>
            <a:ext cx="10515600" cy="1691640"/>
          </a:xfrm>
          <a:prstGeom prst="rect">
            <a:avLst/>
          </a:prstGeom>
          <a:noFill/>
          <a:ln/>
        </p:spPr>
        <p:txBody>
          <a:bodyPr wrap="square" lIns="0" tIns="0" rIns="0" bIns="0" rtlCol="0" anchor="ctr"/>
          <a:lstStyle/>
          <a:p>
            <a:pPr marL="0" indent="0">
              <a:lnSpc>
                <a:spcPts val="5200"/>
              </a:lnSpc>
              <a:buNone/>
            </a:pPr>
            <a:r>
              <a:rPr lang="en-US" sz="4400" b="1" dirty="0">
                <a:solidFill>
                  <a:srgbClr val="FFFFFF"/>
                </a:solidFill>
                <a:latin typeface="Arial" pitchFamily="34" charset="0"/>
                <a:ea typeface="Arial" pitchFamily="34" charset="-122"/>
                <a:cs typeface="Arial" pitchFamily="34" charset="-120"/>
              </a:rPr>
              <a:t>Narrow claims get funded.</a:t>
            </a:r>
            <a:endParaRPr lang="en-US" sz="4400" dirty="0"/>
          </a:p>
          <a:p>
            <a:pPr marL="0" indent="0">
              <a:lnSpc>
                <a:spcPts val="5200"/>
              </a:lnSpc>
              <a:buNone/>
            </a:pPr>
            <a:r>
              <a:rPr lang="en-US" sz="4400" b="1" dirty="0">
                <a:solidFill>
                  <a:srgbClr val="FFFFFF"/>
                </a:solidFill>
                <a:latin typeface="Arial" pitchFamily="34" charset="0"/>
                <a:ea typeface="Arial" pitchFamily="34" charset="-122"/>
                <a:cs typeface="Arial" pitchFamily="34" charset="-120"/>
              </a:rPr>
              <a:t>Broad ones get returned.</a:t>
            </a:r>
            <a:endParaRPr lang="en-US" sz="4400" dirty="0"/>
          </a:p>
        </p:txBody>
      </p:sp>
      <p:sp>
        <p:nvSpPr>
          <p:cNvPr id="4" name="Shape 2"/>
          <p:cNvSpPr/>
          <p:nvPr/>
        </p:nvSpPr>
        <p:spPr>
          <a:xfrm>
            <a:off x="640080" y="3931920"/>
            <a:ext cx="10908792" cy="1417320"/>
          </a:xfrm>
          <a:prstGeom prst="roundRect">
            <a:avLst>
              <a:gd name="adj" fmla="val 6452"/>
            </a:avLst>
          </a:prstGeom>
          <a:solidFill>
            <a:srgbClr val="1B2437"/>
          </a:solidFill>
          <a:ln/>
        </p:spPr>
        <p:txBody>
          <a:bodyPr/>
          <a:lstStyle/>
          <a:p>
            <a:endParaRPr lang="en-IN"/>
          </a:p>
        </p:txBody>
      </p:sp>
      <p:sp>
        <p:nvSpPr>
          <p:cNvPr id="5" name="Text 3"/>
          <p:cNvSpPr/>
          <p:nvPr/>
        </p:nvSpPr>
        <p:spPr>
          <a:xfrm>
            <a:off x="1051560" y="3931920"/>
            <a:ext cx="10104120" cy="1417320"/>
          </a:xfrm>
          <a:prstGeom prst="rect">
            <a:avLst/>
          </a:prstGeom>
          <a:noFill/>
          <a:ln/>
        </p:spPr>
        <p:txBody>
          <a:bodyPr wrap="square" lIns="0" tIns="0" rIns="0" bIns="0" rtlCol="0" anchor="ctr"/>
          <a:lstStyle/>
          <a:p>
            <a:pPr marL="0" indent="0">
              <a:lnSpc>
                <a:spcPts val="2400"/>
              </a:lnSpc>
              <a:buNone/>
            </a:pPr>
            <a:r>
              <a:rPr lang="en-US" sz="1550" dirty="0">
                <a:solidFill>
                  <a:srgbClr val="A8B2C4"/>
                </a:solidFill>
                <a:latin typeface="Calibri" pitchFamily="34" charset="0"/>
                <a:ea typeface="Calibri" pitchFamily="34" charset="-122"/>
                <a:cs typeface="Calibri" pitchFamily="34" charset="-120"/>
              </a:rPr>
              <a:t>The compute is subsidised, the calls are open, and most of the allocation is going unclaimed. What is scarce is not budget or GPUs - it is a claim narrow enough for a reviewer to score, backed by a test set nobody else can build. Your campus data is that test set, and it is already sitting in your department.</a:t>
            </a:r>
            <a:endParaRPr lang="en-US" sz="1550" dirty="0"/>
          </a:p>
        </p:txBody>
      </p:sp>
      <p:sp>
        <p:nvSpPr>
          <p:cNvPr id="6" name="Shape 4"/>
          <p:cNvSpPr/>
          <p:nvPr/>
        </p:nvSpPr>
        <p:spPr>
          <a:xfrm>
            <a:off x="640080" y="5806440"/>
            <a:ext cx="137160" cy="137160"/>
          </a:xfrm>
          <a:prstGeom prst="ellipse">
            <a:avLst/>
          </a:prstGeom>
          <a:solidFill>
            <a:srgbClr val="00C2A8"/>
          </a:solidFill>
          <a:ln/>
        </p:spPr>
        <p:txBody>
          <a:bodyPr/>
          <a:lstStyle/>
          <a:p>
            <a:endParaRPr lang="en-IN"/>
          </a:p>
        </p:txBody>
      </p:sp>
      <p:sp>
        <p:nvSpPr>
          <p:cNvPr id="7" name="Shape 5"/>
          <p:cNvSpPr/>
          <p:nvPr/>
        </p:nvSpPr>
        <p:spPr>
          <a:xfrm>
            <a:off x="880110" y="5806440"/>
            <a:ext cx="137160" cy="137160"/>
          </a:xfrm>
          <a:prstGeom prst="ellipse">
            <a:avLst/>
          </a:prstGeom>
          <a:solidFill>
            <a:srgbClr val="FF6B4A"/>
          </a:solidFill>
          <a:ln/>
        </p:spPr>
        <p:txBody>
          <a:bodyPr/>
          <a:lstStyle/>
          <a:p>
            <a:endParaRPr lang="en-IN"/>
          </a:p>
        </p:txBody>
      </p:sp>
      <p:sp>
        <p:nvSpPr>
          <p:cNvPr id="8" name="Shape 6"/>
          <p:cNvSpPr/>
          <p:nvPr/>
        </p:nvSpPr>
        <p:spPr>
          <a:xfrm>
            <a:off x="1120140" y="5806440"/>
            <a:ext cx="137160" cy="137160"/>
          </a:xfrm>
          <a:prstGeom prst="ellipse">
            <a:avLst/>
          </a:prstGeom>
          <a:solidFill>
            <a:srgbClr val="FFC24A"/>
          </a:solidFill>
          <a:ln/>
        </p:spPr>
        <p:txBody>
          <a:bodyPr/>
          <a:lstStyle/>
          <a:p>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E1524"/>
        </a:solidFill>
        <a:effectLst/>
      </p:bgPr>
    </p:bg>
    <p:spTree>
      <p:nvGrpSpPr>
        <p:cNvPr id="1" name=""/>
        <p:cNvGrpSpPr/>
        <p:nvPr/>
      </p:nvGrpSpPr>
      <p:grpSpPr>
        <a:xfrm>
          <a:off x="0" y="0"/>
          <a:ext cx="0" cy="0"/>
          <a:chOff x="0" y="0"/>
          <a:chExt cx="0" cy="0"/>
        </a:xfrm>
      </p:grpSpPr>
      <p:sp>
        <p:nvSpPr>
          <p:cNvPr id="101" name="Text 101"/>
          <p:cNvSpPr/>
          <p:nvPr/>
        </p:nvSpPr>
        <p:spPr>
          <a:xfrm>
            <a:off x="640080" y="777240"/>
            <a:ext cx="10908792" cy="594360"/>
          </a:xfrm>
          <a:prstGeom prst="rect">
            <a:avLst/>
          </a:prstGeom>
          <a:noFill/>
          <a:ln/>
        </p:spPr>
        <p:txBody>
          <a:bodyPr wrap="square" lIns="0" tIns="0" rIns="0" bIns="0" rtlCol="0" anchor="ctr"/>
          <a:lstStyle/>
          <a:p>
            <a:pPr marL="0" indent="0" algn="l">
              <a:buNone/>
            </a:pPr>
            <a:r>
              <a:rPr lang="en-US" sz="3400" b="1" dirty="0">
                <a:solidFill>
                  <a:srgbClr val="FFFFFF"/>
                </a:solidFill>
                <a:latin typeface="Arial" pitchFamily="34" charset="0"/>
                <a:ea typeface="Arial" pitchFamily="34" charset="-122"/>
                <a:cs typeface="Arial" pitchFamily="34" charset="-120"/>
              </a:rPr>
              <a:t>The whole session in four lines</a:t>
            </a:r>
            <a:endParaRPr lang="en-US" sz="3400" dirty="0"/>
          </a:p>
        </p:txBody>
      </p:sp>
      <p:sp>
        <p:nvSpPr>
          <p:cNvPr id="102" name="Text 102"/>
          <p:cNvSpPr/>
          <p:nvPr/>
        </p:nvSpPr>
        <p:spPr>
          <a:xfrm>
            <a:off x="640080" y="1417320"/>
            <a:ext cx="10058400" cy="320040"/>
          </a:xfrm>
          <a:prstGeom prst="rect">
            <a:avLst/>
          </a:prstGeom>
          <a:noFill/>
          <a:ln/>
        </p:spPr>
        <p:txBody>
          <a:bodyPr wrap="square" lIns="0" tIns="0" rIns="0" bIns="0" rtlCol="0" anchor="ctr"/>
          <a:lstStyle/>
          <a:p>
            <a:pPr marL="0" indent="0" algn="l">
              <a:buNone/>
            </a:pPr>
            <a:r>
              <a:rPr lang="en-US" sz="1400" dirty="0">
                <a:solidFill>
                  <a:srgbClr val="A8B2C4"/>
                </a:solidFill>
                <a:latin typeface="Calibri" pitchFamily="34" charset="0"/>
                <a:ea typeface="Calibri" pitchFamily="34" charset="-122"/>
                <a:cs typeface="Calibri" pitchFamily="34" charset="-120"/>
              </a:rPr>
              <a:t>If you remember nothing else from tonight, remember these.</a:t>
            </a:r>
            <a:endParaRPr lang="en-US" sz="1400" dirty="0"/>
          </a:p>
        </p:txBody>
      </p:sp>
      <p:sp>
        <p:nvSpPr>
          <p:cNvPr id="103" name="Shape 103"/>
          <p:cNvSpPr/>
          <p:nvPr/>
        </p:nvSpPr>
        <p:spPr>
          <a:xfrm>
            <a:off x="640080" y="1980000"/>
            <a:ext cx="10908792" cy="700000"/>
          </a:xfrm>
          <a:prstGeom prst="roundRect">
            <a:avLst>
              <a:gd name="adj" fmla="val 10526"/>
            </a:avLst>
          </a:prstGeom>
          <a:solidFill>
            <a:srgbClr val="1B2437"/>
          </a:solidFill>
          <a:ln/>
        </p:spPr>
        <p:txBody>
          <a:bodyPr/>
          <a:lstStyle/>
          <a:p>
            <a:endParaRPr/>
          </a:p>
        </p:txBody>
      </p:sp>
      <p:sp>
        <p:nvSpPr>
          <p:cNvPr id="104" name="Text 104"/>
          <p:cNvSpPr/>
          <p:nvPr/>
        </p:nvSpPr>
        <p:spPr>
          <a:xfrm>
            <a:off x="1051560" y="1980000"/>
            <a:ext cx="1828800" cy="700000"/>
          </a:xfrm>
          <a:prstGeom prst="rect">
            <a:avLst/>
          </a:prstGeom>
          <a:noFill/>
          <a:ln/>
        </p:spPr>
        <p:txBody>
          <a:bodyPr wrap="square" lIns="0" tIns="0" rIns="0" bIns="0" rtlCol="0" anchor="ctr"/>
          <a:lstStyle/>
          <a:p>
            <a:pPr marL="0" indent="0" algn="l">
              <a:buNone/>
            </a:pPr>
            <a:r>
              <a:rPr lang="en-US" sz="950" b="1" kern="0" spc="150" dirty="0">
                <a:solidFill>
                  <a:srgbClr val="00C2A8"/>
                </a:solidFill>
                <a:latin typeface="Arial" pitchFamily="34" charset="0"/>
                <a:ea typeface="Arial" pitchFamily="34" charset="-122"/>
                <a:cs typeface="Arial" pitchFamily="34" charset="-120"/>
              </a:rPr>
              <a:t>PART ONE</a:t>
            </a:r>
            <a:endParaRPr lang="en-US" sz="950" dirty="0"/>
          </a:p>
        </p:txBody>
      </p:sp>
      <p:sp>
        <p:nvSpPr>
          <p:cNvPr id="105" name="Text 105"/>
          <p:cNvSpPr/>
          <p:nvPr/>
        </p:nvSpPr>
        <p:spPr>
          <a:xfrm>
            <a:off x="3108960" y="1980000"/>
            <a:ext cx="8028432" cy="70000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Shared representation beat specialised models.</a:t>
            </a:r>
            <a:endParaRPr lang="en-US" sz="1500" dirty="0"/>
          </a:p>
          <a:p>
            <a:pPr marL="0" indent="0" algn="l">
              <a:buNone/>
            </a:pPr>
            <a:r>
              <a:rPr lang="en-US" sz="1100" b="0" dirty="0">
                <a:solidFill>
                  <a:srgbClr val="8A94A6"/>
                </a:solidFill>
                <a:latin typeface="Arial" pitchFamily="34" charset="0"/>
                <a:ea typeface="Arial" pitchFamily="34" charset="-122"/>
                <a:cs typeface="Arial" pitchFamily="34" charset="-120"/>
              </a:rPr>
              <a:t>A dedicated OCR engine still wins on clean scans; the shared space wins the cross-modal questions.</a:t>
            </a:r>
            <a:endParaRPr lang="en-US" sz="1500" dirty="0"/>
          </a:p>
        </p:txBody>
      </p:sp>
      <p:sp>
        <p:nvSpPr>
          <p:cNvPr id="106" name="Shape 106"/>
          <p:cNvSpPr/>
          <p:nvPr/>
        </p:nvSpPr>
        <p:spPr>
          <a:xfrm>
            <a:off x="640080" y="2840000"/>
            <a:ext cx="10908792" cy="700000"/>
          </a:xfrm>
          <a:prstGeom prst="roundRect">
            <a:avLst>
              <a:gd name="adj" fmla="val 10526"/>
            </a:avLst>
          </a:prstGeom>
          <a:solidFill>
            <a:srgbClr val="1B2437"/>
          </a:solidFill>
          <a:ln/>
        </p:spPr>
        <p:txBody>
          <a:bodyPr/>
          <a:lstStyle/>
          <a:p>
            <a:endParaRPr/>
          </a:p>
        </p:txBody>
      </p:sp>
      <p:sp>
        <p:nvSpPr>
          <p:cNvPr id="107" name="Text 107"/>
          <p:cNvSpPr/>
          <p:nvPr/>
        </p:nvSpPr>
        <p:spPr>
          <a:xfrm>
            <a:off x="1051560" y="2840000"/>
            <a:ext cx="1828800" cy="700000"/>
          </a:xfrm>
          <a:prstGeom prst="rect">
            <a:avLst/>
          </a:prstGeom>
          <a:noFill/>
          <a:ln/>
        </p:spPr>
        <p:txBody>
          <a:bodyPr wrap="square" lIns="0" tIns="0" rIns="0" bIns="0" rtlCol="0" anchor="ctr"/>
          <a:lstStyle/>
          <a:p>
            <a:pPr marL="0" indent="0" algn="l">
              <a:buNone/>
            </a:pPr>
            <a:r>
              <a:rPr lang="en-US" sz="950" b="1" kern="0" spc="150" dirty="0">
                <a:solidFill>
                  <a:srgbClr val="FF6B4A"/>
                </a:solidFill>
                <a:latin typeface="Arial" pitchFamily="34" charset="0"/>
                <a:ea typeface="Arial" pitchFamily="34" charset="-122"/>
                <a:cs typeface="Arial" pitchFamily="34" charset="-120"/>
              </a:rPr>
              <a:t>PART TWO</a:t>
            </a:r>
            <a:endParaRPr lang="en-US" sz="950" dirty="0"/>
          </a:p>
        </p:txBody>
      </p:sp>
      <p:sp>
        <p:nvSpPr>
          <p:cNvPr id="108" name="Text 108"/>
          <p:cNvSpPr/>
          <p:nvPr/>
        </p:nvSpPr>
        <p:spPr>
          <a:xfrm>
            <a:off x="3108960" y="2840000"/>
            <a:ext cx="8028432" cy="70000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What breaks is more useful to you than what works.</a:t>
            </a:r>
            <a:endParaRPr lang="en-US" sz="1500" dirty="0"/>
          </a:p>
        </p:txBody>
      </p:sp>
      <p:sp>
        <p:nvSpPr>
          <p:cNvPr id="109" name="Shape 109"/>
          <p:cNvSpPr/>
          <p:nvPr/>
        </p:nvSpPr>
        <p:spPr>
          <a:xfrm>
            <a:off x="640080" y="3700000"/>
            <a:ext cx="10908792" cy="700000"/>
          </a:xfrm>
          <a:prstGeom prst="roundRect">
            <a:avLst>
              <a:gd name="adj" fmla="val 10526"/>
            </a:avLst>
          </a:prstGeom>
          <a:solidFill>
            <a:srgbClr val="1B2437"/>
          </a:solidFill>
          <a:ln/>
        </p:spPr>
        <p:txBody>
          <a:bodyPr/>
          <a:lstStyle/>
          <a:p>
            <a:endParaRPr/>
          </a:p>
        </p:txBody>
      </p:sp>
      <p:sp>
        <p:nvSpPr>
          <p:cNvPr id="110" name="Text 110"/>
          <p:cNvSpPr/>
          <p:nvPr/>
        </p:nvSpPr>
        <p:spPr>
          <a:xfrm>
            <a:off x="1051560" y="3700000"/>
            <a:ext cx="1828800" cy="700000"/>
          </a:xfrm>
          <a:prstGeom prst="rect">
            <a:avLst/>
          </a:prstGeom>
          <a:noFill/>
          <a:ln/>
        </p:spPr>
        <p:txBody>
          <a:bodyPr wrap="square" lIns="0" tIns="0" rIns="0" bIns="0" rtlCol="0" anchor="ctr"/>
          <a:lstStyle/>
          <a:p>
            <a:pPr marL="0" indent="0" algn="l">
              <a:buNone/>
            </a:pPr>
            <a:r>
              <a:rPr lang="en-US" sz="950" b="1" kern="0" spc="150" dirty="0">
                <a:solidFill>
                  <a:srgbClr val="FFC24A"/>
                </a:solidFill>
                <a:latin typeface="Arial" pitchFamily="34" charset="0"/>
                <a:ea typeface="Arial" pitchFamily="34" charset="-122"/>
                <a:cs typeface="Arial" pitchFamily="34" charset="-120"/>
              </a:rPr>
              <a:t>PART THREE</a:t>
            </a:r>
            <a:endParaRPr lang="en-US" sz="950" dirty="0"/>
          </a:p>
        </p:txBody>
      </p:sp>
      <p:sp>
        <p:nvSpPr>
          <p:cNvPr id="111" name="Text 111"/>
          <p:cNvSpPr/>
          <p:nvPr/>
        </p:nvSpPr>
        <p:spPr>
          <a:xfrm>
            <a:off x="3108960" y="3700000"/>
            <a:ext cx="8028432" cy="70000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One stage is new; the other four decide whether it ships.</a:t>
            </a:r>
            <a:endParaRPr lang="en-US" sz="1500" dirty="0"/>
          </a:p>
        </p:txBody>
      </p:sp>
      <p:sp>
        <p:nvSpPr>
          <p:cNvPr id="112" name="Shape 112"/>
          <p:cNvSpPr/>
          <p:nvPr/>
        </p:nvSpPr>
        <p:spPr>
          <a:xfrm>
            <a:off x="640080" y="4560000"/>
            <a:ext cx="10908792" cy="700000"/>
          </a:xfrm>
          <a:prstGeom prst="roundRect">
            <a:avLst>
              <a:gd name="adj" fmla="val 10526"/>
            </a:avLst>
          </a:prstGeom>
          <a:solidFill>
            <a:srgbClr val="1B2437"/>
          </a:solidFill>
          <a:ln/>
        </p:spPr>
        <p:txBody>
          <a:bodyPr/>
          <a:lstStyle/>
          <a:p>
            <a:endParaRPr/>
          </a:p>
        </p:txBody>
      </p:sp>
      <p:sp>
        <p:nvSpPr>
          <p:cNvPr id="113" name="Text 113"/>
          <p:cNvSpPr/>
          <p:nvPr/>
        </p:nvSpPr>
        <p:spPr>
          <a:xfrm>
            <a:off x="1051560" y="4560000"/>
            <a:ext cx="1828800" cy="700000"/>
          </a:xfrm>
          <a:prstGeom prst="rect">
            <a:avLst/>
          </a:prstGeom>
          <a:noFill/>
          <a:ln/>
        </p:spPr>
        <p:txBody>
          <a:bodyPr wrap="square" lIns="0" tIns="0" rIns="0" bIns="0" rtlCol="0" anchor="ctr"/>
          <a:lstStyle/>
          <a:p>
            <a:pPr marL="0" indent="0" algn="l">
              <a:buNone/>
            </a:pPr>
            <a:r>
              <a:rPr lang="en-US" sz="950" b="1" kern="0" spc="150" dirty="0">
                <a:solidFill>
                  <a:srgbClr val="A8B2C4"/>
                </a:solidFill>
                <a:latin typeface="Arial" pitchFamily="34" charset="0"/>
                <a:ea typeface="Arial" pitchFamily="34" charset="-122"/>
                <a:cs typeface="Arial" pitchFamily="34" charset="-120"/>
              </a:rPr>
              <a:t>PART FOUR</a:t>
            </a:r>
            <a:endParaRPr lang="en-US" sz="950" dirty="0"/>
          </a:p>
        </p:txBody>
      </p:sp>
      <p:sp>
        <p:nvSpPr>
          <p:cNvPr id="114" name="Text 114"/>
          <p:cNvSpPr/>
          <p:nvPr/>
        </p:nvSpPr>
        <p:spPr>
          <a:xfrm>
            <a:off x="3108960" y="4560000"/>
            <a:ext cx="8028432" cy="700000"/>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Narrow claims get funded. Broad ones get returned.</a:t>
            </a:r>
            <a:endParaRPr lang="en-US" sz="1500" dirty="0"/>
          </a:p>
        </p:txBody>
      </p:sp>
      <p:sp>
        <p:nvSpPr>
          <p:cNvPr id="115" name="Text 115"/>
          <p:cNvSpPr/>
          <p:nvPr/>
        </p:nvSpPr>
        <p:spPr>
          <a:xfrm>
            <a:off x="640080" y="5560000"/>
            <a:ext cx="10908792" cy="365760"/>
          </a:xfrm>
          <a:prstGeom prst="rect">
            <a:avLst/>
          </a:prstGeom>
          <a:noFill/>
          <a:ln/>
        </p:spPr>
        <p:txBody>
          <a:bodyPr wrap="square" lIns="0" tIns="0" rIns="0" bIns="0" rtlCol="0" anchor="ctr"/>
          <a:lstStyle/>
          <a:p>
            <a:pPr marL="0" indent="0" algn="l">
              <a:buNone/>
            </a:pPr>
            <a:r>
              <a:rPr lang="en-US" sz="1400" dirty="0">
                <a:solidFill>
                  <a:srgbClr val="A8B2C4"/>
                </a:solidFill>
                <a:latin typeface="Calibri" pitchFamily="34" charset="0"/>
                <a:ea typeface="Calibri" pitchFamily="34" charset="-122"/>
                <a:cs typeface="Calibri" pitchFamily="34" charset="-120"/>
              </a:rPr>
              <a:t>Four lines, four parts. The next two slides turn them into something you can do tonight, and on Monday.</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0E1524"/>
        </a:solidFill>
        <a:effectLst/>
      </p:bgPr>
    </p:bg>
    <p:spTree>
      <p:nvGrpSpPr>
        <p:cNvPr id="1" name=""/>
        <p:cNvGrpSpPr/>
        <p:nvPr/>
      </p:nvGrpSpPr>
      <p:grpSpPr>
        <a:xfrm>
          <a:off x="0" y="0"/>
          <a:ext cx="0" cy="0"/>
          <a:chOff x="0" y="0"/>
          <a:chExt cx="0" cy="0"/>
        </a:xfrm>
      </p:grpSpPr>
      <p:sp>
        <p:nvSpPr>
          <p:cNvPr id="2" name="Text 0"/>
          <p:cNvSpPr/>
          <p:nvPr/>
        </p:nvSpPr>
        <p:spPr>
          <a:xfrm>
            <a:off x="640080" y="777240"/>
            <a:ext cx="10908792" cy="59436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Run it yourself tonight, for free</a:t>
            </a:r>
            <a:endParaRPr lang="en-US" sz="3400" dirty="0"/>
          </a:p>
        </p:txBody>
      </p:sp>
      <p:sp>
        <p:nvSpPr>
          <p:cNvPr id="3" name="Text 1"/>
          <p:cNvSpPr/>
          <p:nvPr/>
        </p:nvSpPr>
        <p:spPr>
          <a:xfrm>
            <a:off x="640080" y="1417320"/>
            <a:ext cx="10058400" cy="320040"/>
          </a:xfrm>
          <a:prstGeom prst="rect">
            <a:avLst/>
          </a:prstGeom>
          <a:noFill/>
          <a:ln/>
        </p:spPr>
        <p:txBody>
          <a:bodyPr wrap="square" lIns="0" tIns="0" rIns="0" bIns="0" rtlCol="0" anchor="ctr"/>
          <a:lstStyle/>
          <a:p>
            <a:pPr marL="0" indent="0">
              <a:buNone/>
            </a:pPr>
            <a:r>
              <a:rPr lang="en-US" sz="1500" dirty="0">
                <a:solidFill>
                  <a:srgbClr val="A8B2C4"/>
                </a:solidFill>
                <a:latin typeface="Calibri" pitchFamily="34" charset="0"/>
                <a:ea typeface="Calibri" pitchFamily="34" charset="-122"/>
                <a:cs typeface="Calibri" pitchFamily="34" charset="-120"/>
              </a:rPr>
              <a:t>Three routes to a working multimodal call. The first needs nothing installed.</a:t>
            </a:r>
            <a:endParaRPr lang="en-US" sz="1500" dirty="0"/>
          </a:p>
        </p:txBody>
      </p:sp>
      <p:sp>
        <p:nvSpPr>
          <p:cNvPr id="4" name="Shape 2"/>
          <p:cNvSpPr/>
          <p:nvPr/>
        </p:nvSpPr>
        <p:spPr>
          <a:xfrm>
            <a:off x="640080" y="2148840"/>
            <a:ext cx="3401568" cy="2514600"/>
          </a:xfrm>
          <a:prstGeom prst="roundRect">
            <a:avLst>
              <a:gd name="adj" fmla="val 3636"/>
            </a:avLst>
          </a:prstGeom>
          <a:solidFill>
            <a:srgbClr val="1B2437"/>
          </a:solidFill>
          <a:ln/>
        </p:spPr>
        <p:txBody>
          <a:bodyPr/>
          <a:lstStyle/>
          <a:p>
            <a:endParaRPr/>
          </a:p>
        </p:txBody>
      </p:sp>
      <p:sp>
        <p:nvSpPr>
          <p:cNvPr id="5" name="Shape 3"/>
          <p:cNvSpPr/>
          <p:nvPr/>
        </p:nvSpPr>
        <p:spPr>
          <a:xfrm>
            <a:off x="932688" y="2450592"/>
            <a:ext cx="292608" cy="292608"/>
          </a:xfrm>
          <a:prstGeom prst="ellipse">
            <a:avLst/>
          </a:prstGeom>
          <a:solidFill>
            <a:srgbClr val="FF6B4A"/>
          </a:solidFill>
          <a:ln/>
        </p:spPr>
        <p:txBody>
          <a:bodyPr/>
          <a:lstStyle/>
          <a:p>
            <a:endParaRPr/>
          </a:p>
        </p:txBody>
      </p:sp>
      <p:sp>
        <p:nvSpPr>
          <p:cNvPr id="6" name="Text 4"/>
          <p:cNvSpPr/>
          <p:nvPr/>
        </p:nvSpPr>
        <p:spPr>
          <a:xfrm>
            <a:off x="932688" y="2880360"/>
            <a:ext cx="2834640" cy="292608"/>
          </a:xfrm>
          <a:prstGeom prst="rect">
            <a:avLst/>
          </a:prstGeom>
          <a:noFill/>
          <a:ln/>
        </p:spPr>
        <p:txBody>
          <a:bodyPr wrap="square" lIns="0" tIns="0" rIns="0" bIns="0" rtlCol="0" anchor="ctr"/>
          <a:lstStyle/>
          <a:p>
            <a:pPr marL="0" indent="0">
              <a:buNone/>
            </a:pPr>
            <a:r>
              <a:rPr lang="en-US" sz="1500" b="1" dirty="0">
                <a:solidFill>
                  <a:srgbClr val="FF6B4A"/>
                </a:solidFill>
                <a:latin typeface="Arial" pitchFamily="34" charset="0"/>
                <a:ea typeface="Arial" pitchFamily="34" charset="-122"/>
                <a:cs typeface="Arial" pitchFamily="34" charset="-120"/>
              </a:rPr>
              <a:t>In a browser - 5 minutes</a:t>
            </a:r>
            <a:endParaRPr lang="en-US" sz="1500" dirty="0"/>
          </a:p>
        </p:txBody>
      </p:sp>
      <p:sp>
        <p:nvSpPr>
          <p:cNvPr id="7" name="Text 5"/>
          <p:cNvSpPr/>
          <p:nvPr/>
        </p:nvSpPr>
        <p:spPr>
          <a:xfrm>
            <a:off x="932688" y="3273552"/>
            <a:ext cx="2834640" cy="128016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Any chat tool that accepts an image. Photograph a purchase order, paste the JSON shape from slide 15, and ask for exactly that.</a:t>
            </a:r>
            <a:endParaRPr lang="en-US" sz="1300" dirty="0"/>
          </a:p>
        </p:txBody>
      </p:sp>
      <p:sp>
        <p:nvSpPr>
          <p:cNvPr id="8" name="Shape 6"/>
          <p:cNvSpPr/>
          <p:nvPr/>
        </p:nvSpPr>
        <p:spPr>
          <a:xfrm>
            <a:off x="4343400" y="2148840"/>
            <a:ext cx="3401568" cy="2514600"/>
          </a:xfrm>
          <a:prstGeom prst="roundRect">
            <a:avLst>
              <a:gd name="adj" fmla="val 3636"/>
            </a:avLst>
          </a:prstGeom>
          <a:solidFill>
            <a:srgbClr val="1B2437"/>
          </a:solidFill>
          <a:ln/>
        </p:spPr>
        <p:txBody>
          <a:bodyPr/>
          <a:lstStyle/>
          <a:p>
            <a:endParaRPr/>
          </a:p>
        </p:txBody>
      </p:sp>
      <p:sp>
        <p:nvSpPr>
          <p:cNvPr id="9" name="Shape 7"/>
          <p:cNvSpPr/>
          <p:nvPr/>
        </p:nvSpPr>
        <p:spPr>
          <a:xfrm>
            <a:off x="4636008" y="2450592"/>
            <a:ext cx="292608" cy="292608"/>
          </a:xfrm>
          <a:prstGeom prst="ellipse">
            <a:avLst/>
          </a:prstGeom>
          <a:solidFill>
            <a:srgbClr val="FFC24A"/>
          </a:solidFill>
          <a:ln/>
        </p:spPr>
        <p:txBody>
          <a:bodyPr/>
          <a:lstStyle/>
          <a:p>
            <a:endParaRPr/>
          </a:p>
        </p:txBody>
      </p:sp>
      <p:sp>
        <p:nvSpPr>
          <p:cNvPr id="10" name="Text 8"/>
          <p:cNvSpPr/>
          <p:nvPr/>
        </p:nvSpPr>
        <p:spPr>
          <a:xfrm>
            <a:off x="4636008" y="2880360"/>
            <a:ext cx="2834640" cy="292608"/>
          </a:xfrm>
          <a:prstGeom prst="rect">
            <a:avLst/>
          </a:prstGeom>
          <a:noFill/>
          <a:ln/>
        </p:spPr>
        <p:txBody>
          <a:bodyPr wrap="square" lIns="0" tIns="0" rIns="0" bIns="0" rtlCol="0" anchor="ctr"/>
          <a:lstStyle/>
          <a:p>
            <a:pPr marL="0" indent="0">
              <a:buNone/>
            </a:pPr>
            <a:r>
              <a:rPr lang="en-US" sz="1500" b="1" dirty="0">
                <a:solidFill>
                  <a:srgbClr val="FFC24A"/>
                </a:solidFill>
                <a:latin typeface="Arial" pitchFamily="34" charset="0"/>
                <a:ea typeface="Arial" pitchFamily="34" charset="-122"/>
                <a:cs typeface="Arial" pitchFamily="34" charset="-120"/>
              </a:rPr>
              <a:t>In a notebook - 30 minutes</a:t>
            </a:r>
            <a:endParaRPr lang="en-US" sz="1500" dirty="0"/>
          </a:p>
        </p:txBody>
      </p:sp>
      <p:sp>
        <p:nvSpPr>
          <p:cNvPr id="11" name="Text 9"/>
          <p:cNvSpPr/>
          <p:nvPr/>
        </p:nvSpPr>
        <p:spPr>
          <a:xfrm>
            <a:off x="4636008" y="3273552"/>
            <a:ext cx="2834640" cy="128016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Colab free tier plus Hugging Face transformers. Run an open VLM across twenty of your own documents. This is the lab exercise.</a:t>
            </a:r>
            <a:endParaRPr lang="en-US" sz="1300" dirty="0"/>
          </a:p>
        </p:txBody>
      </p:sp>
      <p:sp>
        <p:nvSpPr>
          <p:cNvPr id="12" name="Shape 10"/>
          <p:cNvSpPr/>
          <p:nvPr/>
        </p:nvSpPr>
        <p:spPr>
          <a:xfrm>
            <a:off x="8046720" y="2148840"/>
            <a:ext cx="3401568" cy="2514600"/>
          </a:xfrm>
          <a:prstGeom prst="roundRect">
            <a:avLst>
              <a:gd name="adj" fmla="val 3636"/>
            </a:avLst>
          </a:prstGeom>
          <a:solidFill>
            <a:srgbClr val="1B2437"/>
          </a:solidFill>
          <a:ln/>
        </p:spPr>
        <p:txBody>
          <a:bodyPr/>
          <a:lstStyle/>
          <a:p>
            <a:endParaRPr/>
          </a:p>
        </p:txBody>
      </p:sp>
      <p:sp>
        <p:nvSpPr>
          <p:cNvPr id="13" name="Shape 11"/>
          <p:cNvSpPr/>
          <p:nvPr/>
        </p:nvSpPr>
        <p:spPr>
          <a:xfrm>
            <a:off x="8339328" y="2450592"/>
            <a:ext cx="292608" cy="292608"/>
          </a:xfrm>
          <a:prstGeom prst="ellipse">
            <a:avLst/>
          </a:prstGeom>
          <a:solidFill>
            <a:srgbClr val="00C2A8"/>
          </a:solidFill>
          <a:ln/>
        </p:spPr>
        <p:txBody>
          <a:bodyPr/>
          <a:lstStyle/>
          <a:p>
            <a:endParaRPr/>
          </a:p>
        </p:txBody>
      </p:sp>
      <p:sp>
        <p:nvSpPr>
          <p:cNvPr id="14" name="Text 12"/>
          <p:cNvSpPr/>
          <p:nvPr/>
        </p:nvSpPr>
        <p:spPr>
          <a:xfrm>
            <a:off x="8339328" y="2880360"/>
            <a:ext cx="2834640" cy="292608"/>
          </a:xfrm>
          <a:prstGeom prst="rect">
            <a:avLst/>
          </a:prstGeom>
          <a:noFill/>
          <a:ln/>
        </p:spPr>
        <p:txBody>
          <a:bodyPr wrap="square" lIns="0" tIns="0" rIns="0" bIns="0" rtlCol="0" anchor="ctr"/>
          <a:lstStyle/>
          <a:p>
            <a:pPr marL="0" indent="0">
              <a:buNone/>
            </a:pPr>
            <a:r>
              <a:rPr lang="en-US" sz="1500" b="1" dirty="0">
                <a:solidFill>
                  <a:srgbClr val="00C2A8"/>
                </a:solidFill>
                <a:latin typeface="Arial" pitchFamily="34" charset="0"/>
                <a:ea typeface="Arial" pitchFamily="34" charset="-122"/>
                <a:cs typeface="Arial" pitchFamily="34" charset="-120"/>
              </a:rPr>
              <a:t>On your own laptop - 1 hour</a:t>
            </a:r>
            <a:endParaRPr lang="en-US" sz="1500" dirty="0"/>
          </a:p>
        </p:txBody>
      </p:sp>
      <p:sp>
        <p:nvSpPr>
          <p:cNvPr id="15" name="Text 13"/>
          <p:cNvSpPr/>
          <p:nvPr/>
        </p:nvSpPr>
        <p:spPr>
          <a:xfrm>
            <a:off x="8339328" y="3273552"/>
            <a:ext cx="2834640" cy="128016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Ollama and a small open VLM - Qwen3-VL 8B or Gemma 3 4B. Works offline on a 12 GB card. Nothing ever leaves the room.</a:t>
            </a:r>
            <a:endParaRPr lang="en-US" sz="1300" dirty="0"/>
          </a:p>
        </p:txBody>
      </p:sp>
      <p:sp>
        <p:nvSpPr>
          <p:cNvPr id="16" name="Text 14"/>
          <p:cNvSpPr/>
          <p:nvPr/>
        </p:nvSpPr>
        <p:spPr>
          <a:xfrm>
            <a:off x="640080" y="5029200"/>
            <a:ext cx="10908792" cy="365760"/>
          </a:xfrm>
          <a:prstGeom prst="rect">
            <a:avLst/>
          </a:prstGeom>
          <a:noFill/>
          <a:ln/>
        </p:spPr>
        <p:txBody>
          <a:bodyPr wrap="square" lIns="0" tIns="0" rIns="0" bIns="0" rtlCol="0" anchor="ctr"/>
          <a:lstStyle/>
          <a:p>
            <a:pPr marL="0" indent="0">
              <a:buNone/>
            </a:pPr>
            <a:r>
              <a:rPr lang="en-US" sz="1500" i="1" dirty="0">
                <a:solidFill>
                  <a:srgbClr val="A8B2C4"/>
                </a:solidFill>
                <a:latin typeface="Calibri" pitchFamily="34" charset="0"/>
                <a:ea typeface="Calibri" pitchFamily="34" charset="-122"/>
                <a:cs typeface="Calibri" pitchFamily="34" charset="-120"/>
              </a:rPr>
              <a:t>None of this needs a GPU, a licence, or a request to IT. Model names move faster than syllabi - the architecture on slide 20 does not. Model list current as of August 2026.</a:t>
            </a:r>
            <a:endParaRPr lang="en-US" sz="1500" dirty="0"/>
          </a:p>
        </p:txBody>
      </p:sp>
      <p:sp>
        <p:nvSpPr>
          <p:cNvPr id="17" name="Shape 15"/>
          <p:cNvSpPr/>
          <p:nvPr/>
        </p:nvSpPr>
        <p:spPr>
          <a:xfrm>
            <a:off x="640080" y="5715000"/>
            <a:ext cx="137160" cy="137160"/>
          </a:xfrm>
          <a:prstGeom prst="ellipse">
            <a:avLst/>
          </a:prstGeom>
          <a:solidFill>
            <a:srgbClr val="00C2A8"/>
          </a:solidFill>
          <a:ln/>
        </p:spPr>
        <p:txBody>
          <a:bodyPr/>
          <a:lstStyle/>
          <a:p>
            <a:endParaRPr/>
          </a:p>
        </p:txBody>
      </p:sp>
      <p:sp>
        <p:nvSpPr>
          <p:cNvPr id="18" name="Shape 16"/>
          <p:cNvSpPr/>
          <p:nvPr/>
        </p:nvSpPr>
        <p:spPr>
          <a:xfrm>
            <a:off x="880110" y="5715000"/>
            <a:ext cx="137160" cy="137160"/>
          </a:xfrm>
          <a:prstGeom prst="ellipse">
            <a:avLst/>
          </a:prstGeom>
          <a:solidFill>
            <a:srgbClr val="FF6B4A"/>
          </a:solidFill>
          <a:ln/>
        </p:spPr>
        <p:txBody>
          <a:bodyPr/>
          <a:lstStyle/>
          <a:p>
            <a:endParaRPr/>
          </a:p>
        </p:txBody>
      </p:sp>
      <p:sp>
        <p:nvSpPr>
          <p:cNvPr id="19" name="Shape 17"/>
          <p:cNvSpPr/>
          <p:nvPr/>
        </p:nvSpPr>
        <p:spPr>
          <a:xfrm>
            <a:off x="1120140" y="5715000"/>
            <a:ext cx="137160" cy="137160"/>
          </a:xfrm>
          <a:prstGeom prst="ellipse">
            <a:avLst/>
          </a:prstGeom>
          <a:solidFill>
            <a:srgbClr val="FFC24A"/>
          </a:solidFill>
          <a:ln/>
        </p:spPr>
        <p:txBody>
          <a:bodyPr/>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bg>
      <p:bgPr>
        <a:solidFill>
          <a:srgbClr val="0E1524"/>
        </a:solidFill>
        <a:effectLst/>
      </p:bgPr>
    </p:bg>
    <p:spTree>
      <p:nvGrpSpPr>
        <p:cNvPr id="1" name=""/>
        <p:cNvGrpSpPr/>
        <p:nvPr/>
      </p:nvGrpSpPr>
      <p:grpSpPr>
        <a:xfrm>
          <a:off x="0" y="0"/>
          <a:ext cx="0" cy="0"/>
          <a:chOff x="0" y="0"/>
          <a:chExt cx="0" cy="0"/>
        </a:xfrm>
      </p:grpSpPr>
      <p:sp>
        <p:nvSpPr>
          <p:cNvPr id="2" name="Text 0"/>
          <p:cNvSpPr/>
          <p:nvPr/>
        </p:nvSpPr>
        <p:spPr>
          <a:xfrm>
            <a:off x="640080" y="777240"/>
            <a:ext cx="10908792" cy="59436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What to do on Monday</a:t>
            </a:r>
            <a:endParaRPr lang="en-US" sz="3400" dirty="0"/>
          </a:p>
        </p:txBody>
      </p:sp>
      <p:sp>
        <p:nvSpPr>
          <p:cNvPr id="3" name="Text 1"/>
          <p:cNvSpPr/>
          <p:nvPr/>
        </p:nvSpPr>
        <p:spPr>
          <a:xfrm>
            <a:off x="640080" y="1417320"/>
            <a:ext cx="10058400" cy="320040"/>
          </a:xfrm>
          <a:prstGeom prst="rect">
            <a:avLst/>
          </a:prstGeom>
          <a:noFill/>
          <a:ln/>
        </p:spPr>
        <p:txBody>
          <a:bodyPr wrap="square" lIns="0" tIns="0" rIns="0" bIns="0" rtlCol="0" anchor="ctr"/>
          <a:lstStyle/>
          <a:p>
            <a:pPr marL="0" indent="0">
              <a:buNone/>
            </a:pPr>
            <a:r>
              <a:rPr lang="en-US" sz="1500" dirty="0">
                <a:solidFill>
                  <a:srgbClr val="A8B2C4"/>
                </a:solidFill>
                <a:latin typeface="Calibri" pitchFamily="34" charset="0"/>
                <a:ea typeface="Calibri" pitchFamily="34" charset="-122"/>
                <a:cs typeface="Calibri" pitchFamily="34" charset="-120"/>
              </a:rPr>
              <a:t>Three actions, roughly two hours each. Pick the one that matches your role.</a:t>
            </a:r>
            <a:endParaRPr lang="en-US" sz="1500" dirty="0"/>
          </a:p>
        </p:txBody>
      </p:sp>
      <p:sp>
        <p:nvSpPr>
          <p:cNvPr id="4" name="Shape 2"/>
          <p:cNvSpPr/>
          <p:nvPr/>
        </p:nvSpPr>
        <p:spPr>
          <a:xfrm>
            <a:off x="640080" y="2148840"/>
            <a:ext cx="3401568" cy="2514600"/>
          </a:xfrm>
          <a:prstGeom prst="roundRect">
            <a:avLst>
              <a:gd name="adj" fmla="val 3636"/>
            </a:avLst>
          </a:prstGeom>
          <a:solidFill>
            <a:srgbClr val="1B2437"/>
          </a:solidFill>
          <a:ln/>
        </p:spPr>
        <p:txBody>
          <a:bodyPr/>
          <a:lstStyle/>
          <a:p>
            <a:endParaRPr/>
          </a:p>
        </p:txBody>
      </p:sp>
      <p:sp>
        <p:nvSpPr>
          <p:cNvPr id="5" name="Shape 3"/>
          <p:cNvSpPr/>
          <p:nvPr/>
        </p:nvSpPr>
        <p:spPr>
          <a:xfrm>
            <a:off x="932688" y="2450592"/>
            <a:ext cx="292608" cy="292608"/>
          </a:xfrm>
          <a:prstGeom prst="ellipse">
            <a:avLst/>
          </a:prstGeom>
          <a:solidFill>
            <a:srgbClr val="FF6B4A"/>
          </a:solidFill>
          <a:ln/>
        </p:spPr>
        <p:txBody>
          <a:bodyPr/>
          <a:lstStyle/>
          <a:p>
            <a:endParaRPr/>
          </a:p>
        </p:txBody>
      </p:sp>
      <p:sp>
        <p:nvSpPr>
          <p:cNvPr id="6" name="Text 4"/>
          <p:cNvSpPr/>
          <p:nvPr/>
        </p:nvSpPr>
        <p:spPr>
          <a:xfrm>
            <a:off x="932688" y="2880360"/>
            <a:ext cx="2834640" cy="292608"/>
          </a:xfrm>
          <a:prstGeom prst="rect">
            <a:avLst/>
          </a:prstGeom>
          <a:noFill/>
          <a:ln/>
        </p:spPr>
        <p:txBody>
          <a:bodyPr wrap="square" lIns="0" tIns="0" rIns="0" bIns="0" rtlCol="0" anchor="ctr"/>
          <a:lstStyle/>
          <a:p>
            <a:pPr marL="0" indent="0">
              <a:buNone/>
            </a:pPr>
            <a:r>
              <a:rPr lang="en-US" sz="1500" b="1" dirty="0">
                <a:solidFill>
                  <a:srgbClr val="FF6B4A"/>
                </a:solidFill>
                <a:latin typeface="Arial" pitchFamily="34" charset="0"/>
                <a:ea typeface="Arial" pitchFamily="34" charset="-122"/>
                <a:cs typeface="Arial" pitchFamily="34" charset="-120"/>
              </a:rPr>
              <a:t>If you teach</a:t>
            </a:r>
            <a:endParaRPr lang="en-US" sz="1500" dirty="0"/>
          </a:p>
        </p:txBody>
      </p:sp>
      <p:sp>
        <p:nvSpPr>
          <p:cNvPr id="7" name="Text 5"/>
          <p:cNvSpPr/>
          <p:nvPr/>
        </p:nvSpPr>
        <p:spPr>
          <a:xfrm>
            <a:off x="932688" y="3273552"/>
            <a:ext cx="2834640" cy="128016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Take slides 6 to 12 into your next class. The embedding idea is one lecture and needs no new lab.</a:t>
            </a:r>
            <a:endParaRPr lang="en-US" sz="1300" dirty="0"/>
          </a:p>
        </p:txBody>
      </p:sp>
      <p:sp>
        <p:nvSpPr>
          <p:cNvPr id="8" name="Shape 6"/>
          <p:cNvSpPr/>
          <p:nvPr/>
        </p:nvSpPr>
        <p:spPr>
          <a:xfrm>
            <a:off x="4343400" y="2148840"/>
            <a:ext cx="3401568" cy="2514600"/>
          </a:xfrm>
          <a:prstGeom prst="roundRect">
            <a:avLst>
              <a:gd name="adj" fmla="val 3636"/>
            </a:avLst>
          </a:prstGeom>
          <a:solidFill>
            <a:srgbClr val="1B2437"/>
          </a:solidFill>
          <a:ln/>
        </p:spPr>
        <p:txBody>
          <a:bodyPr/>
          <a:lstStyle/>
          <a:p>
            <a:endParaRPr/>
          </a:p>
        </p:txBody>
      </p:sp>
      <p:sp>
        <p:nvSpPr>
          <p:cNvPr id="9" name="Shape 7"/>
          <p:cNvSpPr/>
          <p:nvPr/>
        </p:nvSpPr>
        <p:spPr>
          <a:xfrm>
            <a:off x="4636008" y="2450592"/>
            <a:ext cx="292608" cy="292608"/>
          </a:xfrm>
          <a:prstGeom prst="ellipse">
            <a:avLst/>
          </a:prstGeom>
          <a:solidFill>
            <a:srgbClr val="FFC24A"/>
          </a:solidFill>
          <a:ln/>
        </p:spPr>
        <p:txBody>
          <a:bodyPr/>
          <a:lstStyle/>
          <a:p>
            <a:endParaRPr/>
          </a:p>
        </p:txBody>
      </p:sp>
      <p:sp>
        <p:nvSpPr>
          <p:cNvPr id="10" name="Text 8"/>
          <p:cNvSpPr/>
          <p:nvPr/>
        </p:nvSpPr>
        <p:spPr>
          <a:xfrm>
            <a:off x="4636008" y="2880360"/>
            <a:ext cx="2834640" cy="292608"/>
          </a:xfrm>
          <a:prstGeom prst="rect">
            <a:avLst/>
          </a:prstGeom>
          <a:noFill/>
          <a:ln/>
        </p:spPr>
        <p:txBody>
          <a:bodyPr wrap="square" lIns="0" tIns="0" rIns="0" bIns="0" rtlCol="0" anchor="ctr"/>
          <a:lstStyle/>
          <a:p>
            <a:pPr marL="0" indent="0">
              <a:buNone/>
            </a:pPr>
            <a:r>
              <a:rPr lang="en-US" sz="1500" b="1" dirty="0">
                <a:solidFill>
                  <a:srgbClr val="FFC24A"/>
                </a:solidFill>
                <a:latin typeface="Arial" pitchFamily="34" charset="0"/>
                <a:ea typeface="Arial" pitchFamily="34" charset="-122"/>
                <a:cs typeface="Arial" pitchFamily="34" charset="-120"/>
              </a:rPr>
              <a:t>If you research</a:t>
            </a:r>
            <a:endParaRPr lang="en-US" sz="1500" dirty="0"/>
          </a:p>
        </p:txBody>
      </p:sp>
      <p:sp>
        <p:nvSpPr>
          <p:cNvPr id="11" name="Text 9"/>
          <p:cNvSpPr/>
          <p:nvPr/>
        </p:nvSpPr>
        <p:spPr>
          <a:xfrm>
            <a:off x="4636008" y="3273552"/>
            <a:ext cx="2834640" cy="128016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Pick one failure case from slide 17 and start a 300-example test set for it. No GPU required.</a:t>
            </a:r>
            <a:endParaRPr lang="en-US" sz="1300" dirty="0"/>
          </a:p>
        </p:txBody>
      </p:sp>
      <p:sp>
        <p:nvSpPr>
          <p:cNvPr id="12" name="Shape 10"/>
          <p:cNvSpPr/>
          <p:nvPr/>
        </p:nvSpPr>
        <p:spPr>
          <a:xfrm>
            <a:off x="8046720" y="2148840"/>
            <a:ext cx="3401568" cy="2514600"/>
          </a:xfrm>
          <a:prstGeom prst="roundRect">
            <a:avLst>
              <a:gd name="adj" fmla="val 3636"/>
            </a:avLst>
          </a:prstGeom>
          <a:solidFill>
            <a:srgbClr val="1B2437"/>
          </a:solidFill>
          <a:ln/>
        </p:spPr>
        <p:txBody>
          <a:bodyPr/>
          <a:lstStyle/>
          <a:p>
            <a:endParaRPr/>
          </a:p>
        </p:txBody>
      </p:sp>
      <p:sp>
        <p:nvSpPr>
          <p:cNvPr id="13" name="Shape 11"/>
          <p:cNvSpPr/>
          <p:nvPr/>
        </p:nvSpPr>
        <p:spPr>
          <a:xfrm>
            <a:off x="8339328" y="2450592"/>
            <a:ext cx="292608" cy="292608"/>
          </a:xfrm>
          <a:prstGeom prst="ellipse">
            <a:avLst/>
          </a:prstGeom>
          <a:solidFill>
            <a:srgbClr val="00C2A8"/>
          </a:solidFill>
          <a:ln/>
        </p:spPr>
        <p:txBody>
          <a:bodyPr/>
          <a:lstStyle/>
          <a:p>
            <a:endParaRPr/>
          </a:p>
        </p:txBody>
      </p:sp>
      <p:sp>
        <p:nvSpPr>
          <p:cNvPr id="14" name="Text 12"/>
          <p:cNvSpPr/>
          <p:nvPr/>
        </p:nvSpPr>
        <p:spPr>
          <a:xfrm>
            <a:off x="8339328" y="2880360"/>
            <a:ext cx="2834640" cy="292608"/>
          </a:xfrm>
          <a:prstGeom prst="rect">
            <a:avLst/>
          </a:prstGeom>
          <a:noFill/>
          <a:ln/>
        </p:spPr>
        <p:txBody>
          <a:bodyPr wrap="square" lIns="0" tIns="0" rIns="0" bIns="0" rtlCol="0" anchor="ctr"/>
          <a:lstStyle/>
          <a:p>
            <a:pPr marL="0" indent="0">
              <a:buNone/>
            </a:pPr>
            <a:r>
              <a:rPr lang="en-US" sz="1500" b="1" dirty="0">
                <a:solidFill>
                  <a:srgbClr val="00C2A8"/>
                </a:solidFill>
                <a:latin typeface="Arial" pitchFamily="34" charset="0"/>
                <a:ea typeface="Arial" pitchFamily="34" charset="-122"/>
                <a:cs typeface="Arial" pitchFamily="34" charset="-120"/>
              </a:rPr>
              <a:t>If you guide projects</a:t>
            </a:r>
            <a:endParaRPr lang="en-US" sz="1500" dirty="0"/>
          </a:p>
        </p:txBody>
      </p:sp>
      <p:sp>
        <p:nvSpPr>
          <p:cNvPr id="15" name="Text 13"/>
          <p:cNvSpPr/>
          <p:nvPr/>
        </p:nvSpPr>
        <p:spPr>
          <a:xfrm>
            <a:off x="8339328" y="3273552"/>
            <a:ext cx="2834640" cy="128016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Give one final-year team slide 20 and a set of your own campus documents. That is a project and a dataset at once.</a:t>
            </a:r>
            <a:endParaRPr lang="en-US" sz="1300" dirty="0"/>
          </a:p>
        </p:txBody>
      </p:sp>
      <p:sp>
        <p:nvSpPr>
          <p:cNvPr id="16" name="Text 14"/>
          <p:cNvSpPr/>
          <p:nvPr/>
        </p:nvSpPr>
        <p:spPr>
          <a:xfrm>
            <a:off x="640080" y="5029200"/>
            <a:ext cx="10908792" cy="365760"/>
          </a:xfrm>
          <a:prstGeom prst="rect">
            <a:avLst/>
          </a:prstGeom>
          <a:noFill/>
          <a:ln/>
        </p:spPr>
        <p:txBody>
          <a:bodyPr wrap="square" lIns="0" tIns="0" rIns="0" bIns="0" rtlCol="0" anchor="ctr"/>
          <a:lstStyle/>
          <a:p>
            <a:pPr marL="0" indent="0">
              <a:buNone/>
            </a:pPr>
            <a:r>
              <a:rPr lang="en-US" sz="1500" i="1" dirty="0">
                <a:solidFill>
                  <a:srgbClr val="A8B2C4"/>
                </a:solidFill>
                <a:latin typeface="Calibri" pitchFamily="34" charset="0"/>
                <a:ea typeface="Calibri" pitchFamily="34" charset="-122"/>
                <a:cs typeface="Calibri" pitchFamily="34" charset="-120"/>
              </a:rPr>
              <a:t>None of these need a GPU or a budget. If your institution is not on the IndiaAI compute portal yet, register it this week - approval takes longer than writing the proposal will.</a:t>
            </a:r>
            <a:endParaRPr lang="en-US" sz="1500" dirty="0"/>
          </a:p>
        </p:txBody>
      </p:sp>
      <p:sp>
        <p:nvSpPr>
          <p:cNvPr id="17" name="Shape 15"/>
          <p:cNvSpPr/>
          <p:nvPr/>
        </p:nvSpPr>
        <p:spPr>
          <a:xfrm>
            <a:off x="640080" y="5715000"/>
            <a:ext cx="137160" cy="137160"/>
          </a:xfrm>
          <a:prstGeom prst="ellipse">
            <a:avLst/>
          </a:prstGeom>
          <a:solidFill>
            <a:srgbClr val="00C2A8"/>
          </a:solidFill>
          <a:ln/>
        </p:spPr>
        <p:txBody>
          <a:bodyPr/>
          <a:lstStyle/>
          <a:p>
            <a:endParaRPr/>
          </a:p>
        </p:txBody>
      </p:sp>
      <p:sp>
        <p:nvSpPr>
          <p:cNvPr id="18" name="Shape 16"/>
          <p:cNvSpPr/>
          <p:nvPr/>
        </p:nvSpPr>
        <p:spPr>
          <a:xfrm>
            <a:off x="880110" y="5715000"/>
            <a:ext cx="137160" cy="137160"/>
          </a:xfrm>
          <a:prstGeom prst="ellipse">
            <a:avLst/>
          </a:prstGeom>
          <a:solidFill>
            <a:srgbClr val="FF6B4A"/>
          </a:solidFill>
          <a:ln/>
        </p:spPr>
        <p:txBody>
          <a:bodyPr/>
          <a:lstStyle/>
          <a:p>
            <a:endParaRPr/>
          </a:p>
        </p:txBody>
      </p:sp>
      <p:sp>
        <p:nvSpPr>
          <p:cNvPr id="19" name="Shape 17"/>
          <p:cNvSpPr/>
          <p:nvPr/>
        </p:nvSpPr>
        <p:spPr>
          <a:xfrm>
            <a:off x="1120140" y="5715000"/>
            <a:ext cx="137160" cy="137160"/>
          </a:xfrm>
          <a:prstGeom prst="ellipse">
            <a:avLst/>
          </a:prstGeom>
          <a:solidFill>
            <a:srgbClr val="FFC24A"/>
          </a:solidFill>
          <a:ln/>
        </p:spPr>
        <p:txBody>
          <a:bodyPr/>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bg>
      <p:bgPr>
        <a:solidFill>
          <a:srgbClr val="0E1524"/>
        </a:solidFill>
        <a:effectLst/>
      </p:bgPr>
    </p:bg>
    <p:spTree>
      <p:nvGrpSpPr>
        <p:cNvPr id="1" name=""/>
        <p:cNvGrpSpPr/>
        <p:nvPr/>
      </p:nvGrpSpPr>
      <p:grpSpPr>
        <a:xfrm>
          <a:off x="0" y="0"/>
          <a:ext cx="0" cy="0"/>
          <a:chOff x="0" y="0"/>
          <a:chExt cx="0" cy="0"/>
        </a:xfrm>
      </p:grpSpPr>
      <p:sp>
        <p:nvSpPr>
          <p:cNvPr id="2" name="Shape 0"/>
          <p:cNvSpPr/>
          <p:nvPr/>
        </p:nvSpPr>
        <p:spPr>
          <a:xfrm>
            <a:off x="640080" y="1737360"/>
            <a:ext cx="164592" cy="164592"/>
          </a:xfrm>
          <a:prstGeom prst="ellipse">
            <a:avLst/>
          </a:prstGeom>
          <a:solidFill>
            <a:srgbClr val="00C2A8"/>
          </a:solidFill>
          <a:ln/>
        </p:spPr>
        <p:txBody>
          <a:bodyPr/>
          <a:lstStyle/>
          <a:p>
            <a:endParaRPr lang="en-IN"/>
          </a:p>
        </p:txBody>
      </p:sp>
      <p:sp>
        <p:nvSpPr>
          <p:cNvPr id="3" name="Shape 1"/>
          <p:cNvSpPr/>
          <p:nvPr/>
        </p:nvSpPr>
        <p:spPr>
          <a:xfrm>
            <a:off x="928116" y="1737360"/>
            <a:ext cx="164592" cy="164592"/>
          </a:xfrm>
          <a:prstGeom prst="ellipse">
            <a:avLst/>
          </a:prstGeom>
          <a:solidFill>
            <a:srgbClr val="FF6B4A"/>
          </a:solidFill>
          <a:ln/>
        </p:spPr>
        <p:txBody>
          <a:bodyPr/>
          <a:lstStyle/>
          <a:p>
            <a:endParaRPr lang="en-IN"/>
          </a:p>
        </p:txBody>
      </p:sp>
      <p:sp>
        <p:nvSpPr>
          <p:cNvPr id="4" name="Shape 2"/>
          <p:cNvSpPr/>
          <p:nvPr/>
        </p:nvSpPr>
        <p:spPr>
          <a:xfrm>
            <a:off x="1216152" y="1737360"/>
            <a:ext cx="164592" cy="164592"/>
          </a:xfrm>
          <a:prstGeom prst="ellipse">
            <a:avLst/>
          </a:prstGeom>
          <a:solidFill>
            <a:srgbClr val="FFC24A"/>
          </a:solidFill>
          <a:ln/>
        </p:spPr>
        <p:txBody>
          <a:bodyPr/>
          <a:lstStyle/>
          <a:p>
            <a:endParaRPr lang="en-IN"/>
          </a:p>
        </p:txBody>
      </p:sp>
      <p:sp>
        <p:nvSpPr>
          <p:cNvPr id="5" name="Text 3"/>
          <p:cNvSpPr/>
          <p:nvPr/>
        </p:nvSpPr>
        <p:spPr>
          <a:xfrm>
            <a:off x="640080" y="2194560"/>
            <a:ext cx="8229600" cy="914400"/>
          </a:xfrm>
          <a:prstGeom prst="rect">
            <a:avLst/>
          </a:prstGeom>
          <a:noFill/>
          <a:ln/>
        </p:spPr>
        <p:txBody>
          <a:bodyPr wrap="square" lIns="0" tIns="0" rIns="0" bIns="0" rtlCol="0" anchor="ctr"/>
          <a:lstStyle/>
          <a:p>
            <a:pPr marL="0" indent="0">
              <a:buNone/>
            </a:pPr>
            <a:r>
              <a:rPr lang="en-US" sz="5000" b="1" dirty="0">
                <a:solidFill>
                  <a:srgbClr val="FFFFFF"/>
                </a:solidFill>
                <a:latin typeface="Arial" pitchFamily="34" charset="0"/>
                <a:ea typeface="Arial" pitchFamily="34" charset="-122"/>
                <a:cs typeface="Arial" pitchFamily="34" charset="-120"/>
              </a:rPr>
              <a:t>Questions</a:t>
            </a:r>
            <a:endParaRPr lang="en-US" sz="5000" dirty="0"/>
          </a:p>
        </p:txBody>
      </p:sp>
      <p:sp>
        <p:nvSpPr>
          <p:cNvPr id="6" name="Text 4"/>
          <p:cNvSpPr/>
          <p:nvPr/>
        </p:nvSpPr>
        <p:spPr>
          <a:xfrm>
            <a:off x="640080" y="3200400"/>
            <a:ext cx="8229600" cy="457200"/>
          </a:xfrm>
          <a:prstGeom prst="rect">
            <a:avLst/>
          </a:prstGeom>
          <a:noFill/>
          <a:ln/>
        </p:spPr>
        <p:txBody>
          <a:bodyPr wrap="square" lIns="0" tIns="0" rIns="0" bIns="0" rtlCol="0" anchor="ctr"/>
          <a:lstStyle/>
          <a:p>
            <a:pPr marL="0" indent="0">
              <a:buNone/>
            </a:pPr>
            <a:r>
              <a:rPr lang="en-US" sz="1900" dirty="0">
                <a:solidFill>
                  <a:srgbClr val="A8B2C4"/>
                </a:solidFill>
                <a:latin typeface="Calibri" pitchFamily="34" charset="0"/>
                <a:ea typeface="Calibri" pitchFamily="34" charset="-122"/>
                <a:cs typeface="Calibri" pitchFamily="34" charset="-120"/>
              </a:rPr>
              <a:t>Thank you.</a:t>
            </a:r>
            <a:endParaRPr lang="en-US" sz="1900" dirty="0"/>
          </a:p>
        </p:txBody>
      </p:sp>
      <p:sp>
        <p:nvSpPr>
          <p:cNvPr id="7" name="Text 5"/>
          <p:cNvSpPr/>
          <p:nvPr/>
        </p:nvSpPr>
        <p:spPr>
          <a:xfrm>
            <a:off x="640080" y="4114800"/>
            <a:ext cx="2194560" cy="320040"/>
          </a:xfrm>
          <a:prstGeom prst="rect">
            <a:avLst/>
          </a:prstGeom>
          <a:noFill/>
          <a:ln/>
        </p:spPr>
        <p:txBody>
          <a:bodyPr wrap="square" lIns="0" tIns="0" rIns="0" bIns="0" rtlCol="0" anchor="ctr"/>
          <a:lstStyle/>
          <a:p>
            <a:pPr marL="0" indent="0">
              <a:buNone/>
            </a:pPr>
            <a:r>
              <a:rPr lang="en-US" sz="1300" b="1" dirty="0">
                <a:solidFill>
                  <a:srgbClr val="00C2A8"/>
                </a:solidFill>
                <a:latin typeface="Arial" pitchFamily="34" charset="0"/>
                <a:ea typeface="Arial" pitchFamily="34" charset="-122"/>
                <a:cs typeface="Arial" pitchFamily="34" charset="-120"/>
              </a:rPr>
              <a:t>Slides</a:t>
            </a:r>
            <a:endParaRPr lang="en-US" sz="1300" dirty="0"/>
          </a:p>
        </p:txBody>
      </p:sp>
      <p:sp>
        <p:nvSpPr>
          <p:cNvPr id="8" name="Text 6"/>
          <p:cNvSpPr/>
          <p:nvPr/>
        </p:nvSpPr>
        <p:spPr>
          <a:xfrm>
            <a:off x="2926080" y="4114800"/>
            <a:ext cx="9165836" cy="457200"/>
          </a:xfrm>
          <a:prstGeom prst="rect">
            <a:avLst/>
          </a:prstGeom>
          <a:noFill/>
          <a:ln/>
        </p:spPr>
        <p:txBody>
          <a:bodyPr wrap="square" lIns="0" tIns="0" rIns="0" bIns="0" rtlCol="0" anchor="ctr"/>
          <a:lstStyle/>
          <a:p>
            <a:pPr marL="0" indent="0">
              <a:buNone/>
            </a:pPr>
            <a:r>
              <a:rPr lang="en-US" sz="1300" dirty="0">
                <a:solidFill>
                  <a:srgbClr val="A8B2C4"/>
                </a:solidFill>
                <a:latin typeface="Courier New" pitchFamily="34" charset="0"/>
                <a:ea typeface="Courier New" pitchFamily="34" charset="-122"/>
                <a:cs typeface="Courier New" pitchFamily="34" charset="-120"/>
                <a:hlinkClick r:id="rId3"/>
              </a:rPr>
              <a:t>https://github.com/lksmangai/DeepLearning/blob/master/Multimodal-AI-ATAL-FDP-Deck.pptx</a:t>
            </a:r>
            <a:endParaRPr lang="en-US" sz="1300" dirty="0">
              <a:solidFill>
                <a:srgbClr val="A8B2C4"/>
              </a:solidFill>
              <a:latin typeface="Courier New" pitchFamily="34" charset="0"/>
              <a:ea typeface="Courier New" pitchFamily="34" charset="-122"/>
              <a:cs typeface="Courier New" pitchFamily="34" charset="-120"/>
            </a:endParaRPr>
          </a:p>
          <a:p>
            <a:pPr marL="0" indent="0">
              <a:buNone/>
            </a:pPr>
            <a:endParaRPr lang="en-US" sz="1300" dirty="0"/>
          </a:p>
        </p:txBody>
      </p:sp>
      <p:sp>
        <p:nvSpPr>
          <p:cNvPr id="9" name="Text 7"/>
          <p:cNvSpPr/>
          <p:nvPr/>
        </p:nvSpPr>
        <p:spPr>
          <a:xfrm>
            <a:off x="640080" y="4681728"/>
            <a:ext cx="2194560" cy="320040"/>
          </a:xfrm>
          <a:prstGeom prst="rect">
            <a:avLst/>
          </a:prstGeom>
          <a:noFill/>
          <a:ln/>
        </p:spPr>
        <p:txBody>
          <a:bodyPr wrap="square" lIns="0" tIns="0" rIns="0" bIns="0" rtlCol="0" anchor="ctr"/>
          <a:lstStyle/>
          <a:p>
            <a:pPr marL="0" indent="0">
              <a:buNone/>
            </a:pPr>
            <a:r>
              <a:rPr lang="en-US" sz="1300" b="1" dirty="0">
                <a:solidFill>
                  <a:srgbClr val="00C2A8"/>
                </a:solidFill>
                <a:latin typeface="Arial" pitchFamily="34" charset="0"/>
                <a:ea typeface="Arial" pitchFamily="34" charset="-122"/>
                <a:cs typeface="Arial" pitchFamily="34" charset="-120"/>
              </a:rPr>
              <a:t>Reading list</a:t>
            </a:r>
            <a:endParaRPr lang="en-US" sz="1300" dirty="0"/>
          </a:p>
        </p:txBody>
      </p:sp>
      <p:sp>
        <p:nvSpPr>
          <p:cNvPr id="10" name="Text 8"/>
          <p:cNvSpPr/>
          <p:nvPr/>
        </p:nvSpPr>
        <p:spPr>
          <a:xfrm>
            <a:off x="2926080" y="4681728"/>
            <a:ext cx="6858000" cy="320040"/>
          </a:xfrm>
          <a:prstGeom prst="rect">
            <a:avLst/>
          </a:prstGeom>
          <a:noFill/>
          <a:ln/>
        </p:spPr>
        <p:txBody>
          <a:bodyPr wrap="square" lIns="0" tIns="0" rIns="0" bIns="0" rtlCol="0" anchor="ctr"/>
          <a:lstStyle/>
          <a:p>
            <a:pPr marL="0" indent="0">
              <a:buNone/>
            </a:pPr>
            <a:r>
              <a:rPr lang="en-US" sz="1300" dirty="0">
                <a:solidFill>
                  <a:srgbClr val="A8B2C4"/>
                </a:solidFill>
                <a:latin typeface="Courier New" pitchFamily="34" charset="0"/>
                <a:ea typeface="Courier New" pitchFamily="34" charset="-122"/>
                <a:cs typeface="Courier New" pitchFamily="34" charset="-120"/>
              </a:rPr>
              <a:t>CLIP  ·  Flamingo  ·  LLaVA  ·  Qwen3-VL  (arXiv)</a:t>
            </a:r>
            <a:endParaRPr lang="en-US" sz="1300" dirty="0"/>
          </a:p>
        </p:txBody>
      </p:sp>
      <p:sp>
        <p:nvSpPr>
          <p:cNvPr id="11" name="Text 9"/>
          <p:cNvSpPr/>
          <p:nvPr/>
        </p:nvSpPr>
        <p:spPr>
          <a:xfrm>
            <a:off x="640080" y="5248656"/>
            <a:ext cx="2194560" cy="320040"/>
          </a:xfrm>
          <a:prstGeom prst="rect">
            <a:avLst/>
          </a:prstGeom>
          <a:noFill/>
          <a:ln/>
        </p:spPr>
        <p:txBody>
          <a:bodyPr wrap="square" lIns="0" tIns="0" rIns="0" bIns="0" rtlCol="0" anchor="ctr"/>
          <a:lstStyle/>
          <a:p>
            <a:pPr marL="0" indent="0">
              <a:buNone/>
            </a:pPr>
            <a:r>
              <a:rPr lang="en-US" sz="1300" b="1" dirty="0">
                <a:solidFill>
                  <a:srgbClr val="00C2A8"/>
                </a:solidFill>
                <a:latin typeface="Arial" pitchFamily="34" charset="0"/>
                <a:ea typeface="Arial" pitchFamily="34" charset="-122"/>
                <a:cs typeface="Arial" pitchFamily="34" charset="-120"/>
              </a:rPr>
              <a:t>Contact</a:t>
            </a:r>
            <a:endParaRPr lang="en-US" sz="1300" dirty="0"/>
          </a:p>
        </p:txBody>
      </p:sp>
      <p:sp>
        <p:nvSpPr>
          <p:cNvPr id="12" name="Text 10"/>
          <p:cNvSpPr/>
          <p:nvPr/>
        </p:nvSpPr>
        <p:spPr>
          <a:xfrm>
            <a:off x="2926080" y="5248656"/>
            <a:ext cx="6858000" cy="320040"/>
          </a:xfrm>
          <a:prstGeom prst="rect">
            <a:avLst/>
          </a:prstGeom>
          <a:noFill/>
          <a:ln/>
        </p:spPr>
        <p:txBody>
          <a:bodyPr wrap="square" lIns="0" tIns="0" rIns="0" bIns="0" rtlCol="0" anchor="ctr"/>
          <a:lstStyle/>
          <a:p>
            <a:pPr marL="0" indent="0">
              <a:buNone/>
            </a:pPr>
            <a:r>
              <a:rPr lang="en-US" sz="1300" dirty="0">
                <a:solidFill>
                  <a:srgbClr val="A8B2C4"/>
                </a:solidFill>
                <a:latin typeface="Courier New" pitchFamily="34" charset="0"/>
                <a:ea typeface="Courier New" pitchFamily="34" charset="-122"/>
                <a:cs typeface="Courier New" pitchFamily="34" charset="-120"/>
              </a:rPr>
              <a:t>lakshmanaraj.sankaralingam@ideastoimpacts.com</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 name="Text 184"/>
          <p:cNvSpPr/>
          <p:nvPr/>
        </p:nvSpPr>
        <p:spPr>
          <a:xfrm>
            <a:off x="640080" y="384048"/>
            <a:ext cx="10908792" cy="237744"/>
          </a:xfrm>
          <a:prstGeom prst="rect">
            <a:avLst/>
          </a:prstGeom>
          <a:noFill/>
          <a:ln/>
        </p:spPr>
        <p:txBody>
          <a:bodyPr wrap="square" lIns="0" tIns="0" rIns="0" bIns="0" rtlCol="0" anchor="ctr"/>
          <a:lstStyle/>
          <a:p>
            <a:pPr marL="0" indent="0" algn="l">
              <a:buNone/>
            </a:pPr>
            <a:r>
              <a:rPr lang="en-US" sz="1100" b="1" kern="0" spc="200" dirty="0">
                <a:solidFill>
                  <a:srgbClr val="FF6B4A"/>
                </a:solidFill>
                <a:latin typeface="Arial" pitchFamily="34" charset="0"/>
                <a:ea typeface="Arial" pitchFamily="34" charset="-122"/>
                <a:cs typeface="Arial" pitchFamily="34" charset="-120"/>
              </a:rPr>
              <a:t>APPENDIX - THE QUESTION FROM THE CHAT</a:t>
            </a:r>
            <a:endParaRPr lang="en-US" sz="1100" dirty="0"/>
          </a:p>
        </p:txBody>
      </p:sp>
      <p:sp>
        <p:nvSpPr>
          <p:cNvPr id="185" name="Text 185"/>
          <p:cNvSpPr/>
          <p:nvPr/>
        </p:nvSpPr>
        <p:spPr>
          <a:xfrm>
            <a:off x="640080" y="658368"/>
            <a:ext cx="10908792" cy="658368"/>
          </a:xfrm>
          <a:prstGeom prst="rect">
            <a:avLst/>
          </a:prstGeom>
          <a:noFill/>
          <a:ln/>
        </p:spPr>
        <p:txBody>
          <a:bodyPr wrap="square" lIns="0" tIns="0" rIns="0" bIns="0" rtlCol="0" anchor="t"/>
          <a:lstStyle/>
          <a:p>
            <a:pPr marL="0" indent="0" algn="l">
              <a:buNone/>
            </a:pPr>
            <a:r>
              <a:rPr lang="en-US" sz="3400" b="1" dirty="0">
                <a:solidFill>
                  <a:srgbClr val="0E1524"/>
                </a:solidFill>
                <a:latin typeface="Arial" pitchFamily="34" charset="0"/>
                <a:ea typeface="Arial" pitchFamily="34" charset="-122"/>
                <a:cs typeface="Arial" pitchFamily="34" charset="-120"/>
              </a:rPr>
              <a:t>Which model, actually?</a:t>
            </a:r>
            <a:endParaRPr lang="en-US" sz="3400" dirty="0"/>
          </a:p>
        </p:txBody>
      </p:sp>
      <p:sp>
        <p:nvSpPr>
          <p:cNvPr id="186" name="Text 186"/>
          <p:cNvSpPr/>
          <p:nvPr/>
        </p:nvSpPr>
        <p:spPr>
          <a:xfrm>
            <a:off x="640080" y="1481328"/>
            <a:ext cx="10241280" cy="274320"/>
          </a:xfrm>
          <a:prstGeom prst="rect">
            <a:avLst/>
          </a:prstGeom>
          <a:noFill/>
          <a:ln/>
        </p:spPr>
        <p:txBody>
          <a:bodyPr wrap="square" lIns="0" tIns="0" rIns="0" bIns="0" rtlCol="0" anchor="ctr"/>
          <a:lstStyle/>
          <a:p>
            <a:pPr marL="0" indent="0" algn="l">
              <a:buNone/>
            </a:pPr>
            <a:r>
              <a:rPr lang="en-US" sz="1400" dirty="0">
                <a:solidFill>
                  <a:srgbClr val="6B7689"/>
                </a:solidFill>
                <a:latin typeface="Calibri" pitchFamily="34" charset="0"/>
                <a:ea typeface="Calibri" pitchFamily="34" charset="-122"/>
                <a:cs typeface="Calibri" pitchFamily="34" charset="-120"/>
              </a:rPr>
              <a:t>The question that always arrives in the chat. Verify versions before you teach from it.</a:t>
            </a:r>
            <a:endParaRPr lang="en-US" sz="1400" dirty="0"/>
          </a:p>
        </p:txBody>
      </p:sp>
      <p:sp>
        <p:nvSpPr>
          <p:cNvPr id="187" name="Shape 187"/>
          <p:cNvSpPr/>
          <p:nvPr/>
        </p:nvSpPr>
        <p:spPr>
          <a:xfrm>
            <a:off x="640080" y="1950000"/>
            <a:ext cx="3400000" cy="3108960"/>
          </a:xfrm>
          <a:prstGeom prst="roundRect">
            <a:avLst>
              <a:gd name="adj" fmla="val 10526"/>
            </a:avLst>
          </a:prstGeom>
          <a:solidFill>
            <a:srgbClr val="F4F6FA"/>
          </a:solidFill>
          <a:ln/>
        </p:spPr>
        <p:txBody>
          <a:bodyPr/>
          <a:lstStyle/>
          <a:p>
            <a:endParaRPr lang="en-IN"/>
          </a:p>
        </p:txBody>
      </p:sp>
      <p:sp>
        <p:nvSpPr>
          <p:cNvPr id="188" name="Shape 188"/>
          <p:cNvSpPr/>
          <p:nvPr/>
        </p:nvSpPr>
        <p:spPr>
          <a:xfrm>
            <a:off x="914400" y="2224320"/>
            <a:ext cx="182880" cy="182880"/>
          </a:xfrm>
          <a:prstGeom prst="ellipse">
            <a:avLst/>
          </a:prstGeom>
          <a:solidFill>
            <a:srgbClr val="FF6B4A"/>
          </a:solidFill>
          <a:ln/>
        </p:spPr>
        <p:txBody>
          <a:bodyPr/>
          <a:lstStyle/>
          <a:p>
            <a:endParaRPr lang="en-IN"/>
          </a:p>
        </p:txBody>
      </p:sp>
      <p:sp>
        <p:nvSpPr>
          <p:cNvPr id="189" name="Text 189"/>
          <p:cNvSpPr/>
          <p:nvPr/>
        </p:nvSpPr>
        <p:spPr>
          <a:xfrm>
            <a:off x="914400" y="2498640"/>
            <a:ext cx="2851360" cy="274320"/>
          </a:xfrm>
          <a:prstGeom prst="rect">
            <a:avLst/>
          </a:prstGeom>
          <a:noFill/>
          <a:ln/>
        </p:spPr>
        <p:txBody>
          <a:bodyPr wrap="square" lIns="0" tIns="0" rIns="0" bIns="0" rtlCol="0" anchor="ctr"/>
          <a:lstStyle/>
          <a:p>
            <a:pPr marL="0" indent="0" algn="l">
              <a:buNone/>
            </a:pPr>
            <a:r>
              <a:rPr lang="en-US" sz="1500" b="1" dirty="0">
                <a:solidFill>
                  <a:srgbClr val="0E1524"/>
                </a:solidFill>
                <a:latin typeface="Arial" pitchFamily="34" charset="0"/>
                <a:ea typeface="Arial" pitchFamily="34" charset="-122"/>
                <a:cs typeface="Arial" pitchFamily="34" charset="-120"/>
              </a:rPr>
              <a:t>Hosted frontier models</a:t>
            </a:r>
            <a:endParaRPr lang="en-US" sz="1500" dirty="0"/>
          </a:p>
        </p:txBody>
      </p:sp>
      <p:sp>
        <p:nvSpPr>
          <p:cNvPr id="190" name="Text 190"/>
          <p:cNvSpPr/>
          <p:nvPr/>
        </p:nvSpPr>
        <p:spPr>
          <a:xfrm>
            <a:off x="914400" y="2772960"/>
            <a:ext cx="2851360" cy="320040"/>
          </a:xfrm>
          <a:prstGeom prst="rect">
            <a:avLst/>
          </a:prstGeom>
          <a:noFill/>
          <a:ln/>
        </p:spPr>
        <p:txBody>
          <a:bodyPr wrap="square" lIns="0" tIns="0" rIns="0" bIns="0" rtlCol="0" anchor="t"/>
          <a:lstStyle/>
          <a:p>
            <a:pPr marL="0" indent="0" algn="l">
              <a:buNone/>
            </a:pPr>
            <a:r>
              <a:rPr lang="en-US" sz="1000" dirty="0">
                <a:solidFill>
                  <a:srgbClr val="6B7689"/>
                </a:solidFill>
                <a:latin typeface="Calibri" pitchFamily="34" charset="0"/>
                <a:ea typeface="Calibri" pitchFamily="34" charset="-122"/>
                <a:cs typeface="Calibri" pitchFamily="34" charset="-120"/>
              </a:rPr>
              <a:t>Called over an API. No setup at all.</a:t>
            </a:r>
            <a:endParaRPr lang="en-US" sz="1000" dirty="0"/>
          </a:p>
        </p:txBody>
      </p:sp>
      <p:sp>
        <p:nvSpPr>
          <p:cNvPr id="191" name="Text 191"/>
          <p:cNvSpPr/>
          <p:nvPr/>
        </p:nvSpPr>
        <p:spPr>
          <a:xfrm>
            <a:off x="914400" y="3184440"/>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MODELS TO NAME</a:t>
            </a:r>
            <a:endParaRPr lang="en-US" sz="800" dirty="0"/>
          </a:p>
        </p:txBody>
      </p:sp>
      <p:sp>
        <p:nvSpPr>
          <p:cNvPr id="192" name="Text 192"/>
          <p:cNvSpPr/>
          <p:nvPr/>
        </p:nvSpPr>
        <p:spPr>
          <a:xfrm>
            <a:off x="914400" y="3358176"/>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Claude, Gemini, GPT - all read images</a:t>
            </a:r>
            <a:endParaRPr lang="en-US" sz="1000" dirty="0"/>
          </a:p>
        </p:txBody>
      </p:sp>
      <p:sp>
        <p:nvSpPr>
          <p:cNvPr id="193" name="Text 193"/>
          <p:cNvSpPr/>
          <p:nvPr/>
        </p:nvSpPr>
        <p:spPr>
          <a:xfrm>
            <a:off x="914400" y="3577632"/>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STRENGTH TODAY</a:t>
            </a:r>
            <a:endParaRPr lang="en-US" sz="800" dirty="0"/>
          </a:p>
        </p:txBody>
      </p:sp>
      <p:sp>
        <p:nvSpPr>
          <p:cNvPr id="194" name="Text 194"/>
          <p:cNvSpPr/>
          <p:nvPr/>
        </p:nvSpPr>
        <p:spPr>
          <a:xfrm>
            <a:off x="914400" y="3751368"/>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Best on messy real-world documents</a:t>
            </a:r>
            <a:endParaRPr lang="en-US" sz="1000" dirty="0"/>
          </a:p>
        </p:txBody>
      </p:sp>
      <p:sp>
        <p:nvSpPr>
          <p:cNvPr id="195" name="Text 195"/>
          <p:cNvSpPr/>
          <p:nvPr/>
        </p:nvSpPr>
        <p:spPr>
          <a:xfrm>
            <a:off x="914400" y="3970824"/>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WATCH OUT FOR</a:t>
            </a:r>
            <a:endParaRPr lang="en-US" sz="800" dirty="0"/>
          </a:p>
        </p:txBody>
      </p:sp>
      <p:sp>
        <p:nvSpPr>
          <p:cNvPr id="196" name="Text 196"/>
          <p:cNvSpPr/>
          <p:nvPr/>
        </p:nvSpPr>
        <p:spPr>
          <a:xfrm>
            <a:off x="914400" y="4144560"/>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Per-call cost; data leaves campus</a:t>
            </a:r>
            <a:endParaRPr lang="en-US" sz="1000" dirty="0"/>
          </a:p>
        </p:txBody>
      </p:sp>
      <p:sp>
        <p:nvSpPr>
          <p:cNvPr id="197" name="Text 197"/>
          <p:cNvSpPr/>
          <p:nvPr/>
        </p:nvSpPr>
        <p:spPr>
          <a:xfrm>
            <a:off x="914400" y="4364016"/>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TRY IT FOR</a:t>
            </a:r>
            <a:endParaRPr lang="en-US" sz="800" dirty="0"/>
          </a:p>
        </p:txBody>
      </p:sp>
      <p:sp>
        <p:nvSpPr>
          <p:cNvPr id="198" name="Text 198"/>
          <p:cNvSpPr/>
          <p:nvPr/>
        </p:nvSpPr>
        <p:spPr>
          <a:xfrm>
            <a:off x="914400" y="4537752"/>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First papers, pilots and demos</a:t>
            </a:r>
            <a:endParaRPr lang="en-US" sz="1000" dirty="0"/>
          </a:p>
        </p:txBody>
      </p:sp>
      <p:sp>
        <p:nvSpPr>
          <p:cNvPr id="199" name="Shape 199"/>
          <p:cNvSpPr/>
          <p:nvPr/>
        </p:nvSpPr>
        <p:spPr>
          <a:xfrm>
            <a:off x="4394476" y="1950000"/>
            <a:ext cx="3400000" cy="3108960"/>
          </a:xfrm>
          <a:prstGeom prst="roundRect">
            <a:avLst>
              <a:gd name="adj" fmla="val 10526"/>
            </a:avLst>
          </a:prstGeom>
          <a:solidFill>
            <a:srgbClr val="F4F6FA"/>
          </a:solidFill>
          <a:ln/>
        </p:spPr>
        <p:txBody>
          <a:bodyPr/>
          <a:lstStyle/>
          <a:p>
            <a:endParaRPr lang="en-IN"/>
          </a:p>
        </p:txBody>
      </p:sp>
      <p:sp>
        <p:nvSpPr>
          <p:cNvPr id="200" name="Shape 200"/>
          <p:cNvSpPr/>
          <p:nvPr/>
        </p:nvSpPr>
        <p:spPr>
          <a:xfrm>
            <a:off x="4668796" y="2224320"/>
            <a:ext cx="182880" cy="182880"/>
          </a:xfrm>
          <a:prstGeom prst="ellipse">
            <a:avLst/>
          </a:prstGeom>
          <a:solidFill>
            <a:srgbClr val="00C2A8"/>
          </a:solidFill>
          <a:ln/>
        </p:spPr>
        <p:txBody>
          <a:bodyPr/>
          <a:lstStyle/>
          <a:p>
            <a:endParaRPr lang="en-IN"/>
          </a:p>
        </p:txBody>
      </p:sp>
      <p:sp>
        <p:nvSpPr>
          <p:cNvPr id="201" name="Text 201"/>
          <p:cNvSpPr/>
          <p:nvPr/>
        </p:nvSpPr>
        <p:spPr>
          <a:xfrm>
            <a:off x="4668796" y="2498640"/>
            <a:ext cx="2851360" cy="274320"/>
          </a:xfrm>
          <a:prstGeom prst="rect">
            <a:avLst/>
          </a:prstGeom>
          <a:noFill/>
          <a:ln/>
        </p:spPr>
        <p:txBody>
          <a:bodyPr wrap="square" lIns="0" tIns="0" rIns="0" bIns="0" rtlCol="0" anchor="ctr"/>
          <a:lstStyle/>
          <a:p>
            <a:pPr marL="0" indent="0" algn="l">
              <a:buNone/>
            </a:pPr>
            <a:r>
              <a:rPr lang="en-US" sz="1500" b="1" dirty="0">
                <a:solidFill>
                  <a:srgbClr val="0E1524"/>
                </a:solidFill>
                <a:latin typeface="Arial" pitchFamily="34" charset="0"/>
                <a:ea typeface="Arial" pitchFamily="34" charset="-122"/>
                <a:cs typeface="Arial" pitchFamily="34" charset="-120"/>
              </a:rPr>
              <a:t>Open weights, self-hosted</a:t>
            </a:r>
            <a:endParaRPr lang="en-US" sz="1500" dirty="0"/>
          </a:p>
        </p:txBody>
      </p:sp>
      <p:sp>
        <p:nvSpPr>
          <p:cNvPr id="202" name="Text 202"/>
          <p:cNvSpPr/>
          <p:nvPr/>
        </p:nvSpPr>
        <p:spPr>
          <a:xfrm>
            <a:off x="4668796" y="2772960"/>
            <a:ext cx="2851360" cy="320040"/>
          </a:xfrm>
          <a:prstGeom prst="rect">
            <a:avLst/>
          </a:prstGeom>
          <a:noFill/>
          <a:ln/>
        </p:spPr>
        <p:txBody>
          <a:bodyPr wrap="square" lIns="0" tIns="0" rIns="0" bIns="0" rtlCol="0" anchor="t"/>
          <a:lstStyle/>
          <a:p>
            <a:pPr marL="0" indent="0" algn="l">
              <a:buNone/>
            </a:pPr>
            <a:r>
              <a:rPr lang="en-US" sz="1000" dirty="0">
                <a:solidFill>
                  <a:srgbClr val="6B7689"/>
                </a:solidFill>
                <a:latin typeface="Calibri" pitchFamily="34" charset="0"/>
                <a:ea typeface="Calibri" pitchFamily="34" charset="-122"/>
                <a:cs typeface="Calibri" pitchFamily="34" charset="-120"/>
              </a:rPr>
              <a:t>Downloaded, run on your own GPU.</a:t>
            </a:r>
            <a:endParaRPr lang="en-US" sz="1000" dirty="0"/>
          </a:p>
        </p:txBody>
      </p:sp>
      <p:sp>
        <p:nvSpPr>
          <p:cNvPr id="203" name="Text 203"/>
          <p:cNvSpPr/>
          <p:nvPr/>
        </p:nvSpPr>
        <p:spPr>
          <a:xfrm>
            <a:off x="4668796" y="3184440"/>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MODELS TO NAME</a:t>
            </a:r>
            <a:endParaRPr lang="en-US" sz="800" dirty="0"/>
          </a:p>
        </p:txBody>
      </p:sp>
      <p:sp>
        <p:nvSpPr>
          <p:cNvPr id="204" name="Text 204"/>
          <p:cNvSpPr/>
          <p:nvPr/>
        </p:nvSpPr>
        <p:spPr>
          <a:xfrm>
            <a:off x="4668796" y="3358176"/>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Qwen3-VL, InternVL, GLM-4.6V, MiniCPM-V</a:t>
            </a:r>
            <a:endParaRPr lang="en-US" sz="1000" dirty="0"/>
          </a:p>
        </p:txBody>
      </p:sp>
      <p:sp>
        <p:nvSpPr>
          <p:cNvPr id="205" name="Text 205"/>
          <p:cNvSpPr/>
          <p:nvPr/>
        </p:nvSpPr>
        <p:spPr>
          <a:xfrm>
            <a:off x="4668796" y="3577632"/>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STRENGTH TODAY</a:t>
            </a:r>
            <a:endParaRPr lang="en-US" sz="800" dirty="0"/>
          </a:p>
        </p:txBody>
      </p:sp>
      <p:sp>
        <p:nvSpPr>
          <p:cNvPr id="206" name="Text 206"/>
          <p:cNvSpPr/>
          <p:nvPr/>
        </p:nvSpPr>
        <p:spPr>
          <a:xfrm>
            <a:off x="4668796" y="3751368"/>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Leads open document reading</a:t>
            </a:r>
            <a:endParaRPr lang="en-US" sz="1000" dirty="0"/>
          </a:p>
        </p:txBody>
      </p:sp>
      <p:sp>
        <p:nvSpPr>
          <p:cNvPr id="207" name="Text 207"/>
          <p:cNvSpPr/>
          <p:nvPr/>
        </p:nvSpPr>
        <p:spPr>
          <a:xfrm>
            <a:off x="4668796" y="3970824"/>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WATCH OUT FOR</a:t>
            </a:r>
            <a:endParaRPr lang="en-US" sz="800" dirty="0"/>
          </a:p>
        </p:txBody>
      </p:sp>
      <p:sp>
        <p:nvSpPr>
          <p:cNvPr id="208" name="Text 208"/>
          <p:cNvSpPr/>
          <p:nvPr/>
        </p:nvSpPr>
        <p:spPr>
          <a:xfrm>
            <a:off x="4668796" y="4144560"/>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Version churn every few months</a:t>
            </a:r>
            <a:endParaRPr lang="en-US" sz="1000" dirty="0"/>
          </a:p>
        </p:txBody>
      </p:sp>
      <p:sp>
        <p:nvSpPr>
          <p:cNvPr id="209" name="Text 209"/>
          <p:cNvSpPr/>
          <p:nvPr/>
        </p:nvSpPr>
        <p:spPr>
          <a:xfrm>
            <a:off x="4668796" y="4364016"/>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TRY IT FOR</a:t>
            </a:r>
            <a:endParaRPr lang="en-US" sz="800" dirty="0"/>
          </a:p>
        </p:txBody>
      </p:sp>
      <p:sp>
        <p:nvSpPr>
          <p:cNvPr id="210" name="Text 210"/>
          <p:cNvSpPr/>
          <p:nvPr/>
        </p:nvSpPr>
        <p:spPr>
          <a:xfrm>
            <a:off x="4668796" y="4537752"/>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Sensitive data, IndiaAI compute</a:t>
            </a:r>
            <a:endParaRPr lang="en-US" sz="1000" dirty="0"/>
          </a:p>
        </p:txBody>
      </p:sp>
      <p:sp>
        <p:nvSpPr>
          <p:cNvPr id="211" name="Shape 211"/>
          <p:cNvSpPr/>
          <p:nvPr/>
        </p:nvSpPr>
        <p:spPr>
          <a:xfrm>
            <a:off x="8148872" y="1950000"/>
            <a:ext cx="3400000" cy="3108960"/>
          </a:xfrm>
          <a:prstGeom prst="roundRect">
            <a:avLst>
              <a:gd name="adj" fmla="val 10526"/>
            </a:avLst>
          </a:prstGeom>
          <a:solidFill>
            <a:srgbClr val="F4F6FA"/>
          </a:solidFill>
          <a:ln/>
        </p:spPr>
        <p:txBody>
          <a:bodyPr/>
          <a:lstStyle/>
          <a:p>
            <a:endParaRPr lang="en-IN"/>
          </a:p>
        </p:txBody>
      </p:sp>
      <p:sp>
        <p:nvSpPr>
          <p:cNvPr id="212" name="Shape 212"/>
          <p:cNvSpPr/>
          <p:nvPr/>
        </p:nvSpPr>
        <p:spPr>
          <a:xfrm>
            <a:off x="8423192" y="2224320"/>
            <a:ext cx="182880" cy="182880"/>
          </a:xfrm>
          <a:prstGeom prst="ellipse">
            <a:avLst/>
          </a:prstGeom>
          <a:solidFill>
            <a:srgbClr val="FFC24A"/>
          </a:solidFill>
          <a:ln/>
        </p:spPr>
        <p:txBody>
          <a:bodyPr/>
          <a:lstStyle/>
          <a:p>
            <a:endParaRPr lang="en-IN"/>
          </a:p>
        </p:txBody>
      </p:sp>
      <p:sp>
        <p:nvSpPr>
          <p:cNvPr id="213" name="Text 213"/>
          <p:cNvSpPr/>
          <p:nvPr/>
        </p:nvSpPr>
        <p:spPr>
          <a:xfrm>
            <a:off x="8423192" y="2498640"/>
            <a:ext cx="2851360" cy="274320"/>
          </a:xfrm>
          <a:prstGeom prst="rect">
            <a:avLst/>
          </a:prstGeom>
          <a:noFill/>
          <a:ln/>
        </p:spPr>
        <p:txBody>
          <a:bodyPr wrap="square" lIns="0" tIns="0" rIns="0" bIns="0" rtlCol="0" anchor="ctr"/>
          <a:lstStyle/>
          <a:p>
            <a:pPr marL="0" indent="0" algn="l">
              <a:buNone/>
            </a:pPr>
            <a:r>
              <a:rPr lang="en-US" sz="1500" b="1" dirty="0">
                <a:solidFill>
                  <a:srgbClr val="0E1524"/>
                </a:solidFill>
                <a:latin typeface="Arial" pitchFamily="34" charset="0"/>
                <a:ea typeface="Arial" pitchFamily="34" charset="-122"/>
                <a:cs typeface="Arial" pitchFamily="34" charset="-120"/>
              </a:rPr>
              <a:t>Small, on-device</a:t>
            </a:r>
            <a:endParaRPr lang="en-US" sz="1500" dirty="0"/>
          </a:p>
        </p:txBody>
      </p:sp>
      <p:sp>
        <p:nvSpPr>
          <p:cNvPr id="214" name="Text 214"/>
          <p:cNvSpPr/>
          <p:nvPr/>
        </p:nvSpPr>
        <p:spPr>
          <a:xfrm>
            <a:off x="8423192" y="2772960"/>
            <a:ext cx="2851360" cy="320040"/>
          </a:xfrm>
          <a:prstGeom prst="rect">
            <a:avLst/>
          </a:prstGeom>
          <a:noFill/>
          <a:ln/>
        </p:spPr>
        <p:txBody>
          <a:bodyPr wrap="square" lIns="0" tIns="0" rIns="0" bIns="0" rtlCol="0" anchor="t"/>
          <a:lstStyle/>
          <a:p>
            <a:pPr marL="0" indent="0" algn="l">
              <a:buNone/>
            </a:pPr>
            <a:r>
              <a:rPr lang="en-US" sz="1000" dirty="0">
                <a:solidFill>
                  <a:srgbClr val="6B7689"/>
                </a:solidFill>
                <a:latin typeface="Calibri" pitchFamily="34" charset="0"/>
                <a:ea typeface="Calibri" pitchFamily="34" charset="-122"/>
                <a:cs typeface="Calibri" pitchFamily="34" charset="-120"/>
              </a:rPr>
              <a:t>Runs on a laptop or a gateway.</a:t>
            </a:r>
            <a:endParaRPr lang="en-US" sz="1000" dirty="0"/>
          </a:p>
        </p:txBody>
      </p:sp>
      <p:sp>
        <p:nvSpPr>
          <p:cNvPr id="215" name="Text 215"/>
          <p:cNvSpPr/>
          <p:nvPr/>
        </p:nvSpPr>
        <p:spPr>
          <a:xfrm>
            <a:off x="8423192" y="3184440"/>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MODELS TO NAME</a:t>
            </a:r>
            <a:endParaRPr lang="en-US" sz="800" dirty="0"/>
          </a:p>
        </p:txBody>
      </p:sp>
      <p:sp>
        <p:nvSpPr>
          <p:cNvPr id="216" name="Text 216"/>
          <p:cNvSpPr/>
          <p:nvPr/>
        </p:nvSpPr>
        <p:spPr>
          <a:xfrm>
            <a:off x="8423192" y="3358176"/>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Gemma 3 4B, Qwen3-VL 4B, Moondream</a:t>
            </a:r>
            <a:endParaRPr lang="en-US" sz="1000" dirty="0"/>
          </a:p>
        </p:txBody>
      </p:sp>
      <p:sp>
        <p:nvSpPr>
          <p:cNvPr id="217" name="Text 217"/>
          <p:cNvSpPr/>
          <p:nvPr/>
        </p:nvSpPr>
        <p:spPr>
          <a:xfrm>
            <a:off x="8423192" y="3577632"/>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STRENGTH TODAY</a:t>
            </a:r>
            <a:endParaRPr lang="en-US" sz="800" dirty="0"/>
          </a:p>
        </p:txBody>
      </p:sp>
      <p:sp>
        <p:nvSpPr>
          <p:cNvPr id="218" name="Text 218"/>
          <p:cNvSpPr/>
          <p:nvPr/>
        </p:nvSpPr>
        <p:spPr>
          <a:xfrm>
            <a:off x="8423192" y="3751368"/>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Offline on 4 to 12 GB of VRAM</a:t>
            </a:r>
            <a:endParaRPr lang="en-US" sz="1000" dirty="0"/>
          </a:p>
        </p:txBody>
      </p:sp>
      <p:sp>
        <p:nvSpPr>
          <p:cNvPr id="219" name="Text 219"/>
          <p:cNvSpPr/>
          <p:nvPr/>
        </p:nvSpPr>
        <p:spPr>
          <a:xfrm>
            <a:off x="8423192" y="3970824"/>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WATCH OUT FOR</a:t>
            </a:r>
            <a:endParaRPr lang="en-US" sz="800" dirty="0"/>
          </a:p>
        </p:txBody>
      </p:sp>
      <p:sp>
        <p:nvSpPr>
          <p:cNvPr id="220" name="Text 220"/>
          <p:cNvSpPr/>
          <p:nvPr/>
        </p:nvSpPr>
        <p:spPr>
          <a:xfrm>
            <a:off x="8423192" y="4144560"/>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Weak on dense handwritten pages</a:t>
            </a:r>
            <a:endParaRPr lang="en-US" sz="1000" dirty="0"/>
          </a:p>
        </p:txBody>
      </p:sp>
      <p:sp>
        <p:nvSpPr>
          <p:cNvPr id="221" name="Text 221"/>
          <p:cNvSpPr/>
          <p:nvPr/>
        </p:nvSpPr>
        <p:spPr>
          <a:xfrm>
            <a:off x="8423192" y="4364016"/>
            <a:ext cx="2851360" cy="155448"/>
          </a:xfrm>
          <a:prstGeom prst="rect">
            <a:avLst/>
          </a:prstGeom>
          <a:noFill/>
          <a:ln/>
        </p:spPr>
        <p:txBody>
          <a:bodyPr wrap="square" lIns="0" tIns="0" rIns="0" bIns="0" rtlCol="0" anchor="ctr"/>
          <a:lstStyle/>
          <a:p>
            <a:pPr marL="0" indent="0" algn="l">
              <a:buNone/>
            </a:pPr>
            <a:r>
              <a:rPr lang="en-US" sz="800" b="1" kern="0" spc="120" dirty="0">
                <a:solidFill>
                  <a:srgbClr val="6B7689"/>
                </a:solidFill>
                <a:latin typeface="Arial" pitchFamily="34" charset="0"/>
                <a:ea typeface="Arial" pitchFamily="34" charset="-122"/>
                <a:cs typeface="Arial" pitchFamily="34" charset="-120"/>
              </a:rPr>
              <a:t>TRY IT FOR</a:t>
            </a:r>
            <a:endParaRPr lang="en-US" sz="800" dirty="0"/>
          </a:p>
        </p:txBody>
      </p:sp>
      <p:sp>
        <p:nvSpPr>
          <p:cNvPr id="222" name="Text 222"/>
          <p:cNvSpPr/>
          <p:nvPr/>
        </p:nvSpPr>
        <p:spPr>
          <a:xfrm>
            <a:off x="8423192" y="4537752"/>
            <a:ext cx="2851360" cy="210000"/>
          </a:xfrm>
          <a:prstGeom prst="rect">
            <a:avLst/>
          </a:prstGeom>
          <a:noFill/>
          <a:ln/>
        </p:spPr>
        <p:txBody>
          <a:bodyPr wrap="square" lIns="0" tIns="0" rIns="0" bIns="0" rtlCol="0" anchor="t"/>
          <a:lstStyle/>
          <a:p>
            <a:pPr marL="0" indent="0" algn="l">
              <a:buNone/>
            </a:pPr>
            <a:r>
              <a:rPr lang="en-US" sz="1000" dirty="0">
                <a:solidFill>
                  <a:srgbClr val="0E1524"/>
                </a:solidFill>
                <a:latin typeface="Calibri" pitchFamily="34" charset="0"/>
                <a:ea typeface="Calibri" pitchFamily="34" charset="-122"/>
                <a:cs typeface="Calibri" pitchFamily="34" charset="-120"/>
              </a:rPr>
              <a:t>Field work and student laptops</a:t>
            </a:r>
            <a:endParaRPr lang="en-US" sz="1000" dirty="0"/>
          </a:p>
        </p:txBody>
      </p:sp>
      <p:sp>
        <p:nvSpPr>
          <p:cNvPr id="223" name="Text 223"/>
          <p:cNvSpPr/>
          <p:nvPr/>
        </p:nvSpPr>
        <p:spPr>
          <a:xfrm>
            <a:off x="640080" y="5532120"/>
            <a:ext cx="10908792" cy="365760"/>
          </a:xfrm>
          <a:prstGeom prst="rect">
            <a:avLst/>
          </a:prstGeom>
          <a:noFill/>
          <a:ln/>
        </p:spPr>
        <p:txBody>
          <a:bodyPr wrap="square" lIns="0" tIns="0" rIns="0" bIns="0" rtlCol="0" anchor="ctr"/>
          <a:lstStyle/>
          <a:p>
            <a:pPr marL="0" indent="0" algn="l">
              <a:buNone/>
            </a:pPr>
            <a:r>
              <a:rPr lang="en-US" sz="1600" b="1" dirty="0">
                <a:solidFill>
                  <a:srgbClr val="0E1524"/>
                </a:solidFill>
                <a:latin typeface="Arial" pitchFamily="34" charset="0"/>
                <a:ea typeface="Arial" pitchFamily="34" charset="-122"/>
                <a:cs typeface="Arial" pitchFamily="34" charset="-120"/>
              </a:rPr>
              <a:t>Names move every few months. Slide 22 tells you how to choose; this only says what to try. Current as of August 2026.</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08792" cy="237744"/>
          </a:xfrm>
          <a:prstGeom prst="rect">
            <a:avLst/>
          </a:prstGeom>
          <a:noFill/>
          <a:ln/>
        </p:spPr>
        <p:txBody>
          <a:bodyPr wrap="square" lIns="0" tIns="0" rIns="0" bIns="0" rtlCol="0" anchor="ctr"/>
          <a:lstStyle/>
          <a:p>
            <a:pPr marL="0" indent="0">
              <a:buNone/>
            </a:pPr>
            <a:r>
              <a:rPr lang="en-US" sz="1100" b="1" kern="0" spc="200" dirty="0">
                <a:solidFill>
                  <a:srgbClr val="FF6B4A"/>
                </a:solidFill>
                <a:latin typeface="Arial" pitchFamily="34" charset="0"/>
                <a:ea typeface="Arial" pitchFamily="34" charset="-122"/>
                <a:cs typeface="Arial" pitchFamily="34" charset="-120"/>
              </a:rPr>
              <a:t>APPENDIX - EVALUATION</a:t>
            </a:r>
            <a:endParaRPr lang="en-US" sz="1100" dirty="0"/>
          </a:p>
        </p:txBody>
      </p:sp>
      <p:sp>
        <p:nvSpPr>
          <p:cNvPr id="3" name="Text 1"/>
          <p:cNvSpPr/>
          <p:nvPr/>
        </p:nvSpPr>
        <p:spPr>
          <a:xfrm>
            <a:off x="640080" y="658368"/>
            <a:ext cx="10908792" cy="658368"/>
          </a:xfrm>
          <a:prstGeom prst="rect">
            <a:avLst/>
          </a:prstGeom>
          <a:noFill/>
          <a:ln/>
        </p:spPr>
        <p:txBody>
          <a:bodyPr wrap="square" lIns="0" tIns="0" rIns="0" bIns="0" rtlCol="0" anchor="t"/>
          <a:lstStyle/>
          <a:p>
            <a:pPr marL="0" indent="0">
              <a:buNone/>
            </a:pPr>
            <a:r>
              <a:rPr lang="en-US" sz="3400" b="1" dirty="0">
                <a:solidFill>
                  <a:srgbClr val="0E1524"/>
                </a:solidFill>
                <a:latin typeface="Arial" pitchFamily="34" charset="0"/>
                <a:ea typeface="Arial" pitchFamily="34" charset="-122"/>
                <a:cs typeface="Arial" pitchFamily="34" charset="-120"/>
              </a:rPr>
              <a:t>How do we know it is actually good?</a:t>
            </a:r>
            <a:endParaRPr lang="en-US" sz="3400" dirty="0"/>
          </a:p>
        </p:txBody>
      </p:sp>
      <p:sp>
        <p:nvSpPr>
          <p:cNvPr id="4" name="Text 2"/>
          <p:cNvSpPr/>
          <p:nvPr/>
        </p:nvSpPr>
        <p:spPr>
          <a:xfrm>
            <a:off x="640080" y="1481328"/>
            <a:ext cx="9601200" cy="274320"/>
          </a:xfrm>
          <a:prstGeom prst="rect">
            <a:avLst/>
          </a:prstGeom>
          <a:noFill/>
          <a:ln/>
        </p:spPr>
        <p:txBody>
          <a:bodyPr wrap="square" lIns="0" tIns="0" rIns="0" bIns="0" rtlCol="0" anchor="ctr"/>
          <a:lstStyle/>
          <a:p>
            <a:pPr marL="0" indent="0">
              <a:buNone/>
            </a:pPr>
            <a:r>
              <a:rPr lang="en-US" sz="1400" dirty="0">
                <a:solidFill>
                  <a:srgbClr val="6B7689"/>
                </a:solidFill>
                <a:latin typeface="Calibri" pitchFamily="34" charset="0"/>
                <a:ea typeface="Calibri" pitchFamily="34" charset="-122"/>
                <a:cs typeface="Calibri" pitchFamily="34" charset="-120"/>
              </a:rPr>
              <a:t>Four families of metric. A proposal that names one from each is already ahead of most.</a:t>
            </a:r>
            <a:endParaRPr lang="en-US" sz="1400" dirty="0"/>
          </a:p>
        </p:txBody>
      </p:sp>
      <p:sp>
        <p:nvSpPr>
          <p:cNvPr id="5" name="Shape 3"/>
          <p:cNvSpPr/>
          <p:nvPr/>
        </p:nvSpPr>
        <p:spPr>
          <a:xfrm>
            <a:off x="640080"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6" name="Shape 4"/>
          <p:cNvSpPr/>
          <p:nvPr/>
        </p:nvSpPr>
        <p:spPr>
          <a:xfrm>
            <a:off x="932688" y="2331720"/>
            <a:ext cx="457200" cy="457200"/>
          </a:xfrm>
          <a:prstGeom prst="ellipse">
            <a:avLst/>
          </a:prstGeom>
          <a:solidFill>
            <a:srgbClr val="00C2A8"/>
          </a:solidFill>
          <a:ln/>
        </p:spPr>
        <p:txBody>
          <a:bodyPr/>
          <a:lstStyle/>
          <a:p>
            <a:endParaRPr lang="en-IN"/>
          </a:p>
        </p:txBody>
      </p:sp>
      <p:sp>
        <p:nvSpPr>
          <p:cNvPr id="7" name="Text 5"/>
          <p:cNvSpPr/>
          <p:nvPr/>
        </p:nvSpPr>
        <p:spPr>
          <a:xfrm>
            <a:off x="932688"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Task quality</a:t>
            </a:r>
            <a:endParaRPr lang="en-US" sz="1900" dirty="0"/>
          </a:p>
        </p:txBody>
      </p:sp>
      <p:sp>
        <p:nvSpPr>
          <p:cNvPr id="8" name="Text 6"/>
          <p:cNvSpPr/>
          <p:nvPr/>
        </p:nvSpPr>
        <p:spPr>
          <a:xfrm>
            <a:off x="932688"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Accuracy, precision, recall, F1. Exact match and field-level extraction accuracy.</a:t>
            </a:r>
            <a:endParaRPr lang="en-US" sz="1250" dirty="0"/>
          </a:p>
        </p:txBody>
      </p:sp>
      <p:sp>
        <p:nvSpPr>
          <p:cNvPr id="9" name="Shape 7"/>
          <p:cNvSpPr/>
          <p:nvPr/>
        </p:nvSpPr>
        <p:spPr>
          <a:xfrm>
            <a:off x="3410712"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0" name="Shape 8"/>
          <p:cNvSpPr/>
          <p:nvPr/>
        </p:nvSpPr>
        <p:spPr>
          <a:xfrm>
            <a:off x="3703320" y="2331720"/>
            <a:ext cx="457200" cy="457200"/>
          </a:xfrm>
          <a:prstGeom prst="ellipse">
            <a:avLst/>
          </a:prstGeom>
          <a:solidFill>
            <a:srgbClr val="FF6B4A"/>
          </a:solidFill>
          <a:ln/>
        </p:spPr>
        <p:txBody>
          <a:bodyPr/>
          <a:lstStyle/>
          <a:p>
            <a:endParaRPr lang="en-IN"/>
          </a:p>
        </p:txBody>
      </p:sp>
      <p:sp>
        <p:nvSpPr>
          <p:cNvPr id="11" name="Text 9"/>
          <p:cNvSpPr/>
          <p:nvPr/>
        </p:nvSpPr>
        <p:spPr>
          <a:xfrm>
            <a:off x="3703320"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Cross-modal</a:t>
            </a:r>
            <a:endParaRPr lang="en-US" sz="1900" dirty="0"/>
          </a:p>
        </p:txBody>
      </p:sp>
      <p:sp>
        <p:nvSpPr>
          <p:cNvPr id="12" name="Text 10"/>
          <p:cNvSpPr/>
          <p:nvPr/>
        </p:nvSpPr>
        <p:spPr>
          <a:xfrm>
            <a:off x="3703320"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Alignment accuracy, evidence grounding, and per-modality ablation.</a:t>
            </a:r>
            <a:endParaRPr lang="en-US" sz="1250" dirty="0"/>
          </a:p>
        </p:txBody>
      </p:sp>
      <p:sp>
        <p:nvSpPr>
          <p:cNvPr id="13" name="Shape 11"/>
          <p:cNvSpPr/>
          <p:nvPr/>
        </p:nvSpPr>
        <p:spPr>
          <a:xfrm>
            <a:off x="6181344"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4" name="Shape 12"/>
          <p:cNvSpPr/>
          <p:nvPr/>
        </p:nvSpPr>
        <p:spPr>
          <a:xfrm>
            <a:off x="6473952" y="2331720"/>
            <a:ext cx="457200" cy="457200"/>
          </a:xfrm>
          <a:prstGeom prst="ellipse">
            <a:avLst/>
          </a:prstGeom>
          <a:solidFill>
            <a:srgbClr val="FFC24A"/>
          </a:solidFill>
          <a:ln/>
        </p:spPr>
        <p:txBody>
          <a:bodyPr/>
          <a:lstStyle/>
          <a:p>
            <a:endParaRPr lang="en-IN"/>
          </a:p>
        </p:txBody>
      </p:sp>
      <p:sp>
        <p:nvSpPr>
          <p:cNvPr id="15" name="Text 13"/>
          <p:cNvSpPr/>
          <p:nvPr/>
        </p:nvSpPr>
        <p:spPr>
          <a:xfrm>
            <a:off x="6473952"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Trust</a:t>
            </a:r>
            <a:endParaRPr lang="en-US" sz="1900" dirty="0"/>
          </a:p>
        </p:txBody>
      </p:sp>
      <p:sp>
        <p:nvSpPr>
          <p:cNvPr id="16" name="Text 14"/>
          <p:cNvSpPr/>
          <p:nvPr/>
        </p:nvSpPr>
        <p:spPr>
          <a:xfrm>
            <a:off x="6473952"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Calibration error, hallucination rate, abstention and selective risk.</a:t>
            </a:r>
            <a:endParaRPr lang="en-US" sz="1250" dirty="0"/>
          </a:p>
        </p:txBody>
      </p:sp>
      <p:sp>
        <p:nvSpPr>
          <p:cNvPr id="17" name="Shape 15"/>
          <p:cNvSpPr/>
          <p:nvPr/>
        </p:nvSpPr>
        <p:spPr>
          <a:xfrm>
            <a:off x="8951976" y="2011680"/>
            <a:ext cx="2514600" cy="2286000"/>
          </a:xfrm>
          <a:prstGeom prst="roundRect">
            <a:avLst>
              <a:gd name="adj" fmla="val 3600"/>
            </a:avLst>
          </a:prstGeom>
          <a:solidFill>
            <a:srgbClr val="F4F6FA"/>
          </a:solidFill>
          <a:ln/>
          <a:effectLst>
            <a:outerShdw blurRad="101600" dist="12700" dir="5400000" algn="bl" rotWithShape="0">
              <a:srgbClr val="9AA6B8">
                <a:alpha val="18000"/>
              </a:srgbClr>
            </a:outerShdw>
          </a:effectLst>
        </p:spPr>
        <p:txBody>
          <a:bodyPr/>
          <a:lstStyle/>
          <a:p>
            <a:endParaRPr lang="en-IN"/>
          </a:p>
        </p:txBody>
      </p:sp>
      <p:sp>
        <p:nvSpPr>
          <p:cNvPr id="18" name="Shape 16"/>
          <p:cNvSpPr/>
          <p:nvPr/>
        </p:nvSpPr>
        <p:spPr>
          <a:xfrm>
            <a:off x="9244584" y="2331720"/>
            <a:ext cx="457200" cy="457200"/>
          </a:xfrm>
          <a:prstGeom prst="ellipse">
            <a:avLst/>
          </a:prstGeom>
          <a:solidFill>
            <a:srgbClr val="6B7689"/>
          </a:solidFill>
          <a:ln/>
        </p:spPr>
        <p:txBody>
          <a:bodyPr/>
          <a:lstStyle/>
          <a:p>
            <a:endParaRPr lang="en-IN"/>
          </a:p>
        </p:txBody>
      </p:sp>
      <p:sp>
        <p:nvSpPr>
          <p:cNvPr id="19" name="Text 17"/>
          <p:cNvSpPr/>
          <p:nvPr/>
        </p:nvSpPr>
        <p:spPr>
          <a:xfrm>
            <a:off x="9244584" y="2971800"/>
            <a:ext cx="2011680" cy="320040"/>
          </a:xfrm>
          <a:prstGeom prst="rect">
            <a:avLst/>
          </a:prstGeom>
          <a:noFill/>
          <a:ln/>
        </p:spPr>
        <p:txBody>
          <a:bodyPr wrap="square" lIns="0" tIns="0" rIns="0" bIns="0" rtlCol="0" anchor="ctr"/>
          <a:lstStyle/>
          <a:p>
            <a:pPr marL="0" indent="0">
              <a:buNone/>
            </a:pPr>
            <a:r>
              <a:rPr lang="en-US" sz="1900" b="1" dirty="0">
                <a:solidFill>
                  <a:srgbClr val="0E1524"/>
                </a:solidFill>
                <a:latin typeface="Arial" pitchFamily="34" charset="0"/>
                <a:ea typeface="Arial" pitchFamily="34" charset="-122"/>
                <a:cs typeface="Arial" pitchFamily="34" charset="-120"/>
              </a:rPr>
              <a:t>Engineering</a:t>
            </a:r>
            <a:endParaRPr lang="en-US" sz="1900" dirty="0"/>
          </a:p>
        </p:txBody>
      </p:sp>
      <p:sp>
        <p:nvSpPr>
          <p:cNvPr id="20" name="Text 18"/>
          <p:cNvSpPr/>
          <p:nvPr/>
        </p:nvSpPr>
        <p:spPr>
          <a:xfrm>
            <a:off x="9244584" y="3364992"/>
            <a:ext cx="1920240" cy="777240"/>
          </a:xfrm>
          <a:prstGeom prst="rect">
            <a:avLst/>
          </a:prstGeom>
          <a:noFill/>
          <a:ln/>
        </p:spPr>
        <p:txBody>
          <a:bodyPr wrap="square" lIns="0" tIns="0" rIns="0" bIns="0" rtlCol="0" anchor="ctr"/>
          <a:lstStyle/>
          <a:p>
            <a:pPr marL="0" indent="0">
              <a:buNone/>
            </a:pPr>
            <a:r>
              <a:rPr lang="en-US" sz="1250" dirty="0">
                <a:solidFill>
                  <a:srgbClr val="6B7689"/>
                </a:solidFill>
                <a:latin typeface="Calibri" pitchFamily="34" charset="0"/>
                <a:ea typeface="Calibri" pitchFamily="34" charset="-122"/>
                <a:cs typeface="Calibri" pitchFamily="34" charset="-120"/>
              </a:rPr>
              <a:t>Latency, cost per successful task, throughput at peak load.</a:t>
            </a:r>
            <a:endParaRPr lang="en-US" sz="1250" dirty="0"/>
          </a:p>
        </p:txBody>
      </p:sp>
      <p:sp>
        <p:nvSpPr>
          <p:cNvPr id="21" name="Text 19"/>
          <p:cNvSpPr/>
          <p:nvPr/>
        </p:nvSpPr>
        <p:spPr>
          <a:xfrm>
            <a:off x="640080" y="4709160"/>
            <a:ext cx="10908792" cy="548640"/>
          </a:xfrm>
          <a:prstGeom prst="rect">
            <a:avLst/>
          </a:prstGeom>
          <a:noFill/>
          <a:ln/>
        </p:spPr>
        <p:txBody>
          <a:bodyPr wrap="square" lIns="0" tIns="0" rIns="0" bIns="0" rtlCol="0" anchor="ctr"/>
          <a:lstStyle/>
          <a:p>
            <a:pPr marL="0" indent="0">
              <a:buNone/>
            </a:pPr>
            <a:r>
              <a:rPr lang="en-US" sz="1500" i="1" dirty="0">
                <a:solidFill>
                  <a:srgbClr val="0E1524"/>
                </a:solidFill>
                <a:latin typeface="Calibri" pitchFamily="34" charset="0"/>
                <a:ea typeface="Calibri" pitchFamily="34" charset="-122"/>
                <a:cs typeface="Calibri" pitchFamily="34" charset="-120"/>
              </a:rPr>
              <a:t>Report the engineering numbers next to the accuracy numbers. A system that is right and unaffordable has not been evaluated.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6885</Words>
  <Application>Microsoft Office PowerPoint</Application>
  <PresentationFormat>Widescreen</PresentationFormat>
  <Paragraphs>630</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Trends in AI and Data Science</dc:title>
  <dc:subject>PptxGenJS Presentation</dc:subject>
  <dc:creator>Speaker</dc:creator>
  <cp:lastModifiedBy>Lakshmanaraj  Sankaralingam</cp:lastModifiedBy>
  <cp:revision>2</cp:revision>
  <dcterms:created xsi:type="dcterms:W3CDTF">2026-08-06T12:55:00Z</dcterms:created>
  <dcterms:modified xsi:type="dcterms:W3CDTF">2026-08-06T16:21:39Z</dcterms:modified>
</cp:coreProperties>
</file>